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majay.dosje.gov.in" TargetMode="External"/><Relationship Id="rId2" Type="http://schemas.openxmlformats.org/officeDocument/2006/relationships/hyperlink" Target="https://www.nqr.gov.in" TargetMode="External"/><Relationship Id="rId3" Type="http://schemas.openxmlformats.org/officeDocument/2006/relationships/hyperlink" Target="https://bhashini.gov.in" TargetMode="External"/><Relationship Id="rId4" Type="http://schemas.openxmlformats.org/officeDocument/2006/relationships/hyperlink" Target="https://ai4bharat.iitm.ac.in" TargetMode="External"/><Relationship Id="rId5" Type="http://schemas.openxmlformats.org/officeDocument/2006/relationships/hyperlink" Target="https://www.skillindiadigital.gov.in" TargetMode="External"/><Relationship Id="rId6" Type="http://schemas.openxmlformats.org/officeDocument/2006/relationships/hyperlink" Target="https://www.meity.gov.in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INDIA HACKATHON 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Kaushal Saathi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phone-call AI assistant that talks to beneficiaries in their own language and recommends NSQF-aligned skilling &amp; livelihood paths — fully cloud-hosted.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77440"/>
          <a:ext cx="5486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8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Statement 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SIH26097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8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Statement Title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AI-Driven Voice Assistant for Livelihood Mapping and NSQF-Aligned Skilling Recommendations for SC Communities under GIA component of PM-AJAY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8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Education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8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Category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8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Ministry of Social Justice and Empowerment (MoSJE)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8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ID / Team 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&lt;Team ID&gt;  /  &lt;Team Name&gt;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097280"/>
            <a:ext cx="2377440" cy="2377440"/>
          </a:xfrm>
          <a:prstGeom prst="ellipse">
            <a:avLst/>
          </a:prstGeom>
          <a:solidFill>
            <a:srgbClr val="22335A"/>
          </a:solidFill>
          <a:ln w="12700">
            <a:solidFill>
              <a:srgbClr val="34466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03720" y="1600200"/>
            <a:ext cx="1371600" cy="13716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5472" y="1901952"/>
            <a:ext cx="768096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5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dial.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D5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app. No internet.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D5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reading needed.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943600" y="4800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 ·  SIH26097  ·  1/6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749040" cy="3429000"/>
          </a:xfrm>
          <a:prstGeom prst="roundRect">
            <a:avLst>
              <a:gd name="adj" fmla="val 32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call (in Hindi, shown translated)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834640" cy="438912"/>
          </a:xfrm>
          <a:prstGeom prst="roundRect">
            <a:avLst>
              <a:gd name="adj" fmla="val 1666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6420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Namaste! What work does your family do today?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88720" y="2194560"/>
            <a:ext cx="283464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219456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leather work, but earnings are low.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724912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72491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prefer your own shop or a salaried job? Can you travel to the district town?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88720" y="3474720"/>
            <a:ext cx="283464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347472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shop. I can go to the town.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4005072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00507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Footwear &amp; leather goods course (NSQF L4) at a centre 12 km away, plus enterprise support under PM-AJAY. I'll send details by SMS.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26280" y="128016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6922" y="1390802"/>
            <a:ext cx="281635" cy="28163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166360" y="1234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Voice-first interview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166360" y="152704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beneficiary calls a toll-free number (or sends a WhatsApp voice note). An AI agent holds a natural, empathetic conversation in their dialect instead of a form.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26280" y="2441448"/>
            <a:ext cx="502920" cy="5029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922" y="2552090"/>
            <a:ext cx="281635" cy="28163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166360" y="23957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profiling &amp; matching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5166360" y="268833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builds a profile — education, family occupation, skills, interests, mobility, self vs. wage employment — and matches it to NSQF courses and local demand.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4526280" y="3602736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922" y="3713378"/>
            <a:ext cx="281635" cy="281635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166360" y="355701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unique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5166360" y="3849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any feature phone; all intelligence runs in the cloud. Recommendations are explainable, and every call feeds a district dashboard for officials.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5943600" y="4800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 ·  SIH26097  ·  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ALL ON CLOUD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783080" y="1188720"/>
            <a:ext cx="6903720" cy="1783080"/>
          </a:xfrm>
          <a:prstGeom prst="roundRect">
            <a:avLst>
              <a:gd name="adj" fmla="val 6154"/>
            </a:avLst>
          </a:prstGeom>
          <a:solidFill>
            <a:srgbClr val="F1F4F9"/>
          </a:solidFill>
          <a:ln w="12700">
            <a:solidFill>
              <a:srgbClr val="D9DFEA"/>
            </a:solidFill>
            <a:prstDash val="dash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12618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261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(auto-scaling, serverless)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1748333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2219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call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450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phone / WhatsApp voice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627632" y="1673352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194560" y="1627632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261" y="1748333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874520" y="22219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Telephony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1874520" y="2450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IVR + SIP streaming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3044952" y="1673352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2"/>
          <p:cNvSpPr/>
          <p:nvPr/>
        </p:nvSpPr>
        <p:spPr>
          <a:xfrm>
            <a:off x="3566160" y="1627632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861" y="1748333"/>
            <a:ext cx="307238" cy="30723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246120" y="22219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3246120" y="2450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 / IndicConformer ASR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4416552" y="1673352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4937760" y="1627632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461" y="1748333"/>
            <a:ext cx="307238" cy="30723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617720" y="22219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4617720" y="2450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dialogue + profile extraction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5788152" y="1673352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309360" y="1627632"/>
            <a:ext cx="548640" cy="54864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0061" y="1748333"/>
            <a:ext cx="307238" cy="30723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989320" y="22219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</a:t>
            </a:r>
            <a:endParaRPr lang="en-US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5989320" y="2450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NSQF + district demand ranking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7159752" y="1673352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7680960" y="1627632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1661" y="1748333"/>
            <a:ext cx="307238" cy="30723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360920" y="22219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Speech</a:t>
            </a:r>
            <a:endParaRPr lang="en-US" sz="1100" dirty="0"/>
          </a:p>
        </p:txBody>
      </p:sp>
      <p:sp>
        <p:nvSpPr>
          <p:cNvPr id="35" name="Text 26"/>
          <p:cNvSpPr txBox="1"/>
          <p:nvPr/>
        </p:nvSpPr>
        <p:spPr>
          <a:xfrm>
            <a:off x="7360920" y="2450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 TTS reply + SMS summary</a:t>
            </a:r>
            <a:endParaRPr lang="en-US" sz="900" dirty="0"/>
          </a:p>
        </p:txBody>
      </p:sp>
      <p:sp>
        <p:nvSpPr>
          <p:cNvPr id="36" name="Shape 27"/>
          <p:cNvSpPr/>
          <p:nvPr/>
        </p:nvSpPr>
        <p:spPr>
          <a:xfrm>
            <a:off x="457200" y="320040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594360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&amp; channels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594360" y="358444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 / Twilio IVR, WebSocket audio streaming, WhatsApp Business API, SMS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2560320" y="320040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2697480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2697480" y="358444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 ASR/TTS/NMT (22 languages), LLM with tool calls, embeddings + ranking model</a:t>
            </a:r>
            <a:endParaRPr lang="en-US" sz="1050" dirty="0"/>
          </a:p>
        </p:txBody>
      </p:sp>
      <p:sp>
        <p:nvSpPr>
          <p:cNvPr id="42" name="Shape 33"/>
          <p:cNvSpPr/>
          <p:nvPr/>
        </p:nvSpPr>
        <p:spPr>
          <a:xfrm>
            <a:off x="4663440" y="320040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4800600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data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4800600" y="358444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/ serverless functions, PostgreSQL + vector DB, encrypted object storage</a:t>
            </a:r>
            <a:endParaRPr lang="en-US" sz="1050" dirty="0"/>
          </a:p>
        </p:txBody>
      </p:sp>
      <p:sp>
        <p:nvSpPr>
          <p:cNvPr id="45" name="Shape 36"/>
          <p:cNvSpPr/>
          <p:nvPr/>
        </p:nvSpPr>
        <p:spPr>
          <a:xfrm>
            <a:off x="6766560" y="320040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6903720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&amp; UI</a:t>
            </a:r>
            <a:endParaRPr lang="en-US" sz="1200" dirty="0"/>
          </a:p>
        </p:txBody>
      </p:sp>
      <p:sp>
        <p:nvSpPr>
          <p:cNvPr id="47" name="Text 38"/>
          <p:cNvSpPr txBox="1"/>
          <p:nvPr/>
        </p:nvSpPr>
        <p:spPr>
          <a:xfrm>
            <a:off x="6903720" y="358444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NQR (NSQF courses), Skill India Digital Hub, React dashboard for district officers</a:t>
            </a:r>
            <a:endParaRPr lang="en-US" sz="1050" dirty="0"/>
          </a:p>
        </p:txBody>
      </p:sp>
      <p:sp>
        <p:nvSpPr>
          <p:cNvPr id="48" name="Text 39"/>
          <p:cNvSpPr txBox="1"/>
          <p:nvPr/>
        </p:nvSpPr>
        <p:spPr>
          <a:xfrm>
            <a:off x="5943600" y="4800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 ·  SIH26097  ·  3/6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BUILT AND SUSTAINED?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&amp; Viability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33502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216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Technically ready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4813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 speech models (Bhashini, AI4Bharat) and cloud IVR are already available; we integrate, not invent.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457200" cy="45720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247802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2359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low connectivity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26243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voice call needs no data; the phone only carries audio, the cloud does the rest.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520440"/>
            <a:ext cx="457200" cy="45720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362102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3502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 to scale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1051560" y="37673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Pay-per-use cloud; a pilot fits in one district before state-wide rollout.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234440"/>
          <a:ext cx="4297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8346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/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Dialect speech errors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key answers back to the caller; fine-tune ASR on collected, consented audio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or biased recommendations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ranking; human review by district officer before enrolment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of caller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 at call start, encryption, DPDP Act 2023 compliance, data minimisation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trust / awareness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Promotion via Gram Panchayats, SHGs and PM-AJAY field staff; toll-free number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17" name="Text 11"/>
          <p:cNvSpPr txBox="1"/>
          <p:nvPr/>
        </p:nvSpPr>
        <p:spPr>
          <a:xfrm>
            <a:off x="5943600" y="4800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 ·  SIH26097  ·  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 AND HOW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Benefits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74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literacy or smartphone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to use 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73552" y="118872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73552" y="1234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273552" y="1874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languages supported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Bhashini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89904" y="118872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89904" y="1234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24×7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089904" y="1874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on 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toll-free number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2752344"/>
            <a:ext cx="256032" cy="25603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24128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beneficiaries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course the first time → fewer dropouts, better jobs or self-employment.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73552" y="2651760"/>
            <a:ext cx="457200" cy="45720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136" y="2752344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840480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MoSJE &amp; states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3273552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district dashboards for planning, targeting and tracking PM-AJAY outcomes.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89904" y="2651760"/>
            <a:ext cx="457200" cy="4572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2752344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656832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partners &amp; employers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089904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Pre-screened, motivated candidates matched to local demand.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Social: more inclusion for low-literacy users.  Economic: higher placement rates and income.  Governance: data-driven perspective plans under the GIA component.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5943600" y="4800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 ·  SIH26097  ·  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&amp; References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801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scheme guidelines (GIA component)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9AA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of Social Justice &amp; Empowerment  ·  </a:t>
            </a:r>
            <a:pPr indent="0" marL="0">
              <a:buNone/>
            </a:pPr>
            <a:r>
              <a:rPr lang="en-US" sz="1050" u="sng" dirty="0">
                <a:solidFill>
                  <a:srgbClr val="F7B7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https://pmajay.dosje.gov.in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892808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4708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Qualifications Register (NSQF courses)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9AA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NCVET  ·  </a:t>
            </a:r>
            <a:pPr indent="0" marL="0">
              <a:buNone/>
            </a:pPr>
            <a:r>
              <a:rPr lang="en-US" sz="1050" u="sng" dirty="0">
                <a:solidFill>
                  <a:srgbClr val="F7B7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https://www.nqr.gov.in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459736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14016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 – National Language Translation Mission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9AA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MeitY  ·  </a:t>
            </a:r>
            <a:pPr indent="0" marL="0">
              <a:buNone/>
            </a:pPr>
            <a:r>
              <a:rPr lang="en-US" sz="1050" u="sng" dirty="0">
                <a:solidFill>
                  <a:srgbClr val="F7B7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https://bhashini.gov.in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026664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2980944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 / IndicTTS / IndicTrans2 models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9AA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AI4Bharat, IIT Madras  ·  </a:t>
            </a:r>
            <a:pPr indent="0" marL="0">
              <a:buNone/>
            </a:pPr>
            <a:r>
              <a:rPr lang="en-US" sz="1050" u="sng" dirty="0">
                <a:solidFill>
                  <a:srgbClr val="F7B7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https://ai4bharat.iitm.ac.in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593592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593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5478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India Digital Hub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9AA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MSDE  ·  </a:t>
            </a:r>
            <a:pPr indent="0" marL="0">
              <a:buNone/>
            </a:pPr>
            <a:r>
              <a:rPr lang="en-US" sz="1050" u="sng" dirty="0">
                <a:solidFill>
                  <a:srgbClr val="F7B7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https://www.skillindiadigital.gov.in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1148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Personal Data Protection Act, 2023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9AA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of India  ·  </a:t>
            </a:r>
            <a:pPr indent="0" marL="0">
              <a:buNone/>
            </a:pPr>
            <a:r>
              <a:rPr lang="en-US" sz="1050" u="sng" dirty="0">
                <a:solidFill>
                  <a:srgbClr val="F7B7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https://www.meity.gov.in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800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 ·  SIH26097  ·  6/6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SIH26097 – AI Voice Livelihood Assistant</dc:title>
  <dc:subject>PptxGenJS Presentation</dc:subject>
  <dc:creator>PptxGenJS</dc:creator>
  <cp:lastModifiedBy>PptxGenJS</cp:lastModifiedBy>
  <cp:revision>1</cp:revision>
  <dcterms:created xsi:type="dcterms:W3CDTF">2026-09-24T20:55:15Z</dcterms:created>
  <dcterms:modified xsi:type="dcterms:W3CDTF">2026-09-24T20:55:15Z</dcterms:modified>
</cp:coreProperties>
</file>