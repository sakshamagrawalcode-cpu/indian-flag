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Official SIH 2026 title page. Fill the Team ID from the portal before exporting to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 in numbers (CAG 2025, NFHS-6, Census 2011); who we serve (5.9 crore eligible, ~50,000 GIA seats a year → every seat must fit); the six steps of one call; six things a form cannot do, including the automatically written profile and the answer cache.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call: Exotel → Pipecat → STT (IndicConformer / Saaras v3) → Sarvam-30B → SATYA → Bulbul v3, reply audio back through Pipecat and Exotel. Router escalates 30B → 105B → human. The answer cache logs every turn by language, district, job and question type; frequent questions get pre-written, verified answers and audio, so AI work and cost fall over time. After the call: FastAPI → PostgreSQL → CSC → AJAY app → Celery follow-ups → dashboard; the web portal uses the same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 points with sources. Cost per completed call ₹25–54 (calculations sheet §3; human call-back corrected to 10–20% × 5–6 min × ₹3.2/min = ₹1.6–3.8). Funnel with sources; affordability (§4.3). Four risks.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with working (calculations sheet §5–6): 41→70% placement gap; 62→73% retention (+11 points, J-PAL); officer time 30 h → 5 h a month for 40 cases, ~31,250 h a year India-wide ≈ 18 staff-years; ₹12.5–15 crore better used = 6–14× SkillCall's yearly cost. Reach: 1–1.5 lakh profiles a year.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by type with links; the four cards link to the repo, prototype, demo video and the calculations sheet — add the real links before upload.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3" Type="http://schemas.openxmlformats.org/officeDocument/2006/relationships/hyperlink" Target="https://github.com/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8" Type="http://schemas.openxmlformats.org/officeDocument/2006/relationships/image" Target="../media/image-3-18.png"/><Relationship Id="rId19" Type="http://schemas.openxmlformats.org/officeDocument/2006/relationships/image" Target="../media/image-3-19.png"/><Relationship Id="rId20" Type="http://schemas.openxmlformats.org/officeDocument/2006/relationships/image" Target="../media/image-3-20.png"/><Relationship Id="rId21" Type="http://schemas.openxmlformats.org/officeDocument/2006/relationships/image" Target="../media/image-3-21.png"/><Relationship Id="rId22" Type="http://schemas.openxmlformats.org/officeDocument/2006/relationships/image" Target="../media/image-3-22.png"/><Relationship Id="rId24" Type="http://schemas.openxmlformats.org/officeDocument/2006/relationships/image" Target="../media/image-3-23.png"/><Relationship Id="rId25" Type="http://schemas.openxmlformats.org/officeDocument/2006/relationships/image" Target="../media/image-3-24.png"/><Relationship Id="rId26" Type="http://schemas.openxmlformats.org/officeDocument/2006/relationships/image" Target="../media/image-3-25.png"/><Relationship Id="rId27" Type="http://schemas.openxmlformats.org/officeDocument/2006/relationships/image" Target="../media/image-3-26.png"/><Relationship Id="rId28" Type="http://schemas.openxmlformats.org/officeDocument/2006/relationships/image" Target="../media/image-3-27.png"/><Relationship Id="rId29" Type="http://schemas.openxmlformats.org/officeDocument/2006/relationships/image" Target="../media/image-3-28.png"/><Relationship Id="rId30" Type="http://schemas.openxmlformats.org/officeDocument/2006/relationships/image" Target="../media/image-3-29.png"/><Relationship Id="rId31" Type="http://schemas.openxmlformats.org/officeDocument/2006/relationships/image" Target="../media/image-3-30.png"/><Relationship Id="rId32" Type="http://schemas.openxmlformats.org/officeDocument/2006/relationships/image" Target="../media/image-3-31.png"/><Relationship Id="rId33" Type="http://schemas.openxmlformats.org/officeDocument/2006/relationships/image" Target="../media/image-3-32.png"/><Relationship Id="rId34" Type="http://schemas.openxmlformats.org/officeDocument/2006/relationships/image" Target="../media/image-3-33.png"/><Relationship Id="rId35" Type="http://schemas.openxmlformats.org/officeDocument/2006/relationships/image" Target="../media/image-3-34.png"/><Relationship Id="rId36" Type="http://schemas.openxmlformats.org/officeDocument/2006/relationships/image" Target="../media/image-3-35.png"/><Relationship Id="rId37" Type="http://schemas.openxmlformats.org/officeDocument/2006/relationships/image" Target="../media/image-3-36.png"/><Relationship Id="rId38" Type="http://schemas.openxmlformats.org/officeDocument/2006/relationships/image" Target="../media/image-3-37.png"/><Relationship Id="rId39" Type="http://schemas.openxmlformats.org/officeDocument/2006/relationships/image" Target="../media/image-3-38.png"/><Relationship Id="rId40" Type="http://schemas.openxmlformats.org/officeDocument/2006/relationships/image" Target="../media/image-3-39.png"/><Relationship Id="rId41" Type="http://schemas.openxmlformats.org/officeDocument/2006/relationships/image" Target="../media/image-3-40.png"/><Relationship Id="rId42" Type="http://schemas.openxmlformats.org/officeDocument/2006/relationships/slideLayout" Target="../slideLayouts/slideLayout1.xml"/><Relationship Id="rId4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ib.gov.in/PressReleasePage.aspx?PRID=2112697" TargetMode="External"/><Relationship Id="rId4" Type="http://schemas.openxmlformats.org/officeDocument/2006/relationships/hyperlink" Target="https://static.pib.gov.in/WriteReadData/specificdocs/documents/2025/may/doc202551548801.pdf" TargetMode="External"/><Relationship Id="rId5" Type="http://schemas.openxmlformats.org/officeDocument/2006/relationships/hyperlink" Target="https://cag.gov.in" TargetMode="External"/><Relationship Id="rId6" Type="http://schemas.openxmlformats.org/officeDocument/2006/relationships/hyperlink" Target="https://rchiips.org/nfhs" TargetMode="External"/><Relationship Id="rId7" Type="http://schemas.openxmlformats.org/officeDocument/2006/relationships/hyperlink" Target="https://socialjustice.gov.in" TargetMode="External"/><Relationship Id="rId9" Type="http://schemas.openxmlformats.org/officeDocument/2006/relationships/hyperlink" Target="https://www.povertyactionlab.org" TargetMode="External"/><Relationship Id="rId10" Type="http://schemas.openxmlformats.org/officeDocument/2006/relationships/hyperlink" Target="https://gh.bmj.com" TargetMode="External"/><Relationship Id="rId11" Type="http://schemas.openxmlformats.org/officeDocument/2006/relationships/hyperlink" Target="https://arxiv.org/abs/2604.19151" TargetMode="External"/><Relationship Id="rId12" Type="http://schemas.openxmlformats.org/officeDocument/2006/relationships/hyperlink" Target="https://dl.acm.org" TargetMode="External"/><Relationship Id="rId14" Type="http://schemas.openxmlformats.org/officeDocument/2006/relationships/hyperlink" Target="https://docs.sarvam.ai" TargetMode="External"/><Relationship Id="rId15" Type="http://schemas.openxmlformats.org/officeDocument/2006/relationships/hyperlink" Target="https://developer.nvidia.com/blog" TargetMode="External"/><Relationship Id="rId16" Type="http://schemas.openxmlformats.org/officeDocument/2006/relationships/hyperlink" Target="https://artificialanalysis.ai/models/sarvam-30b" TargetMode="External"/><Relationship Id="rId17" Type="http://schemas.openxmlformats.org/officeDocument/2006/relationships/hyperlink" Target="https://ai4bharat.iitm.ac.in" TargetMode="External"/><Relationship Id="rId19" Type="http://schemas.openxmlformats.org/officeDocument/2006/relationships/hyperlink" Target="https://www.pib.gov.in/PressReleasePage.aspx?PRID=2265106" TargetMode="External"/><Relationship Id="rId20" Type="http://schemas.openxmlformats.org/officeDocument/2006/relationships/hyperlink" Target="https://www.nqr.gov.in" TargetMode="External"/><Relationship Id="rId21" Type="http://schemas.openxmlformats.org/officeDocument/2006/relationships/hyperlink" Target="https://www.meity.gov.in" TargetMode="External"/><Relationship Id="rId22" Type="http://schemas.openxmlformats.org/officeDocument/2006/relationships/hyperlink" Target="https://www.trai.gov.in" TargetMode="External"/><Relationship Id="rId23" Type="http://schemas.openxmlformats.org/officeDocument/2006/relationships/hyperlink" Target="https://eparlib.nic.in" TargetMode="External"/><Relationship Id="rId25" Type="http://schemas.openxmlformats.org/officeDocument/2006/relationships/hyperlink" Target="https://github.com/" TargetMode="External"/><Relationship Id="rId27" Type="http://schemas.openxmlformats.org/officeDocument/2006/relationships/hyperlink" Target="https://example.com/" TargetMode="External"/><Relationship Id="rId29" Type="http://schemas.openxmlformats.org/officeDocument/2006/relationships/hyperlink" Target="https://youtube.com/" TargetMode="External"/><Relationship Id="rId31" Type="http://schemas.openxmlformats.org/officeDocument/2006/relationships/hyperlink" Target="https://example.com/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8" Type="http://schemas.openxmlformats.org/officeDocument/2006/relationships/image" Target="../media/image-6-3.png"/><Relationship Id="rId13" Type="http://schemas.openxmlformats.org/officeDocument/2006/relationships/image" Target="../media/image-6-4.png"/><Relationship Id="rId18" Type="http://schemas.openxmlformats.org/officeDocument/2006/relationships/image" Target="../media/image-6-5.png"/><Relationship Id="rId24" Type="http://schemas.openxmlformats.org/officeDocument/2006/relationships/image" Target="../media/image-6-6.png"/><Relationship Id="rId26" Type="http://schemas.openxmlformats.org/officeDocument/2006/relationships/image" Target="../media/image-6-7.png"/><Relationship Id="rId28" Type="http://schemas.openxmlformats.org/officeDocument/2006/relationships/image" Target="../media/image-6-8.png"/><Relationship Id="rId30" Type="http://schemas.openxmlformats.org/officeDocument/2006/relationships/image" Target="../media/image-6-9.png"/><Relationship Id="rId32" Type="http://schemas.openxmlformats.org/officeDocument/2006/relationships/slideLayout" Target="../slideLayouts/slideLayout1.xml"/><Relationship Id="rId3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SMART INDIA HACKATHON 2026</a:t>
            </a:r>
            <a:endParaRPr lang="en-US" sz="3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194560" y="8686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TITLE PAGE</a:t>
            </a:r>
            <a:endParaRPr lang="en-US" sz="22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737360"/>
            <a:ext cx="4023360" cy="190195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11480" y="146304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ID – </a:t>
            </a: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SIH26097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Title – </a:t>
            </a: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AI-driven voice assistant for livelihood mapping and NSQF-aligned skilling recommendations for SC communities under the GIA component of PM-AJAY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 – </a:t>
            </a: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Agriculture, FoodTech &amp; Rural Development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Category – </a:t>
            </a: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ID – </a:t>
            </a:r>
            <a:r>
              <a:rPr lang="en-US" sz="1250" b="1" dirty="0">
                <a:solidFill>
                  <a:srgbClr val="D64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  (fill from the SIH portal)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Name (Registered on portal) – </a:t>
            </a: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Cognify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EAF0F8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09728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SkillCall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548640"/>
            <a:ext cx="5852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  ·  one free phone call that turns a person's skills into the right work</a:t>
            </a:r>
            <a:endParaRPr lang="en-US" sz="1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74320" y="896112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FFEFDD"/>
          </a:solidFill>
          <a:ln w="9525">
            <a:solidFill>
              <a:srgbClr val="FFEFD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84048" y="987552"/>
            <a:ext cx="365760" cy="365760"/>
          </a:xfrm>
          <a:prstGeom prst="roundRect">
            <a:avLst>
              <a:gd name="adj" fmla="val 22000"/>
            </a:avLst>
          </a:prstGeom>
          <a:solidFill>
            <a:srgbClr val="EF8A22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1042416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8680" y="941832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 </a:t>
            </a: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SIH26097 · Ministry of Social Justice &amp; Empowerment</a:t>
            </a: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PM-AJAY pays for skill training and small-business support (up to ₹50,000) for poor SC families. But people are picked and placed through paper forms and field visits. Those who can't read, or don't know the trades, land in the wrong course — and don't get a job.</a:t>
            </a:r>
            <a:endParaRPr lang="en-US" sz="800" dirty="0"/>
          </a:p>
        </p:txBody>
      </p:sp>
      <p:sp>
        <p:nvSpPr>
          <p:cNvPr id="12" name="Shape 8"/>
          <p:cNvSpPr/>
          <p:nvPr/>
        </p:nvSpPr>
        <p:spPr>
          <a:xfrm>
            <a:off x="5230368" y="896112"/>
            <a:ext cx="1170432" cy="731520"/>
          </a:xfrm>
          <a:prstGeom prst="roundRect">
            <a:avLst>
              <a:gd name="adj" fmla="val 10000"/>
            </a:avLst>
          </a:prstGeom>
          <a:solidFill>
            <a:srgbClr val="FFEFDD"/>
          </a:solidFill>
          <a:ln w="9525">
            <a:solidFill>
              <a:srgbClr val="FFEFDD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303520" y="91440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303520" y="11704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trained people got a job</a:t>
            </a:r>
            <a:endParaRPr lang="en-US" sz="680" dirty="0"/>
          </a:p>
        </p:txBody>
      </p:sp>
      <p:sp>
        <p:nvSpPr>
          <p:cNvPr id="15" name="Shape 11"/>
          <p:cNvSpPr/>
          <p:nvPr/>
        </p:nvSpPr>
        <p:spPr>
          <a:xfrm>
            <a:off x="5303520" y="1444752"/>
            <a:ext cx="1024128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358384" y="1444752"/>
            <a:ext cx="9326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CAG audit 2025</a:t>
            </a:r>
            <a:endParaRPr lang="en-US" sz="600" dirty="0"/>
          </a:p>
        </p:txBody>
      </p:sp>
      <p:sp>
        <p:nvSpPr>
          <p:cNvPr id="17" name="Shape 13"/>
          <p:cNvSpPr/>
          <p:nvPr/>
        </p:nvSpPr>
        <p:spPr>
          <a:xfrm>
            <a:off x="6455664" y="896112"/>
            <a:ext cx="1170432" cy="731520"/>
          </a:xfrm>
          <a:prstGeom prst="roundRect">
            <a:avLst>
              <a:gd name="adj" fmla="val 10000"/>
            </a:avLst>
          </a:prstGeom>
          <a:solidFill>
            <a:srgbClr val="FBE7EF"/>
          </a:solidFill>
          <a:ln w="9525">
            <a:solidFill>
              <a:srgbClr val="FBE7E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28816" y="91440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43%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6528816" y="11704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rural women have no phone of their own</a:t>
            </a:r>
            <a:endParaRPr lang="en-US" sz="680" dirty="0"/>
          </a:p>
        </p:txBody>
      </p:sp>
      <p:sp>
        <p:nvSpPr>
          <p:cNvPr id="20" name="Shape 16"/>
          <p:cNvSpPr/>
          <p:nvPr/>
        </p:nvSpPr>
        <p:spPr>
          <a:xfrm>
            <a:off x="6528816" y="1444752"/>
            <a:ext cx="1024128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583680" y="1444752"/>
            <a:ext cx="9326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D64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NFHS-6, 2023-24</a:t>
            </a:r>
            <a:endParaRPr lang="en-US" sz="600" dirty="0"/>
          </a:p>
        </p:txBody>
      </p:sp>
      <p:sp>
        <p:nvSpPr>
          <p:cNvPr id="22" name="Shape 18"/>
          <p:cNvSpPr/>
          <p:nvPr/>
        </p:nvSpPr>
        <p:spPr>
          <a:xfrm>
            <a:off x="7680960" y="896112"/>
            <a:ext cx="1170432" cy="73152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754112" y="91440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7754112" y="11704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SC adults cannot read</a:t>
            </a:r>
            <a:endParaRPr lang="en-US" sz="680" dirty="0"/>
          </a:p>
        </p:txBody>
      </p:sp>
      <p:sp>
        <p:nvSpPr>
          <p:cNvPr id="25" name="Shape 21"/>
          <p:cNvSpPr/>
          <p:nvPr/>
        </p:nvSpPr>
        <p:spPr>
          <a:xfrm>
            <a:off x="7754112" y="1444752"/>
            <a:ext cx="1024128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7808976" y="1444752"/>
            <a:ext cx="9326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Census 2011</a:t>
            </a:r>
            <a:endParaRPr lang="en-US" sz="600" dirty="0"/>
          </a:p>
        </p:txBody>
      </p:sp>
      <p:sp>
        <p:nvSpPr>
          <p:cNvPr id="27" name="Shape 23"/>
          <p:cNvSpPr/>
          <p:nvPr/>
        </p:nvSpPr>
        <p:spPr>
          <a:xfrm>
            <a:off x="274320" y="1700784"/>
            <a:ext cx="8595360" cy="274320"/>
          </a:xfrm>
          <a:prstGeom prst="roundRect">
            <a:avLst>
              <a:gd name="adj" fmla="val 26667"/>
            </a:avLst>
          </a:prstGeom>
          <a:solidFill>
            <a:srgbClr val="EAF0F8"/>
          </a:solidFill>
          <a:ln w="9525">
            <a:solidFill>
              <a:srgbClr val="EAF0F8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384048" y="1700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SERVE</a:t>
            </a:r>
            <a:endParaRPr lang="en-US" sz="750" dirty="0"/>
          </a:p>
        </p:txBody>
      </p:sp>
      <p:sp>
        <p:nvSpPr>
          <p:cNvPr id="29" name="Text 25"/>
          <p:cNvSpPr txBox="1"/>
          <p:nvPr/>
        </p:nvSpPr>
        <p:spPr>
          <a:xfrm>
            <a:off x="1325880" y="1700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20.14 crore  </a:t>
            </a: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 people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2606040" y="170078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2880360" y="1700784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5.9 crore  </a:t>
            </a: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poverty line (eligible)</a:t>
            </a:r>
            <a:endParaRPr lang="en-US" sz="950" dirty="0"/>
          </a:p>
        </p:txBody>
      </p:sp>
      <p:sp>
        <p:nvSpPr>
          <p:cNvPr id="32" name="Text 28"/>
          <p:cNvSpPr txBox="1"/>
          <p:nvPr/>
        </p:nvSpPr>
        <p:spPr>
          <a:xfrm>
            <a:off x="4617720" y="170078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4892040" y="170078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50,000  </a:t>
            </a: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GIA support each year</a:t>
            </a:r>
            <a:endParaRPr lang="en-US" sz="950" dirty="0"/>
          </a:p>
        </p:txBody>
      </p:sp>
      <p:sp>
        <p:nvSpPr>
          <p:cNvPr id="34" name="Text 30"/>
          <p:cNvSpPr txBox="1"/>
          <p:nvPr/>
        </p:nvSpPr>
        <p:spPr>
          <a:xfrm>
            <a:off x="6446520" y="170078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6720840" y="17007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in 1,000  </a:t>
            </a: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year → every seat must fit</a:t>
            </a:r>
            <a:endParaRPr lang="en-US" sz="950" dirty="0"/>
          </a:p>
        </p:txBody>
      </p:sp>
      <p:sp>
        <p:nvSpPr>
          <p:cNvPr id="36" name="Text 32"/>
          <p:cNvSpPr txBox="1"/>
          <p:nvPr/>
        </p:nvSpPr>
        <p:spPr>
          <a:xfrm>
            <a:off x="274320" y="1993392"/>
            <a:ext cx="8595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Census 2011 (via MoSJE Handbook 2021)  ·  SC poverty ratios 31.5% rural / 21.7% urban (Planning Commission, 2011-12)  ·  GIA: 2,01,006 beneficiaries in 2021-25 → ≈ 50,000 a year (PIB, 19 Mar 2025)</a:t>
            </a:r>
            <a:endParaRPr lang="en-US" sz="600" dirty="0"/>
          </a:p>
        </p:txBody>
      </p:sp>
      <p:sp>
        <p:nvSpPr>
          <p:cNvPr id="37" name="Text 33"/>
          <p:cNvSpPr txBox="1"/>
          <p:nvPr/>
        </p:nvSpPr>
        <p:spPr>
          <a:xfrm>
            <a:off x="274320" y="215798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— ONE CALL, ABOUT 10 MINUTES, ON ANY PHONE</a:t>
            </a:r>
            <a:endParaRPr lang="en-US" sz="850" dirty="0"/>
          </a:p>
        </p:txBody>
      </p:sp>
      <p:sp>
        <p:nvSpPr>
          <p:cNvPr id="38" name="Shape 34"/>
          <p:cNvSpPr/>
          <p:nvPr/>
        </p:nvSpPr>
        <p:spPr>
          <a:xfrm>
            <a:off x="274320" y="2340864"/>
            <a:ext cx="1371600" cy="1005840"/>
          </a:xfrm>
          <a:prstGeom prst="roundRect">
            <a:avLst>
              <a:gd name="adj" fmla="val 7273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356616" y="241401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2459736"/>
            <a:ext cx="237744" cy="237744"/>
          </a:xfrm>
          <a:prstGeom prst="rect">
            <a:avLst/>
          </a:prstGeom>
        </p:spPr>
      </p:pic>
      <p:sp>
        <p:nvSpPr>
          <p:cNvPr id="41" name="Shape 36"/>
          <p:cNvSpPr/>
          <p:nvPr/>
        </p:nvSpPr>
        <p:spPr>
          <a:xfrm>
            <a:off x="1316736" y="2414016"/>
            <a:ext cx="246888" cy="246888"/>
          </a:xfrm>
          <a:prstGeom prst="ellipse">
            <a:avLst/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1316736" y="241401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Text 38"/>
          <p:cNvSpPr txBox="1"/>
          <p:nvPr/>
        </p:nvSpPr>
        <p:spPr>
          <a:xfrm>
            <a:off x="356616" y="2770632"/>
            <a:ext cx="1207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call → call-back</a:t>
            </a:r>
            <a:endParaRPr lang="en-US" sz="830" dirty="0"/>
          </a:p>
        </p:txBody>
      </p:sp>
      <p:sp>
        <p:nvSpPr>
          <p:cNvPr id="44" name="Text 39"/>
          <p:cNvSpPr txBox="1"/>
          <p:nvPr/>
        </p:nvSpPr>
        <p:spPr>
          <a:xfrm>
            <a:off x="356616" y="2944368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gives a missed call; SkillCall calls back in a minute — free, from a govt 1600 number, in his language.</a:t>
            </a:r>
            <a:endParaRPr lang="en-US" sz="660" dirty="0"/>
          </a:p>
        </p:txBody>
      </p:sp>
      <p:sp>
        <p:nvSpPr>
          <p:cNvPr id="45" name="Shape 40"/>
          <p:cNvSpPr/>
          <p:nvPr/>
        </p:nvSpPr>
        <p:spPr>
          <a:xfrm>
            <a:off x="1719072" y="2340864"/>
            <a:ext cx="1371600" cy="1005840"/>
          </a:xfrm>
          <a:prstGeom prst="roundRect">
            <a:avLst>
              <a:gd name="adj" fmla="val 7273"/>
            </a:avLst>
          </a:prstGeom>
          <a:solidFill>
            <a:srgbClr val="E0F4F5"/>
          </a:solidFill>
          <a:ln w="9525">
            <a:solidFill>
              <a:srgbClr val="E0F4F5"/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1801368" y="241401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7088" y="2459736"/>
            <a:ext cx="237744" cy="237744"/>
          </a:xfrm>
          <a:prstGeom prst="rect">
            <a:avLst/>
          </a:prstGeom>
        </p:spPr>
      </p:pic>
      <p:sp>
        <p:nvSpPr>
          <p:cNvPr id="48" name="Shape 42"/>
          <p:cNvSpPr/>
          <p:nvPr/>
        </p:nvSpPr>
        <p:spPr>
          <a:xfrm>
            <a:off x="2761488" y="2414016"/>
            <a:ext cx="246888" cy="246888"/>
          </a:xfrm>
          <a:prstGeom prst="ellipse">
            <a:avLst/>
          </a:prstGeom>
          <a:solidFill>
            <a:srgbClr val="13919B"/>
          </a:solidFill>
          <a:ln w="12700">
            <a:solidFill>
              <a:srgbClr val="13919B"/>
            </a:solidFill>
            <a:prstDash val="solid"/>
          </a:ln>
        </p:spPr>
      </p:sp>
      <p:sp>
        <p:nvSpPr>
          <p:cNvPr id="49" name="Text 43"/>
          <p:cNvSpPr txBox="1"/>
          <p:nvPr/>
        </p:nvSpPr>
        <p:spPr>
          <a:xfrm>
            <a:off x="2761488" y="241401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0" name="Text 44"/>
          <p:cNvSpPr txBox="1"/>
          <p:nvPr/>
        </p:nvSpPr>
        <p:spPr>
          <a:xfrm>
            <a:off x="1801368" y="2770632"/>
            <a:ext cx="1207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by keypad</a:t>
            </a:r>
            <a:endParaRPr lang="en-US" sz="830" dirty="0"/>
          </a:p>
        </p:txBody>
      </p:sp>
      <p:sp>
        <p:nvSpPr>
          <p:cNvPr id="51" name="Text 45"/>
          <p:cNvSpPr txBox="1"/>
          <p:nvPr/>
        </p:nvSpPr>
        <p:spPr>
          <a:xfrm>
            <a:off x="1801368" y="2944368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education, travel distance: he presses keys. A speech error can never change eligibility.</a:t>
            </a:r>
            <a:endParaRPr lang="en-US" sz="660" dirty="0"/>
          </a:p>
        </p:txBody>
      </p:sp>
      <p:sp>
        <p:nvSpPr>
          <p:cNvPr id="52" name="Shape 46"/>
          <p:cNvSpPr/>
          <p:nvPr/>
        </p:nvSpPr>
        <p:spPr>
          <a:xfrm>
            <a:off x="3163824" y="2340864"/>
            <a:ext cx="1371600" cy="1005840"/>
          </a:xfrm>
          <a:prstGeom prst="roundRect">
            <a:avLst>
              <a:gd name="adj" fmla="val 7273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3246120" y="241401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1840" y="2459736"/>
            <a:ext cx="237744" cy="237744"/>
          </a:xfrm>
          <a:prstGeom prst="rect">
            <a:avLst/>
          </a:prstGeom>
        </p:spPr>
      </p:pic>
      <p:sp>
        <p:nvSpPr>
          <p:cNvPr id="55" name="Shape 48"/>
          <p:cNvSpPr/>
          <p:nvPr/>
        </p:nvSpPr>
        <p:spPr>
          <a:xfrm>
            <a:off x="4206240" y="2414016"/>
            <a:ext cx="246888" cy="246888"/>
          </a:xfrm>
          <a:prstGeom prst="ellipse">
            <a:avLst/>
          </a:prstGeom>
          <a:solidFill>
            <a:srgbClr val="7A5AF8"/>
          </a:solidFill>
          <a:ln w="12700">
            <a:solidFill>
              <a:srgbClr val="7A5AF8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4206240" y="241401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7" name="Text 50"/>
          <p:cNvSpPr txBox="1"/>
          <p:nvPr/>
        </p:nvSpPr>
        <p:spPr>
          <a:xfrm>
            <a:off x="3246120" y="2770632"/>
            <a:ext cx="1207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talks, AI listens</a:t>
            </a:r>
            <a:endParaRPr lang="en-US" sz="830" dirty="0"/>
          </a:p>
        </p:txBody>
      </p:sp>
      <p:sp>
        <p:nvSpPr>
          <p:cNvPr id="58" name="Text 51"/>
          <p:cNvSpPr txBox="1"/>
          <p:nvPr/>
        </p:nvSpPr>
        <p:spPr>
          <a:xfrm>
            <a:off x="3246120" y="2944368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"Aap kya kaam karte ho?" The AI finds his official job (NCO code) and asks about his skills.</a:t>
            </a:r>
            <a:endParaRPr lang="en-US" sz="660" dirty="0"/>
          </a:p>
        </p:txBody>
      </p:sp>
      <p:sp>
        <p:nvSpPr>
          <p:cNvPr id="59" name="Shape 52"/>
          <p:cNvSpPr/>
          <p:nvPr/>
        </p:nvSpPr>
        <p:spPr>
          <a:xfrm>
            <a:off x="4608576" y="2340864"/>
            <a:ext cx="1371600" cy="1005840"/>
          </a:xfrm>
          <a:prstGeom prst="roundRect">
            <a:avLst>
              <a:gd name="adj" fmla="val 7273"/>
            </a:avLst>
          </a:prstGeom>
          <a:solidFill>
            <a:srgbClr val="FFF3D6"/>
          </a:solidFill>
          <a:ln w="9525">
            <a:solidFill>
              <a:srgbClr val="FFF3D6"/>
            </a:solidFill>
            <a:prstDash val="solid"/>
          </a:ln>
        </p:spPr>
      </p:sp>
      <p:sp>
        <p:nvSpPr>
          <p:cNvPr id="60" name="Shape 53"/>
          <p:cNvSpPr/>
          <p:nvPr/>
        </p:nvSpPr>
        <p:spPr>
          <a:xfrm>
            <a:off x="4690872" y="241401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2459736"/>
            <a:ext cx="237744" cy="237744"/>
          </a:xfrm>
          <a:prstGeom prst="rect">
            <a:avLst/>
          </a:prstGeom>
        </p:spPr>
      </p:pic>
      <p:sp>
        <p:nvSpPr>
          <p:cNvPr id="62" name="Shape 54"/>
          <p:cNvSpPr/>
          <p:nvPr/>
        </p:nvSpPr>
        <p:spPr>
          <a:xfrm>
            <a:off x="5650992" y="2414016"/>
            <a:ext cx="246888" cy="246888"/>
          </a:xfrm>
          <a:prstGeom prst="ellipse">
            <a:avLst/>
          </a:prstGeom>
          <a:solidFill>
            <a:srgbClr val="D4930D"/>
          </a:solidFill>
          <a:ln w="12700">
            <a:solidFill>
              <a:srgbClr val="D4930D"/>
            </a:solidFill>
            <a:prstDash val="solid"/>
          </a:ln>
        </p:spPr>
      </p:sp>
      <p:sp>
        <p:nvSpPr>
          <p:cNvPr id="63" name="Text 55"/>
          <p:cNvSpPr txBox="1"/>
          <p:nvPr/>
        </p:nvSpPr>
        <p:spPr>
          <a:xfrm>
            <a:off x="5650992" y="241401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4" name="Text 56"/>
          <p:cNvSpPr txBox="1"/>
          <p:nvPr/>
        </p:nvSpPr>
        <p:spPr>
          <a:xfrm>
            <a:off x="4690872" y="2770632"/>
            <a:ext cx="1207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back &amp; saved</a:t>
            </a:r>
            <a:endParaRPr lang="en-US" sz="830" dirty="0"/>
          </a:p>
        </p:txBody>
      </p:sp>
      <p:sp>
        <p:nvSpPr>
          <p:cNvPr id="65" name="Text 57"/>
          <p:cNvSpPr txBox="1"/>
          <p:nvPr/>
        </p:nvSpPr>
        <p:spPr>
          <a:xfrm>
            <a:off x="4690872" y="2944368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read back; he presses 1 to confirm. Saved as a clean profile — no paper form.</a:t>
            </a:r>
            <a:endParaRPr lang="en-US" sz="660" dirty="0"/>
          </a:p>
        </p:txBody>
      </p:sp>
      <p:sp>
        <p:nvSpPr>
          <p:cNvPr id="66" name="Shape 58"/>
          <p:cNvSpPr/>
          <p:nvPr/>
        </p:nvSpPr>
        <p:spPr>
          <a:xfrm>
            <a:off x="6053328" y="2340864"/>
            <a:ext cx="1371600" cy="1005840"/>
          </a:xfrm>
          <a:prstGeom prst="roundRect">
            <a:avLst>
              <a:gd name="adj" fmla="val 7273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sp>
        <p:nvSpPr>
          <p:cNvPr id="67" name="Shape 59"/>
          <p:cNvSpPr/>
          <p:nvPr/>
        </p:nvSpPr>
        <p:spPr>
          <a:xfrm>
            <a:off x="6135624" y="241401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81344" y="2459736"/>
            <a:ext cx="237744" cy="237744"/>
          </a:xfrm>
          <a:prstGeom prst="rect">
            <a:avLst/>
          </a:prstGeom>
        </p:spPr>
      </p:pic>
      <p:sp>
        <p:nvSpPr>
          <p:cNvPr id="69" name="Shape 60"/>
          <p:cNvSpPr/>
          <p:nvPr/>
        </p:nvSpPr>
        <p:spPr>
          <a:xfrm>
            <a:off x="7095744" y="2414016"/>
            <a:ext cx="246888" cy="246888"/>
          </a:xfrm>
          <a:prstGeom prst="ellipse">
            <a:avLst/>
          </a:prstGeom>
          <a:solidFill>
            <a:srgbClr val="1F9D63"/>
          </a:solidFill>
          <a:ln w="12700">
            <a:solidFill>
              <a:srgbClr val="1F9D63"/>
            </a:solidFill>
            <a:prstDash val="solid"/>
          </a:ln>
        </p:spPr>
      </p:sp>
      <p:sp>
        <p:nvSpPr>
          <p:cNvPr id="70" name="Text 61"/>
          <p:cNvSpPr txBox="1"/>
          <p:nvPr/>
        </p:nvSpPr>
        <p:spPr>
          <a:xfrm>
            <a:off x="7095744" y="241401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1" name="Text 62"/>
          <p:cNvSpPr txBox="1"/>
          <p:nvPr/>
        </p:nvSpPr>
        <p:spPr>
          <a:xfrm>
            <a:off x="6135624" y="2770632"/>
            <a:ext cx="1207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1–4 options that fit</a:t>
            </a:r>
            <a:endParaRPr lang="en-US" sz="830" dirty="0"/>
          </a:p>
        </p:txBody>
      </p:sp>
      <p:sp>
        <p:nvSpPr>
          <p:cNvPr id="72" name="Text 63"/>
          <p:cNvSpPr txBox="1"/>
          <p:nvPr/>
        </p:nvSpPr>
        <p:spPr>
          <a:xfrm>
            <a:off x="6135624" y="2944368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courses, schemes or jobs near him that truly fit. Every fact checked. He can ask any doubt.</a:t>
            </a:r>
            <a:endParaRPr lang="en-US" sz="660" dirty="0"/>
          </a:p>
        </p:txBody>
      </p:sp>
      <p:sp>
        <p:nvSpPr>
          <p:cNvPr id="73" name="Shape 64"/>
          <p:cNvSpPr/>
          <p:nvPr/>
        </p:nvSpPr>
        <p:spPr>
          <a:xfrm>
            <a:off x="7498080" y="2340864"/>
            <a:ext cx="1371600" cy="1005840"/>
          </a:xfrm>
          <a:prstGeom prst="roundRect">
            <a:avLst>
              <a:gd name="adj" fmla="val 7273"/>
            </a:avLst>
          </a:prstGeom>
          <a:solidFill>
            <a:srgbClr val="FFEFDD"/>
          </a:solidFill>
          <a:ln w="9525">
            <a:solidFill>
              <a:srgbClr val="FFEFDD"/>
            </a:solidFill>
            <a:prstDash val="solid"/>
          </a:ln>
        </p:spPr>
      </p:sp>
      <p:sp>
        <p:nvSpPr>
          <p:cNvPr id="74" name="Shape 65"/>
          <p:cNvSpPr/>
          <p:nvPr/>
        </p:nvSpPr>
        <p:spPr>
          <a:xfrm>
            <a:off x="7580376" y="241401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6096" y="2459736"/>
            <a:ext cx="237744" cy="237744"/>
          </a:xfrm>
          <a:prstGeom prst="rect">
            <a:avLst/>
          </a:prstGeom>
        </p:spPr>
      </p:pic>
      <p:sp>
        <p:nvSpPr>
          <p:cNvPr id="76" name="Shape 66"/>
          <p:cNvSpPr/>
          <p:nvPr/>
        </p:nvSpPr>
        <p:spPr>
          <a:xfrm>
            <a:off x="8540496" y="2414016"/>
            <a:ext cx="246888" cy="246888"/>
          </a:xfrm>
          <a:prstGeom prst="ellipse">
            <a:avLst/>
          </a:prstGeom>
          <a:solidFill>
            <a:srgbClr val="EF8A22"/>
          </a:solidFill>
          <a:ln w="12700">
            <a:solidFill>
              <a:srgbClr val="EF8A22"/>
            </a:solidFill>
            <a:prstDash val="solid"/>
          </a:ln>
        </p:spPr>
      </p:sp>
      <p:sp>
        <p:nvSpPr>
          <p:cNvPr id="77" name="Text 67"/>
          <p:cNvSpPr txBox="1"/>
          <p:nvPr/>
        </p:nvSpPr>
        <p:spPr>
          <a:xfrm>
            <a:off x="8540496" y="241401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8" name="Text 68"/>
          <p:cNvSpPr txBox="1"/>
          <p:nvPr/>
        </p:nvSpPr>
        <p:spPr>
          <a:xfrm>
            <a:off x="7580376" y="2770632"/>
            <a:ext cx="1207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&amp; follow-up</a:t>
            </a:r>
            <a:endParaRPr lang="en-US" sz="830" dirty="0"/>
          </a:p>
        </p:txBody>
      </p:sp>
      <p:sp>
        <p:nvSpPr>
          <p:cNvPr id="79" name="Text 69"/>
          <p:cNvSpPr txBox="1"/>
          <p:nvPr/>
        </p:nvSpPr>
        <p:spPr>
          <a:xfrm>
            <a:off x="7580376" y="2944368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with Case ID + nearest CSC; officer approves in the AJAY app; calls at 1, 3 and 6 months.</a:t>
            </a:r>
            <a:endParaRPr lang="en-US" sz="660" dirty="0"/>
          </a:p>
        </p:txBody>
      </p:sp>
      <p:sp>
        <p:nvSpPr>
          <p:cNvPr id="80" name="Text 70"/>
          <p:cNvSpPr txBox="1"/>
          <p:nvPr/>
        </p:nvSpPr>
        <p:spPr>
          <a:xfrm>
            <a:off x="274320" y="341985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DIFFERENT</a:t>
            </a:r>
            <a:endParaRPr lang="en-US" sz="850" dirty="0"/>
          </a:p>
        </p:txBody>
      </p:sp>
      <p:sp>
        <p:nvSpPr>
          <p:cNvPr id="81" name="Shape 71"/>
          <p:cNvSpPr/>
          <p:nvPr/>
        </p:nvSpPr>
        <p:spPr>
          <a:xfrm>
            <a:off x="274320" y="3602736"/>
            <a:ext cx="137160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82" name="Shape 72"/>
          <p:cNvSpPr/>
          <p:nvPr/>
        </p:nvSpPr>
        <p:spPr>
          <a:xfrm>
            <a:off x="356616" y="3685032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13919B"/>
          </a:solidFill>
          <a:ln w="12700">
            <a:solidFill>
              <a:srgbClr val="13919B"/>
            </a:solidFill>
            <a:prstDash val="solid"/>
          </a:ln>
        </p:spPr>
      </p:sp>
      <p:pic>
        <p:nvPicPr>
          <p:cNvPr id="8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0507" y="3728923"/>
            <a:ext cx="204826" cy="204826"/>
          </a:xfrm>
          <a:prstGeom prst="rect">
            <a:avLst/>
          </a:prstGeom>
        </p:spPr>
      </p:pic>
      <p:sp>
        <p:nvSpPr>
          <p:cNvPr id="84" name="Text 73"/>
          <p:cNvSpPr txBox="1"/>
          <p:nvPr/>
        </p:nvSpPr>
        <p:spPr>
          <a:xfrm>
            <a:off x="713232" y="367588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questions</a:t>
            </a:r>
            <a:endParaRPr lang="en-US" sz="780" dirty="0"/>
          </a:p>
        </p:txBody>
      </p:sp>
      <p:sp>
        <p:nvSpPr>
          <p:cNvPr id="85" name="Text 74"/>
          <p:cNvSpPr txBox="1"/>
          <p:nvPr/>
        </p:nvSpPr>
        <p:spPr>
          <a:xfrm>
            <a:off x="356616" y="4041648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question depends on his last answer: bike mechanic → engine, tyres, oil.</a:t>
            </a:r>
            <a:endParaRPr lang="en-US" sz="680" dirty="0"/>
          </a:p>
        </p:txBody>
      </p:sp>
      <p:sp>
        <p:nvSpPr>
          <p:cNvPr id="86" name="Shape 75"/>
          <p:cNvSpPr/>
          <p:nvPr/>
        </p:nvSpPr>
        <p:spPr>
          <a:xfrm>
            <a:off x="1719072" y="3602736"/>
            <a:ext cx="137160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87" name="Shape 76"/>
          <p:cNvSpPr/>
          <p:nvPr/>
        </p:nvSpPr>
        <p:spPr>
          <a:xfrm>
            <a:off x="1801368" y="3685032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D4930D"/>
          </a:solidFill>
          <a:ln w="12700">
            <a:solidFill>
              <a:srgbClr val="D4930D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45259" y="3728923"/>
            <a:ext cx="204826" cy="204826"/>
          </a:xfrm>
          <a:prstGeom prst="rect">
            <a:avLst/>
          </a:prstGeom>
        </p:spPr>
      </p:pic>
      <p:sp>
        <p:nvSpPr>
          <p:cNvPr id="89" name="Text 77"/>
          <p:cNvSpPr txBox="1"/>
          <p:nvPr/>
        </p:nvSpPr>
        <p:spPr>
          <a:xfrm>
            <a:off x="2157984" y="367588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writes itself</a:t>
            </a:r>
            <a:endParaRPr lang="en-US" sz="780" dirty="0"/>
          </a:p>
        </p:txBody>
      </p:sp>
      <p:sp>
        <p:nvSpPr>
          <p:cNvPr id="90" name="Text 78"/>
          <p:cNvSpPr txBox="1"/>
          <p:nvPr/>
        </p:nvSpPr>
        <p:spPr>
          <a:xfrm>
            <a:off x="1801368" y="4041648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fills the full profile table in the proper format. Officers only review and approve.</a:t>
            </a:r>
            <a:endParaRPr lang="en-US" sz="680" dirty="0"/>
          </a:p>
        </p:txBody>
      </p:sp>
      <p:sp>
        <p:nvSpPr>
          <p:cNvPr id="91" name="Shape 79"/>
          <p:cNvSpPr/>
          <p:nvPr/>
        </p:nvSpPr>
        <p:spPr>
          <a:xfrm>
            <a:off x="3163824" y="3602736"/>
            <a:ext cx="137160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92" name="Shape 80"/>
          <p:cNvSpPr/>
          <p:nvPr/>
        </p:nvSpPr>
        <p:spPr>
          <a:xfrm>
            <a:off x="3246120" y="3685032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1F9D63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9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90011" y="3728923"/>
            <a:ext cx="204826" cy="204826"/>
          </a:xfrm>
          <a:prstGeom prst="rect">
            <a:avLst/>
          </a:prstGeom>
        </p:spPr>
      </p:pic>
      <p:sp>
        <p:nvSpPr>
          <p:cNvPr id="94" name="Text 81"/>
          <p:cNvSpPr txBox="1"/>
          <p:nvPr/>
        </p:nvSpPr>
        <p:spPr>
          <a:xfrm>
            <a:off x="3602736" y="367588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verified govt data</a:t>
            </a:r>
            <a:endParaRPr lang="en-US" sz="780" dirty="0"/>
          </a:p>
        </p:txBody>
      </p:sp>
      <p:sp>
        <p:nvSpPr>
          <p:cNvPr id="95" name="Text 82"/>
          <p:cNvSpPr txBox="1"/>
          <p:nvPr/>
        </p:nvSpPr>
        <p:spPr>
          <a:xfrm>
            <a:off x="3246120" y="4041648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come only from loaded data: rules, NQR courses, NCO codes, centres. Nothing invented.</a:t>
            </a:r>
            <a:endParaRPr lang="en-US" sz="680" dirty="0"/>
          </a:p>
        </p:txBody>
      </p:sp>
      <p:sp>
        <p:nvSpPr>
          <p:cNvPr id="96" name="Shape 83"/>
          <p:cNvSpPr/>
          <p:nvPr/>
        </p:nvSpPr>
        <p:spPr>
          <a:xfrm>
            <a:off x="4608576" y="3602736"/>
            <a:ext cx="137160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97" name="Shape 84"/>
          <p:cNvSpPr/>
          <p:nvPr/>
        </p:nvSpPr>
        <p:spPr>
          <a:xfrm>
            <a:off x="4690872" y="3685032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pic>
        <p:nvPicPr>
          <p:cNvPr id="9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34763" y="3728923"/>
            <a:ext cx="204826" cy="204826"/>
          </a:xfrm>
          <a:prstGeom prst="rect">
            <a:avLst/>
          </a:prstGeom>
        </p:spPr>
      </p:pic>
      <p:sp>
        <p:nvSpPr>
          <p:cNvPr id="99" name="Text 85"/>
          <p:cNvSpPr txBox="1"/>
          <p:nvPr/>
        </p:nvSpPr>
        <p:spPr>
          <a:xfrm>
            <a:off x="5047488" y="367588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SATYA fact-check</a:t>
            </a:r>
            <a:endParaRPr lang="en-US" sz="780" dirty="0"/>
          </a:p>
        </p:txBody>
      </p:sp>
      <p:sp>
        <p:nvSpPr>
          <p:cNvPr id="100" name="Text 86"/>
          <p:cNvSpPr txBox="1"/>
          <p:nvPr/>
        </p:nvSpPr>
        <p:spPr>
          <a:xfrm>
            <a:off x="4690872" y="4041648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fact is matched to a database row before it is spoken. No match → not said.</a:t>
            </a:r>
            <a:endParaRPr lang="en-US" sz="680" dirty="0"/>
          </a:p>
        </p:txBody>
      </p:sp>
      <p:sp>
        <p:nvSpPr>
          <p:cNvPr id="101" name="Shape 87"/>
          <p:cNvSpPr/>
          <p:nvPr/>
        </p:nvSpPr>
        <p:spPr>
          <a:xfrm>
            <a:off x="6053328" y="3602736"/>
            <a:ext cx="137160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102" name="Shape 88"/>
          <p:cNvSpPr/>
          <p:nvPr/>
        </p:nvSpPr>
        <p:spPr>
          <a:xfrm>
            <a:off x="6135624" y="3685032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EF8A22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10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179515" y="3728923"/>
            <a:ext cx="204826" cy="204826"/>
          </a:xfrm>
          <a:prstGeom prst="rect">
            <a:avLst/>
          </a:prstGeom>
        </p:spPr>
      </p:pic>
      <p:sp>
        <p:nvSpPr>
          <p:cNvPr id="104" name="Text 89"/>
          <p:cNvSpPr txBox="1"/>
          <p:nvPr/>
        </p:nvSpPr>
        <p:spPr>
          <a:xfrm>
            <a:off x="6492240" y="367588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AI first</a:t>
            </a:r>
            <a:endParaRPr lang="en-US" sz="780" dirty="0"/>
          </a:p>
        </p:txBody>
      </p:sp>
      <p:sp>
        <p:nvSpPr>
          <p:cNvPr id="105" name="Text 90"/>
          <p:cNvSpPr txBox="1"/>
          <p:nvPr/>
        </p:nvSpPr>
        <p:spPr>
          <a:xfrm>
            <a:off x="6135624" y="4041648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model by default, bigger only if needed, a human if still stuck. Common answers get cached — cost falls over time.</a:t>
            </a:r>
            <a:endParaRPr lang="en-US" sz="680" dirty="0"/>
          </a:p>
        </p:txBody>
      </p:sp>
      <p:sp>
        <p:nvSpPr>
          <p:cNvPr id="106" name="Shape 91"/>
          <p:cNvSpPr/>
          <p:nvPr/>
        </p:nvSpPr>
        <p:spPr>
          <a:xfrm>
            <a:off x="7498080" y="3602736"/>
            <a:ext cx="137160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107" name="Shape 92"/>
          <p:cNvSpPr/>
          <p:nvPr/>
        </p:nvSpPr>
        <p:spPr>
          <a:xfrm>
            <a:off x="7580376" y="3685032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108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24267" y="3728923"/>
            <a:ext cx="204826" cy="204826"/>
          </a:xfrm>
          <a:prstGeom prst="rect">
            <a:avLst/>
          </a:prstGeom>
        </p:spPr>
      </p:pic>
      <p:sp>
        <p:nvSpPr>
          <p:cNvPr id="109" name="Text 93"/>
          <p:cNvSpPr txBox="1"/>
          <p:nvPr/>
        </p:nvSpPr>
        <p:spPr>
          <a:xfrm>
            <a:off x="7936992" y="367588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portal too</a:t>
            </a:r>
            <a:endParaRPr lang="en-US" sz="780" dirty="0"/>
          </a:p>
        </p:txBody>
      </p:sp>
      <p:sp>
        <p:nvSpPr>
          <p:cNvPr id="110" name="Text 94"/>
          <p:cNvSpPr txBox="1"/>
          <p:nvPr/>
        </p:nvSpPr>
        <p:spPr>
          <a:xfrm>
            <a:off x="7580376" y="4041648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+ OTP login: family, CSC or officer can view or edit the case — or skip the call.</a:t>
            </a:r>
            <a:endParaRPr lang="en-US" sz="680" dirty="0"/>
          </a:p>
        </p:txBody>
      </p:sp>
      <p:sp>
        <p:nvSpPr>
          <p:cNvPr id="111" name="Text 95"/>
          <p:cNvSpPr txBox="1"/>
          <p:nvPr/>
        </p:nvSpPr>
        <p:spPr>
          <a:xfrm>
            <a:off x="274320" y="4645152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answers the 5 GIA issues in the brief:  </a:t>
            </a: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 ·  beneficiary selection  ·  placement after training  ·  coordination  ·  too few ground staff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EAF0F8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82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TECHNICAL APPROACH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274320" y="89611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74320" y="1097280"/>
            <a:ext cx="2834640" cy="640080"/>
          </a:xfrm>
          <a:prstGeom prst="roundRect">
            <a:avLst>
              <a:gd name="adj" fmla="val 11429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" y="1124712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&amp; voice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338328" y="1316736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344168"/>
            <a:ext cx="128016" cy="12801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7784" y="1316736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Exotel / Plivo</a:t>
            </a:r>
            <a:endParaRPr lang="en-US" sz="720" dirty="0"/>
          </a:p>
        </p:txBody>
      </p:sp>
      <p:sp>
        <p:nvSpPr>
          <p:cNvPr id="13" name="Shape 9"/>
          <p:cNvSpPr/>
          <p:nvPr/>
        </p:nvSpPr>
        <p:spPr>
          <a:xfrm>
            <a:off x="1719072" y="1316736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4792" y="1344168"/>
            <a:ext cx="128016" cy="12801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938528" y="1316736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API</a:t>
            </a:r>
            <a:endParaRPr lang="en-US" sz="720" dirty="0"/>
          </a:p>
        </p:txBody>
      </p:sp>
      <p:sp>
        <p:nvSpPr>
          <p:cNvPr id="16" name="Shape 11"/>
          <p:cNvSpPr/>
          <p:nvPr/>
        </p:nvSpPr>
        <p:spPr>
          <a:xfrm>
            <a:off x="338328" y="1527048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554480"/>
            <a:ext cx="128016" cy="12801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57784" y="1527048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Pipecat voice server</a:t>
            </a:r>
            <a:endParaRPr lang="en-US" sz="720" dirty="0"/>
          </a:p>
        </p:txBody>
      </p:sp>
      <p:sp>
        <p:nvSpPr>
          <p:cNvPr id="19" name="Shape 13"/>
          <p:cNvSpPr/>
          <p:nvPr/>
        </p:nvSpPr>
        <p:spPr>
          <a:xfrm>
            <a:off x="274320" y="1792224"/>
            <a:ext cx="2834640" cy="850392"/>
          </a:xfrm>
          <a:prstGeom prst="roundRect">
            <a:avLst>
              <a:gd name="adj" fmla="val 8602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365760" y="1819656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models</a:t>
            </a:r>
            <a:endParaRPr lang="en-US" sz="750" dirty="0"/>
          </a:p>
        </p:txBody>
      </p:sp>
      <p:sp>
        <p:nvSpPr>
          <p:cNvPr id="21" name="Shape 15"/>
          <p:cNvSpPr/>
          <p:nvPr/>
        </p:nvSpPr>
        <p:spPr>
          <a:xfrm>
            <a:off x="338328" y="2011680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2039112"/>
            <a:ext cx="128016" cy="12801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57784" y="2011680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Saaras v3 · STT</a:t>
            </a:r>
            <a:endParaRPr lang="en-US" sz="720" dirty="0"/>
          </a:p>
        </p:txBody>
      </p:sp>
      <p:sp>
        <p:nvSpPr>
          <p:cNvPr id="24" name="Shape 17"/>
          <p:cNvSpPr/>
          <p:nvPr/>
        </p:nvSpPr>
        <p:spPr>
          <a:xfrm>
            <a:off x="1719072" y="2011680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64792" y="2039112"/>
            <a:ext cx="128016" cy="12801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938528" y="2011680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Bulbul v3 · TTS</a:t>
            </a:r>
            <a:endParaRPr lang="en-US" sz="720" dirty="0"/>
          </a:p>
        </p:txBody>
      </p:sp>
      <p:sp>
        <p:nvSpPr>
          <p:cNvPr id="27" name="Shape 19"/>
          <p:cNvSpPr/>
          <p:nvPr/>
        </p:nvSpPr>
        <p:spPr>
          <a:xfrm>
            <a:off x="338328" y="2221992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" y="2249424"/>
            <a:ext cx="128016" cy="128016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557784" y="2221992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Sarvam-30B / 105B</a:t>
            </a:r>
            <a:endParaRPr lang="en-US" sz="720" dirty="0"/>
          </a:p>
        </p:txBody>
      </p:sp>
      <p:sp>
        <p:nvSpPr>
          <p:cNvPr id="30" name="Shape 21"/>
          <p:cNvSpPr/>
          <p:nvPr/>
        </p:nvSpPr>
        <p:spPr>
          <a:xfrm>
            <a:off x="1719072" y="2221992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64792" y="2249424"/>
            <a:ext cx="128016" cy="128016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1938528" y="2221992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IndicConformer</a:t>
            </a:r>
            <a:endParaRPr lang="en-US" sz="720" dirty="0"/>
          </a:p>
        </p:txBody>
      </p:sp>
      <p:sp>
        <p:nvSpPr>
          <p:cNvPr id="33" name="Shape 23"/>
          <p:cNvSpPr/>
          <p:nvPr/>
        </p:nvSpPr>
        <p:spPr>
          <a:xfrm>
            <a:off x="338328" y="2432304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4048" y="2459736"/>
            <a:ext cx="128016" cy="128016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557784" y="2432304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Bhashini</a:t>
            </a:r>
            <a:endParaRPr lang="en-US" sz="720" dirty="0"/>
          </a:p>
        </p:txBody>
      </p:sp>
      <p:sp>
        <p:nvSpPr>
          <p:cNvPr id="36" name="Shape 25"/>
          <p:cNvSpPr/>
          <p:nvPr/>
        </p:nvSpPr>
        <p:spPr>
          <a:xfrm>
            <a:off x="1719072" y="2432304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4792" y="2459736"/>
            <a:ext cx="128016" cy="128016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1938528" y="2432304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SATYA (ours)</a:t>
            </a:r>
            <a:endParaRPr lang="en-US" sz="720" dirty="0"/>
          </a:p>
        </p:txBody>
      </p:sp>
      <p:sp>
        <p:nvSpPr>
          <p:cNvPr id="39" name="Shape 27"/>
          <p:cNvSpPr/>
          <p:nvPr/>
        </p:nvSpPr>
        <p:spPr>
          <a:xfrm>
            <a:off x="274320" y="2697480"/>
            <a:ext cx="2834640" cy="850392"/>
          </a:xfrm>
          <a:prstGeom prst="roundRect">
            <a:avLst>
              <a:gd name="adj" fmla="val 8602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sp>
        <p:nvSpPr>
          <p:cNvPr id="40" name="Text 28"/>
          <p:cNvSpPr txBox="1"/>
          <p:nvPr/>
        </p:nvSpPr>
        <p:spPr>
          <a:xfrm>
            <a:off x="365760" y="2724912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&amp; data</a:t>
            </a:r>
            <a:endParaRPr lang="en-US" sz="750" dirty="0"/>
          </a:p>
        </p:txBody>
      </p:sp>
      <p:sp>
        <p:nvSpPr>
          <p:cNvPr id="41" name="Shape 29"/>
          <p:cNvSpPr/>
          <p:nvPr/>
        </p:nvSpPr>
        <p:spPr>
          <a:xfrm>
            <a:off x="338328" y="2916936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4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4048" y="2944368"/>
            <a:ext cx="128016" cy="128016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557784" y="2916936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720" dirty="0"/>
          </a:p>
        </p:txBody>
      </p:sp>
      <p:sp>
        <p:nvSpPr>
          <p:cNvPr id="44" name="Shape 31"/>
          <p:cNvSpPr/>
          <p:nvPr/>
        </p:nvSpPr>
        <p:spPr>
          <a:xfrm>
            <a:off x="1719072" y="2916936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4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64792" y="2944368"/>
            <a:ext cx="128016" cy="128016"/>
          </a:xfrm>
          <a:prstGeom prst="rect">
            <a:avLst/>
          </a:prstGeom>
        </p:spPr>
      </p:pic>
      <p:sp>
        <p:nvSpPr>
          <p:cNvPr id="46" name="Text 32"/>
          <p:cNvSpPr txBox="1"/>
          <p:nvPr/>
        </p:nvSpPr>
        <p:spPr>
          <a:xfrm>
            <a:off x="1938528" y="2916936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720" dirty="0"/>
          </a:p>
        </p:txBody>
      </p:sp>
      <p:sp>
        <p:nvSpPr>
          <p:cNvPr id="47" name="Shape 33"/>
          <p:cNvSpPr/>
          <p:nvPr/>
        </p:nvSpPr>
        <p:spPr>
          <a:xfrm>
            <a:off x="338328" y="3127248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4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4048" y="3154680"/>
            <a:ext cx="128016" cy="128016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557784" y="3127248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Celery</a:t>
            </a:r>
            <a:endParaRPr lang="en-US" sz="720" dirty="0"/>
          </a:p>
        </p:txBody>
      </p:sp>
      <p:sp>
        <p:nvSpPr>
          <p:cNvPr id="50" name="Shape 35"/>
          <p:cNvSpPr/>
          <p:nvPr/>
        </p:nvSpPr>
        <p:spPr>
          <a:xfrm>
            <a:off x="1719072" y="3127248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5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64792" y="3154680"/>
            <a:ext cx="128016" cy="128016"/>
          </a:xfrm>
          <a:prstGeom prst="rect">
            <a:avLst/>
          </a:prstGeom>
        </p:spPr>
      </p:pic>
      <p:sp>
        <p:nvSpPr>
          <p:cNvPr id="52" name="Text 36"/>
          <p:cNvSpPr txBox="1"/>
          <p:nvPr/>
        </p:nvSpPr>
        <p:spPr>
          <a:xfrm>
            <a:off x="1938528" y="3127248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720" dirty="0"/>
          </a:p>
        </p:txBody>
      </p:sp>
      <p:sp>
        <p:nvSpPr>
          <p:cNvPr id="53" name="Shape 37"/>
          <p:cNvSpPr/>
          <p:nvPr/>
        </p:nvSpPr>
        <p:spPr>
          <a:xfrm>
            <a:off x="338328" y="3337560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5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4048" y="3364992"/>
            <a:ext cx="128016" cy="128016"/>
          </a:xfrm>
          <a:prstGeom prst="rect">
            <a:avLst/>
          </a:prstGeom>
        </p:spPr>
      </p:pic>
      <p:sp>
        <p:nvSpPr>
          <p:cNvPr id="55" name="Text 38"/>
          <p:cNvSpPr txBox="1"/>
          <p:nvPr/>
        </p:nvSpPr>
        <p:spPr>
          <a:xfrm>
            <a:off x="557784" y="3337560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720" dirty="0"/>
          </a:p>
        </p:txBody>
      </p:sp>
      <p:sp>
        <p:nvSpPr>
          <p:cNvPr id="56" name="Shape 39"/>
          <p:cNvSpPr/>
          <p:nvPr/>
        </p:nvSpPr>
        <p:spPr>
          <a:xfrm>
            <a:off x="1719072" y="3337560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5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764792" y="3364992"/>
            <a:ext cx="128016" cy="128016"/>
          </a:xfrm>
          <a:prstGeom prst="rect">
            <a:avLst/>
          </a:prstGeom>
        </p:spPr>
      </p:pic>
      <p:sp>
        <p:nvSpPr>
          <p:cNvPr id="58" name="Text 40"/>
          <p:cNvSpPr txBox="1"/>
          <p:nvPr/>
        </p:nvSpPr>
        <p:spPr>
          <a:xfrm>
            <a:off x="1938528" y="3337560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</a:t>
            </a:r>
            <a:endParaRPr lang="en-US" sz="720" dirty="0"/>
          </a:p>
        </p:txBody>
      </p:sp>
      <p:sp>
        <p:nvSpPr>
          <p:cNvPr id="59" name="Shape 41"/>
          <p:cNvSpPr/>
          <p:nvPr/>
        </p:nvSpPr>
        <p:spPr>
          <a:xfrm>
            <a:off x="274320" y="3602736"/>
            <a:ext cx="2834640" cy="850392"/>
          </a:xfrm>
          <a:prstGeom prst="roundRect">
            <a:avLst>
              <a:gd name="adj" fmla="val 8602"/>
            </a:avLst>
          </a:prstGeom>
          <a:solidFill>
            <a:srgbClr val="FFF3D6"/>
          </a:solidFill>
          <a:ln w="9525">
            <a:solidFill>
              <a:srgbClr val="FFF3D6"/>
            </a:solidFill>
            <a:prstDash val="solid"/>
          </a:ln>
        </p:spPr>
      </p:sp>
      <p:sp>
        <p:nvSpPr>
          <p:cNvPr id="60" name="Text 42"/>
          <p:cNvSpPr txBox="1"/>
          <p:nvPr/>
        </p:nvSpPr>
        <p:spPr>
          <a:xfrm>
            <a:off x="365760" y="3630168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&amp; govt links</a:t>
            </a:r>
            <a:endParaRPr lang="en-US" sz="750" dirty="0"/>
          </a:p>
        </p:txBody>
      </p:sp>
      <p:sp>
        <p:nvSpPr>
          <p:cNvPr id="61" name="Shape 43"/>
          <p:cNvSpPr/>
          <p:nvPr/>
        </p:nvSpPr>
        <p:spPr>
          <a:xfrm>
            <a:off x="338328" y="3822192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62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84048" y="3849624"/>
            <a:ext cx="128016" cy="128016"/>
          </a:xfrm>
          <a:prstGeom prst="rect">
            <a:avLst/>
          </a:prstGeom>
        </p:spPr>
      </p:pic>
      <p:sp>
        <p:nvSpPr>
          <p:cNvPr id="63" name="Text 44"/>
          <p:cNvSpPr txBox="1"/>
          <p:nvPr/>
        </p:nvSpPr>
        <p:spPr>
          <a:xfrm>
            <a:off x="557784" y="3822192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720" dirty="0"/>
          </a:p>
        </p:txBody>
      </p:sp>
      <p:sp>
        <p:nvSpPr>
          <p:cNvPr id="64" name="Shape 45"/>
          <p:cNvSpPr/>
          <p:nvPr/>
        </p:nvSpPr>
        <p:spPr>
          <a:xfrm>
            <a:off x="1719072" y="3822192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65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764792" y="3849624"/>
            <a:ext cx="128016" cy="128016"/>
          </a:xfrm>
          <a:prstGeom prst="rect">
            <a:avLst/>
          </a:prstGeom>
        </p:spPr>
      </p:pic>
      <p:sp>
        <p:nvSpPr>
          <p:cNvPr id="66" name="Text 46"/>
          <p:cNvSpPr txBox="1"/>
          <p:nvPr/>
        </p:nvSpPr>
        <p:spPr>
          <a:xfrm>
            <a:off x="1938528" y="3822192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 maps</a:t>
            </a:r>
            <a:endParaRPr lang="en-US" sz="720" dirty="0"/>
          </a:p>
        </p:txBody>
      </p:sp>
      <p:sp>
        <p:nvSpPr>
          <p:cNvPr id="67" name="Shape 47"/>
          <p:cNvSpPr/>
          <p:nvPr/>
        </p:nvSpPr>
        <p:spPr>
          <a:xfrm>
            <a:off x="338328" y="4032504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68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4048" y="4059936"/>
            <a:ext cx="128016" cy="128016"/>
          </a:xfrm>
          <a:prstGeom prst="rect">
            <a:avLst/>
          </a:prstGeom>
        </p:spPr>
      </p:pic>
      <p:sp>
        <p:nvSpPr>
          <p:cNvPr id="69" name="Text 48"/>
          <p:cNvSpPr txBox="1"/>
          <p:nvPr/>
        </p:nvSpPr>
        <p:spPr>
          <a:xfrm>
            <a:off x="557784" y="4032504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NCO / NQR</a:t>
            </a:r>
            <a:endParaRPr lang="en-US" sz="720" dirty="0"/>
          </a:p>
        </p:txBody>
      </p:sp>
      <p:sp>
        <p:nvSpPr>
          <p:cNvPr id="70" name="Shape 49"/>
          <p:cNvSpPr/>
          <p:nvPr/>
        </p:nvSpPr>
        <p:spPr>
          <a:xfrm>
            <a:off x="1719072" y="4032504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71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764792" y="4059936"/>
            <a:ext cx="128016" cy="128016"/>
          </a:xfrm>
          <a:prstGeom prst="rect">
            <a:avLst/>
          </a:prstGeom>
        </p:spPr>
      </p:pic>
      <p:sp>
        <p:nvSpPr>
          <p:cNvPr id="72" name="Text 50"/>
          <p:cNvSpPr txBox="1"/>
          <p:nvPr/>
        </p:nvSpPr>
        <p:spPr>
          <a:xfrm>
            <a:off x="1938528" y="4032504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AJAY app*</a:t>
            </a:r>
            <a:endParaRPr lang="en-US" sz="720" dirty="0"/>
          </a:p>
        </p:txBody>
      </p:sp>
      <p:sp>
        <p:nvSpPr>
          <p:cNvPr id="73" name="Shape 51"/>
          <p:cNvSpPr/>
          <p:nvPr/>
        </p:nvSpPr>
        <p:spPr>
          <a:xfrm>
            <a:off x="338328" y="4242816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74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84048" y="4270248"/>
            <a:ext cx="128016" cy="128016"/>
          </a:xfrm>
          <a:prstGeom prst="rect">
            <a:avLst/>
          </a:prstGeom>
        </p:spPr>
      </p:pic>
      <p:sp>
        <p:nvSpPr>
          <p:cNvPr id="75" name="Text 52"/>
          <p:cNvSpPr txBox="1"/>
          <p:nvPr/>
        </p:nvSpPr>
        <p:spPr>
          <a:xfrm>
            <a:off x="557784" y="4242816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DigiLocker*</a:t>
            </a:r>
            <a:endParaRPr lang="en-US" sz="720" dirty="0"/>
          </a:p>
        </p:txBody>
      </p:sp>
      <p:sp>
        <p:nvSpPr>
          <p:cNvPr id="76" name="Shape 53"/>
          <p:cNvSpPr/>
          <p:nvPr/>
        </p:nvSpPr>
        <p:spPr>
          <a:xfrm>
            <a:off x="1719072" y="4242816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77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764792" y="4270248"/>
            <a:ext cx="128016" cy="128016"/>
          </a:xfrm>
          <a:prstGeom prst="rect">
            <a:avLst/>
          </a:prstGeom>
        </p:spPr>
      </p:pic>
      <p:sp>
        <p:nvSpPr>
          <p:cNvPr id="78" name="Text 54"/>
          <p:cNvSpPr txBox="1"/>
          <p:nvPr/>
        </p:nvSpPr>
        <p:spPr>
          <a:xfrm>
            <a:off x="1938528" y="4242816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MeghRaj*</a:t>
            </a:r>
            <a:endParaRPr lang="en-US" sz="720" dirty="0"/>
          </a:p>
        </p:txBody>
      </p:sp>
      <p:sp>
        <p:nvSpPr>
          <p:cNvPr id="79" name="Text 55"/>
          <p:cNvSpPr txBox="1"/>
          <p:nvPr/>
        </p:nvSpPr>
        <p:spPr>
          <a:xfrm>
            <a:off x="274320" y="45262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needs a government MoU.  </a:t>
            </a:r>
            <a:r>
              <a:rPr lang="en-US" sz="650" i="1" u="sng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Full architecture, API docs and code → GitHub repo (add link)</a:t>
            </a:r>
            <a:endParaRPr lang="en-US" sz="650" dirty="0"/>
          </a:p>
        </p:txBody>
      </p:sp>
      <p:sp>
        <p:nvSpPr>
          <p:cNvPr id="80" name="Text 56"/>
          <p:cNvSpPr txBox="1"/>
          <p:nvPr/>
        </p:nvSpPr>
        <p:spPr>
          <a:xfrm>
            <a:off x="3200400" y="896112"/>
            <a:ext cx="5669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— ARCHITECTURE</a:t>
            </a:r>
            <a:endParaRPr lang="en-US" sz="850" dirty="0"/>
          </a:p>
        </p:txBody>
      </p:sp>
      <p:sp>
        <p:nvSpPr>
          <p:cNvPr id="81" name="Shape 57"/>
          <p:cNvSpPr/>
          <p:nvPr/>
        </p:nvSpPr>
        <p:spPr>
          <a:xfrm>
            <a:off x="3200400" y="1078992"/>
            <a:ext cx="5669280" cy="1975104"/>
          </a:xfrm>
          <a:prstGeom prst="roundRect">
            <a:avLst>
              <a:gd name="adj" fmla="val 3704"/>
            </a:avLst>
          </a:prstGeom>
          <a:solidFill>
            <a:srgbClr val="EAF0F8"/>
          </a:solidFill>
          <a:ln w="9525">
            <a:solidFill>
              <a:srgbClr val="EAF0F8"/>
            </a:solidFill>
            <a:prstDash val="solid"/>
          </a:ln>
        </p:spPr>
      </p:sp>
      <p:sp>
        <p:nvSpPr>
          <p:cNvPr id="82" name="Text 58"/>
          <p:cNvSpPr txBox="1"/>
          <p:nvPr/>
        </p:nvSpPr>
        <p:spPr>
          <a:xfrm>
            <a:off x="3291840" y="1106424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 DURING THE CALL  —  each spoken turn ≈ 1.2–2.2 s · keypad turns are instant</a:t>
            </a:r>
            <a:endParaRPr lang="en-US" sz="730" dirty="0"/>
          </a:p>
        </p:txBody>
      </p:sp>
      <p:sp>
        <p:nvSpPr>
          <p:cNvPr id="83" name="Text 59"/>
          <p:cNvSpPr txBox="1"/>
          <p:nvPr/>
        </p:nvSpPr>
        <p:spPr>
          <a:xfrm>
            <a:off x="6766560" y="1106424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= data flow · dashed = only when needed</a:t>
            </a:r>
            <a:endParaRPr lang="en-US" sz="630" dirty="0"/>
          </a:p>
        </p:txBody>
      </p:sp>
      <p:sp>
        <p:nvSpPr>
          <p:cNvPr id="84" name="Shape 60"/>
          <p:cNvSpPr/>
          <p:nvPr/>
        </p:nvSpPr>
        <p:spPr>
          <a:xfrm>
            <a:off x="3291840" y="1280160"/>
            <a:ext cx="665683" cy="548640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2700">
            <a:solidFill>
              <a:srgbClr val="5B6B7F"/>
            </a:solidFill>
            <a:prstDash val="solid"/>
          </a:ln>
        </p:spPr>
      </p:sp>
      <p:pic>
        <p:nvPicPr>
          <p:cNvPr id="85" name="Image 22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337560" y="1325880"/>
            <a:ext cx="182880" cy="182880"/>
          </a:xfrm>
          <a:prstGeom prst="rect">
            <a:avLst/>
          </a:prstGeom>
        </p:spPr>
      </p:pic>
      <p:sp>
        <p:nvSpPr>
          <p:cNvPr id="86" name="Text 61"/>
          <p:cNvSpPr txBox="1"/>
          <p:nvPr/>
        </p:nvSpPr>
        <p:spPr>
          <a:xfrm>
            <a:off x="3547872" y="1316736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</a:t>
            </a:r>
            <a:endParaRPr lang="en-US" sz="650" dirty="0"/>
          </a:p>
        </p:txBody>
      </p:sp>
      <p:sp>
        <p:nvSpPr>
          <p:cNvPr id="87" name="Text 62"/>
          <p:cNvSpPr txBox="1"/>
          <p:nvPr/>
        </p:nvSpPr>
        <p:spPr>
          <a:xfrm>
            <a:off x="3337560" y="1527048"/>
            <a:ext cx="574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keypad phone, no internet</a:t>
            </a:r>
            <a:endParaRPr lang="en-US" sz="600" dirty="0"/>
          </a:p>
        </p:txBody>
      </p:sp>
      <p:sp>
        <p:nvSpPr>
          <p:cNvPr id="88" name="Shape 63"/>
          <p:cNvSpPr/>
          <p:nvPr/>
        </p:nvSpPr>
        <p:spPr>
          <a:xfrm>
            <a:off x="4094683" y="1280160"/>
            <a:ext cx="665683" cy="548640"/>
          </a:xfrm>
          <a:prstGeom prst="roundRect">
            <a:avLst>
              <a:gd name="adj" fmla="val 10000"/>
            </a:avLst>
          </a:prstGeom>
          <a:solidFill>
            <a:srgbClr val="E6EEFC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89" name="Image 23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140403" y="1325880"/>
            <a:ext cx="182880" cy="182880"/>
          </a:xfrm>
          <a:prstGeom prst="rect">
            <a:avLst/>
          </a:prstGeom>
        </p:spPr>
      </p:pic>
      <p:sp>
        <p:nvSpPr>
          <p:cNvPr id="90" name="Text 64"/>
          <p:cNvSpPr txBox="1"/>
          <p:nvPr/>
        </p:nvSpPr>
        <p:spPr>
          <a:xfrm>
            <a:off x="4350715" y="1316736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Exotel</a:t>
            </a:r>
            <a:endParaRPr lang="en-US" sz="650" dirty="0"/>
          </a:p>
        </p:txBody>
      </p:sp>
      <p:sp>
        <p:nvSpPr>
          <p:cNvPr id="91" name="Text 65"/>
          <p:cNvSpPr txBox="1"/>
          <p:nvPr/>
        </p:nvSpPr>
        <p:spPr>
          <a:xfrm>
            <a:off x="4140403" y="1527048"/>
            <a:ext cx="574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call-back, keys, SMS</a:t>
            </a:r>
            <a:endParaRPr lang="en-US" sz="600" dirty="0"/>
          </a:p>
        </p:txBody>
      </p:sp>
      <p:sp>
        <p:nvSpPr>
          <p:cNvPr id="92" name="Shape 66"/>
          <p:cNvSpPr/>
          <p:nvPr/>
        </p:nvSpPr>
        <p:spPr>
          <a:xfrm>
            <a:off x="4897526" y="1280160"/>
            <a:ext cx="665683" cy="54864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7A5AF8"/>
            </a:solidFill>
            <a:prstDash val="solid"/>
          </a:ln>
        </p:spPr>
      </p:sp>
      <p:pic>
        <p:nvPicPr>
          <p:cNvPr id="93" name="Image 24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943246" y="1325880"/>
            <a:ext cx="182880" cy="182880"/>
          </a:xfrm>
          <a:prstGeom prst="rect">
            <a:avLst/>
          </a:prstGeom>
        </p:spPr>
      </p:pic>
      <p:sp>
        <p:nvSpPr>
          <p:cNvPr id="94" name="Text 67"/>
          <p:cNvSpPr txBox="1"/>
          <p:nvPr/>
        </p:nvSpPr>
        <p:spPr>
          <a:xfrm>
            <a:off x="5153558" y="1316736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Pipecat</a:t>
            </a:r>
            <a:endParaRPr lang="en-US" sz="650" dirty="0"/>
          </a:p>
        </p:txBody>
      </p:sp>
      <p:sp>
        <p:nvSpPr>
          <p:cNvPr id="95" name="Text 68"/>
          <p:cNvSpPr txBox="1"/>
          <p:nvPr/>
        </p:nvSpPr>
        <p:spPr>
          <a:xfrm>
            <a:off x="4943246" y="1527048"/>
            <a:ext cx="574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live call, turn-taking</a:t>
            </a:r>
            <a:endParaRPr lang="en-US" sz="600" dirty="0"/>
          </a:p>
        </p:txBody>
      </p:sp>
      <p:sp>
        <p:nvSpPr>
          <p:cNvPr id="96" name="Shape 69"/>
          <p:cNvSpPr/>
          <p:nvPr/>
        </p:nvSpPr>
        <p:spPr>
          <a:xfrm>
            <a:off x="5700370" y="1280160"/>
            <a:ext cx="665683" cy="548640"/>
          </a:xfrm>
          <a:prstGeom prst="roundRect">
            <a:avLst>
              <a:gd name="adj" fmla="val 10000"/>
            </a:avLst>
          </a:prstGeom>
          <a:solidFill>
            <a:srgbClr val="E0F4F5"/>
          </a:solidFill>
          <a:ln w="12700">
            <a:solidFill>
              <a:srgbClr val="13919B"/>
            </a:solidFill>
            <a:prstDash val="solid"/>
          </a:ln>
        </p:spPr>
      </p:sp>
      <p:pic>
        <p:nvPicPr>
          <p:cNvPr id="97" name="Image 25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746090" y="1325880"/>
            <a:ext cx="182880" cy="182880"/>
          </a:xfrm>
          <a:prstGeom prst="rect">
            <a:avLst/>
          </a:prstGeom>
        </p:spPr>
      </p:pic>
      <p:sp>
        <p:nvSpPr>
          <p:cNvPr id="98" name="Text 70"/>
          <p:cNvSpPr txBox="1"/>
          <p:nvPr/>
        </p:nvSpPr>
        <p:spPr>
          <a:xfrm>
            <a:off x="5956402" y="1316736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STT</a:t>
            </a:r>
            <a:endParaRPr lang="en-US" sz="650" dirty="0"/>
          </a:p>
        </p:txBody>
      </p:sp>
      <p:sp>
        <p:nvSpPr>
          <p:cNvPr id="99" name="Text 71"/>
          <p:cNvSpPr txBox="1"/>
          <p:nvPr/>
        </p:nvSpPr>
        <p:spPr>
          <a:xfrm>
            <a:off x="5746090" y="1527048"/>
            <a:ext cx="574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IndicConformer or Saaras v3 → text</a:t>
            </a:r>
            <a:endParaRPr lang="en-US" sz="600" dirty="0"/>
          </a:p>
        </p:txBody>
      </p:sp>
      <p:sp>
        <p:nvSpPr>
          <p:cNvPr id="100" name="Shape 72"/>
          <p:cNvSpPr/>
          <p:nvPr/>
        </p:nvSpPr>
        <p:spPr>
          <a:xfrm>
            <a:off x="6503213" y="1280160"/>
            <a:ext cx="665683" cy="548640"/>
          </a:xfrm>
          <a:prstGeom prst="roundRect">
            <a:avLst>
              <a:gd name="adj" fmla="val 10000"/>
            </a:avLst>
          </a:prstGeom>
          <a:solidFill>
            <a:srgbClr val="E0F4F5"/>
          </a:solidFill>
          <a:ln w="12700">
            <a:solidFill>
              <a:srgbClr val="13919B"/>
            </a:solidFill>
            <a:prstDash val="solid"/>
          </a:ln>
        </p:spPr>
      </p:sp>
      <p:pic>
        <p:nvPicPr>
          <p:cNvPr id="101" name="Image 26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548933" y="1325880"/>
            <a:ext cx="182880" cy="182880"/>
          </a:xfrm>
          <a:prstGeom prst="rect">
            <a:avLst/>
          </a:prstGeom>
        </p:spPr>
      </p:pic>
      <p:sp>
        <p:nvSpPr>
          <p:cNvPr id="102" name="Text 73"/>
          <p:cNvSpPr txBox="1"/>
          <p:nvPr/>
        </p:nvSpPr>
        <p:spPr>
          <a:xfrm>
            <a:off x="6759245" y="1316736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650" dirty="0"/>
          </a:p>
        </p:txBody>
      </p:sp>
      <p:sp>
        <p:nvSpPr>
          <p:cNvPr id="103" name="Text 74"/>
          <p:cNvSpPr txBox="1"/>
          <p:nvPr/>
        </p:nvSpPr>
        <p:spPr>
          <a:xfrm>
            <a:off x="6548933" y="1527048"/>
            <a:ext cx="574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Sarvam-30B: understands, asks next question</a:t>
            </a:r>
            <a:endParaRPr lang="en-US" sz="600" dirty="0"/>
          </a:p>
        </p:txBody>
      </p:sp>
      <p:sp>
        <p:nvSpPr>
          <p:cNvPr id="104" name="Shape 75"/>
          <p:cNvSpPr/>
          <p:nvPr/>
        </p:nvSpPr>
        <p:spPr>
          <a:xfrm>
            <a:off x="7306056" y="1280160"/>
            <a:ext cx="665683" cy="548640"/>
          </a:xfrm>
          <a:prstGeom prst="roundRect">
            <a:avLst>
              <a:gd name="adj" fmla="val 10000"/>
            </a:avLst>
          </a:prstGeom>
          <a:solidFill>
            <a:srgbClr val="FCE7E7"/>
          </a:solidFill>
          <a:ln w="12700">
            <a:solidFill>
              <a:srgbClr val="D64545"/>
            </a:solidFill>
            <a:prstDash val="solid"/>
          </a:ln>
        </p:spPr>
      </p:sp>
      <p:pic>
        <p:nvPicPr>
          <p:cNvPr id="105" name="Image 27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351776" y="1325880"/>
            <a:ext cx="182880" cy="182880"/>
          </a:xfrm>
          <a:prstGeom prst="rect">
            <a:avLst/>
          </a:prstGeom>
        </p:spPr>
      </p:pic>
      <p:sp>
        <p:nvSpPr>
          <p:cNvPr id="106" name="Text 76"/>
          <p:cNvSpPr txBox="1"/>
          <p:nvPr/>
        </p:nvSpPr>
        <p:spPr>
          <a:xfrm>
            <a:off x="7562088" y="1316736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SATYA</a:t>
            </a:r>
            <a:endParaRPr lang="en-US" sz="650" dirty="0"/>
          </a:p>
        </p:txBody>
      </p:sp>
      <p:sp>
        <p:nvSpPr>
          <p:cNvPr id="107" name="Text 77"/>
          <p:cNvSpPr txBox="1"/>
          <p:nvPr/>
        </p:nvSpPr>
        <p:spPr>
          <a:xfrm>
            <a:off x="7351776" y="1527048"/>
            <a:ext cx="574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every fact against the DB</a:t>
            </a:r>
            <a:endParaRPr lang="en-US" sz="600" dirty="0"/>
          </a:p>
        </p:txBody>
      </p:sp>
      <p:sp>
        <p:nvSpPr>
          <p:cNvPr id="108" name="Shape 78"/>
          <p:cNvSpPr/>
          <p:nvPr/>
        </p:nvSpPr>
        <p:spPr>
          <a:xfrm>
            <a:off x="8108899" y="1280160"/>
            <a:ext cx="665683" cy="548640"/>
          </a:xfrm>
          <a:prstGeom prst="roundRect">
            <a:avLst>
              <a:gd name="adj" fmla="val 10000"/>
            </a:avLst>
          </a:prstGeom>
          <a:solidFill>
            <a:srgbClr val="E3F6EC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109" name="Image 28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154619" y="1325880"/>
            <a:ext cx="182880" cy="182880"/>
          </a:xfrm>
          <a:prstGeom prst="rect">
            <a:avLst/>
          </a:prstGeom>
        </p:spPr>
      </p:pic>
      <p:sp>
        <p:nvSpPr>
          <p:cNvPr id="110" name="Text 79"/>
          <p:cNvSpPr txBox="1"/>
          <p:nvPr/>
        </p:nvSpPr>
        <p:spPr>
          <a:xfrm>
            <a:off x="8364931" y="1316736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TTS</a:t>
            </a:r>
            <a:endParaRPr lang="en-US" sz="650" dirty="0"/>
          </a:p>
        </p:txBody>
      </p:sp>
      <p:sp>
        <p:nvSpPr>
          <p:cNvPr id="111" name="Text 80"/>
          <p:cNvSpPr txBox="1"/>
          <p:nvPr/>
        </p:nvSpPr>
        <p:spPr>
          <a:xfrm>
            <a:off x="8154619" y="1527048"/>
            <a:ext cx="574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Bulbul v3 speaks; cached audio is free</a:t>
            </a:r>
            <a:endParaRPr lang="en-US" sz="600" dirty="0"/>
          </a:p>
        </p:txBody>
      </p:sp>
      <p:sp>
        <p:nvSpPr>
          <p:cNvPr id="112" name="Shape 81"/>
          <p:cNvSpPr/>
          <p:nvPr/>
        </p:nvSpPr>
        <p:spPr>
          <a:xfrm>
            <a:off x="3975811" y="1554480"/>
            <a:ext cx="100584" cy="0"/>
          </a:xfrm>
          <a:prstGeom prst="line">
            <a:avLst/>
          </a:prstGeom>
          <a:noFill/>
          <a:ln w="15875">
            <a:solidFill>
              <a:srgbClr val="2E6FD6"/>
            </a:solidFill>
            <a:prstDash val="solid"/>
            <a:tailEnd type="triangle"/>
          </a:ln>
        </p:spPr>
      </p:sp>
      <p:sp>
        <p:nvSpPr>
          <p:cNvPr id="113" name="Text 82"/>
          <p:cNvSpPr txBox="1"/>
          <p:nvPr/>
        </p:nvSpPr>
        <p:spPr>
          <a:xfrm>
            <a:off x="3774643" y="1847088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+ keys</a:t>
            </a:r>
            <a:endParaRPr lang="en-US" sz="580" dirty="0"/>
          </a:p>
        </p:txBody>
      </p:sp>
      <p:sp>
        <p:nvSpPr>
          <p:cNvPr id="114" name="Shape 83"/>
          <p:cNvSpPr/>
          <p:nvPr/>
        </p:nvSpPr>
        <p:spPr>
          <a:xfrm>
            <a:off x="4778654" y="1554480"/>
            <a:ext cx="100584" cy="0"/>
          </a:xfrm>
          <a:prstGeom prst="line">
            <a:avLst/>
          </a:prstGeom>
          <a:noFill/>
          <a:ln w="15875">
            <a:solidFill>
              <a:srgbClr val="2E6FD6"/>
            </a:solidFill>
            <a:prstDash val="solid"/>
            <a:tailEnd type="triangle"/>
          </a:ln>
        </p:spPr>
      </p:sp>
      <p:sp>
        <p:nvSpPr>
          <p:cNvPr id="115" name="Text 84"/>
          <p:cNvSpPr txBox="1"/>
          <p:nvPr/>
        </p:nvSpPr>
        <p:spPr>
          <a:xfrm>
            <a:off x="4577486" y="1847088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kHz audio</a:t>
            </a:r>
            <a:endParaRPr lang="en-US" sz="580" dirty="0"/>
          </a:p>
        </p:txBody>
      </p:sp>
      <p:sp>
        <p:nvSpPr>
          <p:cNvPr id="116" name="Shape 85"/>
          <p:cNvSpPr/>
          <p:nvPr/>
        </p:nvSpPr>
        <p:spPr>
          <a:xfrm>
            <a:off x="5581498" y="1554480"/>
            <a:ext cx="100584" cy="0"/>
          </a:xfrm>
          <a:prstGeom prst="line">
            <a:avLst/>
          </a:prstGeom>
          <a:noFill/>
          <a:ln w="15875">
            <a:solidFill>
              <a:srgbClr val="2E6FD6"/>
            </a:solidFill>
            <a:prstDash val="solid"/>
            <a:tailEnd type="triangle"/>
          </a:ln>
        </p:spPr>
      </p:sp>
      <p:sp>
        <p:nvSpPr>
          <p:cNvPr id="117" name="Text 86"/>
          <p:cNvSpPr txBox="1"/>
          <p:nvPr/>
        </p:nvSpPr>
        <p:spPr>
          <a:xfrm>
            <a:off x="5380330" y="1847088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</a:t>
            </a:r>
            <a:endParaRPr lang="en-US" sz="580" dirty="0"/>
          </a:p>
        </p:txBody>
      </p:sp>
      <p:sp>
        <p:nvSpPr>
          <p:cNvPr id="118" name="Shape 87"/>
          <p:cNvSpPr/>
          <p:nvPr/>
        </p:nvSpPr>
        <p:spPr>
          <a:xfrm>
            <a:off x="6384341" y="1554480"/>
            <a:ext cx="100584" cy="0"/>
          </a:xfrm>
          <a:prstGeom prst="line">
            <a:avLst/>
          </a:prstGeom>
          <a:noFill/>
          <a:ln w="15875">
            <a:solidFill>
              <a:srgbClr val="2E6FD6"/>
            </a:solidFill>
            <a:prstDash val="solid"/>
            <a:tailEnd type="triangle"/>
          </a:ln>
        </p:spPr>
      </p:sp>
      <p:sp>
        <p:nvSpPr>
          <p:cNvPr id="119" name="Text 88"/>
          <p:cNvSpPr txBox="1"/>
          <p:nvPr/>
        </p:nvSpPr>
        <p:spPr>
          <a:xfrm>
            <a:off x="6183173" y="1847088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580" dirty="0"/>
          </a:p>
        </p:txBody>
      </p:sp>
      <p:sp>
        <p:nvSpPr>
          <p:cNvPr id="120" name="Shape 89"/>
          <p:cNvSpPr/>
          <p:nvPr/>
        </p:nvSpPr>
        <p:spPr>
          <a:xfrm>
            <a:off x="7187184" y="1554480"/>
            <a:ext cx="100584" cy="0"/>
          </a:xfrm>
          <a:prstGeom prst="line">
            <a:avLst/>
          </a:prstGeom>
          <a:noFill/>
          <a:ln w="15875">
            <a:solidFill>
              <a:srgbClr val="D64545"/>
            </a:solidFill>
            <a:prstDash val="solid"/>
            <a:tailEnd type="triangle"/>
          </a:ln>
        </p:spPr>
      </p:sp>
      <p:sp>
        <p:nvSpPr>
          <p:cNvPr id="121" name="Text 90"/>
          <p:cNvSpPr txBox="1"/>
          <p:nvPr/>
        </p:nvSpPr>
        <p:spPr>
          <a:xfrm>
            <a:off x="6986016" y="1847088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answer</a:t>
            </a:r>
            <a:endParaRPr lang="en-US" sz="580" dirty="0"/>
          </a:p>
        </p:txBody>
      </p:sp>
      <p:sp>
        <p:nvSpPr>
          <p:cNvPr id="122" name="Shape 91"/>
          <p:cNvSpPr/>
          <p:nvPr/>
        </p:nvSpPr>
        <p:spPr>
          <a:xfrm>
            <a:off x="7990027" y="1554480"/>
            <a:ext cx="100584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tailEnd type="triangle"/>
          </a:ln>
        </p:spPr>
      </p:sp>
      <p:sp>
        <p:nvSpPr>
          <p:cNvPr id="123" name="Text 92"/>
          <p:cNvSpPr txBox="1"/>
          <p:nvPr/>
        </p:nvSpPr>
        <p:spPr>
          <a:xfrm>
            <a:off x="7788859" y="1847088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text</a:t>
            </a:r>
            <a:endParaRPr lang="en-US" sz="580" dirty="0"/>
          </a:p>
        </p:txBody>
      </p:sp>
      <p:sp>
        <p:nvSpPr>
          <p:cNvPr id="124" name="Shape 93"/>
          <p:cNvSpPr/>
          <p:nvPr/>
        </p:nvSpPr>
        <p:spPr>
          <a:xfrm>
            <a:off x="3291840" y="2212848"/>
            <a:ext cx="665683" cy="621792"/>
          </a:xfrm>
          <a:prstGeom prst="roundRect">
            <a:avLst>
              <a:gd name="adj" fmla="val 8824"/>
            </a:avLst>
          </a:prstGeom>
          <a:solidFill>
            <a:srgbClr val="FFEFDD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125" name="Image 29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337560" y="2258568"/>
            <a:ext cx="182880" cy="182880"/>
          </a:xfrm>
          <a:prstGeom prst="rect">
            <a:avLst/>
          </a:prstGeom>
        </p:spPr>
      </p:pic>
      <p:sp>
        <p:nvSpPr>
          <p:cNvPr id="126" name="Text 94"/>
          <p:cNvSpPr txBox="1"/>
          <p:nvPr/>
        </p:nvSpPr>
        <p:spPr>
          <a:xfrm>
            <a:off x="3547872" y="2249424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650" dirty="0"/>
          </a:p>
        </p:txBody>
      </p:sp>
      <p:sp>
        <p:nvSpPr>
          <p:cNvPr id="127" name="Text 95"/>
          <p:cNvSpPr txBox="1"/>
          <p:nvPr/>
        </p:nvSpPr>
        <p:spPr>
          <a:xfrm>
            <a:off x="3337560" y="2459736"/>
            <a:ext cx="57424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back if the AI is stuck — the only hand-over</a:t>
            </a:r>
            <a:endParaRPr lang="en-US" sz="600" dirty="0"/>
          </a:p>
        </p:txBody>
      </p:sp>
      <p:sp>
        <p:nvSpPr>
          <p:cNvPr id="128" name="Shape 96"/>
          <p:cNvSpPr/>
          <p:nvPr/>
        </p:nvSpPr>
        <p:spPr>
          <a:xfrm>
            <a:off x="5700370" y="2212848"/>
            <a:ext cx="665683" cy="621792"/>
          </a:xfrm>
          <a:prstGeom prst="roundRect">
            <a:avLst>
              <a:gd name="adj" fmla="val 8824"/>
            </a:avLst>
          </a:prstGeom>
          <a:solidFill>
            <a:srgbClr val="FFEFDD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129" name="Image 30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5746090" y="2258568"/>
            <a:ext cx="182880" cy="182880"/>
          </a:xfrm>
          <a:prstGeom prst="rect">
            <a:avLst/>
          </a:prstGeom>
        </p:spPr>
      </p:pic>
      <p:sp>
        <p:nvSpPr>
          <p:cNvPr id="130" name="Text 97"/>
          <p:cNvSpPr txBox="1"/>
          <p:nvPr/>
        </p:nvSpPr>
        <p:spPr>
          <a:xfrm>
            <a:off x="5956402" y="2249424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</a:t>
            </a:r>
            <a:endParaRPr lang="en-US" sz="650" dirty="0"/>
          </a:p>
        </p:txBody>
      </p:sp>
      <p:sp>
        <p:nvSpPr>
          <p:cNvPr id="131" name="Text 98"/>
          <p:cNvSpPr txBox="1"/>
          <p:nvPr/>
        </p:nvSpPr>
        <p:spPr>
          <a:xfrm>
            <a:off x="5746090" y="2459736"/>
            <a:ext cx="57424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answer → 30B → 105B only if needed</a:t>
            </a:r>
            <a:endParaRPr lang="en-US" sz="600" dirty="0"/>
          </a:p>
        </p:txBody>
      </p:sp>
      <p:sp>
        <p:nvSpPr>
          <p:cNvPr id="132" name="Shape 99"/>
          <p:cNvSpPr/>
          <p:nvPr/>
        </p:nvSpPr>
        <p:spPr>
          <a:xfrm>
            <a:off x="6503213" y="2212848"/>
            <a:ext cx="665683" cy="621792"/>
          </a:xfrm>
          <a:prstGeom prst="roundRect">
            <a:avLst>
              <a:gd name="adj" fmla="val 8824"/>
            </a:avLst>
          </a:prstGeom>
          <a:solidFill>
            <a:srgbClr val="FFF3D6"/>
          </a:solidFill>
          <a:ln w="12700">
            <a:solidFill>
              <a:srgbClr val="D4930D"/>
            </a:solidFill>
            <a:prstDash val="solid"/>
          </a:ln>
        </p:spPr>
      </p:sp>
      <p:pic>
        <p:nvPicPr>
          <p:cNvPr id="133" name="Image 31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6548933" y="2258568"/>
            <a:ext cx="182880" cy="182880"/>
          </a:xfrm>
          <a:prstGeom prst="rect">
            <a:avLst/>
          </a:prstGeom>
        </p:spPr>
      </p:pic>
      <p:sp>
        <p:nvSpPr>
          <p:cNvPr id="134" name="Text 100"/>
          <p:cNvSpPr txBox="1"/>
          <p:nvPr/>
        </p:nvSpPr>
        <p:spPr>
          <a:xfrm>
            <a:off x="6759245" y="2249424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Govt DB</a:t>
            </a:r>
            <a:endParaRPr lang="en-US" sz="650" dirty="0"/>
          </a:p>
        </p:txBody>
      </p:sp>
      <p:sp>
        <p:nvSpPr>
          <p:cNvPr id="135" name="Text 101"/>
          <p:cNvSpPr txBox="1"/>
          <p:nvPr/>
        </p:nvSpPr>
        <p:spPr>
          <a:xfrm>
            <a:off x="6548933" y="2459736"/>
            <a:ext cx="57424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rules, NQR courses, NCO jobs, centres</a:t>
            </a:r>
            <a:endParaRPr lang="en-US" sz="600" dirty="0"/>
          </a:p>
        </p:txBody>
      </p:sp>
      <p:sp>
        <p:nvSpPr>
          <p:cNvPr id="136" name="Shape 102"/>
          <p:cNvSpPr/>
          <p:nvPr/>
        </p:nvSpPr>
        <p:spPr>
          <a:xfrm>
            <a:off x="7306056" y="2212848"/>
            <a:ext cx="1468526" cy="621792"/>
          </a:xfrm>
          <a:prstGeom prst="roundRect">
            <a:avLst>
              <a:gd name="adj" fmla="val 8824"/>
            </a:avLst>
          </a:prstGeom>
          <a:solidFill>
            <a:srgbClr val="E6EEFC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137" name="Image 32" descr="preencod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7351776" y="2258568"/>
            <a:ext cx="182880" cy="182880"/>
          </a:xfrm>
          <a:prstGeom prst="rect">
            <a:avLst/>
          </a:prstGeom>
        </p:spPr>
      </p:pic>
      <p:sp>
        <p:nvSpPr>
          <p:cNvPr id="138" name="Text 103"/>
          <p:cNvSpPr txBox="1"/>
          <p:nvPr/>
        </p:nvSpPr>
        <p:spPr>
          <a:xfrm>
            <a:off x="7562088" y="2249424"/>
            <a:ext cx="11850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cache &amp; call log</a:t>
            </a:r>
            <a:endParaRPr lang="en-US" sz="680" dirty="0"/>
          </a:p>
        </p:txBody>
      </p:sp>
      <p:sp>
        <p:nvSpPr>
          <p:cNvPr id="139" name="Text 104"/>
          <p:cNvSpPr txBox="1"/>
          <p:nvPr/>
        </p:nvSpPr>
        <p:spPr>
          <a:xfrm>
            <a:off x="7351776" y="2459736"/>
            <a:ext cx="13770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turn logged by language, district, job and question type. Frequent questions get pre-written, verified answers + audio → less AI work, lower cost over time</a:t>
            </a:r>
            <a:endParaRPr lang="en-US" sz="600" dirty="0"/>
          </a:p>
        </p:txBody>
      </p:sp>
      <p:sp>
        <p:nvSpPr>
          <p:cNvPr id="140" name="Shape 105"/>
          <p:cNvSpPr/>
          <p:nvPr/>
        </p:nvSpPr>
        <p:spPr>
          <a:xfrm>
            <a:off x="3624682" y="1847088"/>
            <a:ext cx="0" cy="347472"/>
          </a:xfrm>
          <a:prstGeom prst="line">
            <a:avLst/>
          </a:prstGeom>
          <a:noFill/>
          <a:ln w="15875">
            <a:solidFill>
              <a:srgbClr val="EF8A22"/>
            </a:solidFill>
            <a:prstDash val="dash"/>
            <a:headEnd type="triangle"/>
          </a:ln>
        </p:spPr>
      </p:sp>
      <p:sp>
        <p:nvSpPr>
          <p:cNvPr id="141" name="Text 106"/>
          <p:cNvSpPr txBox="1"/>
          <p:nvPr/>
        </p:nvSpPr>
        <p:spPr>
          <a:xfrm>
            <a:off x="3652114" y="2011680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back if AI stuck</a:t>
            </a:r>
            <a:endParaRPr lang="en-US" sz="580" dirty="0"/>
          </a:p>
        </p:txBody>
      </p:sp>
      <p:sp>
        <p:nvSpPr>
          <p:cNvPr id="142" name="Shape 107"/>
          <p:cNvSpPr/>
          <p:nvPr/>
        </p:nvSpPr>
        <p:spPr>
          <a:xfrm>
            <a:off x="6033211" y="1847088"/>
            <a:ext cx="0" cy="347472"/>
          </a:xfrm>
          <a:prstGeom prst="line">
            <a:avLst/>
          </a:prstGeom>
          <a:noFill/>
          <a:ln w="15875">
            <a:solidFill>
              <a:srgbClr val="EF8A22"/>
            </a:solidFill>
            <a:prstDash val="dash"/>
            <a:headEnd type="triangle"/>
          </a:ln>
        </p:spPr>
      </p:sp>
      <p:sp>
        <p:nvSpPr>
          <p:cNvPr id="143" name="Text 108"/>
          <p:cNvSpPr txBox="1"/>
          <p:nvPr/>
        </p:nvSpPr>
        <p:spPr>
          <a:xfrm>
            <a:off x="6060643" y="2011680"/>
            <a:ext cx="548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the model</a:t>
            </a:r>
            <a:endParaRPr lang="en-US" sz="580" dirty="0"/>
          </a:p>
        </p:txBody>
      </p:sp>
      <p:sp>
        <p:nvSpPr>
          <p:cNvPr id="144" name="Shape 109"/>
          <p:cNvSpPr/>
          <p:nvPr/>
        </p:nvSpPr>
        <p:spPr>
          <a:xfrm>
            <a:off x="6836054" y="1847088"/>
            <a:ext cx="0" cy="347472"/>
          </a:xfrm>
          <a:prstGeom prst="line">
            <a:avLst/>
          </a:prstGeom>
          <a:noFill/>
          <a:ln w="15875">
            <a:solidFill>
              <a:srgbClr val="D4930D"/>
            </a:solidFill>
            <a:prstDash val="solid"/>
            <a:headEnd type="triangle"/>
          </a:ln>
        </p:spPr>
      </p:sp>
      <p:sp>
        <p:nvSpPr>
          <p:cNvPr id="145" name="Text 110"/>
          <p:cNvSpPr txBox="1"/>
          <p:nvPr/>
        </p:nvSpPr>
        <p:spPr>
          <a:xfrm>
            <a:off x="6534302" y="2011680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i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</a:t>
            </a:r>
            <a:endParaRPr lang="en-US" sz="580" dirty="0"/>
          </a:p>
        </p:txBody>
      </p:sp>
      <p:sp>
        <p:nvSpPr>
          <p:cNvPr id="146" name="Shape 111"/>
          <p:cNvSpPr/>
          <p:nvPr/>
        </p:nvSpPr>
        <p:spPr>
          <a:xfrm>
            <a:off x="7077456" y="2048256"/>
            <a:ext cx="0" cy="146304"/>
          </a:xfrm>
          <a:prstGeom prst="line">
            <a:avLst/>
          </a:prstGeom>
          <a:noFill/>
          <a:ln w="15875">
            <a:solidFill>
              <a:srgbClr val="D4930D"/>
            </a:solidFill>
            <a:prstDash val="solid"/>
          </a:ln>
        </p:spPr>
      </p:sp>
      <p:sp>
        <p:nvSpPr>
          <p:cNvPr id="147" name="Shape 112"/>
          <p:cNvSpPr/>
          <p:nvPr/>
        </p:nvSpPr>
        <p:spPr>
          <a:xfrm>
            <a:off x="7077456" y="2048256"/>
            <a:ext cx="424282" cy="0"/>
          </a:xfrm>
          <a:prstGeom prst="line">
            <a:avLst/>
          </a:prstGeom>
          <a:noFill/>
          <a:ln w="15875">
            <a:solidFill>
              <a:srgbClr val="D4930D"/>
            </a:solidFill>
            <a:prstDash val="solid"/>
          </a:ln>
        </p:spPr>
      </p:sp>
      <p:sp>
        <p:nvSpPr>
          <p:cNvPr id="148" name="Shape 113"/>
          <p:cNvSpPr/>
          <p:nvPr/>
        </p:nvSpPr>
        <p:spPr>
          <a:xfrm>
            <a:off x="7501738" y="1847088"/>
            <a:ext cx="0" cy="201168"/>
          </a:xfrm>
          <a:prstGeom prst="line">
            <a:avLst/>
          </a:prstGeom>
          <a:noFill/>
          <a:ln w="15875">
            <a:solidFill>
              <a:srgbClr val="D4930D"/>
            </a:solidFill>
            <a:prstDash val="solid"/>
            <a:headEnd type="triangle"/>
          </a:ln>
        </p:spPr>
      </p:sp>
      <p:sp>
        <p:nvSpPr>
          <p:cNvPr id="149" name="Text 114"/>
          <p:cNvSpPr txBox="1"/>
          <p:nvPr/>
        </p:nvSpPr>
        <p:spPr>
          <a:xfrm>
            <a:off x="7095744" y="2066544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580" dirty="0"/>
          </a:p>
        </p:txBody>
      </p:sp>
      <p:sp>
        <p:nvSpPr>
          <p:cNvPr id="150" name="Shape 115"/>
          <p:cNvSpPr/>
          <p:nvPr/>
        </p:nvSpPr>
        <p:spPr>
          <a:xfrm>
            <a:off x="7748626" y="1847088"/>
            <a:ext cx="0" cy="347472"/>
          </a:xfrm>
          <a:prstGeom prst="line">
            <a:avLst/>
          </a:prstGeom>
          <a:noFill/>
          <a:ln w="15875">
            <a:solidFill>
              <a:srgbClr val="D64545"/>
            </a:solidFill>
            <a:prstDash val="solid"/>
            <a:tailEnd type="triangle"/>
          </a:ln>
        </p:spPr>
      </p:sp>
      <p:sp>
        <p:nvSpPr>
          <p:cNvPr id="151" name="Text 116"/>
          <p:cNvSpPr txBox="1"/>
          <p:nvPr/>
        </p:nvSpPr>
        <p:spPr>
          <a:xfrm>
            <a:off x="7776058" y="2011680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</a:t>
            </a:r>
            <a:endParaRPr lang="en-US" sz="580" dirty="0"/>
          </a:p>
        </p:txBody>
      </p:sp>
      <p:sp>
        <p:nvSpPr>
          <p:cNvPr id="152" name="Shape 117"/>
          <p:cNvSpPr/>
          <p:nvPr/>
        </p:nvSpPr>
        <p:spPr>
          <a:xfrm>
            <a:off x="8350301" y="1847088"/>
            <a:ext cx="0" cy="347472"/>
          </a:xfrm>
          <a:prstGeom prst="line">
            <a:avLst/>
          </a:prstGeom>
          <a:noFill/>
          <a:ln w="15875">
            <a:solidFill>
              <a:srgbClr val="2E6FD6"/>
            </a:solidFill>
            <a:prstDash val="dash"/>
            <a:headEnd type="triangle"/>
          </a:ln>
        </p:spPr>
      </p:sp>
      <p:sp>
        <p:nvSpPr>
          <p:cNvPr id="153" name="Text 118"/>
          <p:cNvSpPr txBox="1"/>
          <p:nvPr/>
        </p:nvSpPr>
        <p:spPr>
          <a:xfrm>
            <a:off x="8377733" y="2011680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audio</a:t>
            </a:r>
            <a:endParaRPr lang="en-US" sz="580" dirty="0"/>
          </a:p>
        </p:txBody>
      </p:sp>
      <p:sp>
        <p:nvSpPr>
          <p:cNvPr id="154" name="Shape 119"/>
          <p:cNvSpPr/>
          <p:nvPr/>
        </p:nvSpPr>
        <p:spPr>
          <a:xfrm>
            <a:off x="8792870" y="1554480"/>
            <a:ext cx="36576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</a:ln>
        </p:spPr>
      </p:sp>
      <p:sp>
        <p:nvSpPr>
          <p:cNvPr id="155" name="Shape 120"/>
          <p:cNvSpPr/>
          <p:nvPr/>
        </p:nvSpPr>
        <p:spPr>
          <a:xfrm>
            <a:off x="8829446" y="1554480"/>
            <a:ext cx="0" cy="137160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</a:ln>
        </p:spPr>
      </p:sp>
      <p:sp>
        <p:nvSpPr>
          <p:cNvPr id="156" name="Shape 121"/>
          <p:cNvSpPr/>
          <p:nvPr/>
        </p:nvSpPr>
        <p:spPr>
          <a:xfrm>
            <a:off x="5230368" y="2926080"/>
            <a:ext cx="3599078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</a:ln>
        </p:spPr>
      </p:sp>
      <p:sp>
        <p:nvSpPr>
          <p:cNvPr id="157" name="Shape 122"/>
          <p:cNvSpPr/>
          <p:nvPr/>
        </p:nvSpPr>
        <p:spPr>
          <a:xfrm>
            <a:off x="5230368" y="1847088"/>
            <a:ext cx="0" cy="1078992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headEnd type="triangle"/>
          </a:ln>
        </p:spPr>
      </p:sp>
      <p:sp>
        <p:nvSpPr>
          <p:cNvPr id="158" name="Text 123"/>
          <p:cNvSpPr txBox="1"/>
          <p:nvPr/>
        </p:nvSpPr>
        <p:spPr>
          <a:xfrm>
            <a:off x="5257800" y="2011680"/>
            <a:ext cx="685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audio → phone</a:t>
            </a:r>
            <a:endParaRPr lang="en-US" sz="580" dirty="0"/>
          </a:p>
        </p:txBody>
      </p:sp>
      <p:sp>
        <p:nvSpPr>
          <p:cNvPr id="159" name="Text 124"/>
          <p:cNvSpPr txBox="1"/>
          <p:nvPr/>
        </p:nvSpPr>
        <p:spPr>
          <a:xfrm>
            <a:off x="5321808" y="2935224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 reply goes back through Pipecat → Exotel → phone</a:t>
            </a:r>
            <a:endParaRPr lang="en-US" sz="580" dirty="0"/>
          </a:p>
        </p:txBody>
      </p:sp>
      <p:sp>
        <p:nvSpPr>
          <p:cNvPr id="160" name="Shape 125"/>
          <p:cNvSpPr/>
          <p:nvPr/>
        </p:nvSpPr>
        <p:spPr>
          <a:xfrm>
            <a:off x="3200400" y="3127248"/>
            <a:ext cx="5669280" cy="1207008"/>
          </a:xfrm>
          <a:prstGeom prst="roundRect">
            <a:avLst>
              <a:gd name="adj" fmla="val 6061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sp>
        <p:nvSpPr>
          <p:cNvPr id="161" name="Text 126"/>
          <p:cNvSpPr txBox="1"/>
          <p:nvPr/>
        </p:nvSpPr>
        <p:spPr>
          <a:xfrm>
            <a:off x="5577840" y="3154680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 AFTER THE CALL  —  the confirmed profile becomes a case</a:t>
            </a:r>
            <a:endParaRPr lang="en-US" sz="750" dirty="0"/>
          </a:p>
        </p:txBody>
      </p:sp>
      <p:sp>
        <p:nvSpPr>
          <p:cNvPr id="162" name="Shape 127"/>
          <p:cNvSpPr/>
          <p:nvPr/>
        </p:nvSpPr>
        <p:spPr>
          <a:xfrm>
            <a:off x="3291840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E3F6EC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163" name="Image 33" descr="preencoded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337560" y="3392424"/>
            <a:ext cx="182880" cy="182880"/>
          </a:xfrm>
          <a:prstGeom prst="rect">
            <a:avLst/>
          </a:prstGeom>
        </p:spPr>
      </p:pic>
      <p:sp>
        <p:nvSpPr>
          <p:cNvPr id="164" name="Text 128"/>
          <p:cNvSpPr txBox="1"/>
          <p:nvPr/>
        </p:nvSpPr>
        <p:spPr>
          <a:xfrm>
            <a:off x="3547872" y="3383280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680" dirty="0"/>
          </a:p>
        </p:txBody>
      </p:sp>
      <p:sp>
        <p:nvSpPr>
          <p:cNvPr id="165" name="Text 129"/>
          <p:cNvSpPr txBox="1"/>
          <p:nvPr/>
        </p:nvSpPr>
        <p:spPr>
          <a:xfrm>
            <a:off x="3337560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+ eligibility rules</a:t>
            </a:r>
            <a:endParaRPr lang="en-US" sz="600" dirty="0"/>
          </a:p>
        </p:txBody>
      </p:sp>
      <p:sp>
        <p:nvSpPr>
          <p:cNvPr id="166" name="Shape 130"/>
          <p:cNvSpPr/>
          <p:nvPr/>
        </p:nvSpPr>
        <p:spPr>
          <a:xfrm>
            <a:off x="4233672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E6EEFC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167" name="Image 34" descr="preencoded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279392" y="3392424"/>
            <a:ext cx="182880" cy="182880"/>
          </a:xfrm>
          <a:prstGeom prst="rect">
            <a:avLst/>
          </a:prstGeom>
        </p:spPr>
      </p:pic>
      <p:sp>
        <p:nvSpPr>
          <p:cNvPr id="168" name="Text 131"/>
          <p:cNvSpPr txBox="1"/>
          <p:nvPr/>
        </p:nvSpPr>
        <p:spPr>
          <a:xfrm>
            <a:off x="4489704" y="3383280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680" dirty="0"/>
          </a:p>
        </p:txBody>
      </p:sp>
      <p:sp>
        <p:nvSpPr>
          <p:cNvPr id="169" name="Text 132"/>
          <p:cNvSpPr txBox="1"/>
          <p:nvPr/>
        </p:nvSpPr>
        <p:spPr>
          <a:xfrm>
            <a:off x="4279392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profiles, cases, audit log</a:t>
            </a:r>
            <a:endParaRPr lang="en-US" sz="600" dirty="0"/>
          </a:p>
        </p:txBody>
      </p:sp>
      <p:sp>
        <p:nvSpPr>
          <p:cNvPr id="170" name="Shape 133"/>
          <p:cNvSpPr/>
          <p:nvPr/>
        </p:nvSpPr>
        <p:spPr>
          <a:xfrm>
            <a:off x="5175504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FFF3D6"/>
          </a:solidFill>
          <a:ln w="12700">
            <a:solidFill>
              <a:srgbClr val="D4930D"/>
            </a:solidFill>
            <a:prstDash val="solid"/>
          </a:ln>
        </p:spPr>
      </p:sp>
      <p:pic>
        <p:nvPicPr>
          <p:cNvPr id="171" name="Image 35" descr="preencoded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5221224" y="3392424"/>
            <a:ext cx="182880" cy="182880"/>
          </a:xfrm>
          <a:prstGeom prst="rect">
            <a:avLst/>
          </a:prstGeom>
        </p:spPr>
      </p:pic>
      <p:sp>
        <p:nvSpPr>
          <p:cNvPr id="172" name="Text 134"/>
          <p:cNvSpPr txBox="1"/>
          <p:nvPr/>
        </p:nvSpPr>
        <p:spPr>
          <a:xfrm>
            <a:off x="5431536" y="3383280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centre</a:t>
            </a:r>
            <a:endParaRPr lang="en-US" sz="680" dirty="0"/>
          </a:p>
        </p:txBody>
      </p:sp>
      <p:sp>
        <p:nvSpPr>
          <p:cNvPr id="173" name="Text 135"/>
          <p:cNvSpPr txBox="1"/>
          <p:nvPr/>
        </p:nvSpPr>
        <p:spPr>
          <a:xfrm>
            <a:off x="5221224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+ Aadhaar e-KYC*</a:t>
            </a:r>
            <a:endParaRPr lang="en-US" sz="600" dirty="0"/>
          </a:p>
        </p:txBody>
      </p:sp>
      <p:sp>
        <p:nvSpPr>
          <p:cNvPr id="174" name="Shape 136"/>
          <p:cNvSpPr/>
          <p:nvPr/>
        </p:nvSpPr>
        <p:spPr>
          <a:xfrm>
            <a:off x="6117336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FFEFDD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175" name="Image 36" descr="preencoded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163056" y="3392424"/>
            <a:ext cx="182880" cy="182880"/>
          </a:xfrm>
          <a:prstGeom prst="rect">
            <a:avLst/>
          </a:prstGeom>
        </p:spPr>
      </p:pic>
      <p:sp>
        <p:nvSpPr>
          <p:cNvPr id="176" name="Text 137"/>
          <p:cNvSpPr txBox="1"/>
          <p:nvPr/>
        </p:nvSpPr>
        <p:spPr>
          <a:xfrm>
            <a:off x="6373368" y="3383280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AJAY app*</a:t>
            </a:r>
            <a:endParaRPr lang="en-US" sz="680" dirty="0"/>
          </a:p>
        </p:txBody>
      </p:sp>
      <p:sp>
        <p:nvSpPr>
          <p:cNvPr id="177" name="Text 138"/>
          <p:cNvSpPr txBox="1"/>
          <p:nvPr/>
        </p:nvSpPr>
        <p:spPr>
          <a:xfrm>
            <a:off x="6163056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 approves or returns</a:t>
            </a:r>
            <a:endParaRPr lang="en-US" sz="600" dirty="0"/>
          </a:p>
        </p:txBody>
      </p:sp>
      <p:sp>
        <p:nvSpPr>
          <p:cNvPr id="178" name="Shape 139"/>
          <p:cNvSpPr/>
          <p:nvPr/>
        </p:nvSpPr>
        <p:spPr>
          <a:xfrm>
            <a:off x="7059168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E3F6EC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179" name="Image 37" descr="preencoded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7104888" y="3392424"/>
            <a:ext cx="182880" cy="182880"/>
          </a:xfrm>
          <a:prstGeom prst="rect">
            <a:avLst/>
          </a:prstGeom>
        </p:spPr>
      </p:pic>
      <p:sp>
        <p:nvSpPr>
          <p:cNvPr id="180" name="Text 140"/>
          <p:cNvSpPr txBox="1"/>
          <p:nvPr/>
        </p:nvSpPr>
        <p:spPr>
          <a:xfrm>
            <a:off x="7315200" y="3383280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Celery</a:t>
            </a:r>
            <a:endParaRPr lang="en-US" sz="680" dirty="0"/>
          </a:p>
        </p:txBody>
      </p:sp>
      <p:sp>
        <p:nvSpPr>
          <p:cNvPr id="181" name="Text 141"/>
          <p:cNvSpPr txBox="1"/>
          <p:nvPr/>
        </p:nvSpPr>
        <p:spPr>
          <a:xfrm>
            <a:off x="7104888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Redis: calls at 1, 3, 6 months</a:t>
            </a:r>
            <a:endParaRPr lang="en-US" sz="600" dirty="0"/>
          </a:p>
        </p:txBody>
      </p:sp>
      <p:sp>
        <p:nvSpPr>
          <p:cNvPr id="182" name="Shape 142"/>
          <p:cNvSpPr/>
          <p:nvPr/>
        </p:nvSpPr>
        <p:spPr>
          <a:xfrm>
            <a:off x="8001000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7A5AF8"/>
            </a:solidFill>
            <a:prstDash val="solid"/>
          </a:ln>
        </p:spPr>
      </p:sp>
      <p:pic>
        <p:nvPicPr>
          <p:cNvPr id="183" name="Image 38" descr="preencoded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8046720" y="3392424"/>
            <a:ext cx="182880" cy="182880"/>
          </a:xfrm>
          <a:prstGeom prst="rect">
            <a:avLst/>
          </a:prstGeom>
        </p:spPr>
      </p:pic>
      <p:sp>
        <p:nvSpPr>
          <p:cNvPr id="184" name="Text 143"/>
          <p:cNvSpPr txBox="1"/>
          <p:nvPr/>
        </p:nvSpPr>
        <p:spPr>
          <a:xfrm>
            <a:off x="8257032" y="3383280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680" dirty="0"/>
          </a:p>
        </p:txBody>
      </p:sp>
      <p:sp>
        <p:nvSpPr>
          <p:cNvPr id="185" name="Text 144"/>
          <p:cNvSpPr txBox="1"/>
          <p:nvPr/>
        </p:nvSpPr>
        <p:spPr>
          <a:xfrm>
            <a:off x="8046720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Leaflet demand map</a:t>
            </a:r>
            <a:endParaRPr lang="en-US" sz="600" dirty="0"/>
          </a:p>
        </p:txBody>
      </p:sp>
      <p:sp>
        <p:nvSpPr>
          <p:cNvPr id="186" name="Shape 145"/>
          <p:cNvSpPr/>
          <p:nvPr/>
        </p:nvSpPr>
        <p:spPr>
          <a:xfrm>
            <a:off x="4078224" y="3621024"/>
            <a:ext cx="137160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tailEnd type="triangle"/>
          </a:ln>
        </p:spPr>
      </p:sp>
      <p:sp>
        <p:nvSpPr>
          <p:cNvPr id="187" name="Text 146"/>
          <p:cNvSpPr txBox="1"/>
          <p:nvPr/>
        </p:nvSpPr>
        <p:spPr>
          <a:xfrm>
            <a:off x="3877056" y="3913632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JSON</a:t>
            </a:r>
            <a:endParaRPr lang="en-US" sz="580" dirty="0"/>
          </a:p>
        </p:txBody>
      </p:sp>
      <p:sp>
        <p:nvSpPr>
          <p:cNvPr id="188" name="Shape 147"/>
          <p:cNvSpPr/>
          <p:nvPr/>
        </p:nvSpPr>
        <p:spPr>
          <a:xfrm>
            <a:off x="5020056" y="3621024"/>
            <a:ext cx="137160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tailEnd type="triangle"/>
          </a:ln>
        </p:spPr>
      </p:sp>
      <p:sp>
        <p:nvSpPr>
          <p:cNvPr id="189" name="Text 148"/>
          <p:cNvSpPr txBox="1"/>
          <p:nvPr/>
        </p:nvSpPr>
        <p:spPr>
          <a:xfrm>
            <a:off x="4818888" y="3913632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Case ID</a:t>
            </a:r>
            <a:endParaRPr lang="en-US" sz="580" dirty="0"/>
          </a:p>
        </p:txBody>
      </p:sp>
      <p:sp>
        <p:nvSpPr>
          <p:cNvPr id="190" name="Shape 149"/>
          <p:cNvSpPr/>
          <p:nvPr/>
        </p:nvSpPr>
        <p:spPr>
          <a:xfrm>
            <a:off x="5961888" y="3621024"/>
            <a:ext cx="137160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tailEnd type="triangle"/>
          </a:ln>
        </p:spPr>
      </p:sp>
      <p:sp>
        <p:nvSpPr>
          <p:cNvPr id="191" name="Text 150"/>
          <p:cNvSpPr txBox="1"/>
          <p:nvPr/>
        </p:nvSpPr>
        <p:spPr>
          <a:xfrm>
            <a:off x="5760720" y="3913632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+ e-KYC</a:t>
            </a:r>
            <a:endParaRPr lang="en-US" sz="580" dirty="0"/>
          </a:p>
        </p:txBody>
      </p:sp>
      <p:sp>
        <p:nvSpPr>
          <p:cNvPr id="192" name="Shape 151"/>
          <p:cNvSpPr/>
          <p:nvPr/>
        </p:nvSpPr>
        <p:spPr>
          <a:xfrm>
            <a:off x="6903720" y="3621024"/>
            <a:ext cx="137160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tailEnd type="triangle"/>
          </a:ln>
        </p:spPr>
      </p:sp>
      <p:sp>
        <p:nvSpPr>
          <p:cNvPr id="193" name="Text 152"/>
          <p:cNvSpPr txBox="1"/>
          <p:nvPr/>
        </p:nvSpPr>
        <p:spPr>
          <a:xfrm>
            <a:off x="6702552" y="3913632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580" dirty="0"/>
          </a:p>
        </p:txBody>
      </p:sp>
      <p:sp>
        <p:nvSpPr>
          <p:cNvPr id="194" name="Shape 153"/>
          <p:cNvSpPr/>
          <p:nvPr/>
        </p:nvSpPr>
        <p:spPr>
          <a:xfrm>
            <a:off x="7845552" y="3621024"/>
            <a:ext cx="137160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tailEnd type="triangle"/>
          </a:ln>
        </p:spPr>
      </p:sp>
      <p:sp>
        <p:nvSpPr>
          <p:cNvPr id="195" name="Text 154"/>
          <p:cNvSpPr txBox="1"/>
          <p:nvPr/>
        </p:nvSpPr>
        <p:spPr>
          <a:xfrm>
            <a:off x="7644384" y="3913632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</a:t>
            </a:r>
            <a:endParaRPr lang="en-US" sz="580" dirty="0"/>
          </a:p>
        </p:txBody>
      </p:sp>
      <p:sp>
        <p:nvSpPr>
          <p:cNvPr id="196" name="Shape 155"/>
          <p:cNvSpPr/>
          <p:nvPr/>
        </p:nvSpPr>
        <p:spPr>
          <a:xfrm>
            <a:off x="3675888" y="3072384"/>
            <a:ext cx="0" cy="256032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197" name="Text 156"/>
          <p:cNvSpPr txBox="1"/>
          <p:nvPr/>
        </p:nvSpPr>
        <p:spPr>
          <a:xfrm>
            <a:off x="3730752" y="3163824"/>
            <a:ext cx="2011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ends → confirmed profile (JSON) → FastAPI</a:t>
            </a:r>
            <a:endParaRPr lang="en-US" sz="580" dirty="0"/>
          </a:p>
        </p:txBody>
      </p:sp>
      <p:sp>
        <p:nvSpPr>
          <p:cNvPr id="198" name="Shape 157"/>
          <p:cNvSpPr/>
          <p:nvPr/>
        </p:nvSpPr>
        <p:spPr>
          <a:xfrm>
            <a:off x="3291840" y="4041648"/>
            <a:ext cx="5486400" cy="237744"/>
          </a:xfrm>
          <a:prstGeom prst="roundRect">
            <a:avLst>
              <a:gd name="adj" fmla="val 15385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pic>
        <p:nvPicPr>
          <p:cNvPr id="199" name="Image 39" descr="preencoded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3337560" y="4087368"/>
            <a:ext cx="146304" cy="146304"/>
          </a:xfrm>
          <a:prstGeom prst="rect">
            <a:avLst/>
          </a:prstGeom>
        </p:spPr>
      </p:pic>
      <p:sp>
        <p:nvSpPr>
          <p:cNvPr id="200" name="Text 158"/>
          <p:cNvSpPr txBox="1"/>
          <p:nvPr/>
        </p:nvSpPr>
        <p:spPr>
          <a:xfrm>
            <a:off x="3529584" y="4041648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portal (React): </a:t>
            </a: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+ OTP login to the same API and tables — the family, CSC operator or officer can view or edit the case anytime, no call needed.</a:t>
            </a:r>
            <a:endParaRPr lang="en-US" sz="650" dirty="0"/>
          </a:p>
        </p:txBody>
      </p:sp>
      <p:sp>
        <p:nvSpPr>
          <p:cNvPr id="201" name="Shape 159"/>
          <p:cNvSpPr/>
          <p:nvPr/>
        </p:nvSpPr>
        <p:spPr>
          <a:xfrm>
            <a:off x="3200400" y="4389120"/>
            <a:ext cx="5669280" cy="256032"/>
          </a:xfrm>
          <a:prstGeom prst="roundRect">
            <a:avLst>
              <a:gd name="adj" fmla="val 21429"/>
            </a:avLst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202" name="Text 160"/>
          <p:cNvSpPr txBox="1"/>
          <p:nvPr/>
        </p:nvSpPr>
        <p:spPr>
          <a:xfrm>
            <a:off x="3200400" y="438912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understands   →   verified data decides   →   SATYA checks   →   humans approve</a:t>
            </a:r>
            <a:endParaRPr lang="en-US" sz="850" dirty="0"/>
          </a:p>
        </p:txBody>
      </p:sp>
      <p:sp>
        <p:nvSpPr>
          <p:cNvPr id="203" name="Text 161"/>
          <p:cNvSpPr txBox="1"/>
          <p:nvPr/>
        </p:nvSpPr>
        <p:spPr>
          <a:xfrm>
            <a:off x="3200400" y="4681728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rules: no Aadhaar number stored · raw audio deleted after confirmation · consent logged (DPDP Rules 2025) · every edit in the audit log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EAF0F8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82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FEASIBILITY AND VIABILITY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274320" y="896112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it be built and run?  </a:t>
            </a: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every part already runs in India, the prototype can be built today, and one completed call costs about ₹25–54.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274320" y="11887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WORKING IN INDIA — NOTHING HERE IS UNTESTED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74320" y="1389888"/>
            <a:ext cx="2057400" cy="822960"/>
          </a:xfrm>
          <a:prstGeom prst="roundRect">
            <a:avLst>
              <a:gd name="adj" fmla="val 8889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5760" y="1463040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394" y="1509674"/>
            <a:ext cx="217627" cy="21762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9808" y="14447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languages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365760" y="181051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UIDAI already runs Sarvam's voice AI for Aadhaar on its own servers, in 10 of Sarvam's 22 languages.</a:t>
            </a:r>
            <a:endParaRPr lang="en-US" sz="670" dirty="0"/>
          </a:p>
        </p:txBody>
      </p:sp>
      <p:sp>
        <p:nvSpPr>
          <p:cNvPr id="14" name="Shape 10"/>
          <p:cNvSpPr/>
          <p:nvPr/>
        </p:nvSpPr>
        <p:spPr>
          <a:xfrm>
            <a:off x="365760" y="2057400"/>
            <a:ext cx="173736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20624" y="2057400"/>
            <a:ext cx="1645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PIB / MeitY 2025</a:t>
            </a:r>
            <a:endParaRPr lang="en-US" sz="600" dirty="0"/>
          </a:p>
        </p:txBody>
      </p:sp>
      <p:sp>
        <p:nvSpPr>
          <p:cNvPr id="16" name="Shape 12"/>
          <p:cNvSpPr/>
          <p:nvPr/>
        </p:nvSpPr>
        <p:spPr>
          <a:xfrm>
            <a:off x="2446020" y="1389888"/>
            <a:ext cx="2057400" cy="822960"/>
          </a:xfrm>
          <a:prstGeom prst="roundRect">
            <a:avLst>
              <a:gd name="adj" fmla="val 8889"/>
            </a:avLst>
          </a:prstGeom>
          <a:solidFill>
            <a:srgbClr val="E0F4F5"/>
          </a:solidFill>
          <a:ln w="9525">
            <a:solidFill>
              <a:srgbClr val="E0F4F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537460" y="1463040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13919B"/>
          </a:solidFill>
          <a:ln w="12700">
            <a:solidFill>
              <a:srgbClr val="13919B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094" y="1509674"/>
            <a:ext cx="217627" cy="21762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921508" y="14447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lakh calls a day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2537460" y="181051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Kilkari, the govt health-advice line, already handles this volume every day.</a:t>
            </a:r>
            <a:endParaRPr lang="en-US" sz="670" dirty="0"/>
          </a:p>
        </p:txBody>
      </p:sp>
      <p:sp>
        <p:nvSpPr>
          <p:cNvPr id="21" name="Shape 16"/>
          <p:cNvSpPr/>
          <p:nvPr/>
        </p:nvSpPr>
        <p:spPr>
          <a:xfrm>
            <a:off x="2537460" y="2057400"/>
            <a:ext cx="173736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592324" y="2057400"/>
            <a:ext cx="1645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BMJ Global Health 2021</a:t>
            </a:r>
            <a:endParaRPr lang="en-US" sz="600" dirty="0"/>
          </a:p>
        </p:txBody>
      </p:sp>
      <p:sp>
        <p:nvSpPr>
          <p:cNvPr id="23" name="Shape 18"/>
          <p:cNvSpPr/>
          <p:nvPr/>
        </p:nvSpPr>
        <p:spPr>
          <a:xfrm>
            <a:off x="4617720" y="1389888"/>
            <a:ext cx="2057400" cy="822960"/>
          </a:xfrm>
          <a:prstGeom prst="roundRect">
            <a:avLst>
              <a:gd name="adj" fmla="val 8889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709160" y="1463040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7A5AF8"/>
          </a:solidFill>
          <a:ln w="12700">
            <a:solidFill>
              <a:srgbClr val="7A5AF8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5794" y="1509674"/>
            <a:ext cx="217627" cy="217627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5093208" y="14447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20% word error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4709160" y="181051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Indian speech AI on real phone calls — 36,691 speakers, 15 languages, 536 hours.</a:t>
            </a:r>
            <a:endParaRPr lang="en-US" sz="670" dirty="0"/>
          </a:p>
        </p:txBody>
      </p:sp>
      <p:sp>
        <p:nvSpPr>
          <p:cNvPr id="28" name="Shape 22"/>
          <p:cNvSpPr/>
          <p:nvPr/>
        </p:nvSpPr>
        <p:spPr>
          <a:xfrm>
            <a:off x="4709160" y="2057400"/>
            <a:ext cx="173736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764024" y="2057400"/>
            <a:ext cx="1645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Voice of India 2026 (arXiv)</a:t>
            </a:r>
            <a:endParaRPr lang="en-US" sz="600" dirty="0"/>
          </a:p>
        </p:txBody>
      </p:sp>
      <p:sp>
        <p:nvSpPr>
          <p:cNvPr id="30" name="Shape 24"/>
          <p:cNvSpPr/>
          <p:nvPr/>
        </p:nvSpPr>
        <p:spPr>
          <a:xfrm>
            <a:off x="6789420" y="1389888"/>
            <a:ext cx="2057400" cy="822960"/>
          </a:xfrm>
          <a:prstGeom prst="roundRect">
            <a:avLst>
              <a:gd name="adj" fmla="val 8889"/>
            </a:avLst>
          </a:prstGeom>
          <a:solidFill>
            <a:srgbClr val="FFEFDD"/>
          </a:solidFill>
          <a:ln w="9525">
            <a:solidFill>
              <a:srgbClr val="FFEFDD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6880860" y="1463040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EF8A22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7494" y="1509674"/>
            <a:ext cx="217627" cy="217627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7264908" y="14447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1.2–2.2 s per reply</a:t>
            </a:r>
            <a:endParaRPr lang="en-US" sz="1100" dirty="0"/>
          </a:p>
        </p:txBody>
      </p:sp>
      <p:sp>
        <p:nvSpPr>
          <p:cNvPr id="34" name="Text 27"/>
          <p:cNvSpPr txBox="1"/>
          <p:nvPr/>
        </p:nvSpPr>
        <p:spPr>
          <a:xfrm>
            <a:off x="6880860" y="181051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speech 0.5 s + speech-to-text 0.1–0.3 s + AI first word 0.3–1 s + voice 0.2 s + network 0.1–0.2 s.</a:t>
            </a:r>
            <a:endParaRPr lang="en-US" sz="670" dirty="0"/>
          </a:p>
        </p:txBody>
      </p:sp>
      <p:sp>
        <p:nvSpPr>
          <p:cNvPr id="35" name="Shape 28"/>
          <p:cNvSpPr/>
          <p:nvPr/>
        </p:nvSpPr>
        <p:spPr>
          <a:xfrm>
            <a:off x="6880860" y="2057400"/>
            <a:ext cx="173736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6935724" y="2057400"/>
            <a:ext cx="1645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Sarvam docs · NVIDIA 2026</a:t>
            </a:r>
            <a:endParaRPr lang="en-US" sz="600" dirty="0"/>
          </a:p>
        </p:txBody>
      </p:sp>
      <p:sp>
        <p:nvSpPr>
          <p:cNvPr id="37" name="Text 30"/>
          <p:cNvSpPr txBox="1"/>
          <p:nvPr/>
        </p:nvSpPr>
        <p:spPr>
          <a:xfrm>
            <a:off x="274320" y="2304288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ONE COMPLETED CALL COSTS — ₹ PER PERSON</a:t>
            </a:r>
            <a:endParaRPr lang="en-US" sz="850" dirty="0"/>
          </a:p>
        </p:txBody>
      </p:sp>
      <p:sp>
        <p:nvSpPr>
          <p:cNvPr id="38" name="Text 31"/>
          <p:cNvSpPr txBox="1"/>
          <p:nvPr/>
        </p:nvSpPr>
        <p:spPr>
          <a:xfrm>
            <a:off x="274320" y="2468880"/>
            <a:ext cx="4206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call = 10-min interview + options, plus 3 follow-up calls of 2 min (≈ 16 min of phone time).</a:t>
            </a:r>
            <a:endParaRPr lang="en-US" sz="66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615184"/>
          <a:ext cx="42062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194560"/>
                <a:gridCol w="365760"/>
                <a:gridCol w="365760"/>
              </a:tblGrid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item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we calculate it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4E79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7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 line (Exotel)</a:t>
                      </a:r>
                      <a:endParaRPr lang="en-US" sz="6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7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min × ₹0.80–1.80, + unfinished calls &amp; 30-s billing</a:t>
                      </a:r>
                      <a:endParaRPr lang="en-US" sz="6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7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₹14.7</a:t>
                      </a:r>
                      <a:endParaRPr lang="en-US" sz="6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7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₹33.7</a:t>
                      </a:r>
                      <a:endParaRPr lang="en-US" sz="6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7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Speech → text (Saaras v3)</a:t>
                      </a:r>
                      <a:endParaRPr lang="en-US" sz="6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7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₹30 per hour; only his speech (50–60% of the call)</a:t>
                      </a:r>
                      <a:endParaRPr lang="en-US" sz="6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7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₹4.2</a:t>
                      </a:r>
                      <a:endParaRPr lang="en-US" sz="6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7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₹5.1</a:t>
                      </a:r>
                      <a:endParaRPr lang="en-US" sz="6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7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→ speech (Bulbul v3)</a:t>
                      </a:r>
                      <a:endParaRPr lang="en-US" sz="6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7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 per 1,000 characters; fixed questions pre-recorded</a:t>
                      </a:r>
                      <a:endParaRPr lang="en-US" sz="6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7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₹2.4</a:t>
                      </a:r>
                      <a:endParaRPr lang="en-US" sz="6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7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₹6.0</a:t>
                      </a:r>
                      <a:endParaRPr lang="en-US" sz="6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7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brain (Sarvam-30B / 105B)</a:t>
                      </a:r>
                      <a:endParaRPr lang="en-US" sz="6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7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~90% of turns on 30B; 105B only when needed</a:t>
                      </a:r>
                      <a:endParaRPr lang="en-US" sz="6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7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₹0.25</a:t>
                      </a:r>
                      <a:endParaRPr lang="en-US" sz="6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7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₹0.5</a:t>
                      </a:r>
                      <a:endParaRPr lang="en-US" sz="6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7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 + human call-back</a:t>
                      </a:r>
                      <a:endParaRPr lang="en-US" sz="6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7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 SMS; 10–20% of callers need a human for 5–6 min</a:t>
                      </a:r>
                      <a:endParaRPr lang="en-US" sz="6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7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₹2.2</a:t>
                      </a:r>
                      <a:endParaRPr lang="en-US" sz="6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7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₹5.3</a:t>
                      </a:r>
                      <a:endParaRPr lang="en-US" sz="6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7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Hosting &amp; helpline number</a:t>
                      </a:r>
                      <a:endParaRPr lang="en-US" sz="6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7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servers, database, number — spread per call</a:t>
                      </a:r>
                      <a:endParaRPr lang="en-US" sz="6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7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₹1.0</a:t>
                      </a:r>
                      <a:endParaRPr lang="en-US" sz="6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7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₹3.0</a:t>
                      </a:r>
                      <a:endParaRPr lang="en-US" sz="6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7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per completed profile</a:t>
                      </a:r>
                      <a:endParaRPr lang="en-US" sz="6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9D6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7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 missed calls → 420–517 finished profiles</a:t>
                      </a:r>
                      <a:endParaRPr lang="en-US" sz="6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9D6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7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₹25</a:t>
                      </a:r>
                      <a:endParaRPr lang="en-US" sz="6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9D6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7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₹54</a:t>
                      </a:r>
                      <a:endParaRPr lang="en-US" sz="6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9D63"/>
                    </a:solidFill>
                  </a:tcPr>
                </a:tc>
              </a:tr>
            </a:tbl>
          </a:graphicData>
        </a:graphic>
      </p:graphicFrame>
      <p:sp>
        <p:nvSpPr>
          <p:cNvPr id="40" name="Shape 32"/>
          <p:cNvSpPr/>
          <p:nvPr/>
        </p:nvSpPr>
        <p:spPr>
          <a:xfrm>
            <a:off x="274320" y="3822192"/>
            <a:ext cx="4206240" cy="329184"/>
          </a:xfrm>
          <a:prstGeom prst="roundRect">
            <a:avLst>
              <a:gd name="adj" fmla="val 13889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347472" y="3822192"/>
            <a:ext cx="4069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further over time: </a:t>
            </a:r>
            <a:r>
              <a:rPr lang="en-US" sz="6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questions get pre-written, verified answers and pre-recorded audio (answer cache, slide 3), and Sarvam bills cached input at ₹10.98 vs ₹29.28 per 1M tokens. At national scale ~70% of speech moves to free self-hosted IndicConformer → ₹21–49 per profile.</a:t>
            </a:r>
            <a:endParaRPr lang="en-US" sz="620" dirty="0"/>
          </a:p>
        </p:txBody>
      </p:sp>
      <p:sp>
        <p:nvSpPr>
          <p:cNvPr id="42" name="Shape 34"/>
          <p:cNvSpPr/>
          <p:nvPr/>
        </p:nvSpPr>
        <p:spPr>
          <a:xfrm>
            <a:off x="274320" y="4178808"/>
            <a:ext cx="4206240" cy="137160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9525">
            <a:solidFill>
              <a:srgbClr val="F3F5F8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329184" y="4178808"/>
            <a:ext cx="4114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Prices: Sarvam API pricing · Indian telephony rate cards 2026 · funnel = our estimate</a:t>
            </a:r>
            <a:endParaRPr lang="en-US" sz="600" dirty="0"/>
          </a:p>
        </p:txBody>
      </p:sp>
      <p:sp>
        <p:nvSpPr>
          <p:cNvPr id="44" name="Text 36"/>
          <p:cNvSpPr txBox="1"/>
          <p:nvPr/>
        </p:nvSpPr>
        <p:spPr>
          <a:xfrm>
            <a:off x="4709160" y="2304288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GETS THROUGH — AND WHO NEEDS A HUMAN</a:t>
            </a:r>
            <a:endParaRPr lang="en-US" sz="850" dirty="0"/>
          </a:p>
        </p:txBody>
      </p:sp>
      <p:sp>
        <p:nvSpPr>
          <p:cNvPr id="45" name="Shape 37"/>
          <p:cNvSpPr/>
          <p:nvPr/>
        </p:nvSpPr>
        <p:spPr>
          <a:xfrm>
            <a:off x="4709160" y="2487168"/>
            <a:ext cx="4160520" cy="932688"/>
          </a:xfrm>
          <a:prstGeom prst="roundRect">
            <a:avLst>
              <a:gd name="adj" fmla="val 7843"/>
            </a:avLst>
          </a:prstGeom>
          <a:solidFill>
            <a:srgbClr val="E0F4F5"/>
          </a:solidFill>
          <a:ln w="9525">
            <a:solidFill>
              <a:srgbClr val="E0F4F5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4800600" y="2587752"/>
            <a:ext cx="91440" cy="91440"/>
          </a:xfrm>
          <a:prstGeom prst="ellipse">
            <a:avLst/>
          </a:prstGeom>
          <a:solidFill>
            <a:srgbClr val="13919B"/>
          </a:solidFill>
          <a:ln w="12700">
            <a:solidFill>
              <a:srgbClr val="13919B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4956048" y="2532888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answer on the 1st attempt, 76% by the 3rd, 99.5% by the 9th</a:t>
            </a:r>
            <a:endParaRPr lang="en-US" sz="660" dirty="0"/>
          </a:p>
        </p:txBody>
      </p:sp>
      <p:sp>
        <p:nvSpPr>
          <p:cNvPr id="48" name="Shape 40"/>
          <p:cNvSpPr/>
          <p:nvPr/>
        </p:nvSpPr>
        <p:spPr>
          <a:xfrm>
            <a:off x="7479792" y="2564892"/>
            <a:ext cx="1344168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9" name="Text 41"/>
          <p:cNvSpPr txBox="1"/>
          <p:nvPr/>
        </p:nvSpPr>
        <p:spPr>
          <a:xfrm>
            <a:off x="7534656" y="2564892"/>
            <a:ext cx="12527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Kilkari, BMJ Global Health 2021</a:t>
            </a:r>
            <a:endParaRPr lang="en-US" sz="600" dirty="0"/>
          </a:p>
        </p:txBody>
      </p:sp>
      <p:sp>
        <p:nvSpPr>
          <p:cNvPr id="50" name="Shape 42"/>
          <p:cNvSpPr/>
          <p:nvPr/>
        </p:nvSpPr>
        <p:spPr>
          <a:xfrm>
            <a:off x="4800600" y="2807208"/>
            <a:ext cx="91440" cy="91440"/>
          </a:xfrm>
          <a:prstGeom prst="ellipse">
            <a:avLst/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sp>
        <p:nvSpPr>
          <p:cNvPr id="51" name="Text 43"/>
          <p:cNvSpPr txBox="1"/>
          <p:nvPr/>
        </p:nvSpPr>
        <p:spPr>
          <a:xfrm>
            <a:off x="4956048" y="2752344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of answered calls finish the interview; ~85% of those finish the options → 420–517 profiles per 1,000 missed calls</a:t>
            </a:r>
            <a:endParaRPr lang="en-US" sz="660" dirty="0"/>
          </a:p>
        </p:txBody>
      </p:sp>
      <p:sp>
        <p:nvSpPr>
          <p:cNvPr id="52" name="Shape 44"/>
          <p:cNvSpPr/>
          <p:nvPr/>
        </p:nvSpPr>
        <p:spPr>
          <a:xfrm>
            <a:off x="7479792" y="2784348"/>
            <a:ext cx="1344168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3" name="Text 45"/>
          <p:cNvSpPr txBox="1"/>
          <p:nvPr/>
        </p:nvSpPr>
        <p:spPr>
          <a:xfrm>
            <a:off x="7534656" y="2784348"/>
            <a:ext cx="12527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our funnel estimate</a:t>
            </a:r>
            <a:endParaRPr lang="en-US" sz="600" dirty="0"/>
          </a:p>
        </p:txBody>
      </p:sp>
      <p:sp>
        <p:nvSpPr>
          <p:cNvPr id="54" name="Shape 46"/>
          <p:cNvSpPr/>
          <p:nvPr/>
        </p:nvSpPr>
        <p:spPr>
          <a:xfrm>
            <a:off x="4800600" y="3026664"/>
            <a:ext cx="91440" cy="91440"/>
          </a:xfrm>
          <a:prstGeom prst="ellipse">
            <a:avLst/>
          </a:prstGeom>
          <a:solidFill>
            <a:srgbClr val="EF8A22"/>
          </a:solidFill>
          <a:ln w="12700">
            <a:solidFill>
              <a:srgbClr val="EF8A22"/>
            </a:solidFill>
            <a:prstDash val="solid"/>
          </a:ln>
        </p:spPr>
      </p:sp>
      <p:sp>
        <p:nvSpPr>
          <p:cNvPr id="55" name="Text 47"/>
          <p:cNvSpPr txBox="1"/>
          <p:nvPr/>
        </p:nvSpPr>
        <p:spPr>
          <a:xfrm>
            <a:off x="4956048" y="2971800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10–20% need a human counsellor call-back — design target ≤ 20%</a:t>
            </a:r>
            <a:endParaRPr lang="en-US" sz="660" dirty="0"/>
          </a:p>
        </p:txBody>
      </p:sp>
      <p:sp>
        <p:nvSpPr>
          <p:cNvPr id="56" name="Shape 48"/>
          <p:cNvSpPr/>
          <p:nvPr/>
        </p:nvSpPr>
        <p:spPr>
          <a:xfrm>
            <a:off x="7479792" y="3003804"/>
            <a:ext cx="1344168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7" name="Text 49"/>
          <p:cNvSpPr txBox="1"/>
          <p:nvPr/>
        </p:nvSpPr>
        <p:spPr>
          <a:xfrm>
            <a:off x="7534656" y="3003804"/>
            <a:ext cx="12527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our design target</a:t>
            </a:r>
            <a:endParaRPr lang="en-US" sz="600" dirty="0"/>
          </a:p>
        </p:txBody>
      </p:sp>
      <p:sp>
        <p:nvSpPr>
          <p:cNvPr id="58" name="Shape 50"/>
          <p:cNvSpPr/>
          <p:nvPr/>
        </p:nvSpPr>
        <p:spPr>
          <a:xfrm>
            <a:off x="4800600" y="3246120"/>
            <a:ext cx="91440" cy="91440"/>
          </a:xfrm>
          <a:prstGeom prst="ellipse">
            <a:avLst/>
          </a:prstGeom>
          <a:solidFill>
            <a:srgbClr val="7A5AF8"/>
          </a:solidFill>
          <a:ln w="12700">
            <a:solidFill>
              <a:srgbClr val="7A5AF8"/>
            </a:solidFill>
            <a:prstDash val="solid"/>
          </a:ln>
        </p:spPr>
      </p:sp>
      <p:sp>
        <p:nvSpPr>
          <p:cNvPr id="59" name="Text 51"/>
          <p:cNvSpPr txBox="1"/>
          <p:nvPr/>
        </p:nvSpPr>
        <p:spPr>
          <a:xfrm>
            <a:off x="4956048" y="3191256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be reached by phone? The web portal (mobile + OTP) is always open.</a:t>
            </a:r>
            <a:endParaRPr lang="en-US" sz="660" dirty="0"/>
          </a:p>
        </p:txBody>
      </p:sp>
      <p:sp>
        <p:nvSpPr>
          <p:cNvPr id="60" name="Text 52"/>
          <p:cNvSpPr txBox="1"/>
          <p:nvPr/>
        </p:nvSpPr>
        <p:spPr>
          <a:xfrm>
            <a:off x="4709160" y="3493008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THE GOVERNMENT AFFORD IT?</a:t>
            </a:r>
            <a:endParaRPr lang="en-US" sz="850" dirty="0"/>
          </a:p>
        </p:txBody>
      </p:sp>
      <p:sp>
        <p:nvSpPr>
          <p:cNvPr id="61" name="Shape 53"/>
          <p:cNvSpPr/>
          <p:nvPr/>
        </p:nvSpPr>
        <p:spPr>
          <a:xfrm>
            <a:off x="4709160" y="3675888"/>
            <a:ext cx="4160520" cy="347472"/>
          </a:xfrm>
          <a:prstGeom prst="roundRect">
            <a:avLst>
              <a:gd name="adj" fmla="val 21053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sp>
        <p:nvSpPr>
          <p:cNvPr id="62" name="Shape 54"/>
          <p:cNvSpPr/>
          <p:nvPr/>
        </p:nvSpPr>
        <p:spPr>
          <a:xfrm>
            <a:off x="4773168" y="3726180"/>
            <a:ext cx="246888" cy="246888"/>
          </a:xfrm>
          <a:prstGeom prst="roundRect">
            <a:avLst>
              <a:gd name="adj" fmla="val 22000"/>
            </a:avLst>
          </a:prstGeom>
          <a:solidFill>
            <a:srgbClr val="1F9D63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6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0201" y="3763213"/>
            <a:ext cx="172822" cy="172822"/>
          </a:xfrm>
          <a:prstGeom prst="rect">
            <a:avLst/>
          </a:prstGeom>
        </p:spPr>
      </p:pic>
      <p:sp>
        <p:nvSpPr>
          <p:cNvPr id="64" name="Text 55"/>
          <p:cNvSpPr txBox="1"/>
          <p:nvPr/>
        </p:nvSpPr>
        <p:spPr>
          <a:xfrm>
            <a:off x="5084064" y="3675888"/>
            <a:ext cx="3730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0.05–0.10% of the budget  </a:t>
            </a: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India: ₹1.1–2.1 crore a year vs PM-AJAY's ₹2,140 crore (2026-27).</a:t>
            </a:r>
            <a:endParaRPr lang="en-US" sz="650" dirty="0"/>
          </a:p>
        </p:txBody>
      </p:sp>
      <p:sp>
        <p:nvSpPr>
          <p:cNvPr id="65" name="Shape 56"/>
          <p:cNvSpPr/>
          <p:nvPr/>
        </p:nvSpPr>
        <p:spPr>
          <a:xfrm>
            <a:off x="4709160" y="4059936"/>
            <a:ext cx="4160520" cy="347472"/>
          </a:xfrm>
          <a:prstGeom prst="roundRect">
            <a:avLst>
              <a:gd name="adj" fmla="val 21053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sp>
        <p:nvSpPr>
          <p:cNvPr id="66" name="Shape 57"/>
          <p:cNvSpPr/>
          <p:nvPr/>
        </p:nvSpPr>
        <p:spPr>
          <a:xfrm>
            <a:off x="4773168" y="4110228"/>
            <a:ext cx="246888" cy="246888"/>
          </a:xfrm>
          <a:prstGeom prst="roundRect">
            <a:avLst>
              <a:gd name="adj" fmla="val 22000"/>
            </a:avLst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6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0201" y="4147261"/>
            <a:ext cx="172822" cy="172822"/>
          </a:xfrm>
          <a:prstGeom prst="rect">
            <a:avLst/>
          </a:prstGeom>
        </p:spPr>
      </p:pic>
      <p:sp>
        <p:nvSpPr>
          <p:cNvPr id="68" name="Text 58"/>
          <p:cNvSpPr txBox="1"/>
          <p:nvPr/>
        </p:nvSpPr>
        <p:spPr>
          <a:xfrm>
            <a:off x="5084064" y="4059936"/>
            <a:ext cx="3730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₹1 in every ₹100  </a:t>
            </a: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₹220–420 per beneficiary vs ≈ ₹60,700 average GIA support (₹1,219.80 cr ÷ 2,01,006).</a:t>
            </a:r>
            <a:endParaRPr lang="en-US" sz="650" dirty="0"/>
          </a:p>
        </p:txBody>
      </p:sp>
      <p:sp>
        <p:nvSpPr>
          <p:cNvPr id="69" name="Shape 59"/>
          <p:cNvSpPr/>
          <p:nvPr/>
        </p:nvSpPr>
        <p:spPr>
          <a:xfrm>
            <a:off x="4709160" y="4443984"/>
            <a:ext cx="4160520" cy="347472"/>
          </a:xfrm>
          <a:prstGeom prst="roundRect">
            <a:avLst>
              <a:gd name="adj" fmla="val 21053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sp>
        <p:nvSpPr>
          <p:cNvPr id="70" name="Shape 60"/>
          <p:cNvSpPr/>
          <p:nvPr/>
        </p:nvSpPr>
        <p:spPr>
          <a:xfrm>
            <a:off x="4773168" y="4494276"/>
            <a:ext cx="246888" cy="246888"/>
          </a:xfrm>
          <a:prstGeom prst="roundRect">
            <a:avLst>
              <a:gd name="adj" fmla="val 22000"/>
            </a:avLst>
          </a:prstGeom>
          <a:solidFill>
            <a:srgbClr val="7A5AF8"/>
          </a:solidFill>
          <a:ln w="12700">
            <a:solidFill>
              <a:srgbClr val="7A5AF8"/>
            </a:solidFill>
            <a:prstDash val="solid"/>
          </a:ln>
        </p:spPr>
      </p:sp>
      <p:pic>
        <p:nvPicPr>
          <p:cNvPr id="7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10201" y="4531309"/>
            <a:ext cx="172822" cy="172822"/>
          </a:xfrm>
          <a:prstGeom prst="rect">
            <a:avLst/>
          </a:prstGeom>
        </p:spPr>
      </p:pic>
      <p:sp>
        <p:nvSpPr>
          <p:cNvPr id="72" name="Text 61"/>
          <p:cNvSpPr txBox="1"/>
          <p:nvPr/>
        </p:nvSpPr>
        <p:spPr>
          <a:xfrm>
            <a:off x="5084064" y="4443984"/>
            <a:ext cx="3730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₹9–13 lakh to start  </a:t>
            </a: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6-month pilot in one block (≈ 1,000 families): build, test with real users, then scale.</a:t>
            </a:r>
            <a:endParaRPr lang="en-US" sz="650" dirty="0"/>
          </a:p>
        </p:txBody>
      </p:sp>
      <p:sp>
        <p:nvSpPr>
          <p:cNvPr id="73" name="Text 62"/>
          <p:cNvSpPr txBox="1"/>
          <p:nvPr/>
        </p:nvSpPr>
        <p:spPr>
          <a:xfrm>
            <a:off x="274320" y="4352544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→ HOW WE HANDLE THEM</a:t>
            </a:r>
            <a:endParaRPr lang="en-US" sz="850" dirty="0"/>
          </a:p>
        </p:txBody>
      </p:sp>
      <p:sp>
        <p:nvSpPr>
          <p:cNvPr id="74" name="Text 63"/>
          <p:cNvSpPr txBox="1"/>
          <p:nvPr/>
        </p:nvSpPr>
        <p:spPr>
          <a:xfrm>
            <a:off x="274320" y="4526280"/>
            <a:ext cx="420624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 dialects are hard  →  </a:t>
            </a:r>
            <a:r>
              <a:rPr lang="en-US" sz="6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keypad for facts · read-back · bigger model · then a human</a:t>
            </a:r>
            <a:endParaRPr lang="en-US" sz="620" dirty="0"/>
          </a:p>
        </p:txBody>
      </p:sp>
      <p:sp>
        <p:nvSpPr>
          <p:cNvPr id="75" name="Text 64"/>
          <p:cNvSpPr txBox="1"/>
          <p:nvPr/>
        </p:nvSpPr>
        <p:spPr>
          <a:xfrm>
            <a:off x="274320" y="4631436"/>
            <a:ext cx="420624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could say something wrong  →  </a:t>
            </a:r>
            <a:r>
              <a:rPr lang="en-US" sz="6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SATYA blocks anything not in the govt database</a:t>
            </a:r>
            <a:endParaRPr lang="en-US" sz="620" dirty="0"/>
          </a:p>
        </p:txBody>
      </p:sp>
      <p:sp>
        <p:nvSpPr>
          <p:cNvPr id="76" name="Text 65"/>
          <p:cNvSpPr txBox="1"/>
          <p:nvPr/>
        </p:nvSpPr>
        <p:spPr>
          <a:xfrm>
            <a:off x="274320" y="4736592"/>
            <a:ext cx="420624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ignore unknown numbers  →  </a:t>
            </a:r>
            <a:r>
              <a:rPr lang="en-US" sz="6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calls first; call-back from an official 1600 number</a:t>
            </a:r>
            <a:endParaRPr lang="en-US" sz="620" dirty="0"/>
          </a:p>
        </p:txBody>
      </p:sp>
      <p:sp>
        <p:nvSpPr>
          <p:cNvPr id="77" name="Text 66"/>
          <p:cNvSpPr txBox="1"/>
          <p:nvPr/>
        </p:nvSpPr>
        <p:spPr>
          <a:xfrm>
            <a:off x="274320" y="4841748"/>
            <a:ext cx="420624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replies bore callers  →  </a:t>
            </a:r>
            <a:r>
              <a:rPr lang="en-US" sz="6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voice · pre-recorded questions · keypad turns are instant</a:t>
            </a:r>
            <a:endParaRPr lang="en-US" sz="6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EAF0F8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82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IMPACT AND BENEFITS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274320" y="896112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gains?  </a:t>
            </a: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 families, CSC operators, district officers and the Ministry. Every number shows how it was worked out.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274320" y="11887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74320" y="1389888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5760" y="1463040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1F9D63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394" y="1509674"/>
            <a:ext cx="217627" cy="21762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9808" y="14447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trained people get jobs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365760" y="18105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 → 70%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" y="2093976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41% got a job; 70% is the govt's own target. Per 1,000 trainees, even 50% means 90 more people working.</a:t>
            </a:r>
            <a:endParaRPr lang="en-US" sz="650" dirty="0"/>
          </a:p>
        </p:txBody>
      </p:sp>
      <p:sp>
        <p:nvSpPr>
          <p:cNvPr id="15" name="Shape 11"/>
          <p:cNvSpPr/>
          <p:nvPr/>
        </p:nvSpPr>
        <p:spPr>
          <a:xfrm>
            <a:off x="365760" y="2587752"/>
            <a:ext cx="187452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20624" y="2587752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CAG 2025 · MSDE norms</a:t>
            </a:r>
            <a:endParaRPr lang="en-US" sz="600" dirty="0"/>
          </a:p>
        </p:txBody>
      </p:sp>
      <p:sp>
        <p:nvSpPr>
          <p:cNvPr id="17" name="Shape 13"/>
          <p:cNvSpPr/>
          <p:nvPr/>
        </p:nvSpPr>
        <p:spPr>
          <a:xfrm>
            <a:off x="2446020" y="1389888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537460" y="1463040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094" y="1509674"/>
            <a:ext cx="217627" cy="217627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921508" y="14447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people stay in the job</a:t>
            </a:r>
            <a:endParaRPr lang="en-US" sz="850" dirty="0"/>
          </a:p>
        </p:txBody>
      </p:sp>
      <p:sp>
        <p:nvSpPr>
          <p:cNvPr id="21" name="Text 16"/>
          <p:cNvSpPr txBox="1"/>
          <p:nvPr/>
        </p:nvSpPr>
        <p:spPr>
          <a:xfrm>
            <a:off x="2537460" y="18105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 → 73%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2537460" y="2093976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Trainees told the real pay and place before joining were 11 percentage points more likely to stay 5+ months (men). SkillCall tells him on the call.</a:t>
            </a:r>
            <a:endParaRPr lang="en-US" sz="650" dirty="0"/>
          </a:p>
        </p:txBody>
      </p:sp>
      <p:sp>
        <p:nvSpPr>
          <p:cNvPr id="23" name="Shape 18"/>
          <p:cNvSpPr/>
          <p:nvPr/>
        </p:nvSpPr>
        <p:spPr>
          <a:xfrm>
            <a:off x="2537460" y="2587752"/>
            <a:ext cx="187452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2592324" y="2587752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J-PAL · Chakravorty et al. 2024</a:t>
            </a:r>
            <a:endParaRPr lang="en-US" sz="600" dirty="0"/>
          </a:p>
        </p:txBody>
      </p:sp>
      <p:sp>
        <p:nvSpPr>
          <p:cNvPr id="25" name="Shape 20"/>
          <p:cNvSpPr/>
          <p:nvPr/>
        </p:nvSpPr>
        <p:spPr>
          <a:xfrm>
            <a:off x="4617720" y="1389888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709160" y="1463040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7A5AF8"/>
          </a:solidFill>
          <a:ln w="12700">
            <a:solidFill>
              <a:srgbClr val="7A5AF8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5794" y="1509674"/>
            <a:ext cx="217627" cy="217627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5093208" y="14447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Officers get their time back</a:t>
            </a:r>
            <a:endParaRPr lang="en-US" sz="850" dirty="0"/>
          </a:p>
        </p:txBody>
      </p:sp>
      <p:sp>
        <p:nvSpPr>
          <p:cNvPr id="29" name="Text 23"/>
          <p:cNvSpPr txBox="1"/>
          <p:nvPr/>
        </p:nvSpPr>
        <p:spPr>
          <a:xfrm>
            <a:off x="4709160" y="18105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h → 5 h a month</a:t>
            </a:r>
            <a:endParaRPr lang="en-US" sz="1400" dirty="0"/>
          </a:p>
        </p:txBody>
      </p:sp>
      <p:sp>
        <p:nvSpPr>
          <p:cNvPr id="30" name="Text 24"/>
          <p:cNvSpPr txBox="1"/>
          <p:nvPr/>
        </p:nvSpPr>
        <p:spPr>
          <a:xfrm>
            <a:off x="4709160" y="2093976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officer, 40 cases a month: today 45 min each (interview + 3 follow-up calls) = 30 h; with SkillCall a 7.5-min review = 5 h. India: 50,000 cases × 37.5 min ≈ 31,250 h a year ≈ 18 full-time officers.</a:t>
            </a:r>
            <a:endParaRPr lang="en-US" sz="650" dirty="0"/>
          </a:p>
        </p:txBody>
      </p:sp>
      <p:sp>
        <p:nvSpPr>
          <p:cNvPr id="31" name="Shape 25"/>
          <p:cNvSpPr/>
          <p:nvPr/>
        </p:nvSpPr>
        <p:spPr>
          <a:xfrm>
            <a:off x="4709160" y="2587752"/>
            <a:ext cx="187452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4764024" y="2587752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estimate: AJAY app's data entry not counted</a:t>
            </a:r>
            <a:endParaRPr lang="en-US" sz="600" dirty="0"/>
          </a:p>
        </p:txBody>
      </p:sp>
      <p:sp>
        <p:nvSpPr>
          <p:cNvPr id="33" name="Shape 27"/>
          <p:cNvSpPr/>
          <p:nvPr/>
        </p:nvSpPr>
        <p:spPr>
          <a:xfrm>
            <a:off x="6789420" y="1389888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FFEFDD"/>
          </a:solidFill>
          <a:ln w="9525">
            <a:solidFill>
              <a:srgbClr val="FFEFDD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6880860" y="1463040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EF8A22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7494" y="1509674"/>
            <a:ext cx="217627" cy="217627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7264908" y="14447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money wasted</a:t>
            </a:r>
            <a:endParaRPr lang="en-US" sz="850" dirty="0"/>
          </a:p>
        </p:txBody>
      </p:sp>
      <p:sp>
        <p:nvSpPr>
          <p:cNvPr id="37" name="Text 30"/>
          <p:cNvSpPr txBox="1"/>
          <p:nvPr/>
        </p:nvSpPr>
        <p:spPr>
          <a:xfrm>
            <a:off x="6880860" y="18105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₹12.5–15 cr a year</a:t>
            </a:r>
            <a:endParaRPr lang="en-US" sz="1400" dirty="0"/>
          </a:p>
        </p:txBody>
      </p:sp>
      <p:sp>
        <p:nvSpPr>
          <p:cNvPr id="38" name="Text 31"/>
          <p:cNvSpPr txBox="1"/>
          <p:nvPr/>
        </p:nvSpPr>
        <p:spPr>
          <a:xfrm>
            <a:off x="6880860" y="2093976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wrong matches fall in 5 of every 100 cases: 2,500 × ₹50,000–60,700 support = 6–14× SkillCall's yearly cost.</a:t>
            </a:r>
            <a:endParaRPr lang="en-US" sz="650" dirty="0"/>
          </a:p>
        </p:txBody>
      </p:sp>
      <p:sp>
        <p:nvSpPr>
          <p:cNvPr id="39" name="Shape 32"/>
          <p:cNvSpPr/>
          <p:nvPr/>
        </p:nvSpPr>
        <p:spPr>
          <a:xfrm>
            <a:off x="6880860" y="2587752"/>
            <a:ext cx="187452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935724" y="2587752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estimate: PIB 2025 average support</a:t>
            </a:r>
            <a:endParaRPr lang="en-US" sz="600" dirty="0"/>
          </a:p>
        </p:txBody>
      </p:sp>
      <p:sp>
        <p:nvSpPr>
          <p:cNvPr id="41" name="Shape 34"/>
          <p:cNvSpPr/>
          <p:nvPr/>
        </p:nvSpPr>
        <p:spPr>
          <a:xfrm>
            <a:off x="274320" y="2834640"/>
            <a:ext cx="8595360" cy="256032"/>
          </a:xfrm>
          <a:prstGeom prst="roundRect">
            <a:avLst>
              <a:gd name="adj" fmla="val 28571"/>
            </a:avLst>
          </a:prstGeom>
          <a:solidFill>
            <a:srgbClr val="EAF0F8"/>
          </a:solidFill>
          <a:ln w="9525">
            <a:solidFill>
              <a:srgbClr val="EAF0F8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384048" y="283464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 </a:t>
            </a:r>
            <a:r>
              <a:rPr lang="en-US" sz="73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SkillCall can profile 1–1.5 lakh people a year (2–3 applicants screened per GIA seat), so each of the ≈ 50,000 yearly seats goes to the person it fits best.</a:t>
            </a:r>
            <a:endParaRPr lang="en-US" sz="730" dirty="0"/>
          </a:p>
        </p:txBody>
      </p:sp>
      <p:sp>
        <p:nvSpPr>
          <p:cNvPr id="43" name="Text 36"/>
          <p:cNvSpPr txBox="1"/>
          <p:nvPr/>
        </p:nvSpPr>
        <p:spPr>
          <a:xfrm>
            <a:off x="274320" y="316382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WINS</a:t>
            </a:r>
            <a:endParaRPr lang="en-US" sz="850" dirty="0"/>
          </a:p>
        </p:txBody>
      </p:sp>
      <p:sp>
        <p:nvSpPr>
          <p:cNvPr id="44" name="Shape 37"/>
          <p:cNvSpPr/>
          <p:nvPr/>
        </p:nvSpPr>
        <p:spPr>
          <a:xfrm>
            <a:off x="274320" y="3328416"/>
            <a:ext cx="20574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45" name="Shape 38"/>
          <p:cNvSpPr/>
          <p:nvPr/>
        </p:nvSpPr>
        <p:spPr>
          <a:xfrm>
            <a:off x="365760" y="3392424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1F9D63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4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908" y="3433572"/>
            <a:ext cx="192024" cy="192024"/>
          </a:xfrm>
          <a:prstGeom prst="rect">
            <a:avLst/>
          </a:prstGeom>
        </p:spPr>
      </p:pic>
      <p:sp>
        <p:nvSpPr>
          <p:cNvPr id="47" name="Text 39"/>
          <p:cNvSpPr txBox="1"/>
          <p:nvPr/>
        </p:nvSpPr>
        <p:spPr>
          <a:xfrm>
            <a:off x="713232" y="337413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 family</a:t>
            </a:r>
            <a:endParaRPr lang="en-US" sz="950" dirty="0"/>
          </a:p>
        </p:txBody>
      </p:sp>
      <p:sp>
        <p:nvSpPr>
          <p:cNvPr id="48" name="Text 40"/>
          <p:cNvSpPr txBox="1"/>
          <p:nvPr/>
        </p:nvSpPr>
        <p:spPr>
          <a:xfrm>
            <a:off x="365760" y="3712464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course the first time, free, in his own language — and calls until he is earning.</a:t>
            </a:r>
            <a:endParaRPr lang="en-US" sz="690" dirty="0"/>
          </a:p>
        </p:txBody>
      </p:sp>
      <p:sp>
        <p:nvSpPr>
          <p:cNvPr id="49" name="Shape 41"/>
          <p:cNvSpPr/>
          <p:nvPr/>
        </p:nvSpPr>
        <p:spPr>
          <a:xfrm>
            <a:off x="2446020" y="3328416"/>
            <a:ext cx="20574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50" name="Shape 42"/>
          <p:cNvSpPr/>
          <p:nvPr/>
        </p:nvSpPr>
        <p:spPr>
          <a:xfrm>
            <a:off x="2537460" y="3392424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D4930D"/>
          </a:solidFill>
          <a:ln w="12700">
            <a:solidFill>
              <a:srgbClr val="D4930D"/>
            </a:solidFill>
            <a:prstDash val="solid"/>
          </a:ln>
        </p:spPr>
      </p:sp>
      <p:pic>
        <p:nvPicPr>
          <p:cNvPr id="5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78608" y="3433572"/>
            <a:ext cx="192024" cy="192024"/>
          </a:xfrm>
          <a:prstGeom prst="rect">
            <a:avLst/>
          </a:prstGeom>
        </p:spPr>
      </p:pic>
      <p:sp>
        <p:nvSpPr>
          <p:cNvPr id="52" name="Text 43"/>
          <p:cNvSpPr txBox="1"/>
          <p:nvPr/>
        </p:nvSpPr>
        <p:spPr>
          <a:xfrm>
            <a:off x="2884932" y="337413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operator</a:t>
            </a:r>
            <a:endParaRPr lang="en-US" sz="950" dirty="0"/>
          </a:p>
        </p:txBody>
      </p:sp>
      <p:sp>
        <p:nvSpPr>
          <p:cNvPr id="53" name="Text 44"/>
          <p:cNvSpPr txBox="1"/>
          <p:nvPr/>
        </p:nvSpPr>
        <p:spPr>
          <a:xfrm>
            <a:off x="2537460" y="3712464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arrives pre-filled; only documents and e-KYC are left to do.</a:t>
            </a:r>
            <a:endParaRPr lang="en-US" sz="690" dirty="0"/>
          </a:p>
        </p:txBody>
      </p:sp>
      <p:sp>
        <p:nvSpPr>
          <p:cNvPr id="54" name="Shape 45"/>
          <p:cNvSpPr/>
          <p:nvPr/>
        </p:nvSpPr>
        <p:spPr>
          <a:xfrm>
            <a:off x="4617720" y="3328416"/>
            <a:ext cx="20574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55" name="Shape 46"/>
          <p:cNvSpPr/>
          <p:nvPr/>
        </p:nvSpPr>
        <p:spPr>
          <a:xfrm>
            <a:off x="4709160" y="3392424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0308" y="3433572"/>
            <a:ext cx="192024" cy="192024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5056632" y="337413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officer</a:t>
            </a:r>
            <a:endParaRPr lang="en-US" sz="950" dirty="0"/>
          </a:p>
        </p:txBody>
      </p:sp>
      <p:sp>
        <p:nvSpPr>
          <p:cNvPr id="58" name="Text 48"/>
          <p:cNvSpPr txBox="1"/>
          <p:nvPr/>
        </p:nvSpPr>
        <p:spPr>
          <a:xfrm>
            <a:off x="4709160" y="3712464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Ready, checked cases in the AJAY app; a demand map by block for the yearly plan.</a:t>
            </a:r>
            <a:endParaRPr lang="en-US" sz="690" dirty="0"/>
          </a:p>
        </p:txBody>
      </p:sp>
      <p:sp>
        <p:nvSpPr>
          <p:cNvPr id="59" name="Shape 49"/>
          <p:cNvSpPr/>
          <p:nvPr/>
        </p:nvSpPr>
        <p:spPr>
          <a:xfrm>
            <a:off x="6789420" y="3328416"/>
            <a:ext cx="20574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60" name="Shape 50"/>
          <p:cNvSpPr/>
          <p:nvPr/>
        </p:nvSpPr>
        <p:spPr>
          <a:xfrm>
            <a:off x="6880860" y="3392424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7A5AF8"/>
          </a:solidFill>
          <a:ln w="12700">
            <a:solidFill>
              <a:srgbClr val="7A5AF8"/>
            </a:solidFill>
            <a:prstDash val="solid"/>
          </a:ln>
        </p:spPr>
      </p:sp>
      <p:pic>
        <p:nvPicPr>
          <p:cNvPr id="6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22008" y="3433572"/>
            <a:ext cx="192024" cy="192024"/>
          </a:xfrm>
          <a:prstGeom prst="rect">
            <a:avLst/>
          </a:prstGeom>
        </p:spPr>
      </p:pic>
      <p:sp>
        <p:nvSpPr>
          <p:cNvPr id="62" name="Text 51"/>
          <p:cNvSpPr txBox="1"/>
          <p:nvPr/>
        </p:nvSpPr>
        <p:spPr>
          <a:xfrm>
            <a:off x="7228332" y="337413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Ministry</a:t>
            </a:r>
            <a:endParaRPr lang="en-US" sz="950" dirty="0"/>
          </a:p>
        </p:txBody>
      </p:sp>
      <p:sp>
        <p:nvSpPr>
          <p:cNvPr id="63" name="Text 52"/>
          <p:cNvSpPr txBox="1"/>
          <p:nvPr/>
        </p:nvSpPr>
        <p:spPr>
          <a:xfrm>
            <a:off x="6880860" y="3712464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9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record from call to job; each outcome marked confirmed (employer / EPFO*) or self-reported.</a:t>
            </a:r>
            <a:endParaRPr lang="en-US" sz="690" dirty="0"/>
          </a:p>
        </p:txBody>
      </p:sp>
      <p:sp>
        <p:nvSpPr>
          <p:cNvPr id="64" name="Text 53"/>
          <p:cNvSpPr txBox="1"/>
          <p:nvPr/>
        </p:nvSpPr>
        <p:spPr>
          <a:xfrm>
            <a:off x="274320" y="41148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850" dirty="0"/>
          </a:p>
        </p:txBody>
      </p:sp>
      <p:sp>
        <p:nvSpPr>
          <p:cNvPr id="65" name="Shape 54"/>
          <p:cNvSpPr/>
          <p:nvPr/>
        </p:nvSpPr>
        <p:spPr>
          <a:xfrm>
            <a:off x="274320" y="4279392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FBE7EF"/>
          </a:solidFill>
          <a:ln w="9525">
            <a:solidFill>
              <a:srgbClr val="FBE7EF"/>
            </a:solidFill>
            <a:prstDash val="solid"/>
          </a:ln>
        </p:spPr>
      </p:sp>
      <p:sp>
        <p:nvSpPr>
          <p:cNvPr id="66" name="Shape 55"/>
          <p:cNvSpPr/>
          <p:nvPr/>
        </p:nvSpPr>
        <p:spPr>
          <a:xfrm>
            <a:off x="365760" y="4343400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D6467A"/>
          </a:solidFill>
          <a:ln w="12700">
            <a:solidFill>
              <a:srgbClr val="D6467A"/>
            </a:solidFill>
            <a:prstDash val="solid"/>
          </a:ln>
        </p:spPr>
      </p:sp>
      <p:pic>
        <p:nvPicPr>
          <p:cNvPr id="6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1422" y="4379062"/>
            <a:ext cx="166421" cy="166421"/>
          </a:xfrm>
          <a:prstGeom prst="rect">
            <a:avLst/>
          </a:prstGeom>
        </p:spPr>
      </p:pic>
      <p:sp>
        <p:nvSpPr>
          <p:cNvPr id="68" name="Text 56"/>
          <p:cNvSpPr txBox="1"/>
          <p:nvPr/>
        </p:nvSpPr>
        <p:spPr>
          <a:xfrm>
            <a:off x="676656" y="427939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64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 </a:t>
            </a: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and non-readers included; right course the first time.</a:t>
            </a:r>
            <a:endParaRPr lang="en-US" sz="670" dirty="0"/>
          </a:p>
        </p:txBody>
      </p:sp>
      <p:sp>
        <p:nvSpPr>
          <p:cNvPr id="69" name="Shape 57"/>
          <p:cNvSpPr/>
          <p:nvPr/>
        </p:nvSpPr>
        <p:spPr>
          <a:xfrm>
            <a:off x="2446020" y="4279392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sp>
        <p:nvSpPr>
          <p:cNvPr id="70" name="Shape 58"/>
          <p:cNvSpPr/>
          <p:nvPr/>
        </p:nvSpPr>
        <p:spPr>
          <a:xfrm>
            <a:off x="2537460" y="4343400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1F9D63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7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73122" y="4379062"/>
            <a:ext cx="166421" cy="166421"/>
          </a:xfrm>
          <a:prstGeom prst="rect">
            <a:avLst/>
          </a:prstGeom>
        </p:spPr>
      </p:pic>
      <p:sp>
        <p:nvSpPr>
          <p:cNvPr id="72" name="Text 59"/>
          <p:cNvSpPr txBox="1"/>
          <p:nvPr/>
        </p:nvSpPr>
        <p:spPr>
          <a:xfrm>
            <a:off x="2848356" y="427939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 </a:t>
            </a: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money on wrong training; more people earning — proved by follow-up.</a:t>
            </a:r>
            <a:endParaRPr lang="en-US" sz="670" dirty="0"/>
          </a:p>
        </p:txBody>
      </p:sp>
      <p:sp>
        <p:nvSpPr>
          <p:cNvPr id="73" name="Shape 60"/>
          <p:cNvSpPr/>
          <p:nvPr/>
        </p:nvSpPr>
        <p:spPr>
          <a:xfrm>
            <a:off x="4617720" y="4279392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sp>
        <p:nvSpPr>
          <p:cNvPr id="74" name="Shape 61"/>
          <p:cNvSpPr/>
          <p:nvPr/>
        </p:nvSpPr>
        <p:spPr>
          <a:xfrm>
            <a:off x="4709160" y="4343400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7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44822" y="4379062"/>
            <a:ext cx="166421" cy="166421"/>
          </a:xfrm>
          <a:prstGeom prst="rect">
            <a:avLst/>
          </a:prstGeom>
        </p:spPr>
      </p:pic>
      <p:sp>
        <p:nvSpPr>
          <p:cNvPr id="76" name="Text 62"/>
          <p:cNvSpPr txBox="1"/>
          <p:nvPr/>
        </p:nvSpPr>
        <p:spPr>
          <a:xfrm>
            <a:off x="5020056" y="427939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 </a:t>
            </a: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case for CSC, officer, partner and bank; planning data, not paper.</a:t>
            </a:r>
            <a:endParaRPr lang="en-US" sz="670" dirty="0"/>
          </a:p>
        </p:txBody>
      </p:sp>
      <p:sp>
        <p:nvSpPr>
          <p:cNvPr id="77" name="Shape 63"/>
          <p:cNvSpPr/>
          <p:nvPr/>
        </p:nvSpPr>
        <p:spPr>
          <a:xfrm>
            <a:off x="6789420" y="4279392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E0F4F5"/>
          </a:solidFill>
          <a:ln w="9525">
            <a:solidFill>
              <a:srgbClr val="E0F4F5"/>
            </a:solidFill>
            <a:prstDash val="solid"/>
          </a:ln>
        </p:spPr>
      </p:sp>
      <p:sp>
        <p:nvSpPr>
          <p:cNvPr id="78" name="Shape 64"/>
          <p:cNvSpPr/>
          <p:nvPr/>
        </p:nvSpPr>
        <p:spPr>
          <a:xfrm>
            <a:off x="6880860" y="4343400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13919B"/>
          </a:solidFill>
          <a:ln w="12700">
            <a:solidFill>
              <a:srgbClr val="13919B"/>
            </a:solidFill>
            <a:prstDash val="solid"/>
          </a:ln>
        </p:spPr>
      </p:sp>
      <p:pic>
        <p:nvPicPr>
          <p:cNvPr id="79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16522" y="4379062"/>
            <a:ext cx="166421" cy="166421"/>
          </a:xfrm>
          <a:prstGeom prst="rect">
            <a:avLst/>
          </a:prstGeom>
        </p:spPr>
      </p:pic>
      <p:sp>
        <p:nvSpPr>
          <p:cNvPr id="80" name="Text 65"/>
          <p:cNvSpPr txBox="1"/>
          <p:nvPr/>
        </p:nvSpPr>
        <p:spPr>
          <a:xfrm>
            <a:off x="7191756" y="427939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 </a:t>
            </a: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paper forms, fewer trips to offices, runs on the shared govt cloud.</a:t>
            </a:r>
            <a:endParaRPr lang="en-US" sz="67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EAF0F8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82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AND REFERENCES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74320" y="896112"/>
            <a:ext cx="4206240" cy="1517904"/>
          </a:xfrm>
          <a:prstGeom prst="roundRect">
            <a:avLst>
              <a:gd name="adj" fmla="val 4819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5760" y="960120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2" y="995782"/>
            <a:ext cx="166421" cy="16642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76656" y="9418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data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365760" y="1280160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280160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PIB, Rajya Sabha reply (19 Mar 2025) — GIA: 2,01,006 beneficiaries, ₹1,219.80 cr   </a:t>
            </a:r>
            <a:r>
              <a:rPr lang="en-US" sz="660" b="1" u="sng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pib.gov.in</a:t>
            </a:r>
            <a:endParaRPr lang="en-US" sz="720" dirty="0"/>
          </a:p>
        </p:txBody>
      </p:sp>
      <p:sp>
        <p:nvSpPr>
          <p:cNvPr id="13" name="Shape 9"/>
          <p:cNvSpPr/>
          <p:nvPr/>
        </p:nvSpPr>
        <p:spPr>
          <a:xfrm>
            <a:off x="365760" y="1504188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57200" y="150418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 PM-AJAY explainer (May 2025) — eligibility, 5% admin &amp; MIS line   </a:t>
            </a:r>
            <a:r>
              <a:rPr lang="en-US" sz="660" b="1" u="sng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pib.gov.in</a:t>
            </a:r>
            <a:endParaRPr lang="en-US" sz="720" dirty="0"/>
          </a:p>
        </p:txBody>
      </p:sp>
      <p:sp>
        <p:nvSpPr>
          <p:cNvPr id="15" name="Shape 11"/>
          <p:cNvSpPr/>
          <p:nvPr/>
        </p:nvSpPr>
        <p:spPr>
          <a:xfrm>
            <a:off x="365760" y="1728216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1728216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 Report No. 20 of 2025 — PMKVY: 41% placed, no skill-gap analysis   </a:t>
            </a:r>
            <a:r>
              <a:rPr lang="en-US" sz="660" b="1" u="sng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cag.gov.in</a:t>
            </a:r>
            <a:endParaRPr lang="en-US" sz="720" dirty="0"/>
          </a:p>
        </p:txBody>
      </p:sp>
      <p:sp>
        <p:nvSpPr>
          <p:cNvPr id="17" name="Shape 13"/>
          <p:cNvSpPr/>
          <p:nvPr/>
        </p:nvSpPr>
        <p:spPr>
          <a:xfrm>
            <a:off x="365760" y="1952244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57200" y="1952244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NFHS-6 (2023-24) — women's phone ownership 63.6%, rural 57.4%   </a:t>
            </a:r>
            <a:r>
              <a:rPr lang="en-US" sz="660" b="1" u="sng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rchiips.org</a:t>
            </a:r>
            <a:endParaRPr lang="en-US" sz="720" dirty="0"/>
          </a:p>
        </p:txBody>
      </p:sp>
      <p:sp>
        <p:nvSpPr>
          <p:cNvPr id="19" name="Shape 15"/>
          <p:cNvSpPr/>
          <p:nvPr/>
        </p:nvSpPr>
        <p:spPr>
          <a:xfrm>
            <a:off x="365760" y="2176272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2176272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Census 2011 (MoSJE Handbook 2021) · SC poverty ratios 2011-12 (Lok Sabha)   </a:t>
            </a:r>
            <a:r>
              <a:rPr lang="en-US" sz="660" b="1" u="sng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socialjustice.gov.in</a:t>
            </a:r>
            <a:endParaRPr lang="en-US" sz="720" dirty="0"/>
          </a:p>
        </p:txBody>
      </p:sp>
      <p:sp>
        <p:nvSpPr>
          <p:cNvPr id="21" name="Shape 17"/>
          <p:cNvSpPr/>
          <p:nvPr/>
        </p:nvSpPr>
        <p:spPr>
          <a:xfrm>
            <a:off x="4663440" y="896112"/>
            <a:ext cx="4206240" cy="1517904"/>
          </a:xfrm>
          <a:prstGeom prst="roundRect">
            <a:avLst>
              <a:gd name="adj" fmla="val 4819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754880" y="960120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7A5AF8"/>
          </a:solidFill>
          <a:ln w="12700">
            <a:solidFill>
              <a:srgbClr val="7A5AF8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90542" y="995782"/>
            <a:ext cx="166421" cy="166421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065776" y="9418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4754880" y="1280160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846320" y="1280160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Chakravorty et al. 2024 / J-PAL — honest job info: 62% → 73% stay in job   </a:t>
            </a:r>
            <a:r>
              <a:rPr lang="en-US" sz="660" b="1" u="sng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povertyactionlab.org</a:t>
            </a:r>
            <a:endParaRPr lang="en-US" sz="720" dirty="0"/>
          </a:p>
        </p:txBody>
      </p:sp>
      <p:sp>
        <p:nvSpPr>
          <p:cNvPr id="27" name="Shape 22"/>
          <p:cNvSpPr/>
          <p:nvPr/>
        </p:nvSpPr>
        <p:spPr>
          <a:xfrm>
            <a:off x="4754880" y="1504188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846320" y="150418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Bashingwa et al. 2021, BMJ Global Health — Kilkari call answer rates   </a:t>
            </a:r>
            <a:r>
              <a:rPr lang="en-US" sz="660" b="1" u="sng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gh.bmj.com</a:t>
            </a:r>
            <a:endParaRPr lang="en-US" sz="720" dirty="0"/>
          </a:p>
        </p:txBody>
      </p:sp>
      <p:sp>
        <p:nvSpPr>
          <p:cNvPr id="29" name="Shape 24"/>
          <p:cNvSpPr/>
          <p:nvPr/>
        </p:nvSpPr>
        <p:spPr>
          <a:xfrm>
            <a:off x="4754880" y="1728216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846320" y="1728216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India 2026 — speech-AI benchmark on real Indian phone calls   </a:t>
            </a:r>
            <a:r>
              <a:rPr lang="en-US" sz="660" b="1" u="sng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arxiv.org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4754880" y="1952244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4846320" y="1952244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Medhi et al. 2011, ACM TOCHI — voice interfaces for low-literacy users   </a:t>
            </a:r>
            <a:r>
              <a:rPr lang="en-US" sz="660" b="1" u="sng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dl.acm.org</a:t>
            </a:r>
            <a:endParaRPr lang="en-US" sz="720" dirty="0"/>
          </a:p>
        </p:txBody>
      </p:sp>
      <p:sp>
        <p:nvSpPr>
          <p:cNvPr id="33" name="Shape 28"/>
          <p:cNvSpPr/>
          <p:nvPr/>
        </p:nvSpPr>
        <p:spPr>
          <a:xfrm>
            <a:off x="274320" y="2487168"/>
            <a:ext cx="4206240" cy="1517904"/>
          </a:xfrm>
          <a:prstGeom prst="roundRect">
            <a:avLst>
              <a:gd name="adj" fmla="val 4819"/>
            </a:avLst>
          </a:prstGeom>
          <a:solidFill>
            <a:srgbClr val="E0F4F5"/>
          </a:solidFill>
          <a:ln w="9525">
            <a:solidFill>
              <a:srgbClr val="E0F4F5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365760" y="2551176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13919B"/>
          </a:solidFill>
          <a:ln w="12700">
            <a:solidFill>
              <a:srgbClr val="13919B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1422" y="2586838"/>
            <a:ext cx="166421" cy="166421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676656" y="25328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365760" y="2871216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457200" y="2871216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API pricing &amp; docs — Saaras v3, Bulbul v3, 30B / 105B; voice-agent guide   </a:t>
            </a:r>
            <a:r>
              <a:rPr lang="en-US" sz="660" b="1" u="sng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docs.sarvam.ai</a:t>
            </a:r>
            <a:endParaRPr lang="en-US" sz="720" dirty="0"/>
          </a:p>
        </p:txBody>
      </p:sp>
      <p:sp>
        <p:nvSpPr>
          <p:cNvPr id="39" name="Shape 33"/>
          <p:cNvSpPr/>
          <p:nvPr/>
        </p:nvSpPr>
        <p:spPr>
          <a:xfrm>
            <a:off x="365760" y="3095244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457200" y="3095244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× Sarvam 2026 — Sarvam-30B serving, first token &lt; 1 s (P95)   </a:t>
            </a:r>
            <a:r>
              <a:rPr lang="en-US" sz="660" b="1" u="sng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developer.nvidia.com</a:t>
            </a:r>
            <a:endParaRPr lang="en-US" sz="720" dirty="0"/>
          </a:p>
        </p:txBody>
      </p:sp>
      <p:sp>
        <p:nvSpPr>
          <p:cNvPr id="41" name="Shape 35"/>
          <p:cNvSpPr/>
          <p:nvPr/>
        </p:nvSpPr>
        <p:spPr>
          <a:xfrm>
            <a:off x="365760" y="3319272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457200" y="3319272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Artificial Analysis — Sarvam-30B ≈ $0.03 per 1M tokens (blended)   </a:t>
            </a:r>
            <a:r>
              <a:rPr lang="en-US" sz="660" b="1" u="sng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artificialanalysis.ai</a:t>
            </a:r>
            <a:endParaRPr lang="en-US" sz="720" dirty="0"/>
          </a:p>
        </p:txBody>
      </p:sp>
      <p:sp>
        <p:nvSpPr>
          <p:cNvPr id="43" name="Shape 37"/>
          <p:cNvSpPr/>
          <p:nvPr/>
        </p:nvSpPr>
        <p:spPr>
          <a:xfrm>
            <a:off x="365760" y="3543300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457200" y="3543300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AI4Bharat IndicConformer · Pipecat · Bhashini   </a:t>
            </a:r>
            <a:r>
              <a:rPr lang="en-US" sz="660" b="1" u="sng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ai4bharat.iitm.ac.in</a:t>
            </a:r>
            <a:endParaRPr lang="en-US" sz="720" dirty="0"/>
          </a:p>
        </p:txBody>
      </p:sp>
      <p:sp>
        <p:nvSpPr>
          <p:cNvPr id="45" name="Shape 39"/>
          <p:cNvSpPr/>
          <p:nvPr/>
        </p:nvSpPr>
        <p:spPr>
          <a:xfrm>
            <a:off x="4663440" y="2487168"/>
            <a:ext cx="4206240" cy="1517904"/>
          </a:xfrm>
          <a:prstGeom prst="roundRect">
            <a:avLst>
              <a:gd name="adj" fmla="val 4819"/>
            </a:avLst>
          </a:prstGeom>
          <a:solidFill>
            <a:srgbClr val="FFEFDD"/>
          </a:solidFill>
          <a:ln w="9525">
            <a:solidFill>
              <a:srgbClr val="FFEFDD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4754880" y="2551176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EF8A22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47" name="Image 4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790542" y="2586838"/>
            <a:ext cx="166421" cy="166421"/>
          </a:xfrm>
          <a:prstGeom prst="rect">
            <a:avLst/>
          </a:prstGeom>
        </p:spPr>
      </p:pic>
      <p:sp>
        <p:nvSpPr>
          <p:cNvPr id="48" name="Text 41"/>
          <p:cNvSpPr txBox="1"/>
          <p:nvPr/>
        </p:nvSpPr>
        <p:spPr>
          <a:xfrm>
            <a:off x="5065776" y="25328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&amp; policy</a:t>
            </a:r>
            <a:endParaRPr lang="en-US" sz="1000" dirty="0"/>
          </a:p>
        </p:txBody>
      </p:sp>
      <p:sp>
        <p:nvSpPr>
          <p:cNvPr id="49" name="Shape 42"/>
          <p:cNvSpPr/>
          <p:nvPr/>
        </p:nvSpPr>
        <p:spPr>
          <a:xfrm>
            <a:off x="4754880" y="2871216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0" name="Text 43"/>
          <p:cNvSpPr txBox="1"/>
          <p:nvPr/>
        </p:nvSpPr>
        <p:spPr>
          <a:xfrm>
            <a:off x="4846320" y="2871216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PM-AJAY portal &amp; AJAY app launch (26 May 2026) — PIB   </a:t>
            </a:r>
            <a:r>
              <a:rPr lang="en-US" sz="660" b="1" u="sng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pib.gov.in</a:t>
            </a:r>
            <a:endParaRPr lang="en-US" sz="720" dirty="0"/>
          </a:p>
        </p:txBody>
      </p:sp>
      <p:sp>
        <p:nvSpPr>
          <p:cNvPr id="51" name="Shape 44"/>
          <p:cNvSpPr/>
          <p:nvPr/>
        </p:nvSpPr>
        <p:spPr>
          <a:xfrm>
            <a:off x="4754880" y="3095244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4846320" y="3095244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NCO-2015 occupation codes · NQR / NCVET job roles   </a:t>
            </a:r>
            <a:r>
              <a:rPr lang="en-US" sz="660" b="1" u="sng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nqr.gov.in</a:t>
            </a:r>
            <a:endParaRPr lang="en-US" sz="720" dirty="0"/>
          </a:p>
        </p:txBody>
      </p:sp>
      <p:sp>
        <p:nvSpPr>
          <p:cNvPr id="53" name="Shape 46"/>
          <p:cNvSpPr/>
          <p:nvPr/>
        </p:nvSpPr>
        <p:spPr>
          <a:xfrm>
            <a:off x="4754880" y="3319272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4" name="Text 47"/>
          <p:cNvSpPr txBox="1"/>
          <p:nvPr/>
        </p:nvSpPr>
        <p:spPr>
          <a:xfrm>
            <a:off x="4846320" y="3319272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Rules 2025 — consent and data protection   </a:t>
            </a:r>
            <a:r>
              <a:rPr lang="en-US" sz="660" b="1" u="sng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meity.gov.in</a:t>
            </a:r>
            <a:endParaRPr lang="en-US" sz="720" dirty="0"/>
          </a:p>
        </p:txBody>
      </p:sp>
      <p:sp>
        <p:nvSpPr>
          <p:cNvPr id="55" name="Shape 48"/>
          <p:cNvSpPr/>
          <p:nvPr/>
        </p:nvSpPr>
        <p:spPr>
          <a:xfrm>
            <a:off x="4754880" y="3543300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4846320" y="3543300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 1600-series rules for government calls (2026)   </a:t>
            </a:r>
            <a:r>
              <a:rPr lang="en-US" sz="660" b="1" u="sng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trai.gov.in</a:t>
            </a:r>
            <a:endParaRPr lang="en-US" sz="720" dirty="0"/>
          </a:p>
        </p:txBody>
      </p:sp>
      <p:sp>
        <p:nvSpPr>
          <p:cNvPr id="57" name="Shape 50"/>
          <p:cNvSpPr/>
          <p:nvPr/>
        </p:nvSpPr>
        <p:spPr>
          <a:xfrm>
            <a:off x="4754880" y="3767328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8" name="Text 51"/>
          <p:cNvSpPr txBox="1"/>
          <p:nvPr/>
        </p:nvSpPr>
        <p:spPr>
          <a:xfrm>
            <a:off x="4846320" y="376732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MeitY (Lok Sabha 2023) — 5.58 lakh CSCs, 4.44 lakh at gram panchayats   </a:t>
            </a:r>
            <a:r>
              <a:rPr lang="en-US" sz="660" b="1" u="sng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eparlib.nic.in</a:t>
            </a:r>
            <a:endParaRPr lang="en-US" sz="720" dirty="0"/>
          </a:p>
        </p:txBody>
      </p:sp>
      <p:sp>
        <p:nvSpPr>
          <p:cNvPr id="59" name="Text 52"/>
          <p:cNvSpPr txBox="1"/>
          <p:nvPr/>
        </p:nvSpPr>
        <p:spPr>
          <a:xfrm>
            <a:off x="274320" y="405993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MORE — EVERYTHING THE SIX SLIDES COULD NOT FIT</a:t>
            </a:r>
            <a:endParaRPr lang="en-US" sz="850" dirty="0"/>
          </a:p>
        </p:txBody>
      </p:sp>
      <p:sp>
        <p:nvSpPr>
          <p:cNvPr id="60" name="Shape 53"/>
          <p:cNvSpPr/>
          <p:nvPr/>
        </p:nvSpPr>
        <p:spPr>
          <a:xfrm>
            <a:off x="274320" y="4242816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61" name="Shape 54"/>
          <p:cNvSpPr/>
          <p:nvPr/>
        </p:nvSpPr>
        <p:spPr>
          <a:xfrm>
            <a:off x="365760" y="4315968"/>
            <a:ext cx="256032" cy="256032"/>
          </a:xfrm>
          <a:prstGeom prst="roundRect">
            <a:avLst>
              <a:gd name="adj" fmla="val 22000"/>
            </a:avLst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pic>
        <p:nvPicPr>
          <p:cNvPr id="62" name="Image 5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04165" y="4354373"/>
            <a:ext cx="179222" cy="179222"/>
          </a:xfrm>
          <a:prstGeom prst="rect">
            <a:avLst/>
          </a:prstGeom>
        </p:spPr>
      </p:pic>
      <p:sp>
        <p:nvSpPr>
          <p:cNvPr id="63" name="Text 55"/>
          <p:cNvSpPr txBox="1"/>
          <p:nvPr/>
        </p:nvSpPr>
        <p:spPr>
          <a:xfrm>
            <a:off x="694944" y="427939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</a:t>
            </a:r>
            <a:endParaRPr lang="en-US" sz="900" dirty="0"/>
          </a:p>
        </p:txBody>
      </p:sp>
      <p:sp>
        <p:nvSpPr>
          <p:cNvPr id="64" name="Text 56"/>
          <p:cNvSpPr txBox="1"/>
          <p:nvPr/>
        </p:nvSpPr>
        <p:spPr>
          <a:xfrm>
            <a:off x="365760" y="4590288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architecture docs, API reference</a:t>
            </a:r>
            <a:endParaRPr lang="en-US" sz="640" dirty="0"/>
          </a:p>
        </p:txBody>
      </p:sp>
      <p:sp>
        <p:nvSpPr>
          <p:cNvPr id="65" name="Text 57"/>
          <p:cNvSpPr txBox="1"/>
          <p:nvPr/>
        </p:nvSpPr>
        <p:spPr>
          <a:xfrm>
            <a:off x="1600200" y="459028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40" b="1" u="sng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(add link) →</a:t>
            </a:r>
            <a:endParaRPr lang="en-US" sz="640" dirty="0"/>
          </a:p>
        </p:txBody>
      </p:sp>
      <p:sp>
        <p:nvSpPr>
          <p:cNvPr id="66" name="Shape 58"/>
          <p:cNvSpPr/>
          <p:nvPr/>
        </p:nvSpPr>
        <p:spPr>
          <a:xfrm>
            <a:off x="2446020" y="4242816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F8A22"/>
            </a:solidFill>
            <a:prstDash val="solid"/>
          </a:ln>
        </p:spPr>
      </p:sp>
      <p:sp>
        <p:nvSpPr>
          <p:cNvPr id="67" name="Shape 59"/>
          <p:cNvSpPr/>
          <p:nvPr/>
        </p:nvSpPr>
        <p:spPr>
          <a:xfrm>
            <a:off x="2537460" y="4315968"/>
            <a:ext cx="256032" cy="256032"/>
          </a:xfrm>
          <a:prstGeom prst="roundRect">
            <a:avLst>
              <a:gd name="adj" fmla="val 22000"/>
            </a:avLst>
          </a:prstGeom>
          <a:solidFill>
            <a:srgbClr val="EF8A22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68" name="Image 6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575865" y="4354373"/>
            <a:ext cx="179222" cy="179222"/>
          </a:xfrm>
          <a:prstGeom prst="rect">
            <a:avLst/>
          </a:prstGeom>
        </p:spPr>
      </p:pic>
      <p:sp>
        <p:nvSpPr>
          <p:cNvPr id="69" name="Text 60"/>
          <p:cNvSpPr txBox="1"/>
          <p:nvPr/>
        </p:nvSpPr>
        <p:spPr>
          <a:xfrm>
            <a:off x="2866644" y="427939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</a:t>
            </a:r>
            <a:endParaRPr lang="en-US" sz="900" dirty="0"/>
          </a:p>
        </p:txBody>
      </p:sp>
      <p:sp>
        <p:nvSpPr>
          <p:cNvPr id="70" name="Text 61"/>
          <p:cNvSpPr txBox="1"/>
          <p:nvPr/>
        </p:nvSpPr>
        <p:spPr>
          <a:xfrm>
            <a:off x="2537460" y="4590288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a SkillCall conversation in the browser</a:t>
            </a:r>
            <a:endParaRPr lang="en-US" sz="640" dirty="0"/>
          </a:p>
        </p:txBody>
      </p:sp>
      <p:sp>
        <p:nvSpPr>
          <p:cNvPr id="71" name="Text 62"/>
          <p:cNvSpPr txBox="1"/>
          <p:nvPr/>
        </p:nvSpPr>
        <p:spPr>
          <a:xfrm>
            <a:off x="3771900" y="459028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40" b="1" u="sng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(add link) →</a:t>
            </a:r>
            <a:endParaRPr lang="en-US" sz="640" dirty="0"/>
          </a:p>
        </p:txBody>
      </p:sp>
      <p:sp>
        <p:nvSpPr>
          <p:cNvPr id="72" name="Shape 63"/>
          <p:cNvSpPr/>
          <p:nvPr/>
        </p:nvSpPr>
        <p:spPr>
          <a:xfrm>
            <a:off x="4617720" y="4242816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6467A"/>
            </a:solidFill>
            <a:prstDash val="solid"/>
          </a:ln>
        </p:spPr>
      </p:sp>
      <p:sp>
        <p:nvSpPr>
          <p:cNvPr id="73" name="Shape 64"/>
          <p:cNvSpPr/>
          <p:nvPr/>
        </p:nvSpPr>
        <p:spPr>
          <a:xfrm>
            <a:off x="4709160" y="4315968"/>
            <a:ext cx="256032" cy="256032"/>
          </a:xfrm>
          <a:prstGeom prst="roundRect">
            <a:avLst>
              <a:gd name="adj" fmla="val 22000"/>
            </a:avLst>
          </a:prstGeom>
          <a:solidFill>
            <a:srgbClr val="D6467A"/>
          </a:solidFill>
          <a:ln w="12700">
            <a:solidFill>
              <a:srgbClr val="D6467A"/>
            </a:solidFill>
            <a:prstDash val="solid"/>
          </a:ln>
        </p:spPr>
      </p:sp>
      <p:pic>
        <p:nvPicPr>
          <p:cNvPr id="74" name="Image 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747565" y="4354373"/>
            <a:ext cx="179222" cy="179222"/>
          </a:xfrm>
          <a:prstGeom prst="rect">
            <a:avLst/>
          </a:prstGeom>
        </p:spPr>
      </p:pic>
      <p:sp>
        <p:nvSpPr>
          <p:cNvPr id="75" name="Text 65"/>
          <p:cNvSpPr txBox="1"/>
          <p:nvPr/>
        </p:nvSpPr>
        <p:spPr>
          <a:xfrm>
            <a:off x="5038344" y="427939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64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</a:t>
            </a:r>
            <a:endParaRPr lang="en-US" sz="900" dirty="0"/>
          </a:p>
        </p:txBody>
      </p:sp>
      <p:sp>
        <p:nvSpPr>
          <p:cNvPr id="76" name="Text 66"/>
          <p:cNvSpPr txBox="1"/>
          <p:nvPr/>
        </p:nvSpPr>
        <p:spPr>
          <a:xfrm>
            <a:off x="4709160" y="4590288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2-minute walkthrough of a real call</a:t>
            </a:r>
            <a:endParaRPr lang="en-US" sz="640" dirty="0"/>
          </a:p>
        </p:txBody>
      </p:sp>
      <p:sp>
        <p:nvSpPr>
          <p:cNvPr id="77" name="Text 67"/>
          <p:cNvSpPr txBox="1"/>
          <p:nvPr/>
        </p:nvSpPr>
        <p:spPr>
          <a:xfrm>
            <a:off x="5943600" y="459028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40" b="1" u="sng" dirty="0">
                <a:solidFill>
                  <a:srgbClr val="D6467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(add link) →</a:t>
            </a:r>
            <a:endParaRPr lang="en-US" sz="640" dirty="0"/>
          </a:p>
        </p:txBody>
      </p:sp>
      <p:sp>
        <p:nvSpPr>
          <p:cNvPr id="78" name="Shape 68"/>
          <p:cNvSpPr/>
          <p:nvPr/>
        </p:nvSpPr>
        <p:spPr>
          <a:xfrm>
            <a:off x="6789420" y="4242816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F9D63"/>
            </a:solidFill>
            <a:prstDash val="solid"/>
          </a:ln>
        </p:spPr>
      </p:sp>
      <p:sp>
        <p:nvSpPr>
          <p:cNvPr id="79" name="Shape 69"/>
          <p:cNvSpPr/>
          <p:nvPr/>
        </p:nvSpPr>
        <p:spPr>
          <a:xfrm>
            <a:off x="6880860" y="4315968"/>
            <a:ext cx="256032" cy="256032"/>
          </a:xfrm>
          <a:prstGeom prst="roundRect">
            <a:avLst>
              <a:gd name="adj" fmla="val 22000"/>
            </a:avLst>
          </a:prstGeom>
          <a:solidFill>
            <a:srgbClr val="1F9D63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80" name="Image 8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919265" y="4354373"/>
            <a:ext cx="179222" cy="179222"/>
          </a:xfrm>
          <a:prstGeom prst="rect">
            <a:avLst/>
          </a:prstGeom>
        </p:spPr>
      </p:pic>
      <p:sp>
        <p:nvSpPr>
          <p:cNvPr id="81" name="Text 70"/>
          <p:cNvSpPr txBox="1"/>
          <p:nvPr/>
        </p:nvSpPr>
        <p:spPr>
          <a:xfrm>
            <a:off x="7210044" y="427939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Calculations sheet</a:t>
            </a:r>
            <a:endParaRPr lang="en-US" sz="900" dirty="0"/>
          </a:p>
        </p:txBody>
      </p:sp>
      <p:sp>
        <p:nvSpPr>
          <p:cNvPr id="82" name="Text 71"/>
          <p:cNvSpPr txBox="1"/>
          <p:nvPr/>
        </p:nvSpPr>
        <p:spPr>
          <a:xfrm>
            <a:off x="6880860" y="4590288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number, its source and full working</a:t>
            </a:r>
            <a:endParaRPr lang="en-US" sz="640" dirty="0"/>
          </a:p>
        </p:txBody>
      </p:sp>
      <p:sp>
        <p:nvSpPr>
          <p:cNvPr id="83" name="Text 72"/>
          <p:cNvSpPr txBox="1"/>
          <p:nvPr/>
        </p:nvSpPr>
        <p:spPr>
          <a:xfrm>
            <a:off x="8115300" y="459028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40" b="1" u="sng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(add link) →</a:t>
            </a:r>
            <a:endParaRPr lang="en-US" sz="640" dirty="0"/>
          </a:p>
        </p:txBody>
      </p:sp>
      <p:sp>
        <p:nvSpPr>
          <p:cNvPr id="84" name="Text 73"/>
          <p:cNvSpPr txBox="1"/>
          <p:nvPr/>
        </p:nvSpPr>
        <p:spPr>
          <a:xfrm>
            <a:off x="274320" y="4846320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Icons: Microsoft Fluent Emoji (MIT). Logos: official marks via Devicon, Simple Icons and project sites. Estimates are marked and fully worked in the calculations sheet.</a:t>
            </a:r>
            <a:endParaRPr lang="en-US" sz="6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SkillCall — SIH26097 — Cognify</dc:title>
  <dc:subject>PptxGenJS Presentation</dc:subject>
  <dc:creator>PptxGenJS</dc:creator>
  <cp:lastModifiedBy>PptxGenJS</cp:lastModifiedBy>
  <cp:revision>1</cp:revision>
  <dcterms:created xsi:type="dcterms:W3CDTF">2026-09-25T08:05:09Z</dcterms:created>
  <dcterms:modified xsi:type="dcterms:W3CDTF">2026-09-25T08:05:09Z</dcterms:modified>
</cp:coreProperties>
</file>