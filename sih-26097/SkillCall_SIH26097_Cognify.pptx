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Official SIH 2026 title page. Fill the Team ID from the portal before exporting to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bands only: the problem (one card + three numbers), the solution (one call, four steps), and why a conversation beats a form (four points). Everything else — the tech, the money, the impact — is on the slides that own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call: Exotel → Pipecat → STT (IndicConformer / Saaras v3) → Sarvam-30B → SATYA → Bulbul v3, reply audio back through Pipecat and Exotel. Router escalates 30B → 105B → human. The answer cache logs every turn by language, district, job and question type; frequent questions get pre-written, verified answers and audio, so AI work and cost fall over time. After the call: FastAPI → PostgreSQL → CSC → AJAY app → Celery follow-ups → dashboard; the web portal uses the same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that each piece already runs in India, then four final numbers (per call, per 1,000 calls, share of budget, share per person). No rate-by-rate table on the slide — that lives in the calculations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impact numbers with sources, the reach line, and the four benefit categories — each naming who it is for. The who-wins band was merged into the benefits so nothing is said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by type with links; the four cards link to the repo, prototype, demo video and the calculations sheet — add the real links before upload.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3" Type="http://schemas.openxmlformats.org/officeDocument/2006/relationships/hyperlink" Target="https://github.com/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4" Type="http://schemas.openxmlformats.org/officeDocument/2006/relationships/image" Target="../media/image-3-23.png"/><Relationship Id="rId25" Type="http://schemas.openxmlformats.org/officeDocument/2006/relationships/image" Target="../media/image-3-24.png"/><Relationship Id="rId26" Type="http://schemas.openxmlformats.org/officeDocument/2006/relationships/image" Target="../media/image-3-25.png"/><Relationship Id="rId27" Type="http://schemas.openxmlformats.org/officeDocument/2006/relationships/image" Target="../media/image-3-26.png"/><Relationship Id="rId28" Type="http://schemas.openxmlformats.org/officeDocument/2006/relationships/image" Target="../media/image-3-27.png"/><Relationship Id="rId29" Type="http://schemas.openxmlformats.org/officeDocument/2006/relationships/image" Target="../media/image-3-28.png"/><Relationship Id="rId30" Type="http://schemas.openxmlformats.org/officeDocument/2006/relationships/image" Target="../media/image-3-29.png"/><Relationship Id="rId31" Type="http://schemas.openxmlformats.org/officeDocument/2006/relationships/image" Target="../media/image-3-30.png"/><Relationship Id="rId32" Type="http://schemas.openxmlformats.org/officeDocument/2006/relationships/image" Target="../media/image-3-31.png"/><Relationship Id="rId33" Type="http://schemas.openxmlformats.org/officeDocument/2006/relationships/image" Target="../media/image-3-32.png"/><Relationship Id="rId34" Type="http://schemas.openxmlformats.org/officeDocument/2006/relationships/image" Target="../media/image-3-33.png"/><Relationship Id="rId35" Type="http://schemas.openxmlformats.org/officeDocument/2006/relationships/image" Target="../media/image-3-34.png"/><Relationship Id="rId36" Type="http://schemas.openxmlformats.org/officeDocument/2006/relationships/image" Target="../media/image-3-35.png"/><Relationship Id="rId37" Type="http://schemas.openxmlformats.org/officeDocument/2006/relationships/image" Target="../media/image-3-36.png"/><Relationship Id="rId38" Type="http://schemas.openxmlformats.org/officeDocument/2006/relationships/image" Target="../media/image-3-37.png"/><Relationship Id="rId39" Type="http://schemas.openxmlformats.org/officeDocument/2006/relationships/image" Target="../media/image-3-38.png"/><Relationship Id="rId40" Type="http://schemas.openxmlformats.org/officeDocument/2006/relationships/image" Target="../media/image-3-39.png"/><Relationship Id="rId41" Type="http://schemas.openxmlformats.org/officeDocument/2006/relationships/image" Target="../media/image-3-40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ib.gov.in/PressReleasePage.aspx?PRID=2112697" TargetMode="External"/><Relationship Id="rId4" Type="http://schemas.openxmlformats.org/officeDocument/2006/relationships/hyperlink" Target="https://static.pib.gov.in/WriteReadData/specificdocs/documents/2025/may/doc202551548801.pdf" TargetMode="External"/><Relationship Id="rId5" Type="http://schemas.openxmlformats.org/officeDocument/2006/relationships/hyperlink" Target="https://cag.gov.in" TargetMode="External"/><Relationship Id="rId6" Type="http://schemas.openxmlformats.org/officeDocument/2006/relationships/hyperlink" Target="https://rchiips.org/nfhs" TargetMode="External"/><Relationship Id="rId7" Type="http://schemas.openxmlformats.org/officeDocument/2006/relationships/hyperlink" Target="https://socialjustice.gov.in" TargetMode="External"/><Relationship Id="rId9" Type="http://schemas.openxmlformats.org/officeDocument/2006/relationships/hyperlink" Target="https://www.povertyactionlab.org" TargetMode="External"/><Relationship Id="rId10" Type="http://schemas.openxmlformats.org/officeDocument/2006/relationships/hyperlink" Target="https://gh.bmj.com" TargetMode="External"/><Relationship Id="rId11" Type="http://schemas.openxmlformats.org/officeDocument/2006/relationships/hyperlink" Target="https://arxiv.org/abs/2604.19151" TargetMode="External"/><Relationship Id="rId12" Type="http://schemas.openxmlformats.org/officeDocument/2006/relationships/hyperlink" Target="https://dl.acm.org" TargetMode="External"/><Relationship Id="rId14" Type="http://schemas.openxmlformats.org/officeDocument/2006/relationships/hyperlink" Target="https://docs.sarvam.ai" TargetMode="External"/><Relationship Id="rId15" Type="http://schemas.openxmlformats.org/officeDocument/2006/relationships/hyperlink" Target="https://developer.nvidia.com/blog" TargetMode="External"/><Relationship Id="rId16" Type="http://schemas.openxmlformats.org/officeDocument/2006/relationships/hyperlink" Target="https://artificialanalysis.ai/models/sarvam-30b" TargetMode="External"/><Relationship Id="rId17" Type="http://schemas.openxmlformats.org/officeDocument/2006/relationships/hyperlink" Target="https://ai4bharat.iitm.ac.in" TargetMode="External"/><Relationship Id="rId19" Type="http://schemas.openxmlformats.org/officeDocument/2006/relationships/hyperlink" Target="https://www.pib.gov.in/PressReleasePage.aspx?PRID=2265106" TargetMode="External"/><Relationship Id="rId20" Type="http://schemas.openxmlformats.org/officeDocument/2006/relationships/hyperlink" Target="https://www.nqr.gov.in" TargetMode="External"/><Relationship Id="rId21" Type="http://schemas.openxmlformats.org/officeDocument/2006/relationships/hyperlink" Target="https://www.meity.gov.in" TargetMode="External"/><Relationship Id="rId22" Type="http://schemas.openxmlformats.org/officeDocument/2006/relationships/hyperlink" Target="https://www.trai.gov.in" TargetMode="External"/><Relationship Id="rId23" Type="http://schemas.openxmlformats.org/officeDocument/2006/relationships/hyperlink" Target="https://eparlib.nic.in" TargetMode="External"/><Relationship Id="rId25" Type="http://schemas.openxmlformats.org/officeDocument/2006/relationships/hyperlink" Target="https://github.com/" TargetMode="External"/><Relationship Id="rId27" Type="http://schemas.openxmlformats.org/officeDocument/2006/relationships/hyperlink" Target="https://example.com/" TargetMode="External"/><Relationship Id="rId29" Type="http://schemas.openxmlformats.org/officeDocument/2006/relationships/hyperlink" Target="https://youtube.com/" TargetMode="External"/><Relationship Id="rId31" Type="http://schemas.openxmlformats.org/officeDocument/2006/relationships/hyperlink" Target="https://example.com/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8" Type="http://schemas.openxmlformats.org/officeDocument/2006/relationships/image" Target="../media/image-6-3.png"/><Relationship Id="rId13" Type="http://schemas.openxmlformats.org/officeDocument/2006/relationships/image" Target="../media/image-6-4.png"/><Relationship Id="rId18" Type="http://schemas.openxmlformats.org/officeDocument/2006/relationships/image" Target="../media/image-6-5.png"/><Relationship Id="rId24" Type="http://schemas.openxmlformats.org/officeDocument/2006/relationships/image" Target="../media/image-6-6.png"/><Relationship Id="rId26" Type="http://schemas.openxmlformats.org/officeDocument/2006/relationships/image" Target="../media/image-6-7.png"/><Relationship Id="rId28" Type="http://schemas.openxmlformats.org/officeDocument/2006/relationships/image" Target="../media/image-6-8.png"/><Relationship Id="rId30" Type="http://schemas.openxmlformats.org/officeDocument/2006/relationships/image" Target="../media/image-6-9.png"/><Relationship Id="rId32" Type="http://schemas.openxmlformats.org/officeDocument/2006/relationships/slideLayout" Target="../slideLayouts/slideLayout1.xml"/><Relationship Id="rId3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194560" y="868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22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737360"/>
            <a:ext cx="4023360" cy="190195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146304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SIH26097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voice assistant for livelihood mapping and NSQF-aligned skilling recommendations for SC communities under the GIA component of PM-AJAY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Agriculture, FoodTech &amp; Rural Development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 – </a:t>
            </a:r>
            <a:r>
              <a:rPr lang="en-US" sz="1250" b="1" dirty="0">
                <a:solidFill>
                  <a:srgbClr val="D64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  (fill from the SIH portal)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Cognify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0972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SkillCall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4864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 ·  one free phone call that turns a person's skills into the right work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4320" y="896112"/>
            <a:ext cx="5029200" cy="841248"/>
          </a:xfrm>
          <a:prstGeom prst="roundRect">
            <a:avLst>
              <a:gd name="adj" fmla="val 8696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05840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4672" y="96012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 picks the course — not the person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804672" y="1179576"/>
            <a:ext cx="4389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SC families end up in training that was never going to fit them</a:t>
            </a:r>
            <a:endParaRPr lang="en-US" sz="730" dirty="0"/>
          </a:p>
        </p:txBody>
      </p:sp>
      <p:sp>
        <p:nvSpPr>
          <p:cNvPr id="12" name="Text 8"/>
          <p:cNvSpPr txBox="1"/>
          <p:nvPr/>
        </p:nvSpPr>
        <p:spPr>
          <a:xfrm>
            <a:off x="384048" y="1371600"/>
            <a:ext cx="4809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pays up to </a:t>
            </a:r>
            <a:r>
              <a:rPr lang="en-US" sz="7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SC family for skilling and small business. But ≈50,000 seats a year serve ≈5.9 crore eligible people — </a:t>
            </a:r>
            <a:r>
              <a:rPr lang="en-US" sz="7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than 1 in 1,000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every seat has to fit.</a:t>
            </a:r>
            <a:endParaRPr lang="en-US" sz="700" dirty="0"/>
          </a:p>
        </p:txBody>
      </p:sp>
      <p:sp>
        <p:nvSpPr>
          <p:cNvPr id="13" name="Shape 9"/>
          <p:cNvSpPr/>
          <p:nvPr/>
        </p:nvSpPr>
        <p:spPr>
          <a:xfrm>
            <a:off x="5440680" y="896112"/>
            <a:ext cx="1115568" cy="841248"/>
          </a:xfrm>
          <a:prstGeom prst="roundRect">
            <a:avLst>
              <a:gd name="adj" fmla="val 8696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522976" y="950976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522976" y="1207008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trained people got a job</a:t>
            </a:r>
            <a:endParaRPr lang="en-US" sz="680" dirty="0"/>
          </a:p>
        </p:txBody>
      </p:sp>
      <p:sp>
        <p:nvSpPr>
          <p:cNvPr id="16" name="Shape 12"/>
          <p:cNvSpPr/>
          <p:nvPr/>
        </p:nvSpPr>
        <p:spPr>
          <a:xfrm>
            <a:off x="5522976" y="1536192"/>
            <a:ext cx="950976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577840" y="1536192"/>
            <a:ext cx="859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CAG audit 2025</a:t>
            </a:r>
            <a:endParaRPr lang="en-US" sz="600" dirty="0"/>
          </a:p>
        </p:txBody>
      </p:sp>
      <p:sp>
        <p:nvSpPr>
          <p:cNvPr id="18" name="Shape 14"/>
          <p:cNvSpPr/>
          <p:nvPr/>
        </p:nvSpPr>
        <p:spPr>
          <a:xfrm>
            <a:off x="6611112" y="896112"/>
            <a:ext cx="1115568" cy="841248"/>
          </a:xfrm>
          <a:prstGeom prst="roundRect">
            <a:avLst>
              <a:gd name="adj" fmla="val 8696"/>
            </a:avLst>
          </a:prstGeom>
          <a:solidFill>
            <a:srgbClr val="FBE7EF"/>
          </a:solidFill>
          <a:ln w="9525">
            <a:solidFill>
              <a:srgbClr val="FBE7E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93408" y="950976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6693408" y="1207008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rural women have no phone</a:t>
            </a:r>
            <a:endParaRPr lang="en-US" sz="680" dirty="0"/>
          </a:p>
        </p:txBody>
      </p:sp>
      <p:sp>
        <p:nvSpPr>
          <p:cNvPr id="21" name="Shape 17"/>
          <p:cNvSpPr/>
          <p:nvPr/>
        </p:nvSpPr>
        <p:spPr>
          <a:xfrm>
            <a:off x="6693408" y="1536192"/>
            <a:ext cx="950976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748272" y="1536192"/>
            <a:ext cx="859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NFHS-6, 2023-24</a:t>
            </a:r>
            <a:endParaRPr lang="en-US" sz="600" dirty="0"/>
          </a:p>
        </p:txBody>
      </p:sp>
      <p:sp>
        <p:nvSpPr>
          <p:cNvPr id="23" name="Shape 19"/>
          <p:cNvSpPr/>
          <p:nvPr/>
        </p:nvSpPr>
        <p:spPr>
          <a:xfrm>
            <a:off x="7781544" y="896112"/>
            <a:ext cx="1115568" cy="841248"/>
          </a:xfrm>
          <a:prstGeom prst="roundRect">
            <a:avLst>
              <a:gd name="adj" fmla="val 8696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863840" y="950976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7863840" y="1207008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SC adults cannot read</a:t>
            </a:r>
            <a:endParaRPr lang="en-US" sz="680" dirty="0"/>
          </a:p>
        </p:txBody>
      </p:sp>
      <p:sp>
        <p:nvSpPr>
          <p:cNvPr id="26" name="Shape 22"/>
          <p:cNvSpPr/>
          <p:nvPr/>
        </p:nvSpPr>
        <p:spPr>
          <a:xfrm>
            <a:off x="7863840" y="1536192"/>
            <a:ext cx="950976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918704" y="1536192"/>
            <a:ext cx="859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Census 2011</a:t>
            </a:r>
            <a:endParaRPr lang="en-US" sz="600" dirty="0"/>
          </a:p>
        </p:txBody>
      </p:sp>
      <p:sp>
        <p:nvSpPr>
          <p:cNvPr id="28" name="Text 24"/>
          <p:cNvSpPr txBox="1"/>
          <p:nvPr/>
        </p:nvSpPr>
        <p:spPr>
          <a:xfrm>
            <a:off x="274320" y="1847088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call, about 10 minutes, on any keypad phone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274320" y="2048256"/>
            <a:ext cx="2093976" cy="1225296"/>
          </a:xfrm>
          <a:prstGeom prst="roundRect">
            <a:avLst>
              <a:gd name="adj" fmla="val 5970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2139696"/>
            <a:ext cx="310896" cy="310896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>
            <a:off x="2002536" y="2148840"/>
            <a:ext cx="256032" cy="256032"/>
          </a:xfrm>
          <a:prstGeom prst="ellipse">
            <a:avLst/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2002536" y="2148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384048" y="250545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gives a missed call</a:t>
            </a:r>
            <a:endParaRPr lang="en-US" sz="950" dirty="0"/>
          </a:p>
        </p:txBody>
      </p:sp>
      <p:sp>
        <p:nvSpPr>
          <p:cNvPr id="34" name="Text 29"/>
          <p:cNvSpPr txBox="1"/>
          <p:nvPr/>
        </p:nvSpPr>
        <p:spPr>
          <a:xfrm>
            <a:off x="384048" y="2825496"/>
            <a:ext cx="1874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call back, free</a:t>
            </a:r>
            <a:endParaRPr lang="en-US" sz="690" dirty="0"/>
          </a:p>
        </p:txBody>
      </p:sp>
      <p:sp>
        <p:nvSpPr>
          <p:cNvPr id="35" name="Text 30"/>
          <p:cNvSpPr txBox="1"/>
          <p:nvPr/>
        </p:nvSpPr>
        <p:spPr>
          <a:xfrm>
            <a:off x="384048" y="299008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minute, from a </a:t>
            </a: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1600 number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 the language he picks. </a:t>
            </a: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app, no internet, no reading.</a:t>
            </a:r>
            <a:endParaRPr lang="en-US" sz="680" dirty="0"/>
          </a:p>
        </p:txBody>
      </p:sp>
      <p:sp>
        <p:nvSpPr>
          <p:cNvPr id="36" name="Shape 31"/>
          <p:cNvSpPr/>
          <p:nvPr/>
        </p:nvSpPr>
        <p:spPr>
          <a:xfrm>
            <a:off x="2441448" y="2048256"/>
            <a:ext cx="2093976" cy="1225296"/>
          </a:xfrm>
          <a:prstGeom prst="roundRect">
            <a:avLst>
              <a:gd name="adj" fmla="val 5970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1176" y="2139696"/>
            <a:ext cx="310896" cy="310896"/>
          </a:xfrm>
          <a:prstGeom prst="rect">
            <a:avLst/>
          </a:prstGeom>
        </p:spPr>
      </p:pic>
      <p:sp>
        <p:nvSpPr>
          <p:cNvPr id="38" name="Shape 32"/>
          <p:cNvSpPr/>
          <p:nvPr/>
        </p:nvSpPr>
        <p:spPr>
          <a:xfrm>
            <a:off x="4169664" y="2148840"/>
            <a:ext cx="256032" cy="256032"/>
          </a:xfrm>
          <a:prstGeom prst="ellipse">
            <a:avLst/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4169664" y="2148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0" name="Text 34"/>
          <p:cNvSpPr txBox="1"/>
          <p:nvPr/>
        </p:nvSpPr>
        <p:spPr>
          <a:xfrm>
            <a:off x="2551176" y="250545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for facts, voice for skills</a:t>
            </a:r>
            <a:endParaRPr lang="en-US" sz="950" dirty="0"/>
          </a:p>
        </p:txBody>
      </p:sp>
      <p:sp>
        <p:nvSpPr>
          <p:cNvPr id="41" name="Text 35"/>
          <p:cNvSpPr txBox="1"/>
          <p:nvPr/>
        </p:nvSpPr>
        <p:spPr>
          <a:xfrm>
            <a:off x="2551176" y="2825496"/>
            <a:ext cx="1874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speech error can never hurt</a:t>
            </a:r>
            <a:endParaRPr lang="en-US" sz="690" dirty="0"/>
          </a:p>
        </p:txBody>
      </p:sp>
      <p:sp>
        <p:nvSpPr>
          <p:cNvPr id="42" name="Text 36"/>
          <p:cNvSpPr txBox="1"/>
          <p:nvPr/>
        </p:nvSpPr>
        <p:spPr>
          <a:xfrm>
            <a:off x="2551176" y="299008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 and distance are </a:t>
            </a:r>
            <a:r>
              <a:rPr lang="en-US" sz="68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pressed on keys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Then he talks about his work — the AI maps it to an </a:t>
            </a:r>
            <a:r>
              <a:rPr lang="en-US" sz="68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NCO code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asks what he can already do.</a:t>
            </a:r>
            <a:endParaRPr lang="en-US" sz="680" dirty="0"/>
          </a:p>
        </p:txBody>
      </p:sp>
      <p:sp>
        <p:nvSpPr>
          <p:cNvPr id="43" name="Shape 37"/>
          <p:cNvSpPr/>
          <p:nvPr/>
        </p:nvSpPr>
        <p:spPr>
          <a:xfrm>
            <a:off x="4608576" y="2048256"/>
            <a:ext cx="2093976" cy="1225296"/>
          </a:xfrm>
          <a:prstGeom prst="roundRect">
            <a:avLst>
              <a:gd name="adj" fmla="val 5970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2139696"/>
            <a:ext cx="310896" cy="310896"/>
          </a:xfrm>
          <a:prstGeom prst="rect">
            <a:avLst/>
          </a:prstGeom>
        </p:spPr>
      </p:pic>
      <p:sp>
        <p:nvSpPr>
          <p:cNvPr id="45" name="Shape 38"/>
          <p:cNvSpPr/>
          <p:nvPr/>
        </p:nvSpPr>
        <p:spPr>
          <a:xfrm>
            <a:off x="6336792" y="2148840"/>
            <a:ext cx="256032" cy="256032"/>
          </a:xfrm>
          <a:prstGeom prst="ellipse">
            <a:avLst/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336792" y="2148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Text 40"/>
          <p:cNvSpPr txBox="1"/>
          <p:nvPr/>
        </p:nvSpPr>
        <p:spPr>
          <a:xfrm>
            <a:off x="4718304" y="250545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1–4 options that actually fit</a:t>
            </a:r>
            <a:endParaRPr lang="en-US" sz="950" dirty="0"/>
          </a:p>
        </p:txBody>
      </p:sp>
      <p:sp>
        <p:nvSpPr>
          <p:cNvPr id="48" name="Text 41"/>
          <p:cNvSpPr txBox="1"/>
          <p:nvPr/>
        </p:nvSpPr>
        <p:spPr>
          <a:xfrm>
            <a:off x="4718304" y="2825496"/>
            <a:ext cx="1874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checked before it is spoken</a:t>
            </a:r>
            <a:endParaRPr lang="en-US" sz="690" dirty="0"/>
          </a:p>
        </p:txBody>
      </p:sp>
      <p:sp>
        <p:nvSpPr>
          <p:cNvPr id="49" name="Text 42"/>
          <p:cNvSpPr txBox="1"/>
          <p:nvPr/>
        </p:nvSpPr>
        <p:spPr>
          <a:xfrm>
            <a:off x="4718304" y="299008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hears his profile read back and presses 1 to confirm — </a:t>
            </a: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writes it, no paper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Then only courses, schemes or jobs near him. He can ask any doubt.</a:t>
            </a:r>
            <a:endParaRPr lang="en-US" sz="680" dirty="0"/>
          </a:p>
        </p:txBody>
      </p:sp>
      <p:sp>
        <p:nvSpPr>
          <p:cNvPr id="50" name="Shape 43"/>
          <p:cNvSpPr/>
          <p:nvPr/>
        </p:nvSpPr>
        <p:spPr>
          <a:xfrm>
            <a:off x="6775704" y="2048256"/>
            <a:ext cx="2093976" cy="1225296"/>
          </a:xfrm>
          <a:prstGeom prst="roundRect">
            <a:avLst>
              <a:gd name="adj" fmla="val 5970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2" y="2139696"/>
            <a:ext cx="310896" cy="310896"/>
          </a:xfrm>
          <a:prstGeom prst="rect">
            <a:avLst/>
          </a:prstGeom>
        </p:spPr>
      </p:pic>
      <p:sp>
        <p:nvSpPr>
          <p:cNvPr id="52" name="Shape 44"/>
          <p:cNvSpPr/>
          <p:nvPr/>
        </p:nvSpPr>
        <p:spPr>
          <a:xfrm>
            <a:off x="8503920" y="2148840"/>
            <a:ext cx="256032" cy="256032"/>
          </a:xfrm>
          <a:prstGeom prst="ellipse">
            <a:avLst/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sp>
        <p:nvSpPr>
          <p:cNvPr id="53" name="Text 45"/>
          <p:cNvSpPr txBox="1"/>
          <p:nvPr/>
        </p:nvSpPr>
        <p:spPr>
          <a:xfrm>
            <a:off x="8503920" y="2148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4" name="Text 46"/>
          <p:cNvSpPr txBox="1"/>
          <p:nvPr/>
        </p:nvSpPr>
        <p:spPr>
          <a:xfrm>
            <a:off x="6885432" y="250545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Apply, then follow-up</a:t>
            </a:r>
            <a:endParaRPr lang="en-US" sz="950" dirty="0"/>
          </a:p>
        </p:txBody>
      </p:sp>
      <p:sp>
        <p:nvSpPr>
          <p:cNvPr id="55" name="Text 47"/>
          <p:cNvSpPr txBox="1"/>
          <p:nvPr/>
        </p:nvSpPr>
        <p:spPr>
          <a:xfrm>
            <a:off x="6885432" y="2825496"/>
            <a:ext cx="1874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he is actually earning</a:t>
            </a:r>
            <a:endParaRPr lang="en-US" sz="690" dirty="0"/>
          </a:p>
        </p:txBody>
      </p:sp>
      <p:sp>
        <p:nvSpPr>
          <p:cNvPr id="56" name="Text 48"/>
          <p:cNvSpPr txBox="1"/>
          <p:nvPr/>
        </p:nvSpPr>
        <p:spPr>
          <a:xfrm>
            <a:off x="6885432" y="299008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with </a:t>
            </a:r>
            <a:r>
              <a:rPr lang="en-US" sz="6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ID + nearest CSC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officer approves in the AJAY app; SkillCall calls again at </a:t>
            </a:r>
            <a:r>
              <a:rPr lang="en-US" sz="6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3 and 6 months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80" dirty="0"/>
          </a:p>
        </p:txBody>
      </p:sp>
      <p:sp>
        <p:nvSpPr>
          <p:cNvPr id="57" name="Text 49"/>
          <p:cNvSpPr txBox="1"/>
          <p:nvPr/>
        </p:nvSpPr>
        <p:spPr>
          <a:xfrm>
            <a:off x="274320" y="338328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 WHERE A FORM FAILS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only a conversation can do</a:t>
            </a:r>
            <a:endParaRPr lang="en-US" sz="850" dirty="0"/>
          </a:p>
        </p:txBody>
      </p:sp>
      <p:sp>
        <p:nvSpPr>
          <p:cNvPr id="58" name="Shape 50"/>
          <p:cNvSpPr/>
          <p:nvPr/>
        </p:nvSpPr>
        <p:spPr>
          <a:xfrm>
            <a:off x="274320" y="3584448"/>
            <a:ext cx="2093976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60" name="Text 51"/>
          <p:cNvSpPr txBox="1"/>
          <p:nvPr/>
        </p:nvSpPr>
        <p:spPr>
          <a:xfrm>
            <a:off x="713232" y="3630168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him at all</a:t>
            </a:r>
            <a:endParaRPr lang="en-US" sz="920" dirty="0"/>
          </a:p>
        </p:txBody>
      </p:sp>
      <p:sp>
        <p:nvSpPr>
          <p:cNvPr id="61" name="Text 52"/>
          <p:cNvSpPr txBox="1"/>
          <p:nvPr/>
        </p:nvSpPr>
        <p:spPr>
          <a:xfrm>
            <a:off x="713232" y="3822192"/>
            <a:ext cx="1563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keypad phone, no reading</a:t>
            </a:r>
            <a:endParaRPr lang="en-US" sz="690" dirty="0"/>
          </a:p>
        </p:txBody>
      </p:sp>
      <p:sp>
        <p:nvSpPr>
          <p:cNvPr id="62" name="Text 53"/>
          <p:cNvSpPr txBox="1"/>
          <p:nvPr/>
        </p:nvSpPr>
        <p:spPr>
          <a:xfrm>
            <a:off x="365760" y="4005072"/>
            <a:ext cx="1911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 of rural women have no phone of their own and 34% of SC adults cannot read — </a:t>
            </a:r>
            <a:r>
              <a:rPr lang="en-US" sz="67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 reaches neither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70" dirty="0"/>
          </a:p>
        </p:txBody>
      </p:sp>
      <p:sp>
        <p:nvSpPr>
          <p:cNvPr id="63" name="Shape 54"/>
          <p:cNvSpPr/>
          <p:nvPr/>
        </p:nvSpPr>
        <p:spPr>
          <a:xfrm>
            <a:off x="2441448" y="3584448"/>
            <a:ext cx="2093976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6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2888" y="3657600"/>
            <a:ext cx="274320" cy="274320"/>
          </a:xfrm>
          <a:prstGeom prst="rect">
            <a:avLst/>
          </a:prstGeom>
        </p:spPr>
      </p:pic>
      <p:sp>
        <p:nvSpPr>
          <p:cNvPr id="65" name="Text 55"/>
          <p:cNvSpPr txBox="1"/>
          <p:nvPr/>
        </p:nvSpPr>
        <p:spPr>
          <a:xfrm>
            <a:off x="2880360" y="3630168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like a person</a:t>
            </a:r>
            <a:endParaRPr lang="en-US" sz="920" dirty="0"/>
          </a:p>
        </p:txBody>
      </p:sp>
      <p:sp>
        <p:nvSpPr>
          <p:cNvPr id="66" name="Text 56"/>
          <p:cNvSpPr txBox="1"/>
          <p:nvPr/>
        </p:nvSpPr>
        <p:spPr>
          <a:xfrm>
            <a:off x="2880360" y="3822192"/>
            <a:ext cx="1563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question follows his last answer</a:t>
            </a:r>
            <a:endParaRPr lang="en-US" sz="690" dirty="0"/>
          </a:p>
        </p:txBody>
      </p:sp>
      <p:sp>
        <p:nvSpPr>
          <p:cNvPr id="67" name="Text 57"/>
          <p:cNvSpPr txBox="1"/>
          <p:nvPr/>
        </p:nvSpPr>
        <p:spPr>
          <a:xfrm>
            <a:off x="2532888" y="4005072"/>
            <a:ext cx="1911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mechanic → engine, tyres, oil — and it records the skills he is </a:t>
            </a:r>
            <a:r>
              <a:rPr lang="en-US" sz="67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missing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70" dirty="0"/>
          </a:p>
        </p:txBody>
      </p:sp>
      <p:sp>
        <p:nvSpPr>
          <p:cNvPr id="68" name="Shape 58"/>
          <p:cNvSpPr/>
          <p:nvPr/>
        </p:nvSpPr>
        <p:spPr>
          <a:xfrm>
            <a:off x="4608576" y="3584448"/>
            <a:ext cx="2093976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6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0016" y="3657600"/>
            <a:ext cx="274320" cy="274320"/>
          </a:xfrm>
          <a:prstGeom prst="rect">
            <a:avLst/>
          </a:prstGeom>
        </p:spPr>
      </p:pic>
      <p:sp>
        <p:nvSpPr>
          <p:cNvPr id="70" name="Text 59"/>
          <p:cNvSpPr txBox="1"/>
          <p:nvPr/>
        </p:nvSpPr>
        <p:spPr>
          <a:xfrm>
            <a:off x="5047488" y="3630168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only verified facts</a:t>
            </a:r>
            <a:endParaRPr lang="en-US" sz="920" dirty="0"/>
          </a:p>
        </p:txBody>
      </p:sp>
      <p:sp>
        <p:nvSpPr>
          <p:cNvPr id="71" name="Text 60"/>
          <p:cNvSpPr txBox="1"/>
          <p:nvPr/>
        </p:nvSpPr>
        <p:spPr>
          <a:xfrm>
            <a:off x="5047488" y="3822192"/>
            <a:ext cx="1563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data + SATYA double-check</a:t>
            </a:r>
            <a:endParaRPr lang="en-US" sz="690" dirty="0"/>
          </a:p>
        </p:txBody>
      </p:sp>
      <p:sp>
        <p:nvSpPr>
          <p:cNvPr id="72" name="Text 61"/>
          <p:cNvSpPr txBox="1"/>
          <p:nvPr/>
        </p:nvSpPr>
        <p:spPr>
          <a:xfrm>
            <a:off x="4700016" y="4005072"/>
            <a:ext cx="1911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comes from loaded rules, NQR courses and NCO codes; SATYA matches it to a row — </a:t>
            </a:r>
            <a:r>
              <a:rPr lang="en-US" sz="67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match, not said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70" dirty="0"/>
          </a:p>
        </p:txBody>
      </p:sp>
      <p:sp>
        <p:nvSpPr>
          <p:cNvPr id="73" name="Shape 62"/>
          <p:cNvSpPr/>
          <p:nvPr/>
        </p:nvSpPr>
        <p:spPr>
          <a:xfrm>
            <a:off x="6775704" y="3584448"/>
            <a:ext cx="2093976" cy="950976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7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7144" y="3657600"/>
            <a:ext cx="274320" cy="274320"/>
          </a:xfrm>
          <a:prstGeom prst="rect">
            <a:avLst/>
          </a:prstGeom>
        </p:spPr>
      </p:pic>
      <p:sp>
        <p:nvSpPr>
          <p:cNvPr id="75" name="Text 63"/>
          <p:cNvSpPr txBox="1"/>
          <p:nvPr/>
        </p:nvSpPr>
        <p:spPr>
          <a:xfrm>
            <a:off x="7214616" y="3630168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profile itself</a:t>
            </a:r>
            <a:endParaRPr lang="en-US" sz="920" dirty="0"/>
          </a:p>
        </p:txBody>
      </p:sp>
      <p:sp>
        <p:nvSpPr>
          <p:cNvPr id="76" name="Text 64"/>
          <p:cNvSpPr txBox="1"/>
          <p:nvPr/>
        </p:nvSpPr>
        <p:spPr>
          <a:xfrm>
            <a:off x="7214616" y="3822192"/>
            <a:ext cx="1563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only review and approve</a:t>
            </a:r>
            <a:endParaRPr lang="en-US" sz="690" dirty="0"/>
          </a:p>
        </p:txBody>
      </p:sp>
      <p:sp>
        <p:nvSpPr>
          <p:cNvPr id="77" name="Text 65"/>
          <p:cNvSpPr txBox="1"/>
          <p:nvPr/>
        </p:nvSpPr>
        <p:spPr>
          <a:xfrm>
            <a:off x="6867144" y="4005072"/>
            <a:ext cx="1911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case table is filled in the proper format, so </a:t>
            </a:r>
            <a:r>
              <a:rPr lang="en-US" sz="67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hours a month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officer time comes back.</a:t>
            </a:r>
            <a:endParaRPr lang="en-US" sz="67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Indian, open where possible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74320" y="1097280"/>
            <a:ext cx="2834640" cy="640080"/>
          </a:xfrm>
          <a:prstGeom prst="roundRect">
            <a:avLst>
              <a:gd name="adj" fmla="val 11429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12471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&amp; voice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38328" y="13167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344168"/>
            <a:ext cx="128016" cy="1280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" y="13167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 / Plivo</a:t>
            </a:r>
            <a:endParaRPr lang="en-US" sz="720" dirty="0"/>
          </a:p>
        </p:txBody>
      </p:sp>
      <p:sp>
        <p:nvSpPr>
          <p:cNvPr id="13" name="Shape 9"/>
          <p:cNvSpPr/>
          <p:nvPr/>
        </p:nvSpPr>
        <p:spPr>
          <a:xfrm>
            <a:off x="1719072" y="13167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792" y="1344168"/>
            <a:ext cx="128016" cy="1280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38528" y="13167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API</a:t>
            </a:r>
            <a:endParaRPr lang="en-US" sz="720" dirty="0"/>
          </a:p>
        </p:txBody>
      </p:sp>
      <p:sp>
        <p:nvSpPr>
          <p:cNvPr id="16" name="Shape 11"/>
          <p:cNvSpPr/>
          <p:nvPr/>
        </p:nvSpPr>
        <p:spPr>
          <a:xfrm>
            <a:off x="338328" y="1527048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554480"/>
            <a:ext cx="128016" cy="12801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7784" y="152704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 voice server</a:t>
            </a:r>
            <a:endParaRPr lang="en-US" sz="720" dirty="0"/>
          </a:p>
        </p:txBody>
      </p:sp>
      <p:sp>
        <p:nvSpPr>
          <p:cNvPr id="19" name="Shape 13"/>
          <p:cNvSpPr/>
          <p:nvPr/>
        </p:nvSpPr>
        <p:spPr>
          <a:xfrm>
            <a:off x="274320" y="1792224"/>
            <a:ext cx="2834640" cy="850392"/>
          </a:xfrm>
          <a:prstGeom prst="roundRect">
            <a:avLst>
              <a:gd name="adj" fmla="val 8602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365760" y="1819656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</a:t>
            </a:r>
            <a:endParaRPr lang="en-US" sz="750" dirty="0"/>
          </a:p>
        </p:txBody>
      </p:sp>
      <p:sp>
        <p:nvSpPr>
          <p:cNvPr id="21" name="Shape 15"/>
          <p:cNvSpPr/>
          <p:nvPr/>
        </p:nvSpPr>
        <p:spPr>
          <a:xfrm>
            <a:off x="338328" y="201168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039112"/>
            <a:ext cx="128016" cy="1280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57784" y="201168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Saaras v3 · STT</a:t>
            </a:r>
            <a:endParaRPr lang="en-US" sz="720" dirty="0"/>
          </a:p>
        </p:txBody>
      </p:sp>
      <p:sp>
        <p:nvSpPr>
          <p:cNvPr id="24" name="Shape 17"/>
          <p:cNvSpPr/>
          <p:nvPr/>
        </p:nvSpPr>
        <p:spPr>
          <a:xfrm>
            <a:off x="1719072" y="201168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64792" y="2039112"/>
            <a:ext cx="128016" cy="12801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938528" y="201168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 · TTS</a:t>
            </a:r>
            <a:endParaRPr lang="en-US" sz="720" dirty="0"/>
          </a:p>
        </p:txBody>
      </p:sp>
      <p:sp>
        <p:nvSpPr>
          <p:cNvPr id="27" name="Shape 19"/>
          <p:cNvSpPr/>
          <p:nvPr/>
        </p:nvSpPr>
        <p:spPr>
          <a:xfrm>
            <a:off x="338328" y="22219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2249424"/>
            <a:ext cx="128016" cy="128016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557784" y="22219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 / 105B</a:t>
            </a:r>
            <a:endParaRPr lang="en-US" sz="720" dirty="0"/>
          </a:p>
        </p:txBody>
      </p:sp>
      <p:sp>
        <p:nvSpPr>
          <p:cNvPr id="30" name="Shape 21"/>
          <p:cNvSpPr/>
          <p:nvPr/>
        </p:nvSpPr>
        <p:spPr>
          <a:xfrm>
            <a:off x="1719072" y="22219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4792" y="2249424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1938528" y="22219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</a:t>
            </a:r>
            <a:endParaRPr lang="en-US" sz="720" dirty="0"/>
          </a:p>
        </p:txBody>
      </p:sp>
      <p:sp>
        <p:nvSpPr>
          <p:cNvPr id="33" name="Shape 23"/>
          <p:cNvSpPr/>
          <p:nvPr/>
        </p:nvSpPr>
        <p:spPr>
          <a:xfrm>
            <a:off x="338328" y="24323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4048" y="245973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557784" y="24323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</a:t>
            </a:r>
            <a:endParaRPr lang="en-US" sz="720" dirty="0"/>
          </a:p>
        </p:txBody>
      </p:sp>
      <p:sp>
        <p:nvSpPr>
          <p:cNvPr id="36" name="Shape 25"/>
          <p:cNvSpPr/>
          <p:nvPr/>
        </p:nvSpPr>
        <p:spPr>
          <a:xfrm>
            <a:off x="1719072" y="24323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4792" y="2459736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1938528" y="24323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(ours)</a:t>
            </a:r>
            <a:endParaRPr lang="en-US" sz="720" dirty="0"/>
          </a:p>
        </p:txBody>
      </p:sp>
      <p:sp>
        <p:nvSpPr>
          <p:cNvPr id="39" name="Shape 27"/>
          <p:cNvSpPr/>
          <p:nvPr/>
        </p:nvSpPr>
        <p:spPr>
          <a:xfrm>
            <a:off x="274320" y="2697480"/>
            <a:ext cx="2834640" cy="850392"/>
          </a:xfrm>
          <a:prstGeom prst="roundRect">
            <a:avLst>
              <a:gd name="adj" fmla="val 8602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365760" y="272491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data</a:t>
            </a:r>
            <a:endParaRPr lang="en-US" sz="750" dirty="0"/>
          </a:p>
        </p:txBody>
      </p:sp>
      <p:sp>
        <p:nvSpPr>
          <p:cNvPr id="41" name="Shape 29"/>
          <p:cNvSpPr/>
          <p:nvPr/>
        </p:nvSpPr>
        <p:spPr>
          <a:xfrm>
            <a:off x="338328" y="29169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4048" y="2944368"/>
            <a:ext cx="128016" cy="128016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557784" y="29169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720" dirty="0"/>
          </a:p>
        </p:txBody>
      </p:sp>
      <p:sp>
        <p:nvSpPr>
          <p:cNvPr id="44" name="Shape 31"/>
          <p:cNvSpPr/>
          <p:nvPr/>
        </p:nvSpPr>
        <p:spPr>
          <a:xfrm>
            <a:off x="1719072" y="29169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64792" y="2944368"/>
            <a:ext cx="128016" cy="12801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1938528" y="29169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720" dirty="0"/>
          </a:p>
        </p:txBody>
      </p:sp>
      <p:sp>
        <p:nvSpPr>
          <p:cNvPr id="47" name="Shape 33"/>
          <p:cNvSpPr/>
          <p:nvPr/>
        </p:nvSpPr>
        <p:spPr>
          <a:xfrm>
            <a:off x="338328" y="3127248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" y="3154680"/>
            <a:ext cx="128016" cy="128016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557784" y="312724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720" dirty="0"/>
          </a:p>
        </p:txBody>
      </p:sp>
      <p:sp>
        <p:nvSpPr>
          <p:cNvPr id="50" name="Shape 35"/>
          <p:cNvSpPr/>
          <p:nvPr/>
        </p:nvSpPr>
        <p:spPr>
          <a:xfrm>
            <a:off x="1719072" y="3127248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64792" y="3154680"/>
            <a:ext cx="128016" cy="128016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1938528" y="312724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720" dirty="0"/>
          </a:p>
        </p:txBody>
      </p:sp>
      <p:sp>
        <p:nvSpPr>
          <p:cNvPr id="53" name="Shape 37"/>
          <p:cNvSpPr/>
          <p:nvPr/>
        </p:nvSpPr>
        <p:spPr>
          <a:xfrm>
            <a:off x="338328" y="333756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4048" y="3364992"/>
            <a:ext cx="128016" cy="128016"/>
          </a:xfrm>
          <a:prstGeom prst="rect">
            <a:avLst/>
          </a:prstGeom>
        </p:spPr>
      </p:pic>
      <p:sp>
        <p:nvSpPr>
          <p:cNvPr id="55" name="Text 38"/>
          <p:cNvSpPr txBox="1"/>
          <p:nvPr/>
        </p:nvSpPr>
        <p:spPr>
          <a:xfrm>
            <a:off x="557784" y="333756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720" dirty="0"/>
          </a:p>
        </p:txBody>
      </p:sp>
      <p:sp>
        <p:nvSpPr>
          <p:cNvPr id="56" name="Shape 39"/>
          <p:cNvSpPr/>
          <p:nvPr/>
        </p:nvSpPr>
        <p:spPr>
          <a:xfrm>
            <a:off x="1719072" y="333756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64792" y="3364992"/>
            <a:ext cx="128016" cy="128016"/>
          </a:xfrm>
          <a:prstGeom prst="rect">
            <a:avLst/>
          </a:prstGeom>
        </p:spPr>
      </p:pic>
      <p:sp>
        <p:nvSpPr>
          <p:cNvPr id="58" name="Text 40"/>
          <p:cNvSpPr txBox="1"/>
          <p:nvPr/>
        </p:nvSpPr>
        <p:spPr>
          <a:xfrm>
            <a:off x="1938528" y="333756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720" dirty="0"/>
          </a:p>
        </p:txBody>
      </p:sp>
      <p:sp>
        <p:nvSpPr>
          <p:cNvPr id="59" name="Shape 41"/>
          <p:cNvSpPr/>
          <p:nvPr/>
        </p:nvSpPr>
        <p:spPr>
          <a:xfrm>
            <a:off x="274320" y="3602736"/>
            <a:ext cx="2834640" cy="850392"/>
          </a:xfrm>
          <a:prstGeom prst="roundRect">
            <a:avLst>
              <a:gd name="adj" fmla="val 8602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365760" y="3630168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&amp; govt links</a:t>
            </a:r>
            <a:endParaRPr lang="en-US" sz="750" dirty="0"/>
          </a:p>
        </p:txBody>
      </p:sp>
      <p:sp>
        <p:nvSpPr>
          <p:cNvPr id="61" name="Shape 43"/>
          <p:cNvSpPr/>
          <p:nvPr/>
        </p:nvSpPr>
        <p:spPr>
          <a:xfrm>
            <a:off x="338328" y="38221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4048" y="3849624"/>
            <a:ext cx="128016" cy="128016"/>
          </a:xfrm>
          <a:prstGeom prst="rect">
            <a:avLst/>
          </a:prstGeom>
        </p:spPr>
      </p:pic>
      <p:sp>
        <p:nvSpPr>
          <p:cNvPr id="63" name="Text 44"/>
          <p:cNvSpPr txBox="1"/>
          <p:nvPr/>
        </p:nvSpPr>
        <p:spPr>
          <a:xfrm>
            <a:off x="557784" y="38221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720" dirty="0"/>
          </a:p>
        </p:txBody>
      </p:sp>
      <p:sp>
        <p:nvSpPr>
          <p:cNvPr id="64" name="Shape 45"/>
          <p:cNvSpPr/>
          <p:nvPr/>
        </p:nvSpPr>
        <p:spPr>
          <a:xfrm>
            <a:off x="1719072" y="38221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64792" y="3849624"/>
            <a:ext cx="128016" cy="128016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1938528" y="38221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maps</a:t>
            </a:r>
            <a:endParaRPr lang="en-US" sz="720" dirty="0"/>
          </a:p>
        </p:txBody>
      </p:sp>
      <p:sp>
        <p:nvSpPr>
          <p:cNvPr id="67" name="Shape 47"/>
          <p:cNvSpPr/>
          <p:nvPr/>
        </p:nvSpPr>
        <p:spPr>
          <a:xfrm>
            <a:off x="338328" y="40325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8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4048" y="4059936"/>
            <a:ext cx="128016" cy="128016"/>
          </a:xfrm>
          <a:prstGeom prst="rect">
            <a:avLst/>
          </a:prstGeom>
        </p:spPr>
      </p:pic>
      <p:sp>
        <p:nvSpPr>
          <p:cNvPr id="69" name="Text 48"/>
          <p:cNvSpPr txBox="1"/>
          <p:nvPr/>
        </p:nvSpPr>
        <p:spPr>
          <a:xfrm>
            <a:off x="557784" y="40325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 / NQR</a:t>
            </a:r>
            <a:endParaRPr lang="en-US" sz="720" dirty="0"/>
          </a:p>
        </p:txBody>
      </p:sp>
      <p:sp>
        <p:nvSpPr>
          <p:cNvPr id="70" name="Shape 49"/>
          <p:cNvSpPr/>
          <p:nvPr/>
        </p:nvSpPr>
        <p:spPr>
          <a:xfrm>
            <a:off x="1719072" y="40325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64792" y="4059936"/>
            <a:ext cx="128016" cy="128016"/>
          </a:xfrm>
          <a:prstGeom prst="rect">
            <a:avLst/>
          </a:prstGeom>
        </p:spPr>
      </p:pic>
      <p:sp>
        <p:nvSpPr>
          <p:cNvPr id="72" name="Text 50"/>
          <p:cNvSpPr txBox="1"/>
          <p:nvPr/>
        </p:nvSpPr>
        <p:spPr>
          <a:xfrm>
            <a:off x="1938528" y="40325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</a:t>
            </a:r>
            <a:endParaRPr lang="en-US" sz="720" dirty="0"/>
          </a:p>
        </p:txBody>
      </p:sp>
      <p:sp>
        <p:nvSpPr>
          <p:cNvPr id="73" name="Shape 51"/>
          <p:cNvSpPr/>
          <p:nvPr/>
        </p:nvSpPr>
        <p:spPr>
          <a:xfrm>
            <a:off x="338328" y="424281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4048" y="4270248"/>
            <a:ext cx="128016" cy="128016"/>
          </a:xfrm>
          <a:prstGeom prst="rect">
            <a:avLst/>
          </a:prstGeom>
        </p:spPr>
      </p:pic>
      <p:sp>
        <p:nvSpPr>
          <p:cNvPr id="75" name="Text 52"/>
          <p:cNvSpPr txBox="1"/>
          <p:nvPr/>
        </p:nvSpPr>
        <p:spPr>
          <a:xfrm>
            <a:off x="557784" y="424281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DigiLocker*</a:t>
            </a:r>
            <a:endParaRPr lang="en-US" sz="720" dirty="0"/>
          </a:p>
        </p:txBody>
      </p:sp>
      <p:sp>
        <p:nvSpPr>
          <p:cNvPr id="76" name="Shape 53"/>
          <p:cNvSpPr/>
          <p:nvPr/>
        </p:nvSpPr>
        <p:spPr>
          <a:xfrm>
            <a:off x="1719072" y="424281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7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764792" y="4270248"/>
            <a:ext cx="128016" cy="128016"/>
          </a:xfrm>
          <a:prstGeom prst="rect">
            <a:avLst/>
          </a:prstGeom>
        </p:spPr>
      </p:pic>
      <p:sp>
        <p:nvSpPr>
          <p:cNvPr id="78" name="Text 54"/>
          <p:cNvSpPr txBox="1"/>
          <p:nvPr/>
        </p:nvSpPr>
        <p:spPr>
          <a:xfrm>
            <a:off x="1938528" y="424281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MeghRaj*</a:t>
            </a:r>
            <a:endParaRPr lang="en-US" sz="720" dirty="0"/>
          </a:p>
        </p:txBody>
      </p:sp>
      <p:sp>
        <p:nvSpPr>
          <p:cNvPr id="79" name="Text 55"/>
          <p:cNvSpPr txBox="1"/>
          <p:nvPr/>
        </p:nvSpPr>
        <p:spPr>
          <a:xfrm>
            <a:off x="274320" y="4526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needs a government MoU.  </a:t>
            </a:r>
            <a:r>
              <a:rPr lang="en-US" sz="650" i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architecture, API docs and code → GitHub repo (add link)</a:t>
            </a:r>
            <a:endParaRPr lang="en-US" sz="650" dirty="0"/>
          </a:p>
        </p:txBody>
      </p:sp>
      <p:sp>
        <p:nvSpPr>
          <p:cNvPr id="80" name="Text 56"/>
          <p:cNvSpPr txBox="1"/>
          <p:nvPr/>
        </p:nvSpPr>
        <p:spPr>
          <a:xfrm>
            <a:off x="3200400" y="896112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lanes: during the call (AI, in seconds) and after it (people, in days)</a:t>
            </a:r>
            <a:endParaRPr lang="en-US" sz="850" dirty="0"/>
          </a:p>
        </p:txBody>
      </p:sp>
      <p:sp>
        <p:nvSpPr>
          <p:cNvPr id="81" name="Shape 57"/>
          <p:cNvSpPr/>
          <p:nvPr/>
        </p:nvSpPr>
        <p:spPr>
          <a:xfrm>
            <a:off x="3200400" y="1078992"/>
            <a:ext cx="5669280" cy="1975104"/>
          </a:xfrm>
          <a:prstGeom prst="roundRect">
            <a:avLst>
              <a:gd name="adj" fmla="val 3704"/>
            </a:avLst>
          </a:prstGeom>
          <a:solidFill>
            <a:srgbClr val="EAF0F8"/>
          </a:solidFill>
          <a:ln w="9525">
            <a:solidFill>
              <a:srgbClr val="EAF0F8"/>
            </a:solidFill>
            <a:prstDash val="solid"/>
          </a:ln>
        </p:spPr>
      </p:sp>
      <p:sp>
        <p:nvSpPr>
          <p:cNvPr id="82" name="Text 58"/>
          <p:cNvSpPr txBox="1"/>
          <p:nvPr/>
        </p:nvSpPr>
        <p:spPr>
          <a:xfrm>
            <a:off x="3291840" y="1106424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DURING THE CALL  —  each spoken turn ≈ 1.2–2.2 s · keypad turns are instant</a:t>
            </a:r>
            <a:endParaRPr lang="en-US" sz="730" dirty="0"/>
          </a:p>
        </p:txBody>
      </p:sp>
      <p:sp>
        <p:nvSpPr>
          <p:cNvPr id="83" name="Text 59"/>
          <p:cNvSpPr txBox="1"/>
          <p:nvPr/>
        </p:nvSpPr>
        <p:spPr>
          <a:xfrm>
            <a:off x="6766560" y="1106424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data flow · dashed = only when needed</a:t>
            </a:r>
            <a:endParaRPr lang="en-US" sz="630" dirty="0"/>
          </a:p>
        </p:txBody>
      </p:sp>
      <p:sp>
        <p:nvSpPr>
          <p:cNvPr id="84" name="Shape 60"/>
          <p:cNvSpPr/>
          <p:nvPr/>
        </p:nvSpPr>
        <p:spPr>
          <a:xfrm>
            <a:off x="3291840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2700">
            <a:solidFill>
              <a:srgbClr val="5B6B7F"/>
            </a:solidFill>
            <a:prstDash val="solid"/>
          </a:ln>
        </p:spPr>
      </p:sp>
      <p:pic>
        <p:nvPicPr>
          <p:cNvPr id="85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337560" y="1325880"/>
            <a:ext cx="182880" cy="182880"/>
          </a:xfrm>
          <a:prstGeom prst="rect">
            <a:avLst/>
          </a:prstGeom>
        </p:spPr>
      </p:pic>
      <p:sp>
        <p:nvSpPr>
          <p:cNvPr id="86" name="Text 61"/>
          <p:cNvSpPr txBox="1"/>
          <p:nvPr/>
        </p:nvSpPr>
        <p:spPr>
          <a:xfrm>
            <a:off x="3547872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650" dirty="0"/>
          </a:p>
        </p:txBody>
      </p:sp>
      <p:sp>
        <p:nvSpPr>
          <p:cNvPr id="87" name="Text 62"/>
          <p:cNvSpPr txBox="1"/>
          <p:nvPr/>
        </p:nvSpPr>
        <p:spPr>
          <a:xfrm>
            <a:off x="3337560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keypad phone, no internet</a:t>
            </a:r>
            <a:endParaRPr lang="en-US" sz="600" dirty="0"/>
          </a:p>
        </p:txBody>
      </p:sp>
      <p:sp>
        <p:nvSpPr>
          <p:cNvPr id="88" name="Shape 63"/>
          <p:cNvSpPr/>
          <p:nvPr/>
        </p:nvSpPr>
        <p:spPr>
          <a:xfrm>
            <a:off x="4094683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89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40403" y="1325880"/>
            <a:ext cx="182880" cy="182880"/>
          </a:xfrm>
          <a:prstGeom prst="rect">
            <a:avLst/>
          </a:prstGeom>
        </p:spPr>
      </p:pic>
      <p:sp>
        <p:nvSpPr>
          <p:cNvPr id="90" name="Text 64"/>
          <p:cNvSpPr txBox="1"/>
          <p:nvPr/>
        </p:nvSpPr>
        <p:spPr>
          <a:xfrm>
            <a:off x="4350715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</a:t>
            </a:r>
            <a:endParaRPr lang="en-US" sz="650" dirty="0"/>
          </a:p>
        </p:txBody>
      </p:sp>
      <p:sp>
        <p:nvSpPr>
          <p:cNvPr id="91" name="Text 65"/>
          <p:cNvSpPr txBox="1"/>
          <p:nvPr/>
        </p:nvSpPr>
        <p:spPr>
          <a:xfrm>
            <a:off x="4140403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call-back, keys, SMS</a:t>
            </a:r>
            <a:endParaRPr lang="en-US" sz="600" dirty="0"/>
          </a:p>
        </p:txBody>
      </p:sp>
      <p:sp>
        <p:nvSpPr>
          <p:cNvPr id="92" name="Shape 66"/>
          <p:cNvSpPr/>
          <p:nvPr/>
        </p:nvSpPr>
        <p:spPr>
          <a:xfrm>
            <a:off x="4897526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93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943246" y="1325880"/>
            <a:ext cx="182880" cy="182880"/>
          </a:xfrm>
          <a:prstGeom prst="rect">
            <a:avLst/>
          </a:prstGeom>
        </p:spPr>
      </p:pic>
      <p:sp>
        <p:nvSpPr>
          <p:cNvPr id="94" name="Text 67"/>
          <p:cNvSpPr txBox="1"/>
          <p:nvPr/>
        </p:nvSpPr>
        <p:spPr>
          <a:xfrm>
            <a:off x="5153558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650" dirty="0"/>
          </a:p>
        </p:txBody>
      </p:sp>
      <p:sp>
        <p:nvSpPr>
          <p:cNvPr id="95" name="Text 68"/>
          <p:cNvSpPr txBox="1"/>
          <p:nvPr/>
        </p:nvSpPr>
        <p:spPr>
          <a:xfrm>
            <a:off x="4943246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live call, turn-taking</a:t>
            </a:r>
            <a:endParaRPr lang="en-US" sz="600" dirty="0"/>
          </a:p>
        </p:txBody>
      </p:sp>
      <p:sp>
        <p:nvSpPr>
          <p:cNvPr id="96" name="Shape 69"/>
          <p:cNvSpPr/>
          <p:nvPr/>
        </p:nvSpPr>
        <p:spPr>
          <a:xfrm>
            <a:off x="5700370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0F4F5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97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746090" y="1325880"/>
            <a:ext cx="182880" cy="182880"/>
          </a:xfrm>
          <a:prstGeom prst="rect">
            <a:avLst/>
          </a:prstGeom>
        </p:spPr>
      </p:pic>
      <p:sp>
        <p:nvSpPr>
          <p:cNvPr id="98" name="Text 70"/>
          <p:cNvSpPr txBox="1"/>
          <p:nvPr/>
        </p:nvSpPr>
        <p:spPr>
          <a:xfrm>
            <a:off x="5956402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</a:t>
            </a:r>
            <a:endParaRPr lang="en-US" sz="650" dirty="0"/>
          </a:p>
        </p:txBody>
      </p:sp>
      <p:sp>
        <p:nvSpPr>
          <p:cNvPr id="99" name="Text 71"/>
          <p:cNvSpPr txBox="1"/>
          <p:nvPr/>
        </p:nvSpPr>
        <p:spPr>
          <a:xfrm>
            <a:off x="5746090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 or Saaras v3 → text</a:t>
            </a:r>
            <a:endParaRPr lang="en-US" sz="600" dirty="0"/>
          </a:p>
        </p:txBody>
      </p:sp>
      <p:sp>
        <p:nvSpPr>
          <p:cNvPr id="100" name="Shape 72"/>
          <p:cNvSpPr/>
          <p:nvPr/>
        </p:nvSpPr>
        <p:spPr>
          <a:xfrm>
            <a:off x="6503213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0F4F5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101" name="Image 26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548933" y="1325880"/>
            <a:ext cx="182880" cy="182880"/>
          </a:xfrm>
          <a:prstGeom prst="rect">
            <a:avLst/>
          </a:prstGeom>
        </p:spPr>
      </p:pic>
      <p:sp>
        <p:nvSpPr>
          <p:cNvPr id="102" name="Text 73"/>
          <p:cNvSpPr txBox="1"/>
          <p:nvPr/>
        </p:nvSpPr>
        <p:spPr>
          <a:xfrm>
            <a:off x="6759245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650" dirty="0"/>
          </a:p>
        </p:txBody>
      </p:sp>
      <p:sp>
        <p:nvSpPr>
          <p:cNvPr id="103" name="Text 74"/>
          <p:cNvSpPr txBox="1"/>
          <p:nvPr/>
        </p:nvSpPr>
        <p:spPr>
          <a:xfrm>
            <a:off x="6548933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Sarvam-30B: understands, asks next question</a:t>
            </a:r>
            <a:endParaRPr lang="en-US" sz="600" dirty="0"/>
          </a:p>
        </p:txBody>
      </p:sp>
      <p:sp>
        <p:nvSpPr>
          <p:cNvPr id="104" name="Shape 75"/>
          <p:cNvSpPr/>
          <p:nvPr/>
        </p:nvSpPr>
        <p:spPr>
          <a:xfrm>
            <a:off x="7306056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FCE7E7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105" name="Image 27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51776" y="1325880"/>
            <a:ext cx="182880" cy="182880"/>
          </a:xfrm>
          <a:prstGeom prst="rect">
            <a:avLst/>
          </a:prstGeom>
        </p:spPr>
      </p:pic>
      <p:sp>
        <p:nvSpPr>
          <p:cNvPr id="106" name="Text 76"/>
          <p:cNvSpPr txBox="1"/>
          <p:nvPr/>
        </p:nvSpPr>
        <p:spPr>
          <a:xfrm>
            <a:off x="7562088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</a:t>
            </a:r>
            <a:endParaRPr lang="en-US" sz="650" dirty="0"/>
          </a:p>
        </p:txBody>
      </p:sp>
      <p:sp>
        <p:nvSpPr>
          <p:cNvPr id="107" name="Text 77"/>
          <p:cNvSpPr txBox="1"/>
          <p:nvPr/>
        </p:nvSpPr>
        <p:spPr>
          <a:xfrm>
            <a:off x="7351776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every fact against the DB</a:t>
            </a:r>
            <a:endParaRPr lang="en-US" sz="600" dirty="0"/>
          </a:p>
        </p:txBody>
      </p:sp>
      <p:sp>
        <p:nvSpPr>
          <p:cNvPr id="108" name="Shape 78"/>
          <p:cNvSpPr/>
          <p:nvPr/>
        </p:nvSpPr>
        <p:spPr>
          <a:xfrm>
            <a:off x="8108899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09" name="Image 2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154619" y="1325880"/>
            <a:ext cx="182880" cy="182880"/>
          </a:xfrm>
          <a:prstGeom prst="rect">
            <a:avLst/>
          </a:prstGeom>
        </p:spPr>
      </p:pic>
      <p:sp>
        <p:nvSpPr>
          <p:cNvPr id="110" name="Text 79"/>
          <p:cNvSpPr txBox="1"/>
          <p:nvPr/>
        </p:nvSpPr>
        <p:spPr>
          <a:xfrm>
            <a:off x="8364931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endParaRPr lang="en-US" sz="650" dirty="0"/>
          </a:p>
        </p:txBody>
      </p:sp>
      <p:sp>
        <p:nvSpPr>
          <p:cNvPr id="111" name="Text 80"/>
          <p:cNvSpPr txBox="1"/>
          <p:nvPr/>
        </p:nvSpPr>
        <p:spPr>
          <a:xfrm>
            <a:off x="8154619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 speaks; cached audio is free</a:t>
            </a:r>
            <a:endParaRPr lang="en-US" sz="600" dirty="0"/>
          </a:p>
        </p:txBody>
      </p:sp>
      <p:sp>
        <p:nvSpPr>
          <p:cNvPr id="112" name="Shape 81"/>
          <p:cNvSpPr/>
          <p:nvPr/>
        </p:nvSpPr>
        <p:spPr>
          <a:xfrm>
            <a:off x="3975811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3" name="Text 82"/>
          <p:cNvSpPr txBox="1"/>
          <p:nvPr/>
        </p:nvSpPr>
        <p:spPr>
          <a:xfrm>
            <a:off x="3774643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+ keys</a:t>
            </a:r>
            <a:endParaRPr lang="en-US" sz="580" dirty="0"/>
          </a:p>
        </p:txBody>
      </p:sp>
      <p:sp>
        <p:nvSpPr>
          <p:cNvPr id="114" name="Shape 83"/>
          <p:cNvSpPr/>
          <p:nvPr/>
        </p:nvSpPr>
        <p:spPr>
          <a:xfrm>
            <a:off x="4778654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5" name="Text 84"/>
          <p:cNvSpPr txBox="1"/>
          <p:nvPr/>
        </p:nvSpPr>
        <p:spPr>
          <a:xfrm>
            <a:off x="4577486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kHz audio</a:t>
            </a:r>
            <a:endParaRPr lang="en-US" sz="580" dirty="0"/>
          </a:p>
        </p:txBody>
      </p:sp>
      <p:sp>
        <p:nvSpPr>
          <p:cNvPr id="116" name="Shape 85"/>
          <p:cNvSpPr/>
          <p:nvPr/>
        </p:nvSpPr>
        <p:spPr>
          <a:xfrm>
            <a:off x="5581498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7" name="Text 86"/>
          <p:cNvSpPr txBox="1"/>
          <p:nvPr/>
        </p:nvSpPr>
        <p:spPr>
          <a:xfrm>
            <a:off x="5380330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580" dirty="0"/>
          </a:p>
        </p:txBody>
      </p:sp>
      <p:sp>
        <p:nvSpPr>
          <p:cNvPr id="118" name="Shape 87"/>
          <p:cNvSpPr/>
          <p:nvPr/>
        </p:nvSpPr>
        <p:spPr>
          <a:xfrm>
            <a:off x="6384341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9" name="Text 88"/>
          <p:cNvSpPr txBox="1"/>
          <p:nvPr/>
        </p:nvSpPr>
        <p:spPr>
          <a:xfrm>
            <a:off x="6183173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580" dirty="0"/>
          </a:p>
        </p:txBody>
      </p:sp>
      <p:sp>
        <p:nvSpPr>
          <p:cNvPr id="120" name="Shape 89"/>
          <p:cNvSpPr/>
          <p:nvPr/>
        </p:nvSpPr>
        <p:spPr>
          <a:xfrm>
            <a:off x="7187184" y="1554480"/>
            <a:ext cx="100584" cy="0"/>
          </a:xfrm>
          <a:prstGeom prst="line">
            <a:avLst/>
          </a:prstGeom>
          <a:noFill/>
          <a:ln w="15875">
            <a:solidFill>
              <a:srgbClr val="D64545"/>
            </a:solidFill>
            <a:prstDash val="solid"/>
            <a:tailEnd type="triangle"/>
          </a:ln>
        </p:spPr>
      </p:sp>
      <p:sp>
        <p:nvSpPr>
          <p:cNvPr id="121" name="Text 90"/>
          <p:cNvSpPr txBox="1"/>
          <p:nvPr/>
        </p:nvSpPr>
        <p:spPr>
          <a:xfrm>
            <a:off x="6986016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answer</a:t>
            </a:r>
            <a:endParaRPr lang="en-US" sz="580" dirty="0"/>
          </a:p>
        </p:txBody>
      </p:sp>
      <p:sp>
        <p:nvSpPr>
          <p:cNvPr id="122" name="Shape 91"/>
          <p:cNvSpPr/>
          <p:nvPr/>
        </p:nvSpPr>
        <p:spPr>
          <a:xfrm>
            <a:off x="7990027" y="1554480"/>
            <a:ext cx="100584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23" name="Text 92"/>
          <p:cNvSpPr txBox="1"/>
          <p:nvPr/>
        </p:nvSpPr>
        <p:spPr>
          <a:xfrm>
            <a:off x="7788859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text</a:t>
            </a:r>
            <a:endParaRPr lang="en-US" sz="580" dirty="0"/>
          </a:p>
        </p:txBody>
      </p:sp>
      <p:sp>
        <p:nvSpPr>
          <p:cNvPr id="124" name="Shape 93"/>
          <p:cNvSpPr/>
          <p:nvPr/>
        </p:nvSpPr>
        <p:spPr>
          <a:xfrm>
            <a:off x="3291840" y="2212848"/>
            <a:ext cx="665683" cy="621792"/>
          </a:xfrm>
          <a:prstGeom prst="roundRect">
            <a:avLst>
              <a:gd name="adj" fmla="val 8824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25" name="Image 29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337560" y="2258568"/>
            <a:ext cx="182880" cy="182880"/>
          </a:xfrm>
          <a:prstGeom prst="rect">
            <a:avLst/>
          </a:prstGeom>
        </p:spPr>
      </p:pic>
      <p:sp>
        <p:nvSpPr>
          <p:cNvPr id="126" name="Text 94"/>
          <p:cNvSpPr txBox="1"/>
          <p:nvPr/>
        </p:nvSpPr>
        <p:spPr>
          <a:xfrm>
            <a:off x="3547872" y="2249424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650" dirty="0"/>
          </a:p>
        </p:txBody>
      </p:sp>
      <p:sp>
        <p:nvSpPr>
          <p:cNvPr id="127" name="Text 95"/>
          <p:cNvSpPr txBox="1"/>
          <p:nvPr/>
        </p:nvSpPr>
        <p:spPr>
          <a:xfrm>
            <a:off x="3337560" y="2459736"/>
            <a:ext cx="5742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back if the AI is stuck — the only hand-over</a:t>
            </a:r>
            <a:endParaRPr lang="en-US" sz="600" dirty="0"/>
          </a:p>
        </p:txBody>
      </p:sp>
      <p:sp>
        <p:nvSpPr>
          <p:cNvPr id="128" name="Shape 96"/>
          <p:cNvSpPr/>
          <p:nvPr/>
        </p:nvSpPr>
        <p:spPr>
          <a:xfrm>
            <a:off x="5700370" y="2212848"/>
            <a:ext cx="665683" cy="621792"/>
          </a:xfrm>
          <a:prstGeom prst="roundRect">
            <a:avLst>
              <a:gd name="adj" fmla="val 8824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29" name="Image 30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746090" y="2258568"/>
            <a:ext cx="182880" cy="182880"/>
          </a:xfrm>
          <a:prstGeom prst="rect">
            <a:avLst/>
          </a:prstGeom>
        </p:spPr>
      </p:pic>
      <p:sp>
        <p:nvSpPr>
          <p:cNvPr id="130" name="Text 97"/>
          <p:cNvSpPr txBox="1"/>
          <p:nvPr/>
        </p:nvSpPr>
        <p:spPr>
          <a:xfrm>
            <a:off x="5956402" y="2249424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650" dirty="0"/>
          </a:p>
        </p:txBody>
      </p:sp>
      <p:sp>
        <p:nvSpPr>
          <p:cNvPr id="131" name="Text 98"/>
          <p:cNvSpPr txBox="1"/>
          <p:nvPr/>
        </p:nvSpPr>
        <p:spPr>
          <a:xfrm>
            <a:off x="5746090" y="2459736"/>
            <a:ext cx="5742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answer → 30B → 105B only if needed</a:t>
            </a:r>
            <a:endParaRPr lang="en-US" sz="600" dirty="0"/>
          </a:p>
        </p:txBody>
      </p:sp>
      <p:sp>
        <p:nvSpPr>
          <p:cNvPr id="132" name="Shape 99"/>
          <p:cNvSpPr/>
          <p:nvPr/>
        </p:nvSpPr>
        <p:spPr>
          <a:xfrm>
            <a:off x="6503213" y="2212848"/>
            <a:ext cx="665683" cy="621792"/>
          </a:xfrm>
          <a:prstGeom prst="roundRect">
            <a:avLst>
              <a:gd name="adj" fmla="val 8824"/>
            </a:avLst>
          </a:prstGeom>
          <a:solidFill>
            <a:srgbClr val="FFF3D6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133" name="Image 31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548933" y="2258568"/>
            <a:ext cx="182880" cy="182880"/>
          </a:xfrm>
          <a:prstGeom prst="rect">
            <a:avLst/>
          </a:prstGeom>
        </p:spPr>
      </p:pic>
      <p:sp>
        <p:nvSpPr>
          <p:cNvPr id="134" name="Text 100"/>
          <p:cNvSpPr txBox="1"/>
          <p:nvPr/>
        </p:nvSpPr>
        <p:spPr>
          <a:xfrm>
            <a:off x="6759245" y="2249424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DB</a:t>
            </a:r>
            <a:endParaRPr lang="en-US" sz="650" dirty="0"/>
          </a:p>
        </p:txBody>
      </p:sp>
      <p:sp>
        <p:nvSpPr>
          <p:cNvPr id="135" name="Text 101"/>
          <p:cNvSpPr txBox="1"/>
          <p:nvPr/>
        </p:nvSpPr>
        <p:spPr>
          <a:xfrm>
            <a:off x="6548933" y="2459736"/>
            <a:ext cx="5742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NQR courses, NCO jobs, centres</a:t>
            </a:r>
            <a:endParaRPr lang="en-US" sz="600" dirty="0"/>
          </a:p>
        </p:txBody>
      </p:sp>
      <p:sp>
        <p:nvSpPr>
          <p:cNvPr id="136" name="Shape 102"/>
          <p:cNvSpPr/>
          <p:nvPr/>
        </p:nvSpPr>
        <p:spPr>
          <a:xfrm>
            <a:off x="7306056" y="2212848"/>
            <a:ext cx="1468526" cy="621792"/>
          </a:xfrm>
          <a:prstGeom prst="roundRect">
            <a:avLst>
              <a:gd name="adj" fmla="val 8824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37" name="Image 32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351776" y="2258568"/>
            <a:ext cx="182880" cy="182880"/>
          </a:xfrm>
          <a:prstGeom prst="rect">
            <a:avLst/>
          </a:prstGeom>
        </p:spPr>
      </p:pic>
      <p:sp>
        <p:nvSpPr>
          <p:cNvPr id="138" name="Text 103"/>
          <p:cNvSpPr txBox="1"/>
          <p:nvPr/>
        </p:nvSpPr>
        <p:spPr>
          <a:xfrm>
            <a:off x="7562088" y="2249424"/>
            <a:ext cx="11850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cache &amp; call log</a:t>
            </a:r>
            <a:endParaRPr lang="en-US" sz="680" dirty="0"/>
          </a:p>
        </p:txBody>
      </p:sp>
      <p:sp>
        <p:nvSpPr>
          <p:cNvPr id="139" name="Text 104"/>
          <p:cNvSpPr txBox="1"/>
          <p:nvPr/>
        </p:nvSpPr>
        <p:spPr>
          <a:xfrm>
            <a:off x="7351776" y="2459736"/>
            <a:ext cx="13770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logged by language, district, job and question type. Frequent questions get pre-written, verified answers + audio → less AI work, lower cost over time</a:t>
            </a:r>
            <a:endParaRPr lang="en-US" sz="600" dirty="0"/>
          </a:p>
        </p:txBody>
      </p:sp>
      <p:sp>
        <p:nvSpPr>
          <p:cNvPr id="140" name="Shape 105"/>
          <p:cNvSpPr/>
          <p:nvPr/>
        </p:nvSpPr>
        <p:spPr>
          <a:xfrm>
            <a:off x="3624682" y="1847088"/>
            <a:ext cx="0" cy="347472"/>
          </a:xfrm>
          <a:prstGeom prst="line">
            <a:avLst/>
          </a:prstGeom>
          <a:noFill/>
          <a:ln w="15875">
            <a:solidFill>
              <a:srgbClr val="EF8A22"/>
            </a:solidFill>
            <a:prstDash val="dash"/>
            <a:headEnd type="triangle"/>
          </a:ln>
        </p:spPr>
      </p:sp>
      <p:sp>
        <p:nvSpPr>
          <p:cNvPr id="141" name="Text 106"/>
          <p:cNvSpPr txBox="1"/>
          <p:nvPr/>
        </p:nvSpPr>
        <p:spPr>
          <a:xfrm>
            <a:off x="3652114" y="201168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back if AI stuck</a:t>
            </a:r>
            <a:endParaRPr lang="en-US" sz="580" dirty="0"/>
          </a:p>
        </p:txBody>
      </p:sp>
      <p:sp>
        <p:nvSpPr>
          <p:cNvPr id="142" name="Shape 107"/>
          <p:cNvSpPr/>
          <p:nvPr/>
        </p:nvSpPr>
        <p:spPr>
          <a:xfrm>
            <a:off x="6033211" y="1847088"/>
            <a:ext cx="0" cy="347472"/>
          </a:xfrm>
          <a:prstGeom prst="line">
            <a:avLst/>
          </a:prstGeom>
          <a:noFill/>
          <a:ln w="15875">
            <a:solidFill>
              <a:srgbClr val="EF8A22"/>
            </a:solidFill>
            <a:prstDash val="dash"/>
            <a:headEnd type="triangle"/>
          </a:ln>
        </p:spPr>
      </p:sp>
      <p:sp>
        <p:nvSpPr>
          <p:cNvPr id="143" name="Text 108"/>
          <p:cNvSpPr txBox="1"/>
          <p:nvPr/>
        </p:nvSpPr>
        <p:spPr>
          <a:xfrm>
            <a:off x="6060643" y="2011680"/>
            <a:ext cx="548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the model</a:t>
            </a:r>
            <a:endParaRPr lang="en-US" sz="580" dirty="0"/>
          </a:p>
        </p:txBody>
      </p:sp>
      <p:sp>
        <p:nvSpPr>
          <p:cNvPr id="144" name="Shape 109"/>
          <p:cNvSpPr/>
          <p:nvPr/>
        </p:nvSpPr>
        <p:spPr>
          <a:xfrm>
            <a:off x="6836054" y="1847088"/>
            <a:ext cx="0" cy="347472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  <a:headEnd type="triangle"/>
          </a:ln>
        </p:spPr>
      </p:sp>
      <p:sp>
        <p:nvSpPr>
          <p:cNvPr id="145" name="Text 110"/>
          <p:cNvSpPr txBox="1"/>
          <p:nvPr/>
        </p:nvSpPr>
        <p:spPr>
          <a:xfrm>
            <a:off x="6534302" y="201168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i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</a:t>
            </a:r>
            <a:endParaRPr lang="en-US" sz="580" dirty="0"/>
          </a:p>
        </p:txBody>
      </p:sp>
      <p:sp>
        <p:nvSpPr>
          <p:cNvPr id="146" name="Shape 111"/>
          <p:cNvSpPr/>
          <p:nvPr/>
        </p:nvSpPr>
        <p:spPr>
          <a:xfrm>
            <a:off x="7077456" y="2048256"/>
            <a:ext cx="0" cy="146304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</a:ln>
        </p:spPr>
      </p:sp>
      <p:sp>
        <p:nvSpPr>
          <p:cNvPr id="147" name="Shape 112"/>
          <p:cNvSpPr/>
          <p:nvPr/>
        </p:nvSpPr>
        <p:spPr>
          <a:xfrm>
            <a:off x="7077456" y="2048256"/>
            <a:ext cx="424282" cy="0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</a:ln>
        </p:spPr>
      </p:sp>
      <p:sp>
        <p:nvSpPr>
          <p:cNvPr id="148" name="Shape 113"/>
          <p:cNvSpPr/>
          <p:nvPr/>
        </p:nvSpPr>
        <p:spPr>
          <a:xfrm>
            <a:off x="7501738" y="1847088"/>
            <a:ext cx="0" cy="201168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  <a:headEnd type="triangle"/>
          </a:ln>
        </p:spPr>
      </p:sp>
      <p:sp>
        <p:nvSpPr>
          <p:cNvPr id="149" name="Text 114"/>
          <p:cNvSpPr txBox="1"/>
          <p:nvPr/>
        </p:nvSpPr>
        <p:spPr>
          <a:xfrm>
            <a:off x="7095744" y="2066544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580" dirty="0"/>
          </a:p>
        </p:txBody>
      </p:sp>
      <p:sp>
        <p:nvSpPr>
          <p:cNvPr id="150" name="Shape 115"/>
          <p:cNvSpPr/>
          <p:nvPr/>
        </p:nvSpPr>
        <p:spPr>
          <a:xfrm>
            <a:off x="7748626" y="1847088"/>
            <a:ext cx="0" cy="347472"/>
          </a:xfrm>
          <a:prstGeom prst="line">
            <a:avLst/>
          </a:prstGeom>
          <a:noFill/>
          <a:ln w="15875">
            <a:solidFill>
              <a:srgbClr val="D64545"/>
            </a:solidFill>
            <a:prstDash val="solid"/>
            <a:tailEnd type="triangle"/>
          </a:ln>
        </p:spPr>
      </p:sp>
      <p:sp>
        <p:nvSpPr>
          <p:cNvPr id="151" name="Text 116"/>
          <p:cNvSpPr txBox="1"/>
          <p:nvPr/>
        </p:nvSpPr>
        <p:spPr>
          <a:xfrm>
            <a:off x="7776058" y="201168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580" dirty="0"/>
          </a:p>
        </p:txBody>
      </p:sp>
      <p:sp>
        <p:nvSpPr>
          <p:cNvPr id="152" name="Shape 117"/>
          <p:cNvSpPr/>
          <p:nvPr/>
        </p:nvSpPr>
        <p:spPr>
          <a:xfrm>
            <a:off x="8350301" y="1847088"/>
            <a:ext cx="0" cy="347472"/>
          </a:xfrm>
          <a:prstGeom prst="line">
            <a:avLst/>
          </a:prstGeom>
          <a:noFill/>
          <a:ln w="15875">
            <a:solidFill>
              <a:srgbClr val="2E6FD6"/>
            </a:solidFill>
            <a:prstDash val="dash"/>
            <a:headEnd type="triangle"/>
          </a:ln>
        </p:spPr>
      </p:sp>
      <p:sp>
        <p:nvSpPr>
          <p:cNvPr id="153" name="Text 118"/>
          <p:cNvSpPr txBox="1"/>
          <p:nvPr/>
        </p:nvSpPr>
        <p:spPr>
          <a:xfrm>
            <a:off x="8377733" y="201168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audio</a:t>
            </a:r>
            <a:endParaRPr lang="en-US" sz="580" dirty="0"/>
          </a:p>
        </p:txBody>
      </p:sp>
      <p:sp>
        <p:nvSpPr>
          <p:cNvPr id="154" name="Shape 119"/>
          <p:cNvSpPr/>
          <p:nvPr/>
        </p:nvSpPr>
        <p:spPr>
          <a:xfrm>
            <a:off x="8792870" y="1554480"/>
            <a:ext cx="36576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55" name="Shape 120"/>
          <p:cNvSpPr/>
          <p:nvPr/>
        </p:nvSpPr>
        <p:spPr>
          <a:xfrm>
            <a:off x="8829446" y="1554480"/>
            <a:ext cx="0" cy="137160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56" name="Shape 121"/>
          <p:cNvSpPr/>
          <p:nvPr/>
        </p:nvSpPr>
        <p:spPr>
          <a:xfrm>
            <a:off x="5230368" y="2926080"/>
            <a:ext cx="3599078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57" name="Shape 122"/>
          <p:cNvSpPr/>
          <p:nvPr/>
        </p:nvSpPr>
        <p:spPr>
          <a:xfrm>
            <a:off x="5230368" y="1847088"/>
            <a:ext cx="0" cy="1078992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headEnd type="triangle"/>
          </a:ln>
        </p:spPr>
      </p:sp>
      <p:sp>
        <p:nvSpPr>
          <p:cNvPr id="158" name="Text 123"/>
          <p:cNvSpPr txBox="1"/>
          <p:nvPr/>
        </p:nvSpPr>
        <p:spPr>
          <a:xfrm>
            <a:off x="5257800" y="2011680"/>
            <a:ext cx="685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audio → phone</a:t>
            </a:r>
            <a:endParaRPr lang="en-US" sz="580" dirty="0"/>
          </a:p>
        </p:txBody>
      </p:sp>
      <p:sp>
        <p:nvSpPr>
          <p:cNvPr id="159" name="Text 124"/>
          <p:cNvSpPr txBox="1"/>
          <p:nvPr/>
        </p:nvSpPr>
        <p:spPr>
          <a:xfrm>
            <a:off x="5321808" y="293522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reply goes back through Pipecat → Exotel → phone</a:t>
            </a:r>
            <a:endParaRPr lang="en-US" sz="580" dirty="0"/>
          </a:p>
        </p:txBody>
      </p:sp>
      <p:sp>
        <p:nvSpPr>
          <p:cNvPr id="160" name="Shape 125"/>
          <p:cNvSpPr/>
          <p:nvPr/>
        </p:nvSpPr>
        <p:spPr>
          <a:xfrm>
            <a:off x="3200400" y="3127248"/>
            <a:ext cx="5669280" cy="1207008"/>
          </a:xfrm>
          <a:prstGeom prst="roundRect">
            <a:avLst>
              <a:gd name="adj" fmla="val 6061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161" name="Text 126"/>
          <p:cNvSpPr txBox="1"/>
          <p:nvPr/>
        </p:nvSpPr>
        <p:spPr>
          <a:xfrm>
            <a:off x="5577840" y="3154680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AFTER THE CALL  —  the confirmed profile becomes a case</a:t>
            </a:r>
            <a:endParaRPr lang="en-US" sz="750" dirty="0"/>
          </a:p>
        </p:txBody>
      </p:sp>
      <p:sp>
        <p:nvSpPr>
          <p:cNvPr id="162" name="Shape 127"/>
          <p:cNvSpPr/>
          <p:nvPr/>
        </p:nvSpPr>
        <p:spPr>
          <a:xfrm>
            <a:off x="3291840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63" name="Image 33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337560" y="3392424"/>
            <a:ext cx="182880" cy="182880"/>
          </a:xfrm>
          <a:prstGeom prst="rect">
            <a:avLst/>
          </a:prstGeom>
        </p:spPr>
      </p:pic>
      <p:sp>
        <p:nvSpPr>
          <p:cNvPr id="164" name="Text 128"/>
          <p:cNvSpPr txBox="1"/>
          <p:nvPr/>
        </p:nvSpPr>
        <p:spPr>
          <a:xfrm>
            <a:off x="3547872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680" dirty="0"/>
          </a:p>
        </p:txBody>
      </p:sp>
      <p:sp>
        <p:nvSpPr>
          <p:cNvPr id="165" name="Text 129"/>
          <p:cNvSpPr txBox="1"/>
          <p:nvPr/>
        </p:nvSpPr>
        <p:spPr>
          <a:xfrm>
            <a:off x="3337560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+ eligibility rules</a:t>
            </a:r>
            <a:endParaRPr lang="en-US" sz="600" dirty="0"/>
          </a:p>
        </p:txBody>
      </p:sp>
      <p:sp>
        <p:nvSpPr>
          <p:cNvPr id="166" name="Shape 130"/>
          <p:cNvSpPr/>
          <p:nvPr/>
        </p:nvSpPr>
        <p:spPr>
          <a:xfrm>
            <a:off x="4233672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67" name="Image 34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279392" y="3392424"/>
            <a:ext cx="182880" cy="182880"/>
          </a:xfrm>
          <a:prstGeom prst="rect">
            <a:avLst/>
          </a:prstGeom>
        </p:spPr>
      </p:pic>
      <p:sp>
        <p:nvSpPr>
          <p:cNvPr id="168" name="Text 131"/>
          <p:cNvSpPr txBox="1"/>
          <p:nvPr/>
        </p:nvSpPr>
        <p:spPr>
          <a:xfrm>
            <a:off x="4489704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680" dirty="0"/>
          </a:p>
        </p:txBody>
      </p:sp>
      <p:sp>
        <p:nvSpPr>
          <p:cNvPr id="169" name="Text 132"/>
          <p:cNvSpPr txBox="1"/>
          <p:nvPr/>
        </p:nvSpPr>
        <p:spPr>
          <a:xfrm>
            <a:off x="4279392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profiles, cases, audit log</a:t>
            </a:r>
            <a:endParaRPr lang="en-US" sz="600" dirty="0"/>
          </a:p>
        </p:txBody>
      </p:sp>
      <p:sp>
        <p:nvSpPr>
          <p:cNvPr id="170" name="Shape 133"/>
          <p:cNvSpPr/>
          <p:nvPr/>
        </p:nvSpPr>
        <p:spPr>
          <a:xfrm>
            <a:off x="5175504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171" name="Image 35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221224" y="3392424"/>
            <a:ext cx="182880" cy="182880"/>
          </a:xfrm>
          <a:prstGeom prst="rect">
            <a:avLst/>
          </a:prstGeom>
        </p:spPr>
      </p:pic>
      <p:sp>
        <p:nvSpPr>
          <p:cNvPr id="172" name="Text 134"/>
          <p:cNvSpPr txBox="1"/>
          <p:nvPr/>
        </p:nvSpPr>
        <p:spPr>
          <a:xfrm>
            <a:off x="5431536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centre</a:t>
            </a:r>
            <a:endParaRPr lang="en-US" sz="680" dirty="0"/>
          </a:p>
        </p:txBody>
      </p:sp>
      <p:sp>
        <p:nvSpPr>
          <p:cNvPr id="173" name="Text 135"/>
          <p:cNvSpPr txBox="1"/>
          <p:nvPr/>
        </p:nvSpPr>
        <p:spPr>
          <a:xfrm>
            <a:off x="5221224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+ Aadhaar e-KYC*</a:t>
            </a:r>
            <a:endParaRPr lang="en-US" sz="600" dirty="0"/>
          </a:p>
        </p:txBody>
      </p:sp>
      <p:sp>
        <p:nvSpPr>
          <p:cNvPr id="174" name="Shape 136"/>
          <p:cNvSpPr/>
          <p:nvPr/>
        </p:nvSpPr>
        <p:spPr>
          <a:xfrm>
            <a:off x="6117336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75" name="Image 36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163056" y="3392424"/>
            <a:ext cx="182880" cy="182880"/>
          </a:xfrm>
          <a:prstGeom prst="rect">
            <a:avLst/>
          </a:prstGeom>
        </p:spPr>
      </p:pic>
      <p:sp>
        <p:nvSpPr>
          <p:cNvPr id="176" name="Text 137"/>
          <p:cNvSpPr txBox="1"/>
          <p:nvPr/>
        </p:nvSpPr>
        <p:spPr>
          <a:xfrm>
            <a:off x="6373368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</a:t>
            </a:r>
            <a:endParaRPr lang="en-US" sz="680" dirty="0"/>
          </a:p>
        </p:txBody>
      </p:sp>
      <p:sp>
        <p:nvSpPr>
          <p:cNvPr id="177" name="Text 138"/>
          <p:cNvSpPr txBox="1"/>
          <p:nvPr/>
        </p:nvSpPr>
        <p:spPr>
          <a:xfrm>
            <a:off x="6163056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approves or returns</a:t>
            </a:r>
            <a:endParaRPr lang="en-US" sz="600" dirty="0"/>
          </a:p>
        </p:txBody>
      </p:sp>
      <p:sp>
        <p:nvSpPr>
          <p:cNvPr id="178" name="Shape 139"/>
          <p:cNvSpPr/>
          <p:nvPr/>
        </p:nvSpPr>
        <p:spPr>
          <a:xfrm>
            <a:off x="7059168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79" name="Image 37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104888" y="3392424"/>
            <a:ext cx="182880" cy="182880"/>
          </a:xfrm>
          <a:prstGeom prst="rect">
            <a:avLst/>
          </a:prstGeom>
        </p:spPr>
      </p:pic>
      <p:sp>
        <p:nvSpPr>
          <p:cNvPr id="180" name="Text 140"/>
          <p:cNvSpPr txBox="1"/>
          <p:nvPr/>
        </p:nvSpPr>
        <p:spPr>
          <a:xfrm>
            <a:off x="7315200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680" dirty="0"/>
          </a:p>
        </p:txBody>
      </p:sp>
      <p:sp>
        <p:nvSpPr>
          <p:cNvPr id="181" name="Text 141"/>
          <p:cNvSpPr txBox="1"/>
          <p:nvPr/>
        </p:nvSpPr>
        <p:spPr>
          <a:xfrm>
            <a:off x="7104888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Redis: calls at 1, 3, 6 months</a:t>
            </a:r>
            <a:endParaRPr lang="en-US" sz="600" dirty="0"/>
          </a:p>
        </p:txBody>
      </p:sp>
      <p:sp>
        <p:nvSpPr>
          <p:cNvPr id="182" name="Shape 142"/>
          <p:cNvSpPr/>
          <p:nvPr/>
        </p:nvSpPr>
        <p:spPr>
          <a:xfrm>
            <a:off x="8001000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183" name="Image 38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046720" y="3392424"/>
            <a:ext cx="182880" cy="182880"/>
          </a:xfrm>
          <a:prstGeom prst="rect">
            <a:avLst/>
          </a:prstGeom>
        </p:spPr>
      </p:pic>
      <p:sp>
        <p:nvSpPr>
          <p:cNvPr id="184" name="Text 143"/>
          <p:cNvSpPr txBox="1"/>
          <p:nvPr/>
        </p:nvSpPr>
        <p:spPr>
          <a:xfrm>
            <a:off x="8257032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680" dirty="0"/>
          </a:p>
        </p:txBody>
      </p:sp>
      <p:sp>
        <p:nvSpPr>
          <p:cNvPr id="185" name="Text 144"/>
          <p:cNvSpPr txBox="1"/>
          <p:nvPr/>
        </p:nvSpPr>
        <p:spPr>
          <a:xfrm>
            <a:off x="8046720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Leaflet demand map</a:t>
            </a:r>
            <a:endParaRPr lang="en-US" sz="600" dirty="0"/>
          </a:p>
        </p:txBody>
      </p:sp>
      <p:sp>
        <p:nvSpPr>
          <p:cNvPr id="186" name="Shape 145"/>
          <p:cNvSpPr/>
          <p:nvPr/>
        </p:nvSpPr>
        <p:spPr>
          <a:xfrm>
            <a:off x="4078224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87" name="Text 146"/>
          <p:cNvSpPr txBox="1"/>
          <p:nvPr/>
        </p:nvSpPr>
        <p:spPr>
          <a:xfrm>
            <a:off x="3877056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JSON</a:t>
            </a:r>
            <a:endParaRPr lang="en-US" sz="580" dirty="0"/>
          </a:p>
        </p:txBody>
      </p:sp>
      <p:sp>
        <p:nvSpPr>
          <p:cNvPr id="188" name="Shape 147"/>
          <p:cNvSpPr/>
          <p:nvPr/>
        </p:nvSpPr>
        <p:spPr>
          <a:xfrm>
            <a:off x="5020056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89" name="Text 148"/>
          <p:cNvSpPr txBox="1"/>
          <p:nvPr/>
        </p:nvSpPr>
        <p:spPr>
          <a:xfrm>
            <a:off x="4818888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Case ID</a:t>
            </a:r>
            <a:endParaRPr lang="en-US" sz="580" dirty="0"/>
          </a:p>
        </p:txBody>
      </p:sp>
      <p:sp>
        <p:nvSpPr>
          <p:cNvPr id="190" name="Shape 149"/>
          <p:cNvSpPr/>
          <p:nvPr/>
        </p:nvSpPr>
        <p:spPr>
          <a:xfrm>
            <a:off x="5961888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91" name="Text 150"/>
          <p:cNvSpPr txBox="1"/>
          <p:nvPr/>
        </p:nvSpPr>
        <p:spPr>
          <a:xfrm>
            <a:off x="5760720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+ e-KYC</a:t>
            </a:r>
            <a:endParaRPr lang="en-US" sz="580" dirty="0"/>
          </a:p>
        </p:txBody>
      </p:sp>
      <p:sp>
        <p:nvSpPr>
          <p:cNvPr id="192" name="Shape 151"/>
          <p:cNvSpPr/>
          <p:nvPr/>
        </p:nvSpPr>
        <p:spPr>
          <a:xfrm>
            <a:off x="6903720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93" name="Text 152"/>
          <p:cNvSpPr txBox="1"/>
          <p:nvPr/>
        </p:nvSpPr>
        <p:spPr>
          <a:xfrm>
            <a:off x="6702552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580" dirty="0"/>
          </a:p>
        </p:txBody>
      </p:sp>
      <p:sp>
        <p:nvSpPr>
          <p:cNvPr id="194" name="Shape 153"/>
          <p:cNvSpPr/>
          <p:nvPr/>
        </p:nvSpPr>
        <p:spPr>
          <a:xfrm>
            <a:off x="7845552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95" name="Text 154"/>
          <p:cNvSpPr txBox="1"/>
          <p:nvPr/>
        </p:nvSpPr>
        <p:spPr>
          <a:xfrm>
            <a:off x="7644384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580" dirty="0"/>
          </a:p>
        </p:txBody>
      </p:sp>
      <p:sp>
        <p:nvSpPr>
          <p:cNvPr id="196" name="Shape 155"/>
          <p:cNvSpPr/>
          <p:nvPr/>
        </p:nvSpPr>
        <p:spPr>
          <a:xfrm>
            <a:off x="3675888" y="3072384"/>
            <a:ext cx="0" cy="256032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97" name="Text 156"/>
          <p:cNvSpPr txBox="1"/>
          <p:nvPr/>
        </p:nvSpPr>
        <p:spPr>
          <a:xfrm>
            <a:off x="3730752" y="3163824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ends → confirmed profile (JSON) → FastAPI</a:t>
            </a:r>
            <a:endParaRPr lang="en-US" sz="580" dirty="0"/>
          </a:p>
        </p:txBody>
      </p:sp>
      <p:sp>
        <p:nvSpPr>
          <p:cNvPr id="198" name="Shape 157"/>
          <p:cNvSpPr/>
          <p:nvPr/>
        </p:nvSpPr>
        <p:spPr>
          <a:xfrm>
            <a:off x="3291840" y="4041648"/>
            <a:ext cx="5486400" cy="237744"/>
          </a:xfrm>
          <a:prstGeom prst="roundRect">
            <a:avLst>
              <a:gd name="adj" fmla="val 15385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pic>
        <p:nvPicPr>
          <p:cNvPr id="199" name="Image 39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3337560" y="4087368"/>
            <a:ext cx="146304" cy="146304"/>
          </a:xfrm>
          <a:prstGeom prst="rect">
            <a:avLst/>
          </a:prstGeom>
        </p:spPr>
      </p:pic>
      <p:sp>
        <p:nvSpPr>
          <p:cNvPr id="200" name="Text 158"/>
          <p:cNvSpPr txBox="1"/>
          <p:nvPr/>
        </p:nvSpPr>
        <p:spPr>
          <a:xfrm>
            <a:off x="3529584" y="404164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(React):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+ OTP login to the same API and tables — the family, CSC operator or officer can view or edit the case anytime, no call needed.</a:t>
            </a:r>
            <a:endParaRPr lang="en-US" sz="650" dirty="0"/>
          </a:p>
        </p:txBody>
      </p:sp>
      <p:sp>
        <p:nvSpPr>
          <p:cNvPr id="201" name="Shape 159"/>
          <p:cNvSpPr/>
          <p:nvPr/>
        </p:nvSpPr>
        <p:spPr>
          <a:xfrm>
            <a:off x="3200400" y="4389120"/>
            <a:ext cx="5669280" cy="256032"/>
          </a:xfrm>
          <a:prstGeom prst="roundRect">
            <a:avLst>
              <a:gd name="adj" fmla="val 21429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02" name="Text 160"/>
          <p:cNvSpPr txBox="1"/>
          <p:nvPr/>
        </p:nvSpPr>
        <p:spPr>
          <a:xfrm>
            <a:off x="3200400" y="43891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  →   verified data decides   →   SATYA checks   →   humans approve</a:t>
            </a:r>
            <a:endParaRPr lang="en-US" sz="850" dirty="0"/>
          </a:p>
        </p:txBody>
      </p:sp>
      <p:sp>
        <p:nvSpPr>
          <p:cNvPr id="203" name="Text 161"/>
          <p:cNvSpPr txBox="1"/>
          <p:nvPr/>
        </p:nvSpPr>
        <p:spPr>
          <a:xfrm>
            <a:off x="3200400" y="4681728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rules: no Aadhaar number stored · raw audio deleted after confirmation · consent logged (DPDP Rules 2025) · every edit in the audit log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built and run?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9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part already runs in India today, the prototype can be built now, and one completed call costs about </a:t>
            </a: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₹25–56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WORKING IN INDIA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untested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435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languages out of 22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1627632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already in use</a:t>
            </a:r>
            <a:endParaRPr lang="en-US" sz="73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18105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UIDAI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runs Sarvam's voice AI for Aadhaar on its own servers.</a:t>
            </a:r>
            <a:endParaRPr lang="en-US" sz="670" dirty="0"/>
          </a:p>
        </p:txBody>
      </p:sp>
      <p:sp>
        <p:nvSpPr>
          <p:cNvPr id="14" name="Shape 10"/>
          <p:cNvSpPr/>
          <p:nvPr/>
        </p:nvSpPr>
        <p:spPr>
          <a:xfrm>
            <a:off x="365760" y="2103120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20624" y="2103120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PIB / MeitY 2025</a:t>
            </a:r>
            <a:endParaRPr lang="en-US" sz="600" dirty="0"/>
          </a:p>
        </p:txBody>
      </p:sp>
      <p:sp>
        <p:nvSpPr>
          <p:cNvPr id="16" name="Shape 12"/>
          <p:cNvSpPr/>
          <p:nvPr/>
        </p:nvSpPr>
        <p:spPr>
          <a:xfrm>
            <a:off x="2446020" y="1389888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460" y="146304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903220" y="1435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lakh calls a day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2903220" y="1627632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handled by a govt line</a:t>
            </a:r>
            <a:endParaRPr lang="en-US" sz="730" dirty="0"/>
          </a:p>
        </p:txBody>
      </p:sp>
      <p:sp>
        <p:nvSpPr>
          <p:cNvPr id="20" name="Text 15"/>
          <p:cNvSpPr txBox="1"/>
          <p:nvPr/>
        </p:nvSpPr>
        <p:spPr>
          <a:xfrm>
            <a:off x="2537460" y="18105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Kilkari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government health-advice line, runs this every day.</a:t>
            </a:r>
            <a:endParaRPr lang="en-US" sz="670" dirty="0"/>
          </a:p>
        </p:txBody>
      </p:sp>
      <p:sp>
        <p:nvSpPr>
          <p:cNvPr id="21" name="Shape 16"/>
          <p:cNvSpPr/>
          <p:nvPr/>
        </p:nvSpPr>
        <p:spPr>
          <a:xfrm>
            <a:off x="2537460" y="2103120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92324" y="2103120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BMJ Global Health 2021</a:t>
            </a:r>
            <a:endParaRPr lang="en-US" sz="600" dirty="0"/>
          </a:p>
        </p:txBody>
      </p:sp>
      <p:sp>
        <p:nvSpPr>
          <p:cNvPr id="23" name="Shape 18"/>
          <p:cNvSpPr/>
          <p:nvPr/>
        </p:nvSpPr>
        <p:spPr>
          <a:xfrm>
            <a:off x="4617720" y="1389888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463040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074920" y="1435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20% word error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5074920" y="1627632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real Indian phone calls</a:t>
            </a:r>
            <a:endParaRPr lang="en-US" sz="730" dirty="0"/>
          </a:p>
        </p:txBody>
      </p:sp>
      <p:sp>
        <p:nvSpPr>
          <p:cNvPr id="27" name="Text 21"/>
          <p:cNvSpPr txBox="1"/>
          <p:nvPr/>
        </p:nvSpPr>
        <p:spPr>
          <a:xfrm>
            <a:off x="4709160" y="18105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Indian speech AI, tested on </a:t>
            </a:r>
            <a:r>
              <a:rPr lang="en-US" sz="67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36,691 speakers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15 languages.</a:t>
            </a:r>
            <a:endParaRPr lang="en-US" sz="670" dirty="0"/>
          </a:p>
        </p:txBody>
      </p:sp>
      <p:sp>
        <p:nvSpPr>
          <p:cNvPr id="28" name="Shape 22"/>
          <p:cNvSpPr/>
          <p:nvPr/>
        </p:nvSpPr>
        <p:spPr>
          <a:xfrm>
            <a:off x="4709160" y="2103120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764024" y="2103120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Voice of India 2026</a:t>
            </a:r>
            <a:endParaRPr lang="en-US" sz="600" dirty="0"/>
          </a:p>
        </p:txBody>
      </p:sp>
      <p:sp>
        <p:nvSpPr>
          <p:cNvPr id="30" name="Shape 24"/>
          <p:cNvSpPr/>
          <p:nvPr/>
        </p:nvSpPr>
        <p:spPr>
          <a:xfrm>
            <a:off x="6789420" y="1389888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0860" y="1463040"/>
            <a:ext cx="292608" cy="29260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246620" y="1435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1.2–2.2 s per reply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7246620" y="1627632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enough to feel like a talk</a:t>
            </a:r>
            <a:endParaRPr lang="en-US" sz="730" dirty="0"/>
          </a:p>
        </p:txBody>
      </p:sp>
      <p:sp>
        <p:nvSpPr>
          <p:cNvPr id="34" name="Text 27"/>
          <p:cNvSpPr txBox="1"/>
          <p:nvPr/>
        </p:nvSpPr>
        <p:spPr>
          <a:xfrm>
            <a:off x="6880860" y="181051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end-to-end: speech in, verified answer spoken back.</a:t>
            </a:r>
            <a:endParaRPr lang="en-US" sz="670" dirty="0"/>
          </a:p>
        </p:txBody>
      </p:sp>
      <p:sp>
        <p:nvSpPr>
          <p:cNvPr id="35" name="Shape 28"/>
          <p:cNvSpPr/>
          <p:nvPr/>
        </p:nvSpPr>
        <p:spPr>
          <a:xfrm>
            <a:off x="6880860" y="2103120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935724" y="2103120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Sarvam docs · NVIDIA 2026</a:t>
            </a:r>
            <a:endParaRPr lang="en-US" sz="600" dirty="0"/>
          </a:p>
        </p:txBody>
      </p:sp>
      <p:sp>
        <p:nvSpPr>
          <p:cNvPr id="37" name="Text 30"/>
          <p:cNvSpPr txBox="1"/>
          <p:nvPr/>
        </p:nvSpPr>
        <p:spPr>
          <a:xfrm>
            <a:off x="274320" y="241401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final numbers — every rate and step is in the calculations sheet</a:t>
            </a:r>
            <a:endParaRPr lang="en-US" sz="850" dirty="0"/>
          </a:p>
        </p:txBody>
      </p:sp>
      <p:sp>
        <p:nvSpPr>
          <p:cNvPr id="38" name="Shape 31"/>
          <p:cNvSpPr/>
          <p:nvPr/>
        </p:nvSpPr>
        <p:spPr>
          <a:xfrm>
            <a:off x="274320" y="2615184"/>
            <a:ext cx="2057400" cy="969264"/>
          </a:xfrm>
          <a:prstGeom prst="roundRect">
            <a:avLst>
              <a:gd name="adj" fmla="val 7547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2688336"/>
            <a:ext cx="292608" cy="292608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31520" y="266090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₹25–56</a:t>
            </a:r>
            <a:endParaRPr lang="en-US" sz="1400" dirty="0"/>
          </a:p>
        </p:txBody>
      </p:sp>
      <p:sp>
        <p:nvSpPr>
          <p:cNvPr id="41" name="Text 33"/>
          <p:cNvSpPr txBox="1"/>
          <p:nvPr/>
        </p:nvSpPr>
        <p:spPr>
          <a:xfrm>
            <a:off x="731520" y="2852928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one completed call</a:t>
            </a:r>
            <a:endParaRPr lang="en-US" sz="730" dirty="0"/>
          </a:p>
        </p:txBody>
      </p:sp>
      <p:sp>
        <p:nvSpPr>
          <p:cNvPr id="42" name="Text 34"/>
          <p:cNvSpPr txBox="1"/>
          <p:nvPr/>
        </p:nvSpPr>
        <p:spPr>
          <a:xfrm>
            <a:off x="365760" y="3035808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16-minute call — interview, options and three follow-ups — at ≈ </a:t>
            </a: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₹1.6–3.5 a minute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all-in.</a:t>
            </a:r>
            <a:endParaRPr lang="en-US" sz="680" dirty="0"/>
          </a:p>
        </p:txBody>
      </p:sp>
      <p:sp>
        <p:nvSpPr>
          <p:cNvPr id="43" name="Shape 35"/>
          <p:cNvSpPr/>
          <p:nvPr/>
        </p:nvSpPr>
        <p:spPr>
          <a:xfrm>
            <a:off x="2446020" y="2615184"/>
            <a:ext cx="2057400" cy="969264"/>
          </a:xfrm>
          <a:prstGeom prst="roundRect">
            <a:avLst>
              <a:gd name="adj" fmla="val 7547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37460" y="2688336"/>
            <a:ext cx="292608" cy="292608"/>
          </a:xfrm>
          <a:prstGeom prst="rect">
            <a:avLst/>
          </a:prstGeom>
        </p:spPr>
      </p:pic>
      <p:sp>
        <p:nvSpPr>
          <p:cNvPr id="45" name="Text 36"/>
          <p:cNvSpPr txBox="1"/>
          <p:nvPr/>
        </p:nvSpPr>
        <p:spPr>
          <a:xfrm>
            <a:off x="2903220" y="266090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₹17,000–21,000</a:t>
            </a:r>
            <a:endParaRPr lang="en-US" sz="1400" dirty="0"/>
          </a:p>
        </p:txBody>
      </p:sp>
      <p:sp>
        <p:nvSpPr>
          <p:cNvPr id="46" name="Text 37"/>
          <p:cNvSpPr txBox="1"/>
          <p:nvPr/>
        </p:nvSpPr>
        <p:spPr>
          <a:xfrm>
            <a:off x="2903220" y="2852928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missed calls</a:t>
            </a:r>
            <a:endParaRPr lang="en-US" sz="730" dirty="0"/>
          </a:p>
        </p:txBody>
      </p:sp>
      <p:sp>
        <p:nvSpPr>
          <p:cNvPr id="47" name="Text 38"/>
          <p:cNvSpPr txBox="1"/>
          <p:nvPr/>
        </p:nvSpPr>
        <p:spPr>
          <a:xfrm>
            <a:off x="2537460" y="3035808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420–517 people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finish and get a verified profile; </a:t>
            </a:r>
            <a:r>
              <a:rPr lang="en-US" sz="68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40–100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them need a human counsellor.</a:t>
            </a:r>
            <a:endParaRPr lang="en-US" sz="680" dirty="0"/>
          </a:p>
        </p:txBody>
      </p:sp>
      <p:sp>
        <p:nvSpPr>
          <p:cNvPr id="48" name="Shape 39"/>
          <p:cNvSpPr/>
          <p:nvPr/>
        </p:nvSpPr>
        <p:spPr>
          <a:xfrm>
            <a:off x="4617720" y="2615184"/>
            <a:ext cx="2057400" cy="969264"/>
          </a:xfrm>
          <a:prstGeom prst="roundRect">
            <a:avLst>
              <a:gd name="adj" fmla="val 7547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pic>
        <p:nvPicPr>
          <p:cNvPr id="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60" y="2688336"/>
            <a:ext cx="292608" cy="292608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5074920" y="266090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0.05–0.10%</a:t>
            </a:r>
            <a:endParaRPr lang="en-US" sz="1400" dirty="0"/>
          </a:p>
        </p:txBody>
      </p:sp>
      <p:sp>
        <p:nvSpPr>
          <p:cNvPr id="51" name="Text 41"/>
          <p:cNvSpPr txBox="1"/>
          <p:nvPr/>
        </p:nvSpPr>
        <p:spPr>
          <a:xfrm>
            <a:off x="5074920" y="2852928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PM-AJAY budget</a:t>
            </a:r>
            <a:endParaRPr lang="en-US" sz="730" dirty="0"/>
          </a:p>
        </p:txBody>
      </p:sp>
      <p:sp>
        <p:nvSpPr>
          <p:cNvPr id="52" name="Text 42"/>
          <p:cNvSpPr txBox="1"/>
          <p:nvPr/>
        </p:nvSpPr>
        <p:spPr>
          <a:xfrm>
            <a:off x="4709160" y="3035808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₹1.1–2.1 crore a year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covers all of India, against a budget of ₹2,140 crore.</a:t>
            </a:r>
            <a:endParaRPr lang="en-US" sz="680" dirty="0"/>
          </a:p>
        </p:txBody>
      </p:sp>
      <p:sp>
        <p:nvSpPr>
          <p:cNvPr id="53" name="Shape 43"/>
          <p:cNvSpPr/>
          <p:nvPr/>
        </p:nvSpPr>
        <p:spPr>
          <a:xfrm>
            <a:off x="6789420" y="2615184"/>
            <a:ext cx="2057400" cy="969264"/>
          </a:xfrm>
          <a:prstGeom prst="roundRect">
            <a:avLst>
              <a:gd name="adj" fmla="val 7547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0860" y="2688336"/>
            <a:ext cx="292608" cy="292608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7246620" y="266090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1% more</a:t>
            </a:r>
            <a:endParaRPr lang="en-US" sz="1400" dirty="0"/>
          </a:p>
        </p:txBody>
      </p:sp>
      <p:sp>
        <p:nvSpPr>
          <p:cNvPr id="56" name="Text 45"/>
          <p:cNvSpPr txBox="1"/>
          <p:nvPr/>
        </p:nvSpPr>
        <p:spPr>
          <a:xfrm>
            <a:off x="7246620" y="2852928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person helped</a:t>
            </a:r>
            <a:endParaRPr lang="en-US" sz="730" dirty="0"/>
          </a:p>
        </p:txBody>
      </p:sp>
      <p:sp>
        <p:nvSpPr>
          <p:cNvPr id="57" name="Text 46"/>
          <p:cNvSpPr txBox="1"/>
          <p:nvPr/>
        </p:nvSpPr>
        <p:spPr>
          <a:xfrm>
            <a:off x="6880860" y="3035808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govt already spends </a:t>
            </a:r>
            <a:r>
              <a:rPr lang="en-US" sz="6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₹60,700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one beneficiary; we add ₹220–420 so it goes to the right course.</a:t>
            </a:r>
            <a:endParaRPr lang="en-US" sz="680" dirty="0"/>
          </a:p>
        </p:txBody>
      </p:sp>
      <p:sp>
        <p:nvSpPr>
          <p:cNvPr id="58" name="Shape 47"/>
          <p:cNvSpPr/>
          <p:nvPr/>
        </p:nvSpPr>
        <p:spPr>
          <a:xfrm>
            <a:off x="274320" y="3675888"/>
            <a:ext cx="8595360" cy="274320"/>
          </a:xfrm>
          <a:prstGeom prst="roundRect">
            <a:avLst>
              <a:gd name="adj" fmla="val 26667"/>
            </a:avLst>
          </a:prstGeom>
          <a:solidFill>
            <a:srgbClr val="F3F5F8"/>
          </a:solidFill>
          <a:ln w="9525">
            <a:solidFill>
              <a:srgbClr val="F3F5F8"/>
            </a:solidFill>
            <a:prstDash val="solid"/>
          </a:ln>
        </p:spPr>
      </p:sp>
      <p:sp>
        <p:nvSpPr>
          <p:cNvPr id="59" name="Text 48"/>
          <p:cNvSpPr txBox="1"/>
          <p:nvPr/>
        </p:nvSpPr>
        <p:spPr>
          <a:xfrm>
            <a:off x="384048" y="3675888"/>
            <a:ext cx="8375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₹9–13 lakh starts a 6-month pilot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one block (≈ 1,000 families) — and cost falls further as common answers get cached and speech moves to free self-hosted models.   </a:t>
            </a:r>
            <a:r>
              <a:rPr lang="en-US" sz="66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Sarvam API pricing, Indian telephony rate cards 2026 and Kilkari (BMJ 2021); full working in the calculations sheet.</a:t>
            </a:r>
            <a:endParaRPr lang="en-US" sz="660" dirty="0"/>
          </a:p>
        </p:txBody>
      </p:sp>
      <p:sp>
        <p:nvSpPr>
          <p:cNvPr id="60" name="Text 49"/>
          <p:cNvSpPr txBox="1"/>
          <p:nvPr/>
        </p:nvSpPr>
        <p:spPr>
          <a:xfrm>
            <a:off x="274320" y="407822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GO WRONG — AND WHAT ALREADY HANDLES IT  </a:t>
            </a:r>
            <a:endParaRPr lang="en-US" sz="850" dirty="0"/>
          </a:p>
        </p:txBody>
      </p:sp>
      <p:sp>
        <p:nvSpPr>
          <p:cNvPr id="61" name="Text 50"/>
          <p:cNvSpPr txBox="1"/>
          <p:nvPr/>
        </p:nvSpPr>
        <p:spPr>
          <a:xfrm>
            <a:off x="274320" y="4261104"/>
            <a:ext cx="42519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Village dialects are hard to understand</a:t>
            </a:r>
            <a:r>
              <a:rPr lang="en-US" sz="64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✓ </a:t>
            </a: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by keypad, every answer read back, bigger model, then a human</a:t>
            </a:r>
            <a:endParaRPr lang="en-US" sz="640" dirty="0"/>
          </a:p>
        </p:txBody>
      </p:sp>
      <p:sp>
        <p:nvSpPr>
          <p:cNvPr id="62" name="Text 51"/>
          <p:cNvSpPr txBox="1"/>
          <p:nvPr/>
        </p:nvSpPr>
        <p:spPr>
          <a:xfrm>
            <a:off x="4617720" y="4261104"/>
            <a:ext cx="42519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The AI could say something wrong</a:t>
            </a:r>
            <a:r>
              <a:rPr lang="en-US" sz="64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✓ </a:t>
            </a: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blocks anything not in the government database</a:t>
            </a:r>
            <a:endParaRPr lang="en-US" sz="640" dirty="0"/>
          </a:p>
        </p:txBody>
      </p:sp>
      <p:sp>
        <p:nvSpPr>
          <p:cNvPr id="63" name="Text 52"/>
          <p:cNvSpPr txBox="1"/>
          <p:nvPr/>
        </p:nvSpPr>
        <p:spPr>
          <a:xfrm>
            <a:off x="274320" y="4443984"/>
            <a:ext cx="42519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People ignore unknown numbers</a:t>
            </a:r>
            <a:r>
              <a:rPr lang="en-US" sz="64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✓ </a:t>
            </a: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calls first; the call-back comes from an official 1600 number</a:t>
            </a:r>
            <a:endParaRPr lang="en-US" sz="640" dirty="0"/>
          </a:p>
        </p:txBody>
      </p:sp>
      <p:sp>
        <p:nvSpPr>
          <p:cNvPr id="64" name="Text 53"/>
          <p:cNvSpPr txBox="1"/>
          <p:nvPr/>
        </p:nvSpPr>
        <p:spPr>
          <a:xfrm>
            <a:off x="4617720" y="4443984"/>
            <a:ext cx="42519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Slow replies bore callers</a:t>
            </a:r>
            <a:r>
              <a:rPr lang="en-US" sz="64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✓ </a:t>
            </a: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voice, pre-recorded questions, keypad turns are instant</a:t>
            </a:r>
            <a:endParaRPr lang="en-US" sz="6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gains?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90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families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operators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officers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r>
              <a:rPr lang="en-US" sz="90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Every number below shows how it was worked out.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numbers, each with its source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1335024"/>
          </a:xfrm>
          <a:prstGeom prst="roundRect">
            <a:avLst>
              <a:gd name="adj" fmla="val 5479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435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→ 70% placed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1627632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we close</a:t>
            </a:r>
            <a:endParaRPr lang="en-US" sz="73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1810512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41% of trained people get a job today; 70% is the government's own target. Per 1,000 trainees, even 50% means </a:t>
            </a: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more people working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80" dirty="0"/>
          </a:p>
        </p:txBody>
      </p:sp>
      <p:sp>
        <p:nvSpPr>
          <p:cNvPr id="14" name="Shape 10"/>
          <p:cNvSpPr/>
          <p:nvPr/>
        </p:nvSpPr>
        <p:spPr>
          <a:xfrm>
            <a:off x="365760" y="2523744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20624" y="2523744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CAG 2025 · MSDE norms</a:t>
            </a:r>
            <a:endParaRPr lang="en-US" sz="600" dirty="0"/>
          </a:p>
        </p:txBody>
      </p:sp>
      <p:sp>
        <p:nvSpPr>
          <p:cNvPr id="16" name="Shape 12"/>
          <p:cNvSpPr/>
          <p:nvPr/>
        </p:nvSpPr>
        <p:spPr>
          <a:xfrm>
            <a:off x="2446020" y="1389888"/>
            <a:ext cx="2057400" cy="1335024"/>
          </a:xfrm>
          <a:prstGeom prst="roundRect">
            <a:avLst>
              <a:gd name="adj" fmla="val 5479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460" y="146304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903220" y="1435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 → 73% stay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2903220" y="1627632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job they were placed in</a:t>
            </a:r>
            <a:endParaRPr lang="en-US" sz="730" dirty="0"/>
          </a:p>
        </p:txBody>
      </p:sp>
      <p:sp>
        <p:nvSpPr>
          <p:cNvPr id="20" name="Text 15"/>
          <p:cNvSpPr txBox="1"/>
          <p:nvPr/>
        </p:nvSpPr>
        <p:spPr>
          <a:xfrm>
            <a:off x="2537460" y="1810512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 percentage points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a field trial, when a trainee is told the real pay and place before joining. SkillCall tells him on the call.</a:t>
            </a:r>
            <a:endParaRPr lang="en-US" sz="680" dirty="0"/>
          </a:p>
        </p:txBody>
      </p:sp>
      <p:sp>
        <p:nvSpPr>
          <p:cNvPr id="21" name="Shape 16"/>
          <p:cNvSpPr/>
          <p:nvPr/>
        </p:nvSpPr>
        <p:spPr>
          <a:xfrm>
            <a:off x="2537460" y="2523744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92324" y="2523744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J-PAL · Chakravorty et al. 2024</a:t>
            </a:r>
            <a:endParaRPr lang="en-US" sz="600" dirty="0"/>
          </a:p>
        </p:txBody>
      </p:sp>
      <p:sp>
        <p:nvSpPr>
          <p:cNvPr id="23" name="Shape 18"/>
          <p:cNvSpPr/>
          <p:nvPr/>
        </p:nvSpPr>
        <p:spPr>
          <a:xfrm>
            <a:off x="4617720" y="1389888"/>
            <a:ext cx="2057400" cy="1335024"/>
          </a:xfrm>
          <a:prstGeom prst="roundRect">
            <a:avLst>
              <a:gd name="adj" fmla="val 5479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463040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074920" y="1435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hours a month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5074920" y="1627632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officer time comes back</a:t>
            </a:r>
            <a:endParaRPr lang="en-US" sz="730" dirty="0"/>
          </a:p>
        </p:txBody>
      </p:sp>
      <p:sp>
        <p:nvSpPr>
          <p:cNvPr id="27" name="Text 21"/>
          <p:cNvSpPr txBox="1"/>
          <p:nvPr/>
        </p:nvSpPr>
        <p:spPr>
          <a:xfrm>
            <a:off x="4709160" y="1810512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officer handling 40 cases: </a:t>
            </a:r>
            <a:r>
              <a:rPr lang="en-US" sz="68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h → 5 h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Across India that is ≈ </a:t>
            </a:r>
            <a:r>
              <a:rPr lang="en-US" sz="68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officers' full-time work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freed every year.</a:t>
            </a:r>
            <a:endParaRPr lang="en-US" sz="680" dirty="0"/>
          </a:p>
        </p:txBody>
      </p:sp>
      <p:sp>
        <p:nvSpPr>
          <p:cNvPr id="28" name="Shape 22"/>
          <p:cNvSpPr/>
          <p:nvPr/>
        </p:nvSpPr>
        <p:spPr>
          <a:xfrm>
            <a:off x="4709160" y="2523744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764024" y="2523744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estimate: AJAY app's data entry not counted</a:t>
            </a:r>
            <a:endParaRPr lang="en-US" sz="600" dirty="0"/>
          </a:p>
        </p:txBody>
      </p:sp>
      <p:sp>
        <p:nvSpPr>
          <p:cNvPr id="30" name="Shape 24"/>
          <p:cNvSpPr/>
          <p:nvPr/>
        </p:nvSpPr>
        <p:spPr>
          <a:xfrm>
            <a:off x="6789420" y="1389888"/>
            <a:ext cx="2057400" cy="1335024"/>
          </a:xfrm>
          <a:prstGeom prst="roundRect">
            <a:avLst>
              <a:gd name="adj" fmla="val 5479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0860" y="1463040"/>
            <a:ext cx="292608" cy="29260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246620" y="1435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₹12.5–15 crore</a:t>
            </a:r>
            <a:endParaRPr lang="en-US" sz="1150" dirty="0"/>
          </a:p>
        </p:txBody>
      </p:sp>
      <p:sp>
        <p:nvSpPr>
          <p:cNvPr id="33" name="Text 26"/>
          <p:cNvSpPr txBox="1"/>
          <p:nvPr/>
        </p:nvSpPr>
        <p:spPr>
          <a:xfrm>
            <a:off x="7246620" y="1627632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year, not wasted</a:t>
            </a:r>
            <a:endParaRPr lang="en-US" sz="730" dirty="0"/>
          </a:p>
        </p:txBody>
      </p:sp>
      <p:sp>
        <p:nvSpPr>
          <p:cNvPr id="34" name="Text 27"/>
          <p:cNvSpPr txBox="1"/>
          <p:nvPr/>
        </p:nvSpPr>
        <p:spPr>
          <a:xfrm>
            <a:off x="6880860" y="1810512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wrong matches fall in just </a:t>
            </a:r>
            <a:r>
              <a:rPr lang="en-US" sz="6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every 100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cases — that is </a:t>
            </a:r>
            <a:r>
              <a:rPr lang="en-US" sz="6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6–14×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SkillCall costs to run.</a:t>
            </a:r>
            <a:endParaRPr lang="en-US" sz="680" dirty="0"/>
          </a:p>
        </p:txBody>
      </p:sp>
      <p:sp>
        <p:nvSpPr>
          <p:cNvPr id="35" name="Shape 28"/>
          <p:cNvSpPr/>
          <p:nvPr/>
        </p:nvSpPr>
        <p:spPr>
          <a:xfrm>
            <a:off x="6880860" y="2523744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935724" y="2523744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estimate: PIB 2025 average support</a:t>
            </a:r>
            <a:endParaRPr lang="en-US" sz="600" dirty="0"/>
          </a:p>
        </p:txBody>
      </p:sp>
      <p:sp>
        <p:nvSpPr>
          <p:cNvPr id="37" name="Shape 30"/>
          <p:cNvSpPr/>
          <p:nvPr/>
        </p:nvSpPr>
        <p:spPr>
          <a:xfrm>
            <a:off x="274320" y="2816352"/>
            <a:ext cx="8595360" cy="292608"/>
          </a:xfrm>
          <a:prstGeom prst="roundRect">
            <a:avLst>
              <a:gd name="adj" fmla="val 25000"/>
            </a:avLst>
          </a:prstGeom>
          <a:solidFill>
            <a:srgbClr val="EAF0F8"/>
          </a:solidFill>
          <a:ln w="9525">
            <a:solidFill>
              <a:srgbClr val="EAF0F8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384048" y="2816352"/>
            <a:ext cx="8375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1–1.5 lakh people profiled a year</a:t>
            </a: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2–3 applicants screened for every GIA seat, so each of the ≈ 50,000 seats goes to the person it fits best.</a:t>
            </a:r>
            <a:endParaRPr lang="en-US" sz="800" dirty="0"/>
          </a:p>
        </p:txBody>
      </p:sp>
      <p:sp>
        <p:nvSpPr>
          <p:cNvPr id="39" name="Text 32"/>
          <p:cNvSpPr txBox="1"/>
          <p:nvPr/>
        </p:nvSpPr>
        <p:spPr>
          <a:xfrm>
            <a:off x="274320" y="323697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 WHAT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· economic · governance · environment</a:t>
            </a:r>
            <a:endParaRPr lang="en-US" sz="850" dirty="0"/>
          </a:p>
        </p:txBody>
      </p:sp>
      <p:sp>
        <p:nvSpPr>
          <p:cNvPr id="40" name="Shape 33"/>
          <p:cNvSpPr/>
          <p:nvPr/>
        </p:nvSpPr>
        <p:spPr>
          <a:xfrm>
            <a:off x="274320" y="3438144"/>
            <a:ext cx="20574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511296"/>
            <a:ext cx="274320" cy="27432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713232" y="348386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95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3675888"/>
            <a:ext cx="1527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families, women, non-readers</a:t>
            </a:r>
            <a:endParaRPr lang="en-US" sz="690" dirty="0"/>
          </a:p>
        </p:txBody>
      </p:sp>
      <p:sp>
        <p:nvSpPr>
          <p:cNvPr id="44" name="Text 36"/>
          <p:cNvSpPr txBox="1"/>
          <p:nvPr/>
        </p:nvSpPr>
        <p:spPr>
          <a:xfrm>
            <a:off x="365760" y="385876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course the first time, free and in his own language — and calls until he is actually earning.</a:t>
            </a:r>
            <a:endParaRPr lang="en-US" sz="680" dirty="0"/>
          </a:p>
        </p:txBody>
      </p:sp>
      <p:sp>
        <p:nvSpPr>
          <p:cNvPr id="45" name="Shape 37"/>
          <p:cNvSpPr/>
          <p:nvPr/>
        </p:nvSpPr>
        <p:spPr>
          <a:xfrm>
            <a:off x="2446020" y="3438144"/>
            <a:ext cx="20574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37460" y="3511296"/>
            <a:ext cx="274320" cy="274320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2884932" y="348386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950" dirty="0"/>
          </a:p>
        </p:txBody>
      </p:sp>
      <p:sp>
        <p:nvSpPr>
          <p:cNvPr id="48" name="Text 39"/>
          <p:cNvSpPr txBox="1"/>
          <p:nvPr/>
        </p:nvSpPr>
        <p:spPr>
          <a:xfrm>
            <a:off x="2884932" y="3675888"/>
            <a:ext cx="1527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Ministry and the trainee</a:t>
            </a:r>
            <a:endParaRPr lang="en-US" sz="690" dirty="0"/>
          </a:p>
        </p:txBody>
      </p:sp>
      <p:sp>
        <p:nvSpPr>
          <p:cNvPr id="49" name="Text 40"/>
          <p:cNvSpPr txBox="1"/>
          <p:nvPr/>
        </p:nvSpPr>
        <p:spPr>
          <a:xfrm>
            <a:off x="2537460" y="385876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money on wrong training; more people earning, </a:t>
            </a: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 by follow-up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instead of assumed.</a:t>
            </a:r>
            <a:endParaRPr lang="en-US" sz="680" dirty="0"/>
          </a:p>
        </p:txBody>
      </p:sp>
      <p:sp>
        <p:nvSpPr>
          <p:cNvPr id="50" name="Shape 41"/>
          <p:cNvSpPr/>
          <p:nvPr/>
        </p:nvSpPr>
        <p:spPr>
          <a:xfrm>
            <a:off x="4617720" y="3438144"/>
            <a:ext cx="20574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60" y="3511296"/>
            <a:ext cx="274320" cy="274320"/>
          </a:xfrm>
          <a:prstGeom prst="rect">
            <a:avLst/>
          </a:prstGeom>
        </p:spPr>
      </p:pic>
      <p:sp>
        <p:nvSpPr>
          <p:cNvPr id="52" name="Text 42"/>
          <p:cNvSpPr txBox="1"/>
          <p:nvPr/>
        </p:nvSpPr>
        <p:spPr>
          <a:xfrm>
            <a:off x="5056632" y="348386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950" dirty="0"/>
          </a:p>
        </p:txBody>
      </p:sp>
      <p:sp>
        <p:nvSpPr>
          <p:cNvPr id="53" name="Text 43"/>
          <p:cNvSpPr txBox="1"/>
          <p:nvPr/>
        </p:nvSpPr>
        <p:spPr>
          <a:xfrm>
            <a:off x="5056632" y="3675888"/>
            <a:ext cx="1527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and CSC operators</a:t>
            </a:r>
            <a:endParaRPr lang="en-US" sz="690" dirty="0"/>
          </a:p>
        </p:txBody>
      </p:sp>
      <p:sp>
        <p:nvSpPr>
          <p:cNvPr id="54" name="Text 44"/>
          <p:cNvSpPr txBox="1"/>
          <p:nvPr/>
        </p:nvSpPr>
        <p:spPr>
          <a:xfrm>
            <a:off x="4709160" y="385876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case record from call to job, plus a </a:t>
            </a: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map by block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yearly plan.</a:t>
            </a:r>
            <a:endParaRPr lang="en-US" sz="680" dirty="0"/>
          </a:p>
        </p:txBody>
      </p:sp>
      <p:sp>
        <p:nvSpPr>
          <p:cNvPr id="55" name="Shape 45"/>
          <p:cNvSpPr/>
          <p:nvPr/>
        </p:nvSpPr>
        <p:spPr>
          <a:xfrm>
            <a:off x="6789420" y="3438144"/>
            <a:ext cx="205740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0860" y="3511296"/>
            <a:ext cx="274320" cy="274320"/>
          </a:xfrm>
          <a:prstGeom prst="rect">
            <a:avLst/>
          </a:prstGeom>
        </p:spPr>
      </p:pic>
      <p:sp>
        <p:nvSpPr>
          <p:cNvPr id="57" name="Text 46"/>
          <p:cNvSpPr txBox="1"/>
          <p:nvPr/>
        </p:nvSpPr>
        <p:spPr>
          <a:xfrm>
            <a:off x="7228332" y="3483864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50" dirty="0"/>
          </a:p>
        </p:txBody>
      </p:sp>
      <p:sp>
        <p:nvSpPr>
          <p:cNvPr id="58" name="Text 47"/>
          <p:cNvSpPr txBox="1"/>
          <p:nvPr/>
        </p:nvSpPr>
        <p:spPr>
          <a:xfrm>
            <a:off x="7228332" y="3675888"/>
            <a:ext cx="1527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district office</a:t>
            </a:r>
            <a:endParaRPr lang="en-US" sz="690" dirty="0"/>
          </a:p>
        </p:txBody>
      </p:sp>
      <p:sp>
        <p:nvSpPr>
          <p:cNvPr id="59" name="Text 48"/>
          <p:cNvSpPr txBox="1"/>
          <p:nvPr/>
        </p:nvSpPr>
        <p:spPr>
          <a:xfrm>
            <a:off x="6880860" y="385876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paper forms, fewer trips to offices, and it runs on the </a:t>
            </a:r>
            <a:r>
              <a:rPr lang="en-US" sz="68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government cloud</a:t>
            </a:r>
            <a:r>
              <a:rPr lang="en-US" sz="68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74320" y="896112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96012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2" y="995782"/>
            <a:ext cx="166421" cy="16642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76656" y="941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data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65760" y="128016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28016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PIB, Rajya Sabha reply (19 Mar 2025) — GIA: 2,01,006 beneficiaries, ₹1,219.80 cr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20" dirty="0"/>
          </a:p>
        </p:txBody>
      </p:sp>
      <p:sp>
        <p:nvSpPr>
          <p:cNvPr id="13" name="Shape 9"/>
          <p:cNvSpPr/>
          <p:nvPr/>
        </p:nvSpPr>
        <p:spPr>
          <a:xfrm>
            <a:off x="365760" y="1504188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" y="15041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PM-AJAY explainer (May 2025) — eligibility, 5% admin &amp; MIS line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20" dirty="0"/>
          </a:p>
        </p:txBody>
      </p:sp>
      <p:sp>
        <p:nvSpPr>
          <p:cNvPr id="15" name="Shape 11"/>
          <p:cNvSpPr/>
          <p:nvPr/>
        </p:nvSpPr>
        <p:spPr>
          <a:xfrm>
            <a:off x="365760" y="1728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1728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 Report No. 20 of 2025 — PMKVY: 41% placed, no skill-gap analysis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cag.gov.in</a:t>
            </a:r>
            <a:endParaRPr lang="en-US" sz="720" dirty="0"/>
          </a:p>
        </p:txBody>
      </p:sp>
      <p:sp>
        <p:nvSpPr>
          <p:cNvPr id="17" name="Shape 13"/>
          <p:cNvSpPr/>
          <p:nvPr/>
        </p:nvSpPr>
        <p:spPr>
          <a:xfrm>
            <a:off x="365760" y="1952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7200" y="1952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NFHS-6 (2023-24) — women's phone ownership 63.6%, rural 57.4%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rchiips.org</a:t>
            </a:r>
            <a:endParaRPr lang="en-US" sz="720" dirty="0"/>
          </a:p>
        </p:txBody>
      </p:sp>
      <p:sp>
        <p:nvSpPr>
          <p:cNvPr id="19" name="Shape 15"/>
          <p:cNvSpPr/>
          <p:nvPr/>
        </p:nvSpPr>
        <p:spPr>
          <a:xfrm>
            <a:off x="365760" y="2176272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17627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2011 (MoSJE Handbook 2021) · SC poverty ratios 2011-12 (Lok Sabha)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socialjustice.gov.in</a:t>
            </a:r>
            <a:endParaRPr lang="en-US" sz="720" dirty="0"/>
          </a:p>
        </p:txBody>
      </p:sp>
      <p:sp>
        <p:nvSpPr>
          <p:cNvPr id="21" name="Shape 17"/>
          <p:cNvSpPr/>
          <p:nvPr/>
        </p:nvSpPr>
        <p:spPr>
          <a:xfrm>
            <a:off x="4663440" y="896112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754880" y="96012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0542" y="995782"/>
            <a:ext cx="166421" cy="166421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65776" y="941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754880" y="128016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846320" y="128016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Chakravorty et al. 2024 / J-PAL — honest job info: 62% → 73% stay in job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povertyactionlab.org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4754880" y="1504188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846320" y="15041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Bashingwa et al. 2021, BMJ Global Health — Kilkari call answer rates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gh.bmj.com</a:t>
            </a:r>
            <a:endParaRPr lang="en-US" sz="720" dirty="0"/>
          </a:p>
        </p:txBody>
      </p:sp>
      <p:sp>
        <p:nvSpPr>
          <p:cNvPr id="29" name="Shape 24"/>
          <p:cNvSpPr/>
          <p:nvPr/>
        </p:nvSpPr>
        <p:spPr>
          <a:xfrm>
            <a:off x="4754880" y="1728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846320" y="1728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India 2026 — speech-AI benchmark on real Indian phone calls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arxiv.org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754880" y="1952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846320" y="1952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Medhi et al. 2011, ACM TOCHI — voice interfaces for low-literacy users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dl.acm.org</a:t>
            </a:r>
            <a:endParaRPr lang="en-US" sz="720" dirty="0"/>
          </a:p>
        </p:txBody>
      </p:sp>
      <p:sp>
        <p:nvSpPr>
          <p:cNvPr id="33" name="Shape 28"/>
          <p:cNvSpPr/>
          <p:nvPr/>
        </p:nvSpPr>
        <p:spPr>
          <a:xfrm>
            <a:off x="274320" y="2487168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365760" y="2551176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1422" y="2586838"/>
            <a:ext cx="166421" cy="166421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676656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365760" y="2871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457200" y="2871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API pricing &amp; docs — Saaras v3, Bulbul v3, 30B / 105B; voice-agent guide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docs.sarvam.ai</a:t>
            </a:r>
            <a:endParaRPr lang="en-US" sz="720" dirty="0"/>
          </a:p>
        </p:txBody>
      </p:sp>
      <p:sp>
        <p:nvSpPr>
          <p:cNvPr id="39" name="Shape 33"/>
          <p:cNvSpPr/>
          <p:nvPr/>
        </p:nvSpPr>
        <p:spPr>
          <a:xfrm>
            <a:off x="365760" y="3095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57200" y="3095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× Sarvam 2026 — Sarvam-30B serving, first token &lt; 1 s (P95)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developer.nvidia.com</a:t>
            </a:r>
            <a:endParaRPr lang="en-US" sz="720" dirty="0"/>
          </a:p>
        </p:txBody>
      </p:sp>
      <p:sp>
        <p:nvSpPr>
          <p:cNvPr id="41" name="Shape 35"/>
          <p:cNvSpPr/>
          <p:nvPr/>
        </p:nvSpPr>
        <p:spPr>
          <a:xfrm>
            <a:off x="365760" y="3319272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457200" y="331927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Analysis — Sarvam-30B ≈ $0.03 per 1M tokens (blended)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artificialanalysis.ai</a:t>
            </a:r>
            <a:endParaRPr lang="en-US" sz="720" dirty="0"/>
          </a:p>
        </p:txBody>
      </p:sp>
      <p:sp>
        <p:nvSpPr>
          <p:cNvPr id="43" name="Shape 37"/>
          <p:cNvSpPr/>
          <p:nvPr/>
        </p:nvSpPr>
        <p:spPr>
          <a:xfrm>
            <a:off x="365760" y="354330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457200" y="354330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AI4Bharat IndicConformer · Pipecat · Bhashini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ai4bharat.iitm.ac.in</a:t>
            </a:r>
            <a:endParaRPr lang="en-US" sz="720" dirty="0"/>
          </a:p>
        </p:txBody>
      </p:sp>
      <p:sp>
        <p:nvSpPr>
          <p:cNvPr id="45" name="Shape 39"/>
          <p:cNvSpPr/>
          <p:nvPr/>
        </p:nvSpPr>
        <p:spPr>
          <a:xfrm>
            <a:off x="4663440" y="2487168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4754880" y="2551176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90542" y="2586838"/>
            <a:ext cx="166421" cy="166421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5065776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policy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4754880" y="2871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846320" y="2871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portal &amp; AJAY app launch (26 May 2026) — PIB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20" dirty="0"/>
          </a:p>
        </p:txBody>
      </p:sp>
      <p:sp>
        <p:nvSpPr>
          <p:cNvPr id="51" name="Shape 44"/>
          <p:cNvSpPr/>
          <p:nvPr/>
        </p:nvSpPr>
        <p:spPr>
          <a:xfrm>
            <a:off x="4754880" y="3095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4846320" y="3095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NCO-2015 occupation codes · NQR / NCVET job roles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nqr.gov.in</a:t>
            </a:r>
            <a:endParaRPr lang="en-US" sz="720" dirty="0"/>
          </a:p>
        </p:txBody>
      </p:sp>
      <p:sp>
        <p:nvSpPr>
          <p:cNvPr id="53" name="Shape 46"/>
          <p:cNvSpPr/>
          <p:nvPr/>
        </p:nvSpPr>
        <p:spPr>
          <a:xfrm>
            <a:off x="4754880" y="3319272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4846320" y="331927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 2025 — consent and data protection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meity.gov.in</a:t>
            </a:r>
            <a:endParaRPr lang="en-US" sz="720" dirty="0"/>
          </a:p>
        </p:txBody>
      </p:sp>
      <p:sp>
        <p:nvSpPr>
          <p:cNvPr id="55" name="Shape 48"/>
          <p:cNvSpPr/>
          <p:nvPr/>
        </p:nvSpPr>
        <p:spPr>
          <a:xfrm>
            <a:off x="4754880" y="354330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4846320" y="354330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 1600-series rules for government calls (2026)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trai.gov.in</a:t>
            </a:r>
            <a:endParaRPr lang="en-US" sz="720" dirty="0"/>
          </a:p>
        </p:txBody>
      </p:sp>
      <p:sp>
        <p:nvSpPr>
          <p:cNvPr id="57" name="Shape 50"/>
          <p:cNvSpPr/>
          <p:nvPr/>
        </p:nvSpPr>
        <p:spPr>
          <a:xfrm>
            <a:off x="4754880" y="3767328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4846320" y="376732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MeitY (Lok Sabha 2023) — 5.58 lakh CSCs, 4.44 lakh at gram panchayats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eparlib.nic.in</a:t>
            </a:r>
            <a:endParaRPr lang="en-US" sz="720" dirty="0"/>
          </a:p>
        </p:txBody>
      </p:sp>
      <p:sp>
        <p:nvSpPr>
          <p:cNvPr id="59" name="Text 52"/>
          <p:cNvSpPr txBox="1"/>
          <p:nvPr/>
        </p:nvSpPr>
        <p:spPr>
          <a:xfrm>
            <a:off x="274320" y="405993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MORE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prototype, video and every calculation — one click each</a:t>
            </a:r>
            <a:endParaRPr lang="en-US" sz="850" dirty="0"/>
          </a:p>
        </p:txBody>
      </p:sp>
      <p:sp>
        <p:nvSpPr>
          <p:cNvPr id="60" name="Shape 53"/>
          <p:cNvSpPr/>
          <p:nvPr/>
        </p:nvSpPr>
        <p:spPr>
          <a:xfrm>
            <a:off x="2743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1" name="Shape 54"/>
          <p:cNvSpPr/>
          <p:nvPr/>
        </p:nvSpPr>
        <p:spPr>
          <a:xfrm>
            <a:off x="3657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62" name="Image 5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4165" y="4354373"/>
            <a:ext cx="179222" cy="179222"/>
          </a:xfrm>
          <a:prstGeom prst="rect">
            <a:avLst/>
          </a:prstGeom>
        </p:spPr>
      </p:pic>
      <p:sp>
        <p:nvSpPr>
          <p:cNvPr id="63" name="Text 55"/>
          <p:cNvSpPr txBox="1"/>
          <p:nvPr/>
        </p:nvSpPr>
        <p:spPr>
          <a:xfrm>
            <a:off x="6949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900" dirty="0"/>
          </a:p>
        </p:txBody>
      </p:sp>
      <p:sp>
        <p:nvSpPr>
          <p:cNvPr id="64" name="Text 56"/>
          <p:cNvSpPr txBox="1"/>
          <p:nvPr/>
        </p:nvSpPr>
        <p:spPr>
          <a:xfrm>
            <a:off x="3657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architecture docs, API reference</a:t>
            </a:r>
            <a:endParaRPr lang="en-US" sz="640" dirty="0"/>
          </a:p>
        </p:txBody>
      </p:sp>
      <p:sp>
        <p:nvSpPr>
          <p:cNvPr id="65" name="Text 57"/>
          <p:cNvSpPr txBox="1"/>
          <p:nvPr/>
        </p:nvSpPr>
        <p:spPr>
          <a:xfrm>
            <a:off x="16002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66" name="Shape 58"/>
          <p:cNvSpPr/>
          <p:nvPr/>
        </p:nvSpPr>
        <p:spPr>
          <a:xfrm>
            <a:off x="24460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F8A22"/>
            </a:solidFill>
            <a:prstDash val="solid"/>
          </a:ln>
        </p:spPr>
      </p:sp>
      <p:sp>
        <p:nvSpPr>
          <p:cNvPr id="67" name="Shape 59"/>
          <p:cNvSpPr/>
          <p:nvPr/>
        </p:nvSpPr>
        <p:spPr>
          <a:xfrm>
            <a:off x="25374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68" name="Image 6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75865" y="4354373"/>
            <a:ext cx="179222" cy="179222"/>
          </a:xfrm>
          <a:prstGeom prst="rect">
            <a:avLst/>
          </a:prstGeom>
        </p:spPr>
      </p:pic>
      <p:sp>
        <p:nvSpPr>
          <p:cNvPr id="69" name="Text 60"/>
          <p:cNvSpPr txBox="1"/>
          <p:nvPr/>
        </p:nvSpPr>
        <p:spPr>
          <a:xfrm>
            <a:off x="28666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</a:t>
            </a:r>
            <a:endParaRPr lang="en-US" sz="900" dirty="0"/>
          </a:p>
        </p:txBody>
      </p:sp>
      <p:sp>
        <p:nvSpPr>
          <p:cNvPr id="70" name="Text 61"/>
          <p:cNvSpPr txBox="1"/>
          <p:nvPr/>
        </p:nvSpPr>
        <p:spPr>
          <a:xfrm>
            <a:off x="25374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SkillCall conversation in the browser</a:t>
            </a:r>
            <a:endParaRPr lang="en-US" sz="640" dirty="0"/>
          </a:p>
        </p:txBody>
      </p:sp>
      <p:sp>
        <p:nvSpPr>
          <p:cNvPr id="71" name="Text 62"/>
          <p:cNvSpPr txBox="1"/>
          <p:nvPr/>
        </p:nvSpPr>
        <p:spPr>
          <a:xfrm>
            <a:off x="37719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72" name="Shape 63"/>
          <p:cNvSpPr/>
          <p:nvPr/>
        </p:nvSpPr>
        <p:spPr>
          <a:xfrm>
            <a:off x="46177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467A"/>
            </a:solidFill>
            <a:prstDash val="solid"/>
          </a:ln>
        </p:spPr>
      </p:sp>
      <p:sp>
        <p:nvSpPr>
          <p:cNvPr id="73" name="Shape 64"/>
          <p:cNvSpPr/>
          <p:nvPr/>
        </p:nvSpPr>
        <p:spPr>
          <a:xfrm>
            <a:off x="47091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D6467A"/>
          </a:solidFill>
          <a:ln w="12700">
            <a:solidFill>
              <a:srgbClr val="D6467A"/>
            </a:solidFill>
            <a:prstDash val="solid"/>
          </a:ln>
        </p:spPr>
      </p:sp>
      <p:pic>
        <p:nvPicPr>
          <p:cNvPr id="74" name="Image 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747565" y="4354373"/>
            <a:ext cx="179222" cy="179222"/>
          </a:xfrm>
          <a:prstGeom prst="rect">
            <a:avLst/>
          </a:prstGeom>
        </p:spPr>
      </p:pic>
      <p:sp>
        <p:nvSpPr>
          <p:cNvPr id="75" name="Text 65"/>
          <p:cNvSpPr txBox="1"/>
          <p:nvPr/>
        </p:nvSpPr>
        <p:spPr>
          <a:xfrm>
            <a:off x="50383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900" dirty="0"/>
          </a:p>
        </p:txBody>
      </p:sp>
      <p:sp>
        <p:nvSpPr>
          <p:cNvPr id="76" name="Text 66"/>
          <p:cNvSpPr txBox="1"/>
          <p:nvPr/>
        </p:nvSpPr>
        <p:spPr>
          <a:xfrm>
            <a:off x="47091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2-minute walkthrough of a real call</a:t>
            </a:r>
            <a:endParaRPr lang="en-US" sz="640" dirty="0"/>
          </a:p>
        </p:txBody>
      </p:sp>
      <p:sp>
        <p:nvSpPr>
          <p:cNvPr id="77" name="Text 67"/>
          <p:cNvSpPr txBox="1"/>
          <p:nvPr/>
        </p:nvSpPr>
        <p:spPr>
          <a:xfrm>
            <a:off x="59436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78" name="Shape 68"/>
          <p:cNvSpPr/>
          <p:nvPr/>
        </p:nvSpPr>
        <p:spPr>
          <a:xfrm>
            <a:off x="67894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F9D63"/>
            </a:solidFill>
            <a:prstDash val="solid"/>
          </a:ln>
        </p:spPr>
      </p:sp>
      <p:sp>
        <p:nvSpPr>
          <p:cNvPr id="79" name="Shape 69"/>
          <p:cNvSpPr/>
          <p:nvPr/>
        </p:nvSpPr>
        <p:spPr>
          <a:xfrm>
            <a:off x="68808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80" name="Image 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919265" y="4354373"/>
            <a:ext cx="179222" cy="179222"/>
          </a:xfrm>
          <a:prstGeom prst="rect">
            <a:avLst/>
          </a:prstGeom>
        </p:spPr>
      </p:pic>
      <p:sp>
        <p:nvSpPr>
          <p:cNvPr id="81" name="Text 70"/>
          <p:cNvSpPr txBox="1"/>
          <p:nvPr/>
        </p:nvSpPr>
        <p:spPr>
          <a:xfrm>
            <a:off x="72100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Calculations sheet</a:t>
            </a:r>
            <a:endParaRPr lang="en-US" sz="900" dirty="0"/>
          </a:p>
        </p:txBody>
      </p:sp>
      <p:sp>
        <p:nvSpPr>
          <p:cNvPr id="82" name="Text 71"/>
          <p:cNvSpPr txBox="1"/>
          <p:nvPr/>
        </p:nvSpPr>
        <p:spPr>
          <a:xfrm>
            <a:off x="68808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number, its source and full working</a:t>
            </a:r>
            <a:endParaRPr lang="en-US" sz="640" dirty="0"/>
          </a:p>
        </p:txBody>
      </p:sp>
      <p:sp>
        <p:nvSpPr>
          <p:cNvPr id="83" name="Text 72"/>
          <p:cNvSpPr txBox="1"/>
          <p:nvPr/>
        </p:nvSpPr>
        <p:spPr>
          <a:xfrm>
            <a:off x="81153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84" name="Text 73"/>
          <p:cNvSpPr txBox="1"/>
          <p:nvPr/>
        </p:nvSpPr>
        <p:spPr>
          <a:xfrm>
            <a:off x="274320" y="4846320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Icons: Microsoft Fluent Emoji (MIT). Logos: official marks via Devicon, Simple Icons and project sites. Estimates are marked and fully worked in the calculations sheet.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SkillCall — SIH26097 — Cognify</dc:title>
  <dc:subject>PptxGenJS Presentation</dc:subject>
  <dc:creator>PptxGenJS</dc:creator>
  <cp:lastModifiedBy>PptxGenJS</cp:lastModifiedBy>
  <cp:revision>1</cp:revision>
  <dcterms:created xsi:type="dcterms:W3CDTF">2026-09-25T21:31:14Z</dcterms:created>
  <dcterms:modified xsi:type="dcterms:W3CDTF">2026-09-25T21:31:14Z</dcterms:modified>
</cp:coreProperties>
</file>