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page in the official SIH 2026 format. Replace the Team ID with the ID from the SIH portal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call: missed call → call-back → keypad facts → voice interview with adaptive skill questions → read-back → 1–4 verified options → choose → CSC → officer → follow-ups. The bottom row lists what is unique beyond the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Lane 1 (live call): Exotel carries the call, Pipecat runs the conversation, IndicConformer/Saaras convert speech to text, Sarvam-30B fills the profile through tool calls against the knowledge DB, SATYA validates every claim, Bulbul speaks the reply. Router escalates to Saaras/105B and finally a human. Lane 2: FastAPI creates the case in PostgreSQL → CSC → AJAY app → Celery follow-ups → dashboard. The web portal uses the same API and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Proof: UIDAI–Sarvam, Kilkari, Voice of India benchmark, all APIs available. Cost ₹37–83 per completed profile with the working per line. State cost is 0.04–0.08% of the PM-AJAY budget. Six risks with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with working: 41→70% placement gap; +11 percentage points retention (Chakravorty et al. 2024); 50 min of officer time saved per person → ~33 hours a month for an officer handling 40 people; ₹12.5 crore better used if 5% of wrong matches are avoided.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grouped by type, each with a link. Add the real GitHub, prototype, video and reference-file links before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0" Type="http://schemas.openxmlformats.org/officeDocument/2006/relationships/hyperlink" Target="https://github.com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1" Type="http://schemas.openxmlformats.org/officeDocument/2006/relationships/image" Target="../media/image-3-20.png"/><Relationship Id="rId22" Type="http://schemas.openxmlformats.org/officeDocument/2006/relationships/image" Target="../media/image-3-21.png"/><Relationship Id="rId23" Type="http://schemas.openxmlformats.org/officeDocument/2006/relationships/image" Target="../media/image-3-22.png"/><Relationship Id="rId24" Type="http://schemas.openxmlformats.org/officeDocument/2006/relationships/image" Target="../media/image-3-23.png"/><Relationship Id="rId25" Type="http://schemas.openxmlformats.org/officeDocument/2006/relationships/image" Target="../media/image-3-24.png"/><Relationship Id="rId26" Type="http://schemas.openxmlformats.org/officeDocument/2006/relationships/image" Target="../media/image-3-25.png"/><Relationship Id="rId27" Type="http://schemas.openxmlformats.org/officeDocument/2006/relationships/image" Target="../media/image-3-26.png"/><Relationship Id="rId28" Type="http://schemas.openxmlformats.org/officeDocument/2006/relationships/image" Target="../media/image-3-27.png"/><Relationship Id="rId29" Type="http://schemas.openxmlformats.org/officeDocument/2006/relationships/image" Target="../media/image-3-28.png"/><Relationship Id="rId30" Type="http://schemas.openxmlformats.org/officeDocument/2006/relationships/image" Target="../media/image-3-29.png"/><Relationship Id="rId31" Type="http://schemas.openxmlformats.org/officeDocument/2006/relationships/image" Target="../media/image-3-30.png"/><Relationship Id="rId32" Type="http://schemas.openxmlformats.org/officeDocument/2006/relationships/image" Target="../media/image-3-31.png"/><Relationship Id="rId33" Type="http://schemas.openxmlformats.org/officeDocument/2006/relationships/image" Target="../media/image-3-32.png"/><Relationship Id="rId34" Type="http://schemas.openxmlformats.org/officeDocument/2006/relationships/image" Target="../media/image-3-33.png"/><Relationship Id="rId35" Type="http://schemas.openxmlformats.org/officeDocument/2006/relationships/image" Target="../media/image-3-34.png"/><Relationship Id="rId36" Type="http://schemas.openxmlformats.org/officeDocument/2006/relationships/image" Target="../media/image-3-35.png"/><Relationship Id="rId37" Type="http://schemas.openxmlformats.org/officeDocument/2006/relationships/image" Target="../media/image-3-36.pn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ag.gov.in" TargetMode="External"/><Relationship Id="rId4" Type="http://schemas.openxmlformats.org/officeDocument/2006/relationships/hyperlink" Target="https://pib.gov.in" TargetMode="External"/><Relationship Id="rId5" Type="http://schemas.openxmlformats.org/officeDocument/2006/relationships/hyperlink" Target="https://www.indiabudget.gov.in" TargetMode="External"/><Relationship Id="rId6" Type="http://schemas.openxmlformats.org/officeDocument/2006/relationships/hyperlink" Target="https://pib.gov.in" TargetMode="External"/><Relationship Id="rId8" Type="http://schemas.openxmlformats.org/officeDocument/2006/relationships/hyperlink" Target="https://www.sciencedirect.com/journal/journal-of-development-economics" TargetMode="External"/><Relationship Id="rId9" Type="http://schemas.openxmlformats.org/officeDocument/2006/relationships/hyperlink" Target="https://gh.bmj.com" TargetMode="External"/><Relationship Id="rId10" Type="http://schemas.openxmlformats.org/officeDocument/2006/relationships/hyperlink" Target="https://arxiv.org/abs/2604.19151" TargetMode="External"/><Relationship Id="rId11" Type="http://schemas.openxmlformats.org/officeDocument/2006/relationships/hyperlink" Target="https://dl.acm.org" TargetMode="External"/><Relationship Id="rId13" Type="http://schemas.openxmlformats.org/officeDocument/2006/relationships/hyperlink" Target="https://www.sarvam.ai" TargetMode="External"/><Relationship Id="rId14" Type="http://schemas.openxmlformats.org/officeDocument/2006/relationships/hyperlink" Target="https://ai4bharat.iitm.ac.in" TargetMode="External"/><Relationship Id="rId15" Type="http://schemas.openxmlformats.org/officeDocument/2006/relationships/hyperlink" Target="https://pipecat.ai" TargetMode="External"/><Relationship Id="rId16" Type="http://schemas.openxmlformats.org/officeDocument/2006/relationships/hyperlink" Target="https://bhashini.gov.in" TargetMode="External"/><Relationship Id="rId18" Type="http://schemas.openxmlformats.org/officeDocument/2006/relationships/hyperlink" Target="https://www.nqr.gov.in" TargetMode="External"/><Relationship Id="rId19" Type="http://schemas.openxmlformats.org/officeDocument/2006/relationships/hyperlink" Target="https://www.meity.gov.in" TargetMode="External"/><Relationship Id="rId20" Type="http://schemas.openxmlformats.org/officeDocument/2006/relationships/hyperlink" Target="https://www.trai.gov.in" TargetMode="External"/><Relationship Id="rId21" Type="http://schemas.openxmlformats.org/officeDocument/2006/relationships/hyperlink" Target="https://pib.gov.in" TargetMode="External"/><Relationship Id="rId23" Type="http://schemas.openxmlformats.org/officeDocument/2006/relationships/hyperlink" Target="https://github.com/" TargetMode="External"/><Relationship Id="rId24" Type="http://schemas.openxmlformats.org/officeDocument/2006/relationships/hyperlink" Target="https://example.com/" TargetMode="External"/><Relationship Id="rId25" Type="http://schemas.openxmlformats.org/officeDocument/2006/relationships/hyperlink" Target="https://youtube.com/" TargetMode="External"/><Relationship Id="rId26" Type="http://schemas.openxmlformats.org/officeDocument/2006/relationships/hyperlink" Target="https://example.com/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7" Type="http://schemas.openxmlformats.org/officeDocument/2006/relationships/image" Target="../media/image-6-3.png"/><Relationship Id="rId12" Type="http://schemas.openxmlformats.org/officeDocument/2006/relationships/image" Target="../media/image-6-4.png"/><Relationship Id="rId17" Type="http://schemas.openxmlformats.org/officeDocument/2006/relationships/image" Target="../media/image-6-5.png"/><Relationship Id="rId22" Type="http://schemas.openxmlformats.org/officeDocument/2006/relationships/image" Target="../media/image-6-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868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37360"/>
            <a:ext cx="4023360" cy="190195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146304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SIH26097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voice assistant for livelihood mapping and NSQF-aligned skilling recommendations for SC communities under the GIA component of PM-AJAY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Agriculture, FoodTech &amp; Rural Development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12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  (fill from the SIH portal)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Cognify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097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4864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 ·  one free phone call that turns a person's skills into the right work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896112"/>
            <a:ext cx="4937760" cy="786384"/>
          </a:xfrm>
          <a:prstGeom prst="roundRect">
            <a:avLst>
              <a:gd name="adj" fmla="val 9302"/>
            </a:avLst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84048" y="950976"/>
            <a:ext cx="4736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needs fixing  </a:t>
            </a: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SIH26097 · Ministry of Social Justice &amp; Empowerment</a:t>
            </a:r>
            <a:r>
              <a:rPr lang="en-US" sz="8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8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pays for </a:t>
            </a:r>
            <a:r>
              <a:rPr lang="en-US" sz="83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training</a:t>
            </a:r>
            <a:r>
              <a:rPr lang="en-US" sz="8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83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small-business support</a:t>
            </a:r>
            <a:r>
              <a:rPr lang="en-US" sz="8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₹50,000) for poor Scheduled Caste families. But the course for each person is chosen through paper forms and field officers — so people who cannot read, do not know the modern trades, or speak only a dialect land in the wrong course, drop out, and get no job.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5321808" y="896112"/>
            <a:ext cx="1143000" cy="786384"/>
          </a:xfrm>
          <a:prstGeom prst="roundRect">
            <a:avLst>
              <a:gd name="adj" fmla="val 9302"/>
            </a:avLst>
          </a:prstGeom>
          <a:solidFill>
            <a:srgbClr val="FFF1E3"/>
          </a:solidFill>
          <a:ln w="9525">
            <a:solidFill>
              <a:srgbClr val="FFF1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94960" y="9326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394960" y="122529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trained people got a job — CAG audit of PMKVY, 2025</a:t>
            </a:r>
            <a:endParaRPr lang="en-US" sz="680" dirty="0"/>
          </a:p>
        </p:txBody>
      </p:sp>
      <p:sp>
        <p:nvSpPr>
          <p:cNvPr id="13" name="Shape 10"/>
          <p:cNvSpPr/>
          <p:nvPr/>
        </p:nvSpPr>
        <p:spPr>
          <a:xfrm>
            <a:off x="6519672" y="896112"/>
            <a:ext cx="1143000" cy="786384"/>
          </a:xfrm>
          <a:prstGeom prst="roundRect">
            <a:avLst>
              <a:gd name="adj" fmla="val 9302"/>
            </a:avLst>
          </a:prstGeom>
          <a:solidFill>
            <a:srgbClr val="FFF1E3"/>
          </a:solidFill>
          <a:ln w="9525">
            <a:solidFill>
              <a:srgbClr val="FFF1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92824" y="9326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592824" y="122529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SC adults cannot read — Census 2011</a:t>
            </a:r>
            <a:endParaRPr lang="en-US" sz="680" dirty="0"/>
          </a:p>
        </p:txBody>
      </p:sp>
      <p:sp>
        <p:nvSpPr>
          <p:cNvPr id="16" name="Shape 13"/>
          <p:cNvSpPr/>
          <p:nvPr/>
        </p:nvSpPr>
        <p:spPr>
          <a:xfrm>
            <a:off x="7717536" y="896112"/>
            <a:ext cx="1143000" cy="786384"/>
          </a:xfrm>
          <a:prstGeom prst="roundRect">
            <a:avLst>
              <a:gd name="adj" fmla="val 9302"/>
            </a:avLst>
          </a:prstGeom>
          <a:solidFill>
            <a:srgbClr val="FFF1E3"/>
          </a:solidFill>
          <a:ln w="9525">
            <a:solidFill>
              <a:srgbClr val="FFF1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90688" y="9326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790688" y="122529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women have no phone of their own — NFHS-6, 2023–24</a:t>
            </a:r>
            <a:endParaRPr lang="en-US" sz="680" dirty="0"/>
          </a:p>
        </p:txBody>
      </p:sp>
      <p:sp>
        <p:nvSpPr>
          <p:cNvPr id="19" name="Text 16"/>
          <p:cNvSpPr txBox="1"/>
          <p:nvPr/>
        </p:nvSpPr>
        <p:spPr>
          <a:xfrm>
            <a:off x="274320" y="177393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CALL, SIX STEPS — ABOUT 10 MINUTES, ON ANY PHONE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74320" y="1965960"/>
            <a:ext cx="137160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2048256"/>
            <a:ext cx="274320" cy="27432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1280160" y="2048256"/>
            <a:ext cx="274320" cy="274320"/>
          </a:xfrm>
          <a:prstGeom prst="ellipse">
            <a:avLst/>
          </a:prstGeom>
          <a:solidFill>
            <a:srgbClr val="2F6FBF"/>
          </a:solidFill>
          <a:ln w="12700">
            <a:solidFill>
              <a:srgbClr val="2F6FB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280160" y="2048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356616" y="23682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call → call-back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56616" y="2587752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gives a free missed call. SkillCall calls back within a minute from an official 1600 govt number, in the language they pick on the keypad.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1719072" y="1965960"/>
            <a:ext cx="137160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1368" y="2048256"/>
            <a:ext cx="274320" cy="27432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2724912" y="2048256"/>
            <a:ext cx="274320" cy="274320"/>
          </a:xfrm>
          <a:prstGeom prst="ellipse">
            <a:avLst/>
          </a:prstGeom>
          <a:solidFill>
            <a:srgbClr val="1B8A8A"/>
          </a:solidFill>
          <a:ln w="12700">
            <a:solidFill>
              <a:srgbClr val="1B8A8A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2724912" y="2048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1801368" y="23682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801368" y="2587752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education, travel distance, job-or-own-business — pressed on keys. A speech mistake can never change who is eligible.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3163824" y="1965960"/>
            <a:ext cx="137160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2048256"/>
            <a:ext cx="274320" cy="27432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169664" y="2048256"/>
            <a:ext cx="274320" cy="274320"/>
          </a:xfrm>
          <a:prstGeom prst="ellipse">
            <a:avLst/>
          </a:prstGeom>
          <a:solidFill>
            <a:srgbClr val="6D4FB3"/>
          </a:solidFill>
          <a:ln w="12700">
            <a:solidFill>
              <a:srgbClr val="6D4FB3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169664" y="2048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30"/>
          <p:cNvSpPr txBox="1"/>
          <p:nvPr/>
        </p:nvSpPr>
        <p:spPr>
          <a:xfrm>
            <a:off x="3246120" y="23682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talks, AI listens</a:t>
            </a:r>
            <a:endParaRPr lang="en-US" sz="850" dirty="0"/>
          </a:p>
        </p:txBody>
      </p:sp>
      <p:sp>
        <p:nvSpPr>
          <p:cNvPr id="37" name="Text 31"/>
          <p:cNvSpPr txBox="1"/>
          <p:nvPr/>
        </p:nvSpPr>
        <p:spPr>
          <a:xfrm>
            <a:off x="3246120" y="2587752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"Aap kya kaam karte ho?" The AI maps his answer to an official NCO-2015 occupation, then asks follow-up questions about his skills.</a:t>
            </a:r>
            <a:endParaRPr lang="en-US" sz="700" dirty="0"/>
          </a:p>
        </p:txBody>
      </p:sp>
      <p:sp>
        <p:nvSpPr>
          <p:cNvPr id="38" name="Shape 32"/>
          <p:cNvSpPr/>
          <p:nvPr/>
        </p:nvSpPr>
        <p:spPr>
          <a:xfrm>
            <a:off x="4608576" y="1965960"/>
            <a:ext cx="137160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872" y="2048256"/>
            <a:ext cx="274320" cy="274320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5614416" y="2048256"/>
            <a:ext cx="274320" cy="27432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614416" y="2048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4690872" y="23682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&amp; saved</a:t>
            </a:r>
            <a:endParaRPr lang="en-US" sz="850" dirty="0"/>
          </a:p>
        </p:txBody>
      </p:sp>
      <p:sp>
        <p:nvSpPr>
          <p:cNvPr id="43" name="Text 36"/>
          <p:cNvSpPr txBox="1"/>
          <p:nvPr/>
        </p:nvSpPr>
        <p:spPr>
          <a:xfrm>
            <a:off x="4690872" y="2587752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read back; he presses 1 to confirm or 2 to correct. The profile is stored as one clean table row — not a paper form.</a:t>
            </a:r>
            <a:endParaRPr lang="en-US" sz="700" dirty="0"/>
          </a:p>
        </p:txBody>
      </p:sp>
      <p:sp>
        <p:nvSpPr>
          <p:cNvPr id="44" name="Shape 37"/>
          <p:cNvSpPr/>
          <p:nvPr/>
        </p:nvSpPr>
        <p:spPr>
          <a:xfrm>
            <a:off x="6053328" y="1965960"/>
            <a:ext cx="137160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5624" y="2048256"/>
            <a:ext cx="274320" cy="274320"/>
          </a:xfrm>
          <a:prstGeom prst="rect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7059168" y="2048256"/>
            <a:ext cx="274320" cy="2743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7059168" y="2048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0"/>
          <p:cNvSpPr txBox="1"/>
          <p:nvPr/>
        </p:nvSpPr>
        <p:spPr>
          <a:xfrm>
            <a:off x="6135624" y="23682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 options that fit him</a:t>
            </a:r>
            <a:endParaRPr lang="en-US" sz="850" dirty="0"/>
          </a:p>
        </p:txBody>
      </p:sp>
      <p:sp>
        <p:nvSpPr>
          <p:cNvPr id="49" name="Text 41"/>
          <p:cNvSpPr txBox="1"/>
          <p:nvPr/>
        </p:nvSpPr>
        <p:spPr>
          <a:xfrm>
            <a:off x="6135624" y="2587752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Courses, schemes or jobs near him — only the ones that truly fit. Every fact is checked against govt data before it is spoken. He can ask any doubt.</a:t>
            </a:r>
            <a:endParaRPr lang="en-US" sz="700" dirty="0"/>
          </a:p>
        </p:txBody>
      </p:sp>
      <p:sp>
        <p:nvSpPr>
          <p:cNvPr id="50" name="Shape 42"/>
          <p:cNvSpPr/>
          <p:nvPr/>
        </p:nvSpPr>
        <p:spPr>
          <a:xfrm>
            <a:off x="7498080" y="1965960"/>
            <a:ext cx="137160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0376" y="2048256"/>
            <a:ext cx="274320" cy="274320"/>
          </a:xfrm>
          <a:prstGeom prst="rect">
            <a:avLst/>
          </a:prstGeom>
        </p:spPr>
      </p:pic>
      <p:sp>
        <p:nvSpPr>
          <p:cNvPr id="52" name="Shape 43"/>
          <p:cNvSpPr/>
          <p:nvPr/>
        </p:nvSpPr>
        <p:spPr>
          <a:xfrm>
            <a:off x="8503920" y="2048256"/>
            <a:ext cx="274320" cy="274320"/>
          </a:xfrm>
          <a:prstGeom prst="ellipse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8503920" y="2048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7580376" y="236829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→ CSC → officer</a:t>
            </a:r>
            <a:endParaRPr lang="en-US" sz="850" dirty="0"/>
          </a:p>
        </p:txBody>
      </p:sp>
      <p:sp>
        <p:nvSpPr>
          <p:cNvPr id="55" name="Text 46"/>
          <p:cNvSpPr txBox="1"/>
          <p:nvPr/>
        </p:nvSpPr>
        <p:spPr>
          <a:xfrm>
            <a:off x="7580376" y="2587752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presses 1–4. SMS with Case ID + nearest CSC; documents and e-KYC there; the officer approves in the AJAY app. Follow-up calls at 1, 3, 6 months.</a:t>
            </a:r>
            <a:endParaRPr lang="en-US" sz="700" dirty="0"/>
          </a:p>
        </p:txBody>
      </p:sp>
      <p:sp>
        <p:nvSpPr>
          <p:cNvPr id="56" name="Text 47"/>
          <p:cNvSpPr txBox="1"/>
          <p:nvPr/>
        </p:nvSpPr>
        <p:spPr>
          <a:xfrm>
            <a:off x="274320" y="330098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ONLY SKILLCALL DOES — BEYOND THE SIX STEPS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274320" y="3483864"/>
            <a:ext cx="1645920" cy="1152144"/>
          </a:xfrm>
          <a:prstGeom prst="roundRect">
            <a:avLst>
              <a:gd name="adj" fmla="val 6349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5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" y="3566160"/>
            <a:ext cx="237744" cy="237744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658368" y="3547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questions</a:t>
            </a:r>
            <a:endParaRPr lang="en-US" sz="850" dirty="0"/>
          </a:p>
        </p:txBody>
      </p:sp>
      <p:sp>
        <p:nvSpPr>
          <p:cNvPr id="60" name="Text 50"/>
          <p:cNvSpPr txBox="1"/>
          <p:nvPr/>
        </p:nvSpPr>
        <p:spPr>
          <a:xfrm>
            <a:off x="356616" y="3877056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next question depends on the last answer. A bike mechanic is asked about engine repair, tyre change and oil service — not a generic form.</a:t>
            </a:r>
            <a:endParaRPr lang="en-US" sz="700" dirty="0"/>
          </a:p>
        </p:txBody>
      </p:sp>
      <p:sp>
        <p:nvSpPr>
          <p:cNvPr id="61" name="Shape 51"/>
          <p:cNvSpPr/>
          <p:nvPr/>
        </p:nvSpPr>
        <p:spPr>
          <a:xfrm>
            <a:off x="2011680" y="3483864"/>
            <a:ext cx="1645920" cy="1152144"/>
          </a:xfrm>
          <a:prstGeom prst="roundRect">
            <a:avLst>
              <a:gd name="adj" fmla="val 6349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3976" y="3566160"/>
            <a:ext cx="237744" cy="237744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2395728" y="3547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government data</a:t>
            </a:r>
            <a:endParaRPr lang="en-US" sz="850" dirty="0"/>
          </a:p>
        </p:txBody>
      </p:sp>
      <p:sp>
        <p:nvSpPr>
          <p:cNvPr id="64" name="Text 53"/>
          <p:cNvSpPr txBox="1"/>
          <p:nvPr/>
        </p:nvSpPr>
        <p:spPr>
          <a:xfrm>
            <a:off x="2093976" y="3877056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answers only from data we load: scheme rules, NQR courses, NCO jobs, training centres. No internet search, nothing invented.</a:t>
            </a:r>
            <a:endParaRPr lang="en-US" sz="700" dirty="0"/>
          </a:p>
        </p:txBody>
      </p:sp>
      <p:sp>
        <p:nvSpPr>
          <p:cNvPr id="65" name="Shape 54"/>
          <p:cNvSpPr/>
          <p:nvPr/>
        </p:nvSpPr>
        <p:spPr>
          <a:xfrm>
            <a:off x="3749040" y="3483864"/>
            <a:ext cx="1645920" cy="1152144"/>
          </a:xfrm>
          <a:prstGeom prst="roundRect">
            <a:avLst>
              <a:gd name="adj" fmla="val 6349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6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31336" y="3566160"/>
            <a:ext cx="237744" cy="237744"/>
          </a:xfrm>
          <a:prstGeom prst="rect">
            <a:avLst/>
          </a:prstGeom>
        </p:spPr>
      </p:pic>
      <p:sp>
        <p:nvSpPr>
          <p:cNvPr id="67" name="Text 55"/>
          <p:cNvSpPr txBox="1"/>
          <p:nvPr/>
        </p:nvSpPr>
        <p:spPr>
          <a:xfrm>
            <a:off x="4133088" y="3547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AI — SATYA</a:t>
            </a:r>
            <a:endParaRPr lang="en-US" sz="850" dirty="0"/>
          </a:p>
        </p:txBody>
      </p:sp>
      <p:sp>
        <p:nvSpPr>
          <p:cNvPr id="68" name="Text 56"/>
          <p:cNvSpPr txBox="1"/>
          <p:nvPr/>
        </p:nvSpPr>
        <p:spPr>
          <a:xfrm>
            <a:off x="3831336" y="3877056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fact is spoken, a second checker matches it to a database row. No match → that sentence is dropped, never said.</a:t>
            </a:r>
            <a:endParaRPr lang="en-US" sz="700" dirty="0"/>
          </a:p>
        </p:txBody>
      </p:sp>
      <p:sp>
        <p:nvSpPr>
          <p:cNvPr id="69" name="Shape 57"/>
          <p:cNvSpPr/>
          <p:nvPr/>
        </p:nvSpPr>
        <p:spPr>
          <a:xfrm>
            <a:off x="5486400" y="3483864"/>
            <a:ext cx="1645920" cy="1152144"/>
          </a:xfrm>
          <a:prstGeom prst="roundRect">
            <a:avLst>
              <a:gd name="adj" fmla="val 6349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7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696" y="3566160"/>
            <a:ext cx="237744" cy="237744"/>
          </a:xfrm>
          <a:prstGeom prst="rect">
            <a:avLst/>
          </a:prstGeom>
        </p:spPr>
      </p:pic>
      <p:sp>
        <p:nvSpPr>
          <p:cNvPr id="71" name="Text 58"/>
          <p:cNvSpPr txBox="1"/>
          <p:nvPr/>
        </p:nvSpPr>
        <p:spPr>
          <a:xfrm>
            <a:off x="5870448" y="3547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AI first</a:t>
            </a:r>
            <a:endParaRPr lang="en-US" sz="850" dirty="0"/>
          </a:p>
        </p:txBody>
      </p:sp>
      <p:sp>
        <p:nvSpPr>
          <p:cNvPr id="72" name="Text 59"/>
          <p:cNvSpPr txBox="1"/>
          <p:nvPr/>
        </p:nvSpPr>
        <p:spPr>
          <a:xfrm>
            <a:off x="5568696" y="3877056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or small models by default. A bigger model only if the small one is unsure or the caller is unhappy; a human calls back if still unresolved.</a:t>
            </a:r>
            <a:endParaRPr lang="en-US" sz="700" dirty="0"/>
          </a:p>
        </p:txBody>
      </p:sp>
      <p:sp>
        <p:nvSpPr>
          <p:cNvPr id="73" name="Shape 60"/>
          <p:cNvSpPr/>
          <p:nvPr/>
        </p:nvSpPr>
        <p:spPr>
          <a:xfrm>
            <a:off x="7223760" y="3483864"/>
            <a:ext cx="1645920" cy="1152144"/>
          </a:xfrm>
          <a:prstGeom prst="roundRect">
            <a:avLst>
              <a:gd name="adj" fmla="val 6349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7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06056" y="3566160"/>
            <a:ext cx="237744" cy="237744"/>
          </a:xfrm>
          <a:prstGeom prst="rect">
            <a:avLst/>
          </a:prstGeom>
        </p:spPr>
      </p:pic>
      <p:sp>
        <p:nvSpPr>
          <p:cNvPr id="75" name="Text 61"/>
          <p:cNvSpPr txBox="1"/>
          <p:nvPr/>
        </p:nvSpPr>
        <p:spPr>
          <a:xfrm>
            <a:off x="7607808" y="3547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too</a:t>
            </a:r>
            <a:endParaRPr lang="en-US" sz="850" dirty="0"/>
          </a:p>
        </p:txBody>
      </p:sp>
      <p:sp>
        <p:nvSpPr>
          <p:cNvPr id="76" name="Text 62"/>
          <p:cNvSpPr txBox="1"/>
          <p:nvPr/>
        </p:nvSpPr>
        <p:spPr>
          <a:xfrm>
            <a:off x="7306056" y="3877056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mobile number + OTP. The person, the CSC or the officer can view and edit the same profile anytime — or do the whole process on the web.</a:t>
            </a:r>
            <a:endParaRPr lang="en-US" sz="700" dirty="0"/>
          </a:p>
        </p:txBody>
      </p:sp>
      <p:sp>
        <p:nvSpPr>
          <p:cNvPr id="77" name="Text 63"/>
          <p:cNvSpPr txBox="1"/>
          <p:nvPr/>
        </p:nvSpPr>
        <p:spPr>
          <a:xfrm>
            <a:off x="274320" y="469087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answers the 5 GIA issues named in the brief  →  planning · beneficiary selection · placement after training · coordination · too few ground staff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097280"/>
            <a:ext cx="2834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&amp; channels</a:t>
            </a:r>
            <a:endParaRPr lang="en-US" sz="730" dirty="0"/>
          </a:p>
        </p:txBody>
      </p:sp>
      <p:sp>
        <p:nvSpPr>
          <p:cNvPr id="9" name="Shape 6"/>
          <p:cNvSpPr/>
          <p:nvPr/>
        </p:nvSpPr>
        <p:spPr>
          <a:xfrm>
            <a:off x="274320" y="1243584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71016"/>
            <a:ext cx="137160" cy="1371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1243584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Business API</a:t>
            </a:r>
            <a:endParaRPr lang="en-US" sz="720" dirty="0"/>
          </a:p>
        </p:txBody>
      </p:sp>
      <p:sp>
        <p:nvSpPr>
          <p:cNvPr id="12" name="Shape 8"/>
          <p:cNvSpPr/>
          <p:nvPr/>
        </p:nvSpPr>
        <p:spPr>
          <a:xfrm>
            <a:off x="1700784" y="1243584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1271016"/>
            <a:ext cx="137160" cy="1371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929384" y="1243584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 / Plivo · calls + SMS</a:t>
            </a:r>
            <a:endParaRPr lang="en-US" sz="720" dirty="0"/>
          </a:p>
        </p:txBody>
      </p:sp>
      <p:sp>
        <p:nvSpPr>
          <p:cNvPr id="15" name="Text 10"/>
          <p:cNvSpPr txBox="1"/>
          <p:nvPr/>
        </p:nvSpPr>
        <p:spPr>
          <a:xfrm>
            <a:off x="274320" y="1517904"/>
            <a:ext cx="2834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engine &amp; AI models</a:t>
            </a:r>
            <a:endParaRPr lang="en-US" sz="730" dirty="0"/>
          </a:p>
        </p:txBody>
      </p:sp>
      <p:sp>
        <p:nvSpPr>
          <p:cNvPr id="16" name="Shape 11"/>
          <p:cNvSpPr/>
          <p:nvPr/>
        </p:nvSpPr>
        <p:spPr>
          <a:xfrm>
            <a:off x="274320" y="1664208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91640"/>
            <a:ext cx="137160" cy="1371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2920" y="1664208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voice server</a:t>
            </a:r>
            <a:endParaRPr lang="en-US" sz="720" dirty="0"/>
          </a:p>
        </p:txBody>
      </p:sp>
      <p:sp>
        <p:nvSpPr>
          <p:cNvPr id="19" name="Shape 13"/>
          <p:cNvSpPr/>
          <p:nvPr/>
        </p:nvSpPr>
        <p:spPr>
          <a:xfrm>
            <a:off x="1700784" y="1664208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1691640"/>
            <a:ext cx="137160" cy="1371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929384" y="1664208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Saaras v3 · speech → text</a:t>
            </a:r>
            <a:endParaRPr lang="en-US" sz="720" dirty="0"/>
          </a:p>
        </p:txBody>
      </p:sp>
      <p:sp>
        <p:nvSpPr>
          <p:cNvPr id="22" name="Shape 15"/>
          <p:cNvSpPr/>
          <p:nvPr/>
        </p:nvSpPr>
        <p:spPr>
          <a:xfrm>
            <a:off x="274320" y="1883664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1911096"/>
            <a:ext cx="137160" cy="1371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02920" y="1883664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· text → speech</a:t>
            </a:r>
            <a:endParaRPr lang="en-US" sz="720" dirty="0"/>
          </a:p>
        </p:txBody>
      </p:sp>
      <p:sp>
        <p:nvSpPr>
          <p:cNvPr id="25" name="Shape 17"/>
          <p:cNvSpPr/>
          <p:nvPr/>
        </p:nvSpPr>
        <p:spPr>
          <a:xfrm>
            <a:off x="1700784" y="1883664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1911096"/>
            <a:ext cx="137160" cy="1371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929384" y="1883664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 / 105B · LLM</a:t>
            </a:r>
            <a:endParaRPr lang="en-US" sz="720" dirty="0"/>
          </a:p>
        </p:txBody>
      </p:sp>
      <p:sp>
        <p:nvSpPr>
          <p:cNvPr id="28" name="Shape 19"/>
          <p:cNvSpPr/>
          <p:nvPr/>
        </p:nvSpPr>
        <p:spPr>
          <a:xfrm>
            <a:off x="274320" y="2103120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130552"/>
            <a:ext cx="137160" cy="1371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2920" y="2103120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(free STT)</a:t>
            </a:r>
            <a:endParaRPr lang="en-US" sz="720" dirty="0"/>
          </a:p>
        </p:txBody>
      </p:sp>
      <p:sp>
        <p:nvSpPr>
          <p:cNvPr id="31" name="Shape 21"/>
          <p:cNvSpPr/>
          <p:nvPr/>
        </p:nvSpPr>
        <p:spPr>
          <a:xfrm>
            <a:off x="1700784" y="2103120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2130552"/>
            <a:ext cx="137160" cy="13716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929384" y="2103120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· MeitY</a:t>
            </a:r>
            <a:endParaRPr lang="en-US" sz="720" dirty="0"/>
          </a:p>
        </p:txBody>
      </p:sp>
      <p:sp>
        <p:nvSpPr>
          <p:cNvPr id="34" name="Shape 23"/>
          <p:cNvSpPr/>
          <p:nvPr/>
        </p:nvSpPr>
        <p:spPr>
          <a:xfrm>
            <a:off x="274320" y="2322576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2350008"/>
            <a:ext cx="137160" cy="13716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02920" y="2322576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validator (ours)</a:t>
            </a:r>
            <a:endParaRPr lang="en-US" sz="720" dirty="0"/>
          </a:p>
        </p:txBody>
      </p:sp>
      <p:sp>
        <p:nvSpPr>
          <p:cNvPr id="37" name="Shape 25"/>
          <p:cNvSpPr/>
          <p:nvPr/>
        </p:nvSpPr>
        <p:spPr>
          <a:xfrm>
            <a:off x="1700784" y="2322576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1773936" y="2322576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Silero VAD · voice detection</a:t>
            </a:r>
            <a:endParaRPr lang="en-US" sz="720" dirty="0"/>
          </a:p>
        </p:txBody>
      </p:sp>
      <p:sp>
        <p:nvSpPr>
          <p:cNvPr id="39" name="Text 27"/>
          <p:cNvSpPr txBox="1"/>
          <p:nvPr/>
        </p:nvSpPr>
        <p:spPr>
          <a:xfrm>
            <a:off x="274320" y="2596896"/>
            <a:ext cx="2834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</a:t>
            </a:r>
            <a:endParaRPr lang="en-US" sz="730" dirty="0"/>
          </a:p>
        </p:txBody>
      </p:sp>
      <p:sp>
        <p:nvSpPr>
          <p:cNvPr id="40" name="Shape 28"/>
          <p:cNvSpPr/>
          <p:nvPr/>
        </p:nvSpPr>
        <p:spPr>
          <a:xfrm>
            <a:off x="274320" y="2743200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2770632"/>
            <a:ext cx="137160" cy="137160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502920" y="2743200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720" dirty="0"/>
          </a:p>
        </p:txBody>
      </p:sp>
      <p:sp>
        <p:nvSpPr>
          <p:cNvPr id="43" name="Shape 30"/>
          <p:cNvSpPr/>
          <p:nvPr/>
        </p:nvSpPr>
        <p:spPr>
          <a:xfrm>
            <a:off x="1700784" y="2743200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4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46504" y="2770632"/>
            <a:ext cx="137160" cy="13716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929384" y="2743200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20" dirty="0"/>
          </a:p>
        </p:txBody>
      </p:sp>
      <p:sp>
        <p:nvSpPr>
          <p:cNvPr id="46" name="Shape 32"/>
          <p:cNvSpPr/>
          <p:nvPr/>
        </p:nvSpPr>
        <p:spPr>
          <a:xfrm>
            <a:off x="274320" y="2962656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4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" y="2990088"/>
            <a:ext cx="137160" cy="137160"/>
          </a:xfrm>
          <a:prstGeom prst="rect">
            <a:avLst/>
          </a:prstGeom>
        </p:spPr>
      </p:pic>
      <p:sp>
        <p:nvSpPr>
          <p:cNvPr id="48" name="Text 33"/>
          <p:cNvSpPr txBox="1"/>
          <p:nvPr/>
        </p:nvSpPr>
        <p:spPr>
          <a:xfrm>
            <a:off x="502920" y="2962656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720" dirty="0"/>
          </a:p>
        </p:txBody>
      </p:sp>
      <p:sp>
        <p:nvSpPr>
          <p:cNvPr id="49" name="Shape 34"/>
          <p:cNvSpPr/>
          <p:nvPr/>
        </p:nvSpPr>
        <p:spPr>
          <a:xfrm>
            <a:off x="1700784" y="2962656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5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46504" y="2990088"/>
            <a:ext cx="137160" cy="137160"/>
          </a:xfrm>
          <a:prstGeom prst="rect">
            <a:avLst/>
          </a:prstGeom>
        </p:spPr>
      </p:pic>
      <p:sp>
        <p:nvSpPr>
          <p:cNvPr id="51" name="Text 35"/>
          <p:cNvSpPr txBox="1"/>
          <p:nvPr/>
        </p:nvSpPr>
        <p:spPr>
          <a:xfrm>
            <a:off x="1929384" y="2962656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720" dirty="0"/>
          </a:p>
        </p:txBody>
      </p:sp>
      <p:sp>
        <p:nvSpPr>
          <p:cNvPr id="52" name="Shape 36"/>
          <p:cNvSpPr/>
          <p:nvPr/>
        </p:nvSpPr>
        <p:spPr>
          <a:xfrm>
            <a:off x="274320" y="3182112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5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0040" y="3209544"/>
            <a:ext cx="137160" cy="137160"/>
          </a:xfrm>
          <a:prstGeom prst="rect">
            <a:avLst/>
          </a:prstGeom>
        </p:spPr>
      </p:pic>
      <p:sp>
        <p:nvSpPr>
          <p:cNvPr id="54" name="Text 37"/>
          <p:cNvSpPr txBox="1"/>
          <p:nvPr/>
        </p:nvSpPr>
        <p:spPr>
          <a:xfrm>
            <a:off x="502920" y="3182112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720" dirty="0"/>
          </a:p>
        </p:txBody>
      </p:sp>
      <p:sp>
        <p:nvSpPr>
          <p:cNvPr id="55" name="Shape 38"/>
          <p:cNvSpPr/>
          <p:nvPr/>
        </p:nvSpPr>
        <p:spPr>
          <a:xfrm>
            <a:off x="1700784" y="3182112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56" name="Text 39"/>
          <p:cNvSpPr txBox="1"/>
          <p:nvPr/>
        </p:nvSpPr>
        <p:spPr>
          <a:xfrm>
            <a:off x="1773936" y="3182112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· semantic search</a:t>
            </a:r>
            <a:endParaRPr lang="en-US" sz="720" dirty="0"/>
          </a:p>
        </p:txBody>
      </p:sp>
      <p:sp>
        <p:nvSpPr>
          <p:cNvPr id="57" name="Shape 40"/>
          <p:cNvSpPr/>
          <p:nvPr/>
        </p:nvSpPr>
        <p:spPr>
          <a:xfrm>
            <a:off x="274320" y="3401568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347472" y="3401568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 · distance to centres</a:t>
            </a:r>
            <a:endParaRPr lang="en-US" sz="720" dirty="0"/>
          </a:p>
        </p:txBody>
      </p:sp>
      <p:sp>
        <p:nvSpPr>
          <p:cNvPr id="59" name="Shape 42"/>
          <p:cNvSpPr/>
          <p:nvPr/>
        </p:nvSpPr>
        <p:spPr>
          <a:xfrm>
            <a:off x="1700784" y="3401568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60" name="Text 43"/>
          <p:cNvSpPr txBox="1"/>
          <p:nvPr/>
        </p:nvSpPr>
        <p:spPr>
          <a:xfrm>
            <a:off x="1773936" y="3401568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audit log</a:t>
            </a:r>
            <a:endParaRPr lang="en-US" sz="720" dirty="0"/>
          </a:p>
        </p:txBody>
      </p:sp>
      <p:sp>
        <p:nvSpPr>
          <p:cNvPr id="61" name="Text 44"/>
          <p:cNvSpPr txBox="1"/>
          <p:nvPr/>
        </p:nvSpPr>
        <p:spPr>
          <a:xfrm>
            <a:off x="274320" y="3675888"/>
            <a:ext cx="2834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Apps, hosting &amp; govt links</a:t>
            </a:r>
            <a:endParaRPr lang="en-US" sz="730" dirty="0"/>
          </a:p>
        </p:txBody>
      </p:sp>
      <p:sp>
        <p:nvSpPr>
          <p:cNvPr id="62" name="Shape 45"/>
          <p:cNvSpPr/>
          <p:nvPr/>
        </p:nvSpPr>
        <p:spPr>
          <a:xfrm>
            <a:off x="274320" y="3822192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0040" y="3849624"/>
            <a:ext cx="137160" cy="137160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502920" y="3822192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portal + dashboard</a:t>
            </a:r>
            <a:endParaRPr lang="en-US" sz="720" dirty="0"/>
          </a:p>
        </p:txBody>
      </p:sp>
      <p:sp>
        <p:nvSpPr>
          <p:cNvPr id="65" name="Shape 47"/>
          <p:cNvSpPr/>
          <p:nvPr/>
        </p:nvSpPr>
        <p:spPr>
          <a:xfrm>
            <a:off x="1700784" y="3822192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6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46504" y="3849624"/>
            <a:ext cx="137160" cy="137160"/>
          </a:xfrm>
          <a:prstGeom prst="rect">
            <a:avLst/>
          </a:prstGeom>
        </p:spPr>
      </p:pic>
      <p:sp>
        <p:nvSpPr>
          <p:cNvPr id="67" name="Text 48"/>
          <p:cNvSpPr txBox="1"/>
          <p:nvPr/>
        </p:nvSpPr>
        <p:spPr>
          <a:xfrm>
            <a:off x="1929384" y="3822192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maps</a:t>
            </a:r>
            <a:endParaRPr lang="en-US" sz="720" dirty="0"/>
          </a:p>
        </p:txBody>
      </p:sp>
      <p:sp>
        <p:nvSpPr>
          <p:cNvPr id="68" name="Shape 49"/>
          <p:cNvSpPr/>
          <p:nvPr/>
        </p:nvSpPr>
        <p:spPr>
          <a:xfrm>
            <a:off x="274320" y="4041648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6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" y="4069080"/>
            <a:ext cx="137160" cy="137160"/>
          </a:xfrm>
          <a:prstGeom prst="rect">
            <a:avLst/>
          </a:prstGeom>
        </p:spPr>
      </p:pic>
      <p:sp>
        <p:nvSpPr>
          <p:cNvPr id="70" name="Text 50"/>
          <p:cNvSpPr txBox="1"/>
          <p:nvPr/>
        </p:nvSpPr>
        <p:spPr>
          <a:xfrm>
            <a:off x="502920" y="4041648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720" dirty="0"/>
          </a:p>
        </p:txBody>
      </p:sp>
      <p:sp>
        <p:nvSpPr>
          <p:cNvPr id="71" name="Shape 51"/>
          <p:cNvSpPr/>
          <p:nvPr/>
        </p:nvSpPr>
        <p:spPr>
          <a:xfrm>
            <a:off x="1700784" y="4041648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72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46504" y="4069080"/>
            <a:ext cx="137160" cy="137160"/>
          </a:xfrm>
          <a:prstGeom prst="rect">
            <a:avLst/>
          </a:prstGeom>
        </p:spPr>
      </p:pic>
      <p:sp>
        <p:nvSpPr>
          <p:cNvPr id="73" name="Text 52"/>
          <p:cNvSpPr txBox="1"/>
          <p:nvPr/>
        </p:nvSpPr>
        <p:spPr>
          <a:xfrm>
            <a:off x="1929384" y="4041648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MeghRaj govt cloud*</a:t>
            </a:r>
            <a:endParaRPr lang="en-US" sz="720" dirty="0"/>
          </a:p>
        </p:txBody>
      </p:sp>
      <p:sp>
        <p:nvSpPr>
          <p:cNvPr id="74" name="Shape 53"/>
          <p:cNvSpPr/>
          <p:nvPr/>
        </p:nvSpPr>
        <p:spPr>
          <a:xfrm>
            <a:off x="274320" y="4261104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75" name="Text 54"/>
          <p:cNvSpPr txBox="1"/>
          <p:nvPr/>
        </p:nvSpPr>
        <p:spPr>
          <a:xfrm>
            <a:off x="347472" y="4261104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· occupation codes</a:t>
            </a:r>
            <a:endParaRPr lang="en-US" sz="720" dirty="0"/>
          </a:p>
        </p:txBody>
      </p:sp>
      <p:sp>
        <p:nvSpPr>
          <p:cNvPr id="76" name="Shape 55"/>
          <p:cNvSpPr/>
          <p:nvPr/>
        </p:nvSpPr>
        <p:spPr>
          <a:xfrm>
            <a:off x="1700784" y="4261104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77" name="Text 56"/>
          <p:cNvSpPr txBox="1"/>
          <p:nvPr/>
        </p:nvSpPr>
        <p:spPr>
          <a:xfrm>
            <a:off x="1773936" y="4261104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NQR / NCVET · courses</a:t>
            </a:r>
            <a:endParaRPr lang="en-US" sz="720" dirty="0"/>
          </a:p>
        </p:txBody>
      </p:sp>
      <p:sp>
        <p:nvSpPr>
          <p:cNvPr id="78" name="Shape 57"/>
          <p:cNvSpPr/>
          <p:nvPr/>
        </p:nvSpPr>
        <p:spPr>
          <a:xfrm>
            <a:off x="274320" y="4480560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79" name="Text 58"/>
          <p:cNvSpPr txBox="1"/>
          <p:nvPr/>
        </p:nvSpPr>
        <p:spPr>
          <a:xfrm>
            <a:off x="347472" y="4480560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DigiLocker* · documents</a:t>
            </a:r>
            <a:endParaRPr lang="en-US" sz="720" dirty="0"/>
          </a:p>
        </p:txBody>
      </p:sp>
      <p:sp>
        <p:nvSpPr>
          <p:cNvPr id="80" name="Shape 59"/>
          <p:cNvSpPr/>
          <p:nvPr/>
        </p:nvSpPr>
        <p:spPr>
          <a:xfrm>
            <a:off x="1700784" y="4480560"/>
            <a:ext cx="1371600" cy="192024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81" name="Text 60"/>
          <p:cNvSpPr txBox="1"/>
          <p:nvPr/>
        </p:nvSpPr>
        <p:spPr>
          <a:xfrm>
            <a:off x="1773936" y="4480560"/>
            <a:ext cx="1261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 · officer workflow</a:t>
            </a:r>
            <a:endParaRPr lang="en-US" sz="720" dirty="0"/>
          </a:p>
        </p:txBody>
      </p:sp>
      <p:sp>
        <p:nvSpPr>
          <p:cNvPr id="82" name="Text 61"/>
          <p:cNvSpPr txBox="1"/>
          <p:nvPr/>
        </p:nvSpPr>
        <p:spPr>
          <a:xfrm>
            <a:off x="274320" y="4773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needs a government MoU.   </a:t>
            </a:r>
            <a:r>
              <a:rPr lang="en-US" sz="650" i="1" u="sng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architecture, API docs and code → GitHub repo (add link)</a:t>
            </a:r>
            <a:endParaRPr lang="en-US" sz="650" dirty="0"/>
          </a:p>
        </p:txBody>
      </p:sp>
      <p:sp>
        <p:nvSpPr>
          <p:cNvPr id="83" name="Text 62"/>
          <p:cNvSpPr txBox="1"/>
          <p:nvPr/>
        </p:nvSpPr>
        <p:spPr>
          <a:xfrm>
            <a:off x="3200400" y="896112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ARCHITECTURE</a:t>
            </a:r>
            <a:endParaRPr lang="en-US" sz="850" dirty="0"/>
          </a:p>
        </p:txBody>
      </p:sp>
      <p:sp>
        <p:nvSpPr>
          <p:cNvPr id="84" name="Shape 63"/>
          <p:cNvSpPr/>
          <p:nvPr/>
        </p:nvSpPr>
        <p:spPr>
          <a:xfrm>
            <a:off x="3200400" y="1078992"/>
            <a:ext cx="5669280" cy="1975104"/>
          </a:xfrm>
          <a:prstGeom prst="roundRect">
            <a:avLst>
              <a:gd name="adj" fmla="val 3704"/>
            </a:avLst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sp>
        <p:nvSpPr>
          <p:cNvPr id="85" name="Text 64"/>
          <p:cNvSpPr txBox="1"/>
          <p:nvPr/>
        </p:nvSpPr>
        <p:spPr>
          <a:xfrm>
            <a:off x="3291840" y="1106424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LIVE CALL  —  ~1.5 s per turn</a:t>
            </a:r>
            <a:endParaRPr lang="en-US" sz="750" dirty="0"/>
          </a:p>
        </p:txBody>
      </p:sp>
      <p:sp>
        <p:nvSpPr>
          <p:cNvPr id="86" name="Text 65"/>
          <p:cNvSpPr txBox="1"/>
          <p:nvPr/>
        </p:nvSpPr>
        <p:spPr>
          <a:xfrm>
            <a:off x="6126480" y="1106424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data flow;  dashed = only when needed</a:t>
            </a:r>
            <a:endParaRPr lang="en-US" sz="650" dirty="0"/>
          </a:p>
        </p:txBody>
      </p:sp>
      <p:sp>
        <p:nvSpPr>
          <p:cNvPr id="87" name="Shape 66"/>
          <p:cNvSpPr/>
          <p:nvPr/>
        </p:nvSpPr>
        <p:spPr>
          <a:xfrm>
            <a:off x="3291840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pic>
        <p:nvPicPr>
          <p:cNvPr id="88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337560" y="1325880"/>
            <a:ext cx="182880" cy="182880"/>
          </a:xfrm>
          <a:prstGeom prst="rect">
            <a:avLst/>
          </a:prstGeom>
        </p:spPr>
      </p:pic>
      <p:sp>
        <p:nvSpPr>
          <p:cNvPr id="89" name="Text 67"/>
          <p:cNvSpPr txBox="1"/>
          <p:nvPr/>
        </p:nvSpPr>
        <p:spPr>
          <a:xfrm>
            <a:off x="3557016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680" dirty="0"/>
          </a:p>
        </p:txBody>
      </p:sp>
      <p:sp>
        <p:nvSpPr>
          <p:cNvPr id="90" name="Text 68"/>
          <p:cNvSpPr txBox="1"/>
          <p:nvPr/>
        </p:nvSpPr>
        <p:spPr>
          <a:xfrm>
            <a:off x="3337560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phone; no internet, no app</a:t>
            </a:r>
            <a:endParaRPr lang="en-US" sz="600" dirty="0"/>
          </a:p>
        </p:txBody>
      </p:sp>
      <p:sp>
        <p:nvSpPr>
          <p:cNvPr id="91" name="Shape 69"/>
          <p:cNvSpPr/>
          <p:nvPr/>
        </p:nvSpPr>
        <p:spPr>
          <a:xfrm>
            <a:off x="4233672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F6FBF"/>
            </a:solidFill>
            <a:prstDash val="solid"/>
          </a:ln>
        </p:spPr>
      </p:sp>
      <p:pic>
        <p:nvPicPr>
          <p:cNvPr id="9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79392" y="1325880"/>
            <a:ext cx="182880" cy="182880"/>
          </a:xfrm>
          <a:prstGeom prst="rect">
            <a:avLst/>
          </a:prstGeom>
        </p:spPr>
      </p:pic>
      <p:sp>
        <p:nvSpPr>
          <p:cNvPr id="93" name="Text 70"/>
          <p:cNvSpPr txBox="1"/>
          <p:nvPr/>
        </p:nvSpPr>
        <p:spPr>
          <a:xfrm>
            <a:off x="4498848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</a:t>
            </a:r>
            <a:endParaRPr lang="en-US" sz="680" dirty="0"/>
          </a:p>
        </p:txBody>
      </p:sp>
      <p:sp>
        <p:nvSpPr>
          <p:cNvPr id="94" name="Text 71"/>
          <p:cNvSpPr txBox="1"/>
          <p:nvPr/>
        </p:nvSpPr>
        <p:spPr>
          <a:xfrm>
            <a:off x="4279392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telephony: call-back, DTMF keys, SMS</a:t>
            </a:r>
            <a:endParaRPr lang="en-US" sz="600" dirty="0"/>
          </a:p>
        </p:txBody>
      </p:sp>
      <p:sp>
        <p:nvSpPr>
          <p:cNvPr id="95" name="Shape 72"/>
          <p:cNvSpPr/>
          <p:nvPr/>
        </p:nvSpPr>
        <p:spPr>
          <a:xfrm>
            <a:off x="5175504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D4FB3"/>
            </a:solidFill>
            <a:prstDash val="solid"/>
          </a:ln>
        </p:spPr>
      </p:sp>
      <p:pic>
        <p:nvPicPr>
          <p:cNvPr id="96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221224" y="1325880"/>
            <a:ext cx="182880" cy="182880"/>
          </a:xfrm>
          <a:prstGeom prst="rect">
            <a:avLst/>
          </a:prstGeom>
        </p:spPr>
      </p:pic>
      <p:sp>
        <p:nvSpPr>
          <p:cNvPr id="97" name="Text 73"/>
          <p:cNvSpPr txBox="1"/>
          <p:nvPr/>
        </p:nvSpPr>
        <p:spPr>
          <a:xfrm>
            <a:off x="5440680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680" dirty="0"/>
          </a:p>
        </p:txBody>
      </p:sp>
      <p:sp>
        <p:nvSpPr>
          <p:cNvPr id="98" name="Text 74"/>
          <p:cNvSpPr txBox="1"/>
          <p:nvPr/>
        </p:nvSpPr>
        <p:spPr>
          <a:xfrm>
            <a:off x="5221224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server: turn-taking, barge-in, VAD</a:t>
            </a:r>
            <a:endParaRPr lang="en-US" sz="600" dirty="0"/>
          </a:p>
        </p:txBody>
      </p:sp>
      <p:sp>
        <p:nvSpPr>
          <p:cNvPr id="99" name="Shape 75"/>
          <p:cNvSpPr/>
          <p:nvPr/>
        </p:nvSpPr>
        <p:spPr>
          <a:xfrm>
            <a:off x="6117336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8A8A"/>
            </a:solidFill>
            <a:prstDash val="solid"/>
          </a:ln>
        </p:spPr>
      </p:sp>
      <p:pic>
        <p:nvPicPr>
          <p:cNvPr id="100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163056" y="1325880"/>
            <a:ext cx="182880" cy="182880"/>
          </a:xfrm>
          <a:prstGeom prst="rect">
            <a:avLst/>
          </a:prstGeom>
        </p:spPr>
      </p:pic>
      <p:sp>
        <p:nvSpPr>
          <p:cNvPr id="101" name="Text 76"/>
          <p:cNvSpPr txBox="1"/>
          <p:nvPr/>
        </p:nvSpPr>
        <p:spPr>
          <a:xfrm>
            <a:off x="6382512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</a:t>
            </a:r>
            <a:endParaRPr lang="en-US" sz="680" dirty="0"/>
          </a:p>
        </p:txBody>
      </p:sp>
      <p:sp>
        <p:nvSpPr>
          <p:cNvPr id="102" name="Text 77"/>
          <p:cNvSpPr txBox="1"/>
          <p:nvPr/>
        </p:nvSpPr>
        <p:spPr>
          <a:xfrm>
            <a:off x="6163056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(free) or Saaras v3 → text</a:t>
            </a:r>
            <a:endParaRPr lang="en-US" sz="600" dirty="0"/>
          </a:p>
        </p:txBody>
      </p:sp>
      <p:sp>
        <p:nvSpPr>
          <p:cNvPr id="103" name="Shape 78"/>
          <p:cNvSpPr/>
          <p:nvPr/>
        </p:nvSpPr>
        <p:spPr>
          <a:xfrm>
            <a:off x="7059168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8A8A"/>
            </a:solidFill>
            <a:prstDash val="solid"/>
          </a:ln>
        </p:spPr>
      </p:sp>
      <p:pic>
        <p:nvPicPr>
          <p:cNvPr id="104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104888" y="1325880"/>
            <a:ext cx="182880" cy="182880"/>
          </a:xfrm>
          <a:prstGeom prst="rect">
            <a:avLst/>
          </a:prstGeom>
        </p:spPr>
      </p:pic>
      <p:sp>
        <p:nvSpPr>
          <p:cNvPr id="105" name="Text 79"/>
          <p:cNvSpPr txBox="1"/>
          <p:nvPr/>
        </p:nvSpPr>
        <p:spPr>
          <a:xfrm>
            <a:off x="7324344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680" dirty="0"/>
          </a:p>
        </p:txBody>
      </p:sp>
      <p:sp>
        <p:nvSpPr>
          <p:cNvPr id="106" name="Text 80"/>
          <p:cNvSpPr txBox="1"/>
          <p:nvPr/>
        </p:nvSpPr>
        <p:spPr>
          <a:xfrm>
            <a:off x="7104888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Sarvam-30B: fills profile, asks next question</a:t>
            </a:r>
            <a:endParaRPr lang="en-US" sz="600" dirty="0"/>
          </a:p>
        </p:txBody>
      </p:sp>
      <p:sp>
        <p:nvSpPr>
          <p:cNvPr id="107" name="Shape 81"/>
          <p:cNvSpPr/>
          <p:nvPr/>
        </p:nvSpPr>
        <p:spPr>
          <a:xfrm>
            <a:off x="8001000" y="1280160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108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46720" y="1325880"/>
            <a:ext cx="182880" cy="182880"/>
          </a:xfrm>
          <a:prstGeom prst="rect">
            <a:avLst/>
          </a:prstGeom>
        </p:spPr>
      </p:pic>
      <p:sp>
        <p:nvSpPr>
          <p:cNvPr id="109" name="Text 82"/>
          <p:cNvSpPr txBox="1"/>
          <p:nvPr/>
        </p:nvSpPr>
        <p:spPr>
          <a:xfrm>
            <a:off x="8266176" y="1316736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</a:t>
            </a:r>
            <a:endParaRPr lang="en-US" sz="680" dirty="0"/>
          </a:p>
        </p:txBody>
      </p:sp>
      <p:sp>
        <p:nvSpPr>
          <p:cNvPr id="110" name="Text 83"/>
          <p:cNvSpPr txBox="1"/>
          <p:nvPr/>
        </p:nvSpPr>
        <p:spPr>
          <a:xfrm>
            <a:off x="8046720" y="152704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validator: each claim must match a DB row</a:t>
            </a:r>
            <a:endParaRPr lang="en-US" sz="600" dirty="0"/>
          </a:p>
        </p:txBody>
      </p:sp>
      <p:sp>
        <p:nvSpPr>
          <p:cNvPr id="111" name="Shape 84"/>
          <p:cNvSpPr/>
          <p:nvPr/>
        </p:nvSpPr>
        <p:spPr>
          <a:xfrm>
            <a:off x="4078224" y="1554480"/>
            <a:ext cx="137160" cy="0"/>
          </a:xfrm>
          <a:prstGeom prst="line">
            <a:avLst/>
          </a:prstGeom>
          <a:noFill/>
          <a:ln w="15875">
            <a:solidFill>
              <a:srgbClr val="2F6FBF"/>
            </a:solidFill>
            <a:prstDash val="solid"/>
            <a:tailEnd type="triangle"/>
          </a:ln>
        </p:spPr>
      </p:sp>
      <p:sp>
        <p:nvSpPr>
          <p:cNvPr id="112" name="Text 85"/>
          <p:cNvSpPr txBox="1"/>
          <p:nvPr/>
        </p:nvSpPr>
        <p:spPr>
          <a:xfrm>
            <a:off x="3877056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keys</a:t>
            </a:r>
            <a:endParaRPr lang="en-US" sz="580" dirty="0"/>
          </a:p>
        </p:txBody>
      </p:sp>
      <p:sp>
        <p:nvSpPr>
          <p:cNvPr id="113" name="Shape 86"/>
          <p:cNvSpPr/>
          <p:nvPr/>
        </p:nvSpPr>
        <p:spPr>
          <a:xfrm>
            <a:off x="5020056" y="1554480"/>
            <a:ext cx="137160" cy="0"/>
          </a:xfrm>
          <a:prstGeom prst="line">
            <a:avLst/>
          </a:prstGeom>
          <a:noFill/>
          <a:ln w="15875">
            <a:solidFill>
              <a:srgbClr val="2F6FBF"/>
            </a:solidFill>
            <a:prstDash val="solid"/>
            <a:tailEnd type="triangle"/>
          </a:ln>
        </p:spPr>
      </p:sp>
      <p:sp>
        <p:nvSpPr>
          <p:cNvPr id="114" name="Text 87"/>
          <p:cNvSpPr txBox="1"/>
          <p:nvPr/>
        </p:nvSpPr>
        <p:spPr>
          <a:xfrm>
            <a:off x="4818888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kHz audio</a:t>
            </a:r>
            <a:endParaRPr lang="en-US" sz="580" dirty="0"/>
          </a:p>
        </p:txBody>
      </p:sp>
      <p:sp>
        <p:nvSpPr>
          <p:cNvPr id="115" name="Shape 88"/>
          <p:cNvSpPr/>
          <p:nvPr/>
        </p:nvSpPr>
        <p:spPr>
          <a:xfrm>
            <a:off x="5961888" y="1554480"/>
            <a:ext cx="137160" cy="0"/>
          </a:xfrm>
          <a:prstGeom prst="line">
            <a:avLst/>
          </a:prstGeom>
          <a:noFill/>
          <a:ln w="15875">
            <a:solidFill>
              <a:srgbClr val="2F6FBF"/>
            </a:solidFill>
            <a:prstDash val="solid"/>
            <a:tailEnd type="triangle"/>
          </a:ln>
        </p:spPr>
      </p:sp>
      <p:sp>
        <p:nvSpPr>
          <p:cNvPr id="116" name="Text 89"/>
          <p:cNvSpPr txBox="1"/>
          <p:nvPr/>
        </p:nvSpPr>
        <p:spPr>
          <a:xfrm>
            <a:off x="5760720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frames</a:t>
            </a:r>
            <a:endParaRPr lang="en-US" sz="580" dirty="0"/>
          </a:p>
        </p:txBody>
      </p:sp>
      <p:sp>
        <p:nvSpPr>
          <p:cNvPr id="117" name="Shape 90"/>
          <p:cNvSpPr/>
          <p:nvPr/>
        </p:nvSpPr>
        <p:spPr>
          <a:xfrm>
            <a:off x="6903720" y="1554480"/>
            <a:ext cx="137160" cy="0"/>
          </a:xfrm>
          <a:prstGeom prst="line">
            <a:avLst/>
          </a:prstGeom>
          <a:noFill/>
          <a:ln w="15875">
            <a:solidFill>
              <a:srgbClr val="2F6FBF"/>
            </a:solidFill>
            <a:prstDash val="solid"/>
            <a:tailEnd type="triangle"/>
          </a:ln>
        </p:spPr>
      </p:sp>
      <p:sp>
        <p:nvSpPr>
          <p:cNvPr id="118" name="Text 91"/>
          <p:cNvSpPr txBox="1"/>
          <p:nvPr/>
        </p:nvSpPr>
        <p:spPr>
          <a:xfrm>
            <a:off x="6702552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580" dirty="0"/>
          </a:p>
        </p:txBody>
      </p:sp>
      <p:sp>
        <p:nvSpPr>
          <p:cNvPr id="119" name="Shape 92"/>
          <p:cNvSpPr/>
          <p:nvPr/>
        </p:nvSpPr>
        <p:spPr>
          <a:xfrm>
            <a:off x="7845552" y="1554480"/>
            <a:ext cx="137160" cy="0"/>
          </a:xfrm>
          <a:prstGeom prst="line">
            <a:avLst/>
          </a:prstGeom>
          <a:noFill/>
          <a:ln w="1587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20" name="Text 93"/>
          <p:cNvSpPr txBox="1"/>
          <p:nvPr/>
        </p:nvSpPr>
        <p:spPr>
          <a:xfrm>
            <a:off x="7644384" y="1847088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answer</a:t>
            </a:r>
            <a:endParaRPr lang="en-US" sz="580" dirty="0"/>
          </a:p>
        </p:txBody>
      </p:sp>
      <p:sp>
        <p:nvSpPr>
          <p:cNvPr id="121" name="Shape 94"/>
          <p:cNvSpPr/>
          <p:nvPr/>
        </p:nvSpPr>
        <p:spPr>
          <a:xfrm>
            <a:off x="3291840" y="2212848"/>
            <a:ext cx="768096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07A1F"/>
            </a:solidFill>
            <a:prstDash val="solid"/>
          </a:ln>
        </p:spPr>
      </p:sp>
      <p:pic>
        <p:nvPicPr>
          <p:cNvPr id="122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337560" y="2258568"/>
            <a:ext cx="182880" cy="182880"/>
          </a:xfrm>
          <a:prstGeom prst="rect">
            <a:avLst/>
          </a:prstGeom>
        </p:spPr>
      </p:pic>
      <p:sp>
        <p:nvSpPr>
          <p:cNvPr id="123" name="Text 95"/>
          <p:cNvSpPr txBox="1"/>
          <p:nvPr/>
        </p:nvSpPr>
        <p:spPr>
          <a:xfrm>
            <a:off x="3557016" y="2249424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680" dirty="0"/>
          </a:p>
        </p:txBody>
      </p:sp>
      <p:sp>
        <p:nvSpPr>
          <p:cNvPr id="124" name="Text 96"/>
          <p:cNvSpPr txBox="1"/>
          <p:nvPr/>
        </p:nvSpPr>
        <p:spPr>
          <a:xfrm>
            <a:off x="3337560" y="2459736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calls back when the AI fails — the only human hand-over</a:t>
            </a:r>
            <a:endParaRPr lang="en-US" sz="600" dirty="0"/>
          </a:p>
        </p:txBody>
      </p:sp>
      <p:sp>
        <p:nvSpPr>
          <p:cNvPr id="125" name="Shape 97"/>
          <p:cNvSpPr/>
          <p:nvPr/>
        </p:nvSpPr>
        <p:spPr>
          <a:xfrm>
            <a:off x="6117336" y="2212848"/>
            <a:ext cx="768096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07A1F"/>
            </a:solidFill>
            <a:prstDash val="solid"/>
          </a:ln>
        </p:spPr>
      </p:sp>
      <p:pic>
        <p:nvPicPr>
          <p:cNvPr id="126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163056" y="2258568"/>
            <a:ext cx="182880" cy="182880"/>
          </a:xfrm>
          <a:prstGeom prst="rect">
            <a:avLst/>
          </a:prstGeom>
        </p:spPr>
      </p:pic>
      <p:sp>
        <p:nvSpPr>
          <p:cNvPr id="127" name="Text 98"/>
          <p:cNvSpPr txBox="1"/>
          <p:nvPr/>
        </p:nvSpPr>
        <p:spPr>
          <a:xfrm>
            <a:off x="6382512" y="2249424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680" dirty="0"/>
          </a:p>
        </p:txBody>
      </p:sp>
      <p:sp>
        <p:nvSpPr>
          <p:cNvPr id="128" name="Text 99"/>
          <p:cNvSpPr txBox="1"/>
          <p:nvPr/>
        </p:nvSpPr>
        <p:spPr>
          <a:xfrm>
            <a:off x="6163056" y="2459736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/ small model first; bigger one only if unsure or the caller is unhappy</a:t>
            </a:r>
            <a:endParaRPr lang="en-US" sz="600" dirty="0"/>
          </a:p>
        </p:txBody>
      </p:sp>
      <p:sp>
        <p:nvSpPr>
          <p:cNvPr id="129" name="Shape 100"/>
          <p:cNvSpPr/>
          <p:nvPr/>
        </p:nvSpPr>
        <p:spPr>
          <a:xfrm>
            <a:off x="7059168" y="2212848"/>
            <a:ext cx="768096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pic>
        <p:nvPicPr>
          <p:cNvPr id="130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104888" y="2258568"/>
            <a:ext cx="182880" cy="182880"/>
          </a:xfrm>
          <a:prstGeom prst="rect">
            <a:avLst/>
          </a:prstGeom>
        </p:spPr>
      </p:pic>
      <p:sp>
        <p:nvSpPr>
          <p:cNvPr id="131" name="Text 101"/>
          <p:cNvSpPr txBox="1"/>
          <p:nvPr/>
        </p:nvSpPr>
        <p:spPr>
          <a:xfrm>
            <a:off x="7324344" y="2249424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data</a:t>
            </a:r>
            <a:endParaRPr lang="en-US" sz="680" dirty="0"/>
          </a:p>
        </p:txBody>
      </p:sp>
      <p:sp>
        <p:nvSpPr>
          <p:cNvPr id="132" name="Text 102"/>
          <p:cNvSpPr txBox="1"/>
          <p:nvPr/>
        </p:nvSpPr>
        <p:spPr>
          <a:xfrm>
            <a:off x="7104888" y="2459736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pgvector: rules, NQR courses, NCO jobs, centres</a:t>
            </a:r>
            <a:endParaRPr lang="en-US" sz="600" dirty="0"/>
          </a:p>
        </p:txBody>
      </p:sp>
      <p:sp>
        <p:nvSpPr>
          <p:cNvPr id="133" name="Shape 103"/>
          <p:cNvSpPr/>
          <p:nvPr/>
        </p:nvSpPr>
        <p:spPr>
          <a:xfrm>
            <a:off x="8001000" y="2212848"/>
            <a:ext cx="768096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B8A8A"/>
            </a:solidFill>
            <a:prstDash val="solid"/>
          </a:ln>
        </p:spPr>
      </p:sp>
      <p:pic>
        <p:nvPicPr>
          <p:cNvPr id="134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046720" y="2258568"/>
            <a:ext cx="182880" cy="182880"/>
          </a:xfrm>
          <a:prstGeom prst="rect">
            <a:avLst/>
          </a:prstGeom>
        </p:spPr>
      </p:pic>
      <p:sp>
        <p:nvSpPr>
          <p:cNvPr id="135" name="Text 104"/>
          <p:cNvSpPr txBox="1"/>
          <p:nvPr/>
        </p:nvSpPr>
        <p:spPr>
          <a:xfrm>
            <a:off x="8266176" y="2249424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680" dirty="0"/>
          </a:p>
        </p:txBody>
      </p:sp>
      <p:sp>
        <p:nvSpPr>
          <p:cNvPr id="136" name="Text 105"/>
          <p:cNvSpPr txBox="1"/>
          <p:nvPr/>
        </p:nvSpPr>
        <p:spPr>
          <a:xfrm>
            <a:off x="8046720" y="2459736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v3; fixed prompts pre-recorded once (free)</a:t>
            </a:r>
            <a:endParaRPr lang="en-US" sz="600" dirty="0"/>
          </a:p>
        </p:txBody>
      </p:sp>
      <p:sp>
        <p:nvSpPr>
          <p:cNvPr id="137" name="Shape 106"/>
          <p:cNvSpPr/>
          <p:nvPr/>
        </p:nvSpPr>
        <p:spPr>
          <a:xfrm>
            <a:off x="3675888" y="1847088"/>
            <a:ext cx="0" cy="347472"/>
          </a:xfrm>
          <a:prstGeom prst="line">
            <a:avLst/>
          </a:prstGeom>
          <a:noFill/>
          <a:ln w="15875">
            <a:solidFill>
              <a:srgbClr val="E07A1F"/>
            </a:solidFill>
            <a:prstDash val="dash"/>
            <a:headEnd type="triangle"/>
          </a:ln>
        </p:spPr>
      </p:sp>
      <p:sp>
        <p:nvSpPr>
          <p:cNvPr id="138" name="Text 107"/>
          <p:cNvSpPr txBox="1"/>
          <p:nvPr/>
        </p:nvSpPr>
        <p:spPr>
          <a:xfrm>
            <a:off x="3703320" y="2011680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AI fails</a:t>
            </a:r>
            <a:endParaRPr lang="en-US" sz="580" dirty="0"/>
          </a:p>
        </p:txBody>
      </p:sp>
      <p:sp>
        <p:nvSpPr>
          <p:cNvPr id="139" name="Shape 108"/>
          <p:cNvSpPr/>
          <p:nvPr/>
        </p:nvSpPr>
        <p:spPr>
          <a:xfrm>
            <a:off x="6501384" y="1847088"/>
            <a:ext cx="0" cy="347472"/>
          </a:xfrm>
          <a:prstGeom prst="line">
            <a:avLst/>
          </a:prstGeom>
          <a:noFill/>
          <a:ln w="15875">
            <a:solidFill>
              <a:srgbClr val="E07A1F"/>
            </a:solidFill>
            <a:prstDash val="dash"/>
            <a:headEnd type="triangle"/>
          </a:ln>
        </p:spPr>
      </p:sp>
      <p:sp>
        <p:nvSpPr>
          <p:cNvPr id="140" name="Text 109"/>
          <p:cNvSpPr txBox="1"/>
          <p:nvPr/>
        </p:nvSpPr>
        <p:spPr>
          <a:xfrm>
            <a:off x="6528816" y="201168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model</a:t>
            </a:r>
            <a:endParaRPr lang="en-US" sz="580" dirty="0"/>
          </a:p>
        </p:txBody>
      </p:sp>
      <p:sp>
        <p:nvSpPr>
          <p:cNvPr id="141" name="Shape 110"/>
          <p:cNvSpPr/>
          <p:nvPr/>
        </p:nvSpPr>
        <p:spPr>
          <a:xfrm>
            <a:off x="7443216" y="1847088"/>
            <a:ext cx="0" cy="347472"/>
          </a:xfrm>
          <a:prstGeom prst="line">
            <a:avLst/>
          </a:prstGeom>
          <a:noFill/>
          <a:ln w="15875">
            <a:solidFill>
              <a:srgbClr val="B7791F"/>
            </a:solidFill>
            <a:prstDash val="solid"/>
            <a:headEnd type="triangle"/>
          </a:ln>
        </p:spPr>
      </p:sp>
      <p:sp>
        <p:nvSpPr>
          <p:cNvPr id="142" name="Text 111"/>
          <p:cNvSpPr txBox="1"/>
          <p:nvPr/>
        </p:nvSpPr>
        <p:spPr>
          <a:xfrm>
            <a:off x="7114032" y="2011680"/>
            <a:ext cx="3017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</a:t>
            </a:r>
            <a:endParaRPr lang="en-US" sz="580" dirty="0"/>
          </a:p>
        </p:txBody>
      </p:sp>
      <p:sp>
        <p:nvSpPr>
          <p:cNvPr id="143" name="Shape 112"/>
          <p:cNvSpPr/>
          <p:nvPr/>
        </p:nvSpPr>
        <p:spPr>
          <a:xfrm>
            <a:off x="7717536" y="2048256"/>
            <a:ext cx="0" cy="146304"/>
          </a:xfrm>
          <a:prstGeom prst="line">
            <a:avLst/>
          </a:prstGeom>
          <a:noFill/>
          <a:ln w="15875">
            <a:solidFill>
              <a:srgbClr val="B7791F"/>
            </a:solidFill>
            <a:prstDash val="solid"/>
          </a:ln>
        </p:spPr>
      </p:sp>
      <p:sp>
        <p:nvSpPr>
          <p:cNvPr id="144" name="Shape 113"/>
          <p:cNvSpPr/>
          <p:nvPr/>
        </p:nvSpPr>
        <p:spPr>
          <a:xfrm>
            <a:off x="7717536" y="2048256"/>
            <a:ext cx="521208" cy="0"/>
          </a:xfrm>
          <a:prstGeom prst="line">
            <a:avLst/>
          </a:prstGeom>
          <a:noFill/>
          <a:ln w="15875">
            <a:solidFill>
              <a:srgbClr val="B7791F"/>
            </a:solidFill>
            <a:prstDash val="solid"/>
          </a:ln>
        </p:spPr>
      </p:sp>
      <p:sp>
        <p:nvSpPr>
          <p:cNvPr id="145" name="Shape 114"/>
          <p:cNvSpPr/>
          <p:nvPr/>
        </p:nvSpPr>
        <p:spPr>
          <a:xfrm>
            <a:off x="8238744" y="1847088"/>
            <a:ext cx="0" cy="201168"/>
          </a:xfrm>
          <a:prstGeom prst="line">
            <a:avLst/>
          </a:prstGeom>
          <a:noFill/>
          <a:ln w="15875">
            <a:solidFill>
              <a:srgbClr val="B7791F"/>
            </a:solidFill>
            <a:prstDash val="solid"/>
            <a:headEnd type="triangle"/>
          </a:ln>
        </p:spPr>
      </p:sp>
      <p:sp>
        <p:nvSpPr>
          <p:cNvPr id="146" name="Text 115"/>
          <p:cNvSpPr txBox="1"/>
          <p:nvPr/>
        </p:nvSpPr>
        <p:spPr>
          <a:xfrm>
            <a:off x="7744968" y="2066544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580" dirty="0"/>
          </a:p>
        </p:txBody>
      </p:sp>
      <p:sp>
        <p:nvSpPr>
          <p:cNvPr id="147" name="Shape 116"/>
          <p:cNvSpPr/>
          <p:nvPr/>
        </p:nvSpPr>
        <p:spPr>
          <a:xfrm>
            <a:off x="8531352" y="1847088"/>
            <a:ext cx="0" cy="347472"/>
          </a:xfrm>
          <a:prstGeom prst="line">
            <a:avLst/>
          </a:prstGeom>
          <a:noFill/>
          <a:ln w="1587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8" name="Text 117"/>
          <p:cNvSpPr txBox="1"/>
          <p:nvPr/>
        </p:nvSpPr>
        <p:spPr>
          <a:xfrm>
            <a:off x="8558784" y="2011680"/>
            <a:ext cx="3017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580" dirty="0"/>
          </a:p>
        </p:txBody>
      </p:sp>
      <p:sp>
        <p:nvSpPr>
          <p:cNvPr id="149" name="Shape 118"/>
          <p:cNvSpPr/>
          <p:nvPr/>
        </p:nvSpPr>
        <p:spPr>
          <a:xfrm>
            <a:off x="8385048" y="2871216"/>
            <a:ext cx="0" cy="73152"/>
          </a:xfrm>
          <a:prstGeom prst="line">
            <a:avLst/>
          </a:prstGeom>
          <a:noFill/>
          <a:ln w="15875">
            <a:solidFill>
              <a:srgbClr val="2E8B57"/>
            </a:solidFill>
            <a:prstDash val="solid"/>
          </a:ln>
        </p:spPr>
      </p:sp>
      <p:sp>
        <p:nvSpPr>
          <p:cNvPr id="150" name="Shape 119"/>
          <p:cNvSpPr/>
          <p:nvPr/>
        </p:nvSpPr>
        <p:spPr>
          <a:xfrm>
            <a:off x="5559552" y="2944368"/>
            <a:ext cx="2825496" cy="0"/>
          </a:xfrm>
          <a:prstGeom prst="line">
            <a:avLst/>
          </a:prstGeom>
          <a:noFill/>
          <a:ln w="15875">
            <a:solidFill>
              <a:srgbClr val="2E8B57"/>
            </a:solidFill>
            <a:prstDash val="solid"/>
          </a:ln>
        </p:spPr>
      </p:sp>
      <p:sp>
        <p:nvSpPr>
          <p:cNvPr id="151" name="Shape 120"/>
          <p:cNvSpPr/>
          <p:nvPr/>
        </p:nvSpPr>
        <p:spPr>
          <a:xfrm>
            <a:off x="5559552" y="1847088"/>
            <a:ext cx="0" cy="1097280"/>
          </a:xfrm>
          <a:prstGeom prst="line">
            <a:avLst/>
          </a:prstGeom>
          <a:noFill/>
          <a:ln w="15875">
            <a:solidFill>
              <a:srgbClr val="2E8B57"/>
            </a:solidFill>
            <a:prstDash val="solid"/>
            <a:headEnd type="triangle"/>
          </a:ln>
        </p:spPr>
      </p:sp>
      <p:sp>
        <p:nvSpPr>
          <p:cNvPr id="152" name="Text 121"/>
          <p:cNvSpPr txBox="1"/>
          <p:nvPr/>
        </p:nvSpPr>
        <p:spPr>
          <a:xfrm>
            <a:off x="5586984" y="2011680"/>
            <a:ext cx="685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audio → phone</a:t>
            </a:r>
            <a:endParaRPr lang="en-US" sz="580" dirty="0"/>
          </a:p>
        </p:txBody>
      </p:sp>
      <p:sp>
        <p:nvSpPr>
          <p:cNvPr id="153" name="Text 122"/>
          <p:cNvSpPr txBox="1"/>
          <p:nvPr/>
        </p:nvSpPr>
        <p:spPr>
          <a:xfrm>
            <a:off x="5696712" y="2953512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reply goes back through Pipecat → Exotel → phone</a:t>
            </a:r>
            <a:endParaRPr lang="en-US" sz="580" dirty="0"/>
          </a:p>
        </p:txBody>
      </p:sp>
      <p:sp>
        <p:nvSpPr>
          <p:cNvPr id="154" name="Shape 123"/>
          <p:cNvSpPr/>
          <p:nvPr/>
        </p:nvSpPr>
        <p:spPr>
          <a:xfrm>
            <a:off x="3200400" y="3127248"/>
            <a:ext cx="5669280" cy="1207008"/>
          </a:xfrm>
          <a:prstGeom prst="roundRect">
            <a:avLst>
              <a:gd name="adj" fmla="val 6061"/>
            </a:avLst>
          </a:prstGeom>
          <a:solidFill>
            <a:srgbClr val="E8F5EC"/>
          </a:solidFill>
          <a:ln w="9525">
            <a:solidFill>
              <a:srgbClr val="E8F5EC"/>
            </a:solidFill>
            <a:prstDash val="solid"/>
          </a:ln>
        </p:spPr>
      </p:sp>
      <p:sp>
        <p:nvSpPr>
          <p:cNvPr id="155" name="Text 124"/>
          <p:cNvSpPr txBox="1"/>
          <p:nvPr/>
        </p:nvSpPr>
        <p:spPr>
          <a:xfrm>
            <a:off x="5577840" y="315468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AFTER THE CALL  —  the confirmed profile becomes a case</a:t>
            </a:r>
            <a:endParaRPr lang="en-US" sz="750" dirty="0"/>
          </a:p>
        </p:txBody>
      </p:sp>
      <p:sp>
        <p:nvSpPr>
          <p:cNvPr id="156" name="Shape 125"/>
          <p:cNvSpPr/>
          <p:nvPr/>
        </p:nvSpPr>
        <p:spPr>
          <a:xfrm>
            <a:off x="329184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157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337560" y="3392424"/>
            <a:ext cx="182880" cy="182880"/>
          </a:xfrm>
          <a:prstGeom prst="rect">
            <a:avLst/>
          </a:prstGeom>
        </p:spPr>
      </p:pic>
      <p:sp>
        <p:nvSpPr>
          <p:cNvPr id="158" name="Text 126"/>
          <p:cNvSpPr txBox="1"/>
          <p:nvPr/>
        </p:nvSpPr>
        <p:spPr>
          <a:xfrm>
            <a:off x="3557016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680" dirty="0"/>
          </a:p>
        </p:txBody>
      </p:sp>
      <p:sp>
        <p:nvSpPr>
          <p:cNvPr id="159" name="Text 127"/>
          <p:cNvSpPr txBox="1"/>
          <p:nvPr/>
        </p:nvSpPr>
        <p:spPr>
          <a:xfrm>
            <a:off x="333756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service + rules engine (eligibility)</a:t>
            </a:r>
            <a:endParaRPr lang="en-US" sz="600" dirty="0"/>
          </a:p>
        </p:txBody>
      </p:sp>
      <p:sp>
        <p:nvSpPr>
          <p:cNvPr id="160" name="Shape 128"/>
          <p:cNvSpPr/>
          <p:nvPr/>
        </p:nvSpPr>
        <p:spPr>
          <a:xfrm>
            <a:off x="4233672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F6FBF"/>
            </a:solidFill>
            <a:prstDash val="solid"/>
          </a:ln>
        </p:spPr>
      </p:sp>
      <p:pic>
        <p:nvPicPr>
          <p:cNvPr id="161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279392" y="3392424"/>
            <a:ext cx="182880" cy="182880"/>
          </a:xfrm>
          <a:prstGeom prst="rect">
            <a:avLst/>
          </a:prstGeom>
        </p:spPr>
      </p:pic>
      <p:sp>
        <p:nvSpPr>
          <p:cNvPr id="162" name="Text 129"/>
          <p:cNvSpPr txBox="1"/>
          <p:nvPr/>
        </p:nvSpPr>
        <p:spPr>
          <a:xfrm>
            <a:off x="4498848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680" dirty="0"/>
          </a:p>
        </p:txBody>
      </p:sp>
      <p:sp>
        <p:nvSpPr>
          <p:cNvPr id="163" name="Text 130"/>
          <p:cNvSpPr txBox="1"/>
          <p:nvPr/>
        </p:nvSpPr>
        <p:spPr>
          <a:xfrm>
            <a:off x="4279392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· skills · options · cases · follow-ups · audit log</a:t>
            </a:r>
            <a:endParaRPr lang="en-US" sz="600" dirty="0"/>
          </a:p>
        </p:txBody>
      </p:sp>
      <p:sp>
        <p:nvSpPr>
          <p:cNvPr id="164" name="Shape 131"/>
          <p:cNvSpPr/>
          <p:nvPr/>
        </p:nvSpPr>
        <p:spPr>
          <a:xfrm>
            <a:off x="5175504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pic>
        <p:nvPicPr>
          <p:cNvPr id="165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221224" y="3392424"/>
            <a:ext cx="182880" cy="182880"/>
          </a:xfrm>
          <a:prstGeom prst="rect">
            <a:avLst/>
          </a:prstGeom>
        </p:spPr>
      </p:pic>
      <p:sp>
        <p:nvSpPr>
          <p:cNvPr id="166" name="Text 132"/>
          <p:cNvSpPr txBox="1"/>
          <p:nvPr/>
        </p:nvSpPr>
        <p:spPr>
          <a:xfrm>
            <a:off x="5440680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</a:t>
            </a:r>
            <a:endParaRPr lang="en-US" sz="680" dirty="0"/>
          </a:p>
        </p:txBody>
      </p:sp>
      <p:sp>
        <p:nvSpPr>
          <p:cNvPr id="167" name="Text 133"/>
          <p:cNvSpPr txBox="1"/>
          <p:nvPr/>
        </p:nvSpPr>
        <p:spPr>
          <a:xfrm>
            <a:off x="5221224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Seva: documents + Aadhaar e-KYC*</a:t>
            </a:r>
            <a:endParaRPr lang="en-US" sz="600" dirty="0"/>
          </a:p>
        </p:txBody>
      </p:sp>
      <p:sp>
        <p:nvSpPr>
          <p:cNvPr id="168" name="Shape 134"/>
          <p:cNvSpPr/>
          <p:nvPr/>
        </p:nvSpPr>
        <p:spPr>
          <a:xfrm>
            <a:off x="6117336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7A1F"/>
            </a:solidFill>
            <a:prstDash val="solid"/>
          </a:ln>
        </p:spPr>
      </p:sp>
      <p:pic>
        <p:nvPicPr>
          <p:cNvPr id="169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163056" y="3392424"/>
            <a:ext cx="182880" cy="182880"/>
          </a:xfrm>
          <a:prstGeom prst="rect">
            <a:avLst/>
          </a:prstGeom>
        </p:spPr>
      </p:pic>
      <p:sp>
        <p:nvSpPr>
          <p:cNvPr id="170" name="Text 135"/>
          <p:cNvSpPr txBox="1"/>
          <p:nvPr/>
        </p:nvSpPr>
        <p:spPr>
          <a:xfrm>
            <a:off x="6382512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680" dirty="0"/>
          </a:p>
        </p:txBody>
      </p:sp>
      <p:sp>
        <p:nvSpPr>
          <p:cNvPr id="171" name="Text 136"/>
          <p:cNvSpPr txBox="1"/>
          <p:nvPr/>
        </p:nvSpPr>
        <p:spPr>
          <a:xfrm>
            <a:off x="6163056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approves or returns the case</a:t>
            </a:r>
            <a:endParaRPr lang="en-US" sz="600" dirty="0"/>
          </a:p>
        </p:txBody>
      </p:sp>
      <p:sp>
        <p:nvSpPr>
          <p:cNvPr id="172" name="Shape 137"/>
          <p:cNvSpPr/>
          <p:nvPr/>
        </p:nvSpPr>
        <p:spPr>
          <a:xfrm>
            <a:off x="7059168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173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104888" y="3392424"/>
            <a:ext cx="182880" cy="182880"/>
          </a:xfrm>
          <a:prstGeom prst="rect">
            <a:avLst/>
          </a:prstGeom>
        </p:spPr>
      </p:pic>
      <p:sp>
        <p:nvSpPr>
          <p:cNvPr id="174" name="Text 138"/>
          <p:cNvSpPr txBox="1"/>
          <p:nvPr/>
        </p:nvSpPr>
        <p:spPr>
          <a:xfrm>
            <a:off x="7324344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680" dirty="0"/>
          </a:p>
        </p:txBody>
      </p:sp>
      <p:sp>
        <p:nvSpPr>
          <p:cNvPr id="175" name="Text 139"/>
          <p:cNvSpPr txBox="1"/>
          <p:nvPr/>
        </p:nvSpPr>
        <p:spPr>
          <a:xfrm>
            <a:off x="7104888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Redis: calls at 1, 3, 6 months; retries</a:t>
            </a:r>
            <a:endParaRPr lang="en-US" sz="600" dirty="0"/>
          </a:p>
        </p:txBody>
      </p:sp>
      <p:sp>
        <p:nvSpPr>
          <p:cNvPr id="176" name="Shape 140"/>
          <p:cNvSpPr/>
          <p:nvPr/>
        </p:nvSpPr>
        <p:spPr>
          <a:xfrm>
            <a:off x="800100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D4FB3"/>
            </a:solidFill>
            <a:prstDash val="solid"/>
          </a:ln>
        </p:spPr>
      </p:sp>
      <p:pic>
        <p:nvPicPr>
          <p:cNvPr id="177" name="Image 34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046720" y="3392424"/>
            <a:ext cx="182880" cy="182880"/>
          </a:xfrm>
          <a:prstGeom prst="rect">
            <a:avLst/>
          </a:prstGeom>
        </p:spPr>
      </p:pic>
      <p:sp>
        <p:nvSpPr>
          <p:cNvPr id="178" name="Text 141"/>
          <p:cNvSpPr txBox="1"/>
          <p:nvPr/>
        </p:nvSpPr>
        <p:spPr>
          <a:xfrm>
            <a:off x="8266176" y="3383280"/>
            <a:ext cx="466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80" dirty="0"/>
          </a:p>
        </p:txBody>
      </p:sp>
      <p:sp>
        <p:nvSpPr>
          <p:cNvPr id="179" name="Text 142"/>
          <p:cNvSpPr txBox="1"/>
          <p:nvPr/>
        </p:nvSpPr>
        <p:spPr>
          <a:xfrm>
            <a:off x="804672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Leaflet: demand map, project drafts</a:t>
            </a:r>
            <a:endParaRPr lang="en-US" sz="600" dirty="0"/>
          </a:p>
        </p:txBody>
      </p:sp>
      <p:sp>
        <p:nvSpPr>
          <p:cNvPr id="180" name="Shape 143"/>
          <p:cNvSpPr/>
          <p:nvPr/>
        </p:nvSpPr>
        <p:spPr>
          <a:xfrm>
            <a:off x="4078224" y="3621024"/>
            <a:ext cx="137160" cy="0"/>
          </a:xfrm>
          <a:prstGeom prst="line">
            <a:avLst/>
          </a:prstGeom>
          <a:noFill/>
          <a:ln w="15875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181" name="Text 144"/>
          <p:cNvSpPr txBox="1"/>
          <p:nvPr/>
        </p:nvSpPr>
        <p:spPr>
          <a:xfrm>
            <a:off x="3877056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JSON</a:t>
            </a:r>
            <a:endParaRPr lang="en-US" sz="580" dirty="0"/>
          </a:p>
        </p:txBody>
      </p:sp>
      <p:sp>
        <p:nvSpPr>
          <p:cNvPr id="182" name="Shape 145"/>
          <p:cNvSpPr/>
          <p:nvPr/>
        </p:nvSpPr>
        <p:spPr>
          <a:xfrm>
            <a:off x="5020056" y="3621024"/>
            <a:ext cx="137160" cy="0"/>
          </a:xfrm>
          <a:prstGeom prst="line">
            <a:avLst/>
          </a:prstGeom>
          <a:noFill/>
          <a:ln w="15875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183" name="Text 146"/>
          <p:cNvSpPr txBox="1"/>
          <p:nvPr/>
        </p:nvSpPr>
        <p:spPr>
          <a:xfrm>
            <a:off x="4818888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Case ID</a:t>
            </a:r>
            <a:endParaRPr lang="en-US" sz="580" dirty="0"/>
          </a:p>
        </p:txBody>
      </p:sp>
      <p:sp>
        <p:nvSpPr>
          <p:cNvPr id="184" name="Shape 147"/>
          <p:cNvSpPr/>
          <p:nvPr/>
        </p:nvSpPr>
        <p:spPr>
          <a:xfrm>
            <a:off x="5961888" y="3621024"/>
            <a:ext cx="137160" cy="0"/>
          </a:xfrm>
          <a:prstGeom prst="line">
            <a:avLst/>
          </a:prstGeom>
          <a:noFill/>
          <a:ln w="15875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185" name="Text 148"/>
          <p:cNvSpPr txBox="1"/>
          <p:nvPr/>
        </p:nvSpPr>
        <p:spPr>
          <a:xfrm>
            <a:off x="5760720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e-KYC</a:t>
            </a:r>
            <a:endParaRPr lang="en-US" sz="580" dirty="0"/>
          </a:p>
        </p:txBody>
      </p:sp>
      <p:sp>
        <p:nvSpPr>
          <p:cNvPr id="186" name="Shape 149"/>
          <p:cNvSpPr/>
          <p:nvPr/>
        </p:nvSpPr>
        <p:spPr>
          <a:xfrm>
            <a:off x="6903720" y="3621024"/>
            <a:ext cx="137160" cy="0"/>
          </a:xfrm>
          <a:prstGeom prst="line">
            <a:avLst/>
          </a:prstGeom>
          <a:noFill/>
          <a:ln w="15875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187" name="Text 150"/>
          <p:cNvSpPr txBox="1"/>
          <p:nvPr/>
        </p:nvSpPr>
        <p:spPr>
          <a:xfrm>
            <a:off x="6702552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580" dirty="0"/>
          </a:p>
        </p:txBody>
      </p:sp>
      <p:sp>
        <p:nvSpPr>
          <p:cNvPr id="188" name="Shape 151"/>
          <p:cNvSpPr/>
          <p:nvPr/>
        </p:nvSpPr>
        <p:spPr>
          <a:xfrm>
            <a:off x="7845552" y="3621024"/>
            <a:ext cx="137160" cy="0"/>
          </a:xfrm>
          <a:prstGeom prst="line">
            <a:avLst/>
          </a:prstGeom>
          <a:noFill/>
          <a:ln w="15875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189" name="Text 152"/>
          <p:cNvSpPr txBox="1"/>
          <p:nvPr/>
        </p:nvSpPr>
        <p:spPr>
          <a:xfrm>
            <a:off x="7644384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580" dirty="0"/>
          </a:p>
        </p:txBody>
      </p:sp>
      <p:sp>
        <p:nvSpPr>
          <p:cNvPr id="190" name="Shape 153"/>
          <p:cNvSpPr/>
          <p:nvPr/>
        </p:nvSpPr>
        <p:spPr>
          <a:xfrm>
            <a:off x="3675888" y="3072384"/>
            <a:ext cx="0" cy="256032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91" name="Text 154"/>
          <p:cNvSpPr txBox="1"/>
          <p:nvPr/>
        </p:nvSpPr>
        <p:spPr>
          <a:xfrm>
            <a:off x="3730752" y="316382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ends → confirmed profile (JSON) → FastAPI</a:t>
            </a:r>
            <a:endParaRPr lang="en-US" sz="580" dirty="0"/>
          </a:p>
        </p:txBody>
      </p:sp>
      <p:sp>
        <p:nvSpPr>
          <p:cNvPr id="192" name="Shape 155"/>
          <p:cNvSpPr/>
          <p:nvPr/>
        </p:nvSpPr>
        <p:spPr>
          <a:xfrm>
            <a:off x="3291840" y="4041648"/>
            <a:ext cx="5486400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193" name="Image 35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37560" y="4096512"/>
            <a:ext cx="146304" cy="146304"/>
          </a:xfrm>
          <a:prstGeom prst="rect">
            <a:avLst/>
          </a:prstGeom>
        </p:spPr>
      </p:pic>
      <p:sp>
        <p:nvSpPr>
          <p:cNvPr id="194" name="Text 156"/>
          <p:cNvSpPr txBox="1"/>
          <p:nvPr/>
        </p:nvSpPr>
        <p:spPr>
          <a:xfrm>
            <a:off x="3529584" y="404164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(React):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with mobile number + OTP → the same FastAPI and the same tables. The family, the CSC operator or the officer can view and edit the case at any time — no phone call needed.</a:t>
            </a:r>
            <a:endParaRPr lang="en-US" sz="650" dirty="0"/>
          </a:p>
        </p:txBody>
      </p:sp>
      <p:sp>
        <p:nvSpPr>
          <p:cNvPr id="195" name="Shape 157"/>
          <p:cNvSpPr/>
          <p:nvPr/>
        </p:nvSpPr>
        <p:spPr>
          <a:xfrm>
            <a:off x="3200400" y="4389120"/>
            <a:ext cx="5669280" cy="256032"/>
          </a:xfrm>
          <a:prstGeom prst="roundRect">
            <a:avLst>
              <a:gd name="adj" fmla="val 214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96" name="Text 158"/>
          <p:cNvSpPr txBox="1"/>
          <p:nvPr/>
        </p:nvSpPr>
        <p:spPr>
          <a:xfrm>
            <a:off x="3200400" y="43891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  →   verified data decides   →   SATYA checks   →   humans approve</a:t>
            </a:r>
            <a:endParaRPr lang="en-US" sz="850" dirty="0"/>
          </a:p>
        </p:txBody>
      </p:sp>
      <p:sp>
        <p:nvSpPr>
          <p:cNvPr id="197" name="Text 159"/>
          <p:cNvSpPr txBox="1"/>
          <p:nvPr/>
        </p:nvSpPr>
        <p:spPr>
          <a:xfrm>
            <a:off x="3200400" y="468172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rules: no Aadhaar number stored; raw audio deleted after confirmation; consent logged (DPDP Rules 2025); every edit in the audit log.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run?  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every piece already works in India today, every model is available by API now, and one completed call costs about ₹37–83.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WORKING IN INDIA — NOTHING HERE IS NEW TECHNOLOGY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3232" y="14356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of 22 languages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1737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 already runs Sarvam's voice AI for Aadhaar in 10 of its 22 Indian languages, on its own servers.</a:t>
            </a:r>
            <a:endParaRPr lang="en-US" sz="7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2029968"/>
            <a:ext cx="1874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/ MeitY 2025</a:t>
            </a:r>
            <a:endParaRPr lang="en-US" sz="630" dirty="0"/>
          </a:p>
        </p:txBody>
      </p:sp>
      <p:sp>
        <p:nvSpPr>
          <p:cNvPr id="14" name="Shape 10"/>
          <p:cNvSpPr/>
          <p:nvPr/>
        </p:nvSpPr>
        <p:spPr>
          <a:xfrm>
            <a:off x="2446020" y="138988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14630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84932" y="14356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lakh calls a day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2537460" y="1737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Kilkari, the government's health-advice call system, already handles this volume every day.</a:t>
            </a:r>
            <a:endParaRPr lang="en-US" sz="700" dirty="0"/>
          </a:p>
        </p:txBody>
      </p:sp>
      <p:sp>
        <p:nvSpPr>
          <p:cNvPr id="18" name="Text 13"/>
          <p:cNvSpPr txBox="1"/>
          <p:nvPr/>
        </p:nvSpPr>
        <p:spPr>
          <a:xfrm>
            <a:off x="2537460" y="2029968"/>
            <a:ext cx="1874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BMJ Global Health 2021</a:t>
            </a:r>
            <a:endParaRPr lang="en-US" sz="630" dirty="0"/>
          </a:p>
        </p:txBody>
      </p:sp>
      <p:sp>
        <p:nvSpPr>
          <p:cNvPr id="19" name="Shape 14"/>
          <p:cNvSpPr/>
          <p:nvPr/>
        </p:nvSpPr>
        <p:spPr>
          <a:xfrm>
            <a:off x="4617720" y="138988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630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56632" y="14356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20% word error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4709160" y="1737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Indian speech AI measured on real phone calls: 36,691 speakers, 15 languages.</a:t>
            </a:r>
            <a:endParaRPr lang="en-US" sz="700" dirty="0"/>
          </a:p>
        </p:txBody>
      </p:sp>
      <p:sp>
        <p:nvSpPr>
          <p:cNvPr id="23" name="Text 17"/>
          <p:cNvSpPr txBox="1"/>
          <p:nvPr/>
        </p:nvSpPr>
        <p:spPr>
          <a:xfrm>
            <a:off x="4709160" y="2029968"/>
            <a:ext cx="1874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benchmark 2026</a:t>
            </a:r>
            <a:endParaRPr lang="en-US" sz="630" dirty="0"/>
          </a:p>
        </p:txBody>
      </p:sp>
      <p:sp>
        <p:nvSpPr>
          <p:cNvPr id="24" name="Shape 18"/>
          <p:cNvSpPr/>
          <p:nvPr/>
        </p:nvSpPr>
        <p:spPr>
          <a:xfrm>
            <a:off x="6789420" y="138988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860" y="14630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28332" y="14356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parts available today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6880860" y="1737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APIs, Pipecat, Exotel trial, PostgreSQL, React — the prototype can be built right now.</a:t>
            </a:r>
            <a:endParaRPr lang="en-US" sz="700" dirty="0"/>
          </a:p>
        </p:txBody>
      </p:sp>
      <p:sp>
        <p:nvSpPr>
          <p:cNvPr id="28" name="Text 21"/>
          <p:cNvSpPr txBox="1"/>
          <p:nvPr/>
        </p:nvSpPr>
        <p:spPr>
          <a:xfrm>
            <a:off x="6880860" y="2029968"/>
            <a:ext cx="1874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prototype plan</a:t>
            </a:r>
            <a:endParaRPr lang="en-US" sz="630" dirty="0"/>
          </a:p>
        </p:txBody>
      </p:sp>
      <p:sp>
        <p:nvSpPr>
          <p:cNvPr id="29" name="Text 22"/>
          <p:cNvSpPr txBox="1"/>
          <p:nvPr/>
        </p:nvSpPr>
        <p:spPr>
          <a:xfrm>
            <a:off x="274320" y="226771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COMPLETED CALL COSTS — ₹ PER PERSON</a:t>
            </a:r>
            <a:endParaRPr lang="en-US" sz="850" dirty="0"/>
          </a:p>
        </p:txBody>
      </p:sp>
      <p:sp>
        <p:nvSpPr>
          <p:cNvPr id="30" name="Text 23"/>
          <p:cNvSpPr txBox="1"/>
          <p:nvPr/>
        </p:nvSpPr>
        <p:spPr>
          <a:xfrm>
            <a:off x="274320" y="2432304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completed call = 10-min interview + options + 4 follow-up calls (≈ 18 min of phone time).</a:t>
            </a:r>
            <a:endParaRPr lang="en-US" sz="6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06040"/>
          <a:ext cx="4206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365760"/>
                <a:gridCol w="365760"/>
              </a:tblGrid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item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calculate it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line (Exotel)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 × ₹0.80–1.80 per minute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₹16.5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₹37.6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 → text (Saaras v3)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per hour of audio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₹9.4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₹9.5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→ speech (Bulbul v3)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 per 1,000 characters, spoken sentences only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₹2.4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brain (Sarvam-30B / 105B)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₹73 per 1M tokens; ~50–100K tokens per call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₹1.4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₹3.1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+ human help + CSC fee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SMS; 10–20% need a counsellor; 20–40% need CSC help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₹23.5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&amp; helpline number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servers, database, number — spread per call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₹1.0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per completed profile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missed calls → 517 finished profiles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₹37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₹83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</a:tr>
            </a:tbl>
          </a:graphicData>
        </a:graphic>
      </p:graphicFrame>
      <p:sp>
        <p:nvSpPr>
          <p:cNvPr id="32" name="Text 24"/>
          <p:cNvSpPr txBox="1"/>
          <p:nvPr/>
        </p:nvSpPr>
        <p:spPr>
          <a:xfrm>
            <a:off x="4709160" y="226771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GOVERNMENT AFFORD IT?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4709160" y="2468880"/>
            <a:ext cx="416052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456" y="2578608"/>
            <a:ext cx="274320" cy="27432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138928" y="2514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0.04–0.08% of the yearly budget</a:t>
            </a:r>
            <a:endParaRPr lang="en-US" sz="900" dirty="0"/>
          </a:p>
        </p:txBody>
      </p:sp>
      <p:sp>
        <p:nvSpPr>
          <p:cNvPr id="36" name="Text 27"/>
          <p:cNvSpPr txBox="1"/>
          <p:nvPr/>
        </p:nvSpPr>
        <p:spPr>
          <a:xfrm>
            <a:off x="5138928" y="2697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SkillCall for a whole state costs ₹0.9–1.7 crore a year. PM-AJAY's budget is ₹2,140 crore a year.</a:t>
            </a:r>
            <a:endParaRPr lang="en-US" sz="700" dirty="0"/>
          </a:p>
        </p:txBody>
      </p:sp>
      <p:sp>
        <p:nvSpPr>
          <p:cNvPr id="37" name="Shape 28"/>
          <p:cNvSpPr/>
          <p:nvPr/>
        </p:nvSpPr>
        <p:spPr>
          <a:xfrm>
            <a:off x="4709160" y="3017520"/>
            <a:ext cx="416052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456" y="3127248"/>
            <a:ext cx="274320" cy="27432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38928" y="30632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₹9–13 lakh to start</a:t>
            </a:r>
            <a:endParaRPr lang="en-US" sz="900" dirty="0"/>
          </a:p>
        </p:txBody>
      </p:sp>
      <p:sp>
        <p:nvSpPr>
          <p:cNvPr id="40" name="Text 30"/>
          <p:cNvSpPr txBox="1"/>
          <p:nvPr/>
        </p:nvSpPr>
        <p:spPr>
          <a:xfrm>
            <a:off x="5138928" y="32461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6-month pilot in one block (about 1,000 families): build, test with real users, then scale to the state.</a:t>
            </a:r>
            <a:endParaRPr lang="en-US" sz="700" dirty="0"/>
          </a:p>
        </p:txBody>
      </p:sp>
      <p:sp>
        <p:nvSpPr>
          <p:cNvPr id="41" name="Shape 31"/>
          <p:cNvSpPr/>
          <p:nvPr/>
        </p:nvSpPr>
        <p:spPr>
          <a:xfrm>
            <a:off x="4709160" y="3566160"/>
            <a:ext cx="416052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1456" y="3675888"/>
            <a:ext cx="274320" cy="27432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138928" y="3611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new to build on the ground</a:t>
            </a:r>
            <a:endParaRPr lang="en-US" sz="900" dirty="0"/>
          </a:p>
        </p:txBody>
      </p:sp>
      <p:sp>
        <p:nvSpPr>
          <p:cNvPr id="44" name="Text 33"/>
          <p:cNvSpPr txBox="1"/>
          <p:nvPr/>
        </p:nvSpPr>
        <p:spPr>
          <a:xfrm>
            <a:off x="5138928" y="37947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lakh CSC centres and the AJAY officer app already exist. SkillCall plugs into them; it does not replace them.</a:t>
            </a:r>
            <a:endParaRPr lang="en-US" sz="700" dirty="0"/>
          </a:p>
        </p:txBody>
      </p:sp>
      <p:sp>
        <p:nvSpPr>
          <p:cNvPr id="45" name="Text 34"/>
          <p:cNvSpPr txBox="1"/>
          <p:nvPr/>
        </p:nvSpPr>
        <p:spPr>
          <a:xfrm>
            <a:off x="274320" y="411480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HOW WE HANDLE THEM</a:t>
            </a:r>
            <a:endParaRPr lang="en-US" sz="850" dirty="0"/>
          </a:p>
        </p:txBody>
      </p:sp>
      <p:sp>
        <p:nvSpPr>
          <p:cNvPr id="46" name="Shape 35"/>
          <p:cNvSpPr/>
          <p:nvPr/>
        </p:nvSpPr>
        <p:spPr>
          <a:xfrm>
            <a:off x="274320" y="4297680"/>
            <a:ext cx="4251960" cy="173736"/>
          </a:xfrm>
          <a:prstGeom prst="roundRect">
            <a:avLst>
              <a:gd name="adj" fmla="val 21053"/>
            </a:avLst>
          </a:prstGeom>
          <a:solidFill>
            <a:srgbClr val="FBE9E7"/>
          </a:solidFill>
          <a:ln w="9525">
            <a:solidFill>
              <a:srgbClr val="FBE9E7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347472" y="4297680"/>
            <a:ext cx="4114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dialects are hard  →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 · every answer read back · bigger model, then a human</a:t>
            </a:r>
            <a:endParaRPr lang="en-US" sz="660" dirty="0"/>
          </a:p>
        </p:txBody>
      </p:sp>
      <p:sp>
        <p:nvSpPr>
          <p:cNvPr id="48" name="Shape 37"/>
          <p:cNvSpPr/>
          <p:nvPr/>
        </p:nvSpPr>
        <p:spPr>
          <a:xfrm>
            <a:off x="4617720" y="4297680"/>
            <a:ext cx="4251960" cy="173736"/>
          </a:xfrm>
          <a:prstGeom prst="roundRect">
            <a:avLst>
              <a:gd name="adj" fmla="val 21053"/>
            </a:avLst>
          </a:prstGeom>
          <a:solidFill>
            <a:srgbClr val="FBE9E7"/>
          </a:solidFill>
          <a:ln w="9525">
            <a:solidFill>
              <a:srgbClr val="FBE9E7"/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4690872" y="4297680"/>
            <a:ext cx="4114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could say something wrong  →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blocks anything not in the government database</a:t>
            </a:r>
            <a:endParaRPr lang="en-US" sz="660" dirty="0"/>
          </a:p>
        </p:txBody>
      </p:sp>
      <p:sp>
        <p:nvSpPr>
          <p:cNvPr id="50" name="Shape 39"/>
          <p:cNvSpPr/>
          <p:nvPr/>
        </p:nvSpPr>
        <p:spPr>
          <a:xfrm>
            <a:off x="274320" y="4489704"/>
            <a:ext cx="4251960" cy="173736"/>
          </a:xfrm>
          <a:prstGeom prst="roundRect">
            <a:avLst>
              <a:gd name="adj" fmla="val 21053"/>
            </a:avLst>
          </a:prstGeom>
          <a:solidFill>
            <a:srgbClr val="FBE9E7"/>
          </a:solidFill>
          <a:ln w="9525">
            <a:solidFill>
              <a:srgbClr val="FBE9E7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347472" y="4489704"/>
            <a:ext cx="4114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ignore unknown numbers  →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calls first; the call-back comes from an official 1600 number</a:t>
            </a:r>
            <a:endParaRPr lang="en-US" sz="660" dirty="0"/>
          </a:p>
        </p:txBody>
      </p:sp>
      <p:sp>
        <p:nvSpPr>
          <p:cNvPr id="52" name="Shape 41"/>
          <p:cNvSpPr/>
          <p:nvPr/>
        </p:nvSpPr>
        <p:spPr>
          <a:xfrm>
            <a:off x="4617720" y="4489704"/>
            <a:ext cx="4251960" cy="173736"/>
          </a:xfrm>
          <a:prstGeom prst="roundRect">
            <a:avLst>
              <a:gd name="adj" fmla="val 21053"/>
            </a:avLst>
          </a:prstGeom>
          <a:solidFill>
            <a:srgbClr val="FBE9E7"/>
          </a:solidFill>
          <a:ln w="9525">
            <a:solidFill>
              <a:srgbClr val="FBE9E7"/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4690872" y="4489704"/>
            <a:ext cx="4114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women have no own phone  →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at the nearest CSC centre or on the web portal</a:t>
            </a:r>
            <a:endParaRPr lang="en-US" sz="660" dirty="0"/>
          </a:p>
        </p:txBody>
      </p:sp>
      <p:sp>
        <p:nvSpPr>
          <p:cNvPr id="54" name="Shape 43"/>
          <p:cNvSpPr/>
          <p:nvPr/>
        </p:nvSpPr>
        <p:spPr>
          <a:xfrm>
            <a:off x="274320" y="4681728"/>
            <a:ext cx="4251960" cy="173736"/>
          </a:xfrm>
          <a:prstGeom prst="roundRect">
            <a:avLst>
              <a:gd name="adj" fmla="val 21053"/>
            </a:avLst>
          </a:prstGeom>
          <a:solidFill>
            <a:srgbClr val="FBE9E7"/>
          </a:solidFill>
          <a:ln w="9525">
            <a:solidFill>
              <a:srgbClr val="FBE9E7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347472" y="4681728"/>
            <a:ext cx="4114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links need permission  →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standalone today; AJAY app, DigiLocker, EPFO plug in after an MoU</a:t>
            </a:r>
            <a:endParaRPr lang="en-US" sz="660" dirty="0"/>
          </a:p>
        </p:txBody>
      </p:sp>
      <p:sp>
        <p:nvSpPr>
          <p:cNvPr id="56" name="Shape 45"/>
          <p:cNvSpPr/>
          <p:nvPr/>
        </p:nvSpPr>
        <p:spPr>
          <a:xfrm>
            <a:off x="4617720" y="4681728"/>
            <a:ext cx="4251960" cy="173736"/>
          </a:xfrm>
          <a:prstGeom prst="roundRect">
            <a:avLst>
              <a:gd name="adj" fmla="val 21053"/>
            </a:avLst>
          </a:prstGeom>
          <a:solidFill>
            <a:srgbClr val="FBE9E7"/>
          </a:solidFill>
          <a:ln w="9525">
            <a:solidFill>
              <a:srgbClr val="FBE9E7"/>
            </a:solidFill>
            <a:prstDash val="solid"/>
          </a:ln>
        </p:spPr>
      </p:sp>
      <p:sp>
        <p:nvSpPr>
          <p:cNvPr id="57" name="Text 46"/>
          <p:cNvSpPr txBox="1"/>
          <p:nvPr/>
        </p:nvSpPr>
        <p:spPr>
          <a:xfrm>
            <a:off x="4690872" y="4681728"/>
            <a:ext cx="4114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job data goes stale  →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carries a source and date; older than 90 days = unverified</a:t>
            </a:r>
            <a:endParaRPr lang="en-US" sz="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gains?  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SC families, CSC operators, district officers and the Ministry. Every number below shows how it was worked out.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3232" y="14447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trained people get jobs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179222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→ 70%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41% of trained people get a job today; 70% is the government's own target. Per 1,000 trainees, reaching even 50% means 90 more people working.</a:t>
            </a:r>
            <a:endParaRPr lang="en-US" sz="69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2542032"/>
            <a:ext cx="1874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2025 · MSDE norms</a:t>
            </a:r>
            <a:endParaRPr lang="en-US" sz="620" dirty="0"/>
          </a:p>
        </p:txBody>
      </p:sp>
      <p:sp>
        <p:nvSpPr>
          <p:cNvPr id="15" name="Shape 11"/>
          <p:cNvSpPr/>
          <p:nvPr/>
        </p:nvSpPr>
        <p:spPr>
          <a:xfrm>
            <a:off x="24460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14630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884932" y="14447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stay in the job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2537460" y="179222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 percentage points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537460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from 41% to 52% still in the job — when a trainee is told the real pay and place before joining (field trial, 2024). SkillCall tells him on the call.</a:t>
            </a:r>
            <a:endParaRPr lang="en-US" sz="690" dirty="0"/>
          </a:p>
        </p:txBody>
      </p:sp>
      <p:sp>
        <p:nvSpPr>
          <p:cNvPr id="20" name="Text 15"/>
          <p:cNvSpPr txBox="1"/>
          <p:nvPr/>
        </p:nvSpPr>
        <p:spPr>
          <a:xfrm>
            <a:off x="2537460" y="2542032"/>
            <a:ext cx="1874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Chakravorty et al. 2024</a:t>
            </a:r>
            <a:endParaRPr lang="en-US" sz="620" dirty="0"/>
          </a:p>
        </p:txBody>
      </p:sp>
      <p:sp>
        <p:nvSpPr>
          <p:cNvPr id="21" name="Shape 16"/>
          <p:cNvSpPr/>
          <p:nvPr/>
        </p:nvSpPr>
        <p:spPr>
          <a:xfrm>
            <a:off x="46177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6304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056632" y="14447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get their time back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4709160" y="179222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 hours a month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4709160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 saved per person: a 40-min survey + form becomes a 10-min review, and follow-up calls are automatic. For an officer handling 40 people a month that is ~33 hours — 4 working days.</a:t>
            </a:r>
            <a:endParaRPr lang="en-US" sz="690" dirty="0"/>
          </a:p>
        </p:txBody>
      </p:sp>
      <p:sp>
        <p:nvSpPr>
          <p:cNvPr id="26" name="Text 20"/>
          <p:cNvSpPr txBox="1"/>
          <p:nvPr/>
        </p:nvSpPr>
        <p:spPr>
          <a:xfrm>
            <a:off x="4709160" y="2542032"/>
            <a:ext cx="1874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</a:t>
            </a:r>
            <a:endParaRPr lang="en-US" sz="620" dirty="0"/>
          </a:p>
        </p:txBody>
      </p:sp>
      <p:sp>
        <p:nvSpPr>
          <p:cNvPr id="27" name="Shape 21"/>
          <p:cNvSpPr/>
          <p:nvPr/>
        </p:nvSpPr>
        <p:spPr>
          <a:xfrm>
            <a:off x="67894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860" y="146304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228332" y="14447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wasted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880860" y="179222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₹12.5 crore a year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6880860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just 5 in 100 wrong matches are avoided: 2,500 people × ₹50,000 support. That is 15–34 times what SkillCall costs to run.</a:t>
            </a:r>
            <a:endParaRPr lang="en-US" sz="690" dirty="0"/>
          </a:p>
        </p:txBody>
      </p:sp>
      <p:sp>
        <p:nvSpPr>
          <p:cNvPr id="32" name="Text 25"/>
          <p:cNvSpPr txBox="1"/>
          <p:nvPr/>
        </p:nvSpPr>
        <p:spPr>
          <a:xfrm>
            <a:off x="6880860" y="2542032"/>
            <a:ext cx="1874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</a:t>
            </a:r>
            <a:endParaRPr lang="en-US" sz="620" dirty="0"/>
          </a:p>
        </p:txBody>
      </p:sp>
      <p:sp>
        <p:nvSpPr>
          <p:cNvPr id="33" name="Text 26"/>
          <p:cNvSpPr txBox="1"/>
          <p:nvPr/>
        </p:nvSpPr>
        <p:spPr>
          <a:xfrm>
            <a:off x="274320" y="279806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WINS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274320" y="2999232"/>
            <a:ext cx="2057400" cy="804672"/>
          </a:xfrm>
          <a:prstGeom prst="roundRect">
            <a:avLst>
              <a:gd name="adj" fmla="val 9091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072384"/>
            <a:ext cx="274320" cy="27432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13232" y="30540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family</a:t>
            </a:r>
            <a:endParaRPr lang="en-US" sz="950" dirty="0"/>
          </a:p>
        </p:txBody>
      </p:sp>
      <p:sp>
        <p:nvSpPr>
          <p:cNvPr id="37" name="Text 29"/>
          <p:cNvSpPr txBox="1"/>
          <p:nvPr/>
        </p:nvSpPr>
        <p:spPr>
          <a:xfrm>
            <a:off x="365760" y="338328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course the first time, free, in his own language — and a follow-up call until he is actually earning.</a:t>
            </a:r>
            <a:endParaRPr lang="en-US" sz="700" dirty="0"/>
          </a:p>
        </p:txBody>
      </p:sp>
      <p:sp>
        <p:nvSpPr>
          <p:cNvPr id="38" name="Shape 30"/>
          <p:cNvSpPr/>
          <p:nvPr/>
        </p:nvSpPr>
        <p:spPr>
          <a:xfrm>
            <a:off x="2446020" y="2999232"/>
            <a:ext cx="2057400" cy="804672"/>
          </a:xfrm>
          <a:prstGeom prst="roundRect">
            <a:avLst>
              <a:gd name="adj" fmla="val 9091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7460" y="307238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2884932" y="30540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operator</a:t>
            </a:r>
            <a:endParaRPr lang="en-US" sz="950" dirty="0"/>
          </a:p>
        </p:txBody>
      </p:sp>
      <p:sp>
        <p:nvSpPr>
          <p:cNvPr id="41" name="Text 32"/>
          <p:cNvSpPr txBox="1"/>
          <p:nvPr/>
        </p:nvSpPr>
        <p:spPr>
          <a:xfrm>
            <a:off x="2537460" y="338328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arrives pre-filled as a table; only documents and e-KYC are left to do. ₹20–40 fee per assisted profile.</a:t>
            </a:r>
            <a:endParaRPr lang="en-US" sz="700" dirty="0"/>
          </a:p>
        </p:txBody>
      </p:sp>
      <p:sp>
        <p:nvSpPr>
          <p:cNvPr id="42" name="Shape 33"/>
          <p:cNvSpPr/>
          <p:nvPr/>
        </p:nvSpPr>
        <p:spPr>
          <a:xfrm>
            <a:off x="4617720" y="2999232"/>
            <a:ext cx="2057400" cy="804672"/>
          </a:xfrm>
          <a:prstGeom prst="roundRect">
            <a:avLst>
              <a:gd name="adj" fmla="val 9091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3072384"/>
            <a:ext cx="274320" cy="2743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5056632" y="30540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officer</a:t>
            </a:r>
            <a:endParaRPr lang="en-US" sz="950" dirty="0"/>
          </a:p>
        </p:txBody>
      </p:sp>
      <p:sp>
        <p:nvSpPr>
          <p:cNvPr id="45" name="Text 35"/>
          <p:cNvSpPr txBox="1"/>
          <p:nvPr/>
        </p:nvSpPr>
        <p:spPr>
          <a:xfrm>
            <a:off x="4709160" y="338328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checked cases in the AJAY app instead of a 40-minute survey; a demand map by block for the annual plan.</a:t>
            </a:r>
            <a:endParaRPr lang="en-US" sz="700" dirty="0"/>
          </a:p>
        </p:txBody>
      </p:sp>
      <p:sp>
        <p:nvSpPr>
          <p:cNvPr id="46" name="Shape 36"/>
          <p:cNvSpPr/>
          <p:nvPr/>
        </p:nvSpPr>
        <p:spPr>
          <a:xfrm>
            <a:off x="6789420" y="2999232"/>
            <a:ext cx="2057400" cy="804672"/>
          </a:xfrm>
          <a:prstGeom prst="roundRect">
            <a:avLst>
              <a:gd name="adj" fmla="val 9091"/>
            </a:avLst>
          </a:prstGeom>
          <a:solidFill>
            <a:srgbClr val="F5F6F8"/>
          </a:solidFill>
          <a:ln w="9525">
            <a:solidFill>
              <a:srgbClr val="F5F6F8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0860" y="3072384"/>
            <a:ext cx="274320" cy="27432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28332" y="30540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950" dirty="0"/>
          </a:p>
        </p:txBody>
      </p:sp>
      <p:sp>
        <p:nvSpPr>
          <p:cNvPr id="49" name="Text 38"/>
          <p:cNvSpPr txBox="1"/>
          <p:nvPr/>
        </p:nvSpPr>
        <p:spPr>
          <a:xfrm>
            <a:off x="6880860" y="338328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from call to job; every outcome marked confirmed (employer / EPFO*) or self-reported.</a:t>
            </a:r>
            <a:endParaRPr lang="en-US" sz="700" dirty="0"/>
          </a:p>
        </p:txBody>
      </p:sp>
      <p:sp>
        <p:nvSpPr>
          <p:cNvPr id="50" name="Text 39"/>
          <p:cNvSpPr txBox="1"/>
          <p:nvPr/>
        </p:nvSpPr>
        <p:spPr>
          <a:xfrm>
            <a:off x="274320" y="3913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51" name="Shape 40"/>
          <p:cNvSpPr/>
          <p:nvPr/>
        </p:nvSpPr>
        <p:spPr>
          <a:xfrm>
            <a:off x="274320" y="4114800"/>
            <a:ext cx="2057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5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169664"/>
            <a:ext cx="237744" cy="237744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676656" y="41513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900" dirty="0"/>
          </a:p>
        </p:txBody>
      </p:sp>
      <p:sp>
        <p:nvSpPr>
          <p:cNvPr id="54" name="Text 42"/>
          <p:cNvSpPr txBox="1"/>
          <p:nvPr/>
        </p:nvSpPr>
        <p:spPr>
          <a:xfrm>
            <a:off x="365760" y="44439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non-readers included; free, in his own language; right course the first time.</a:t>
            </a:r>
            <a:endParaRPr lang="en-US" sz="700" dirty="0"/>
          </a:p>
        </p:txBody>
      </p:sp>
      <p:sp>
        <p:nvSpPr>
          <p:cNvPr id="55" name="Shape 43"/>
          <p:cNvSpPr/>
          <p:nvPr/>
        </p:nvSpPr>
        <p:spPr>
          <a:xfrm>
            <a:off x="2446020" y="4114800"/>
            <a:ext cx="2057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7460" y="4169664"/>
            <a:ext cx="237744" cy="237744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2848356" y="41513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900" dirty="0"/>
          </a:p>
        </p:txBody>
      </p:sp>
      <p:sp>
        <p:nvSpPr>
          <p:cNvPr id="58" name="Text 45"/>
          <p:cNvSpPr txBox="1"/>
          <p:nvPr/>
        </p:nvSpPr>
        <p:spPr>
          <a:xfrm>
            <a:off x="2537460" y="44439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spent on wrong training; more people earning — proved by follow-up, not assumed.</a:t>
            </a:r>
            <a:endParaRPr lang="en-US" sz="700" dirty="0"/>
          </a:p>
        </p:txBody>
      </p:sp>
      <p:sp>
        <p:nvSpPr>
          <p:cNvPr id="59" name="Shape 46"/>
          <p:cNvSpPr/>
          <p:nvPr/>
        </p:nvSpPr>
        <p:spPr>
          <a:xfrm>
            <a:off x="4617720" y="4114800"/>
            <a:ext cx="2057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09160" y="4169664"/>
            <a:ext cx="237744" cy="237744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5020056" y="41513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62" name="Text 48"/>
          <p:cNvSpPr txBox="1"/>
          <p:nvPr/>
        </p:nvSpPr>
        <p:spPr>
          <a:xfrm>
            <a:off x="4709160" y="44439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case record for CSC, officer, partner and bank; planning data instead of paper forms.</a:t>
            </a:r>
            <a:endParaRPr lang="en-US" sz="700" dirty="0"/>
          </a:p>
        </p:txBody>
      </p:sp>
      <p:sp>
        <p:nvSpPr>
          <p:cNvPr id="63" name="Shape 49"/>
          <p:cNvSpPr/>
          <p:nvPr/>
        </p:nvSpPr>
        <p:spPr>
          <a:xfrm>
            <a:off x="6789420" y="4114800"/>
            <a:ext cx="2057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pic>
        <p:nvPicPr>
          <p:cNvPr id="6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80860" y="4169664"/>
            <a:ext cx="237744" cy="237744"/>
          </a:xfrm>
          <a:prstGeom prst="rect">
            <a:avLst/>
          </a:prstGeom>
        </p:spPr>
      </p:pic>
      <p:sp>
        <p:nvSpPr>
          <p:cNvPr id="65" name="Text 50"/>
          <p:cNvSpPr txBox="1"/>
          <p:nvPr/>
        </p:nvSpPr>
        <p:spPr>
          <a:xfrm>
            <a:off x="7191756" y="41513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sp>
        <p:nvSpPr>
          <p:cNvPr id="66" name="Text 51"/>
          <p:cNvSpPr txBox="1"/>
          <p:nvPr/>
        </p:nvSpPr>
        <p:spPr>
          <a:xfrm>
            <a:off x="6880860" y="44439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paper forms, fewer trips to offices, runs on the shared government cloud.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" y="896112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4320" y="896112"/>
            <a:ext cx="4206240" cy="310896"/>
          </a:xfrm>
          <a:prstGeom prst="roundRect">
            <a:avLst>
              <a:gd name="adj" fmla="val 29412"/>
            </a:avLst>
          </a:prstGeom>
          <a:solidFill>
            <a:srgbClr val="E7EFF9"/>
          </a:solidFill>
          <a:ln w="12700">
            <a:solidFill>
              <a:srgbClr val="E7EFF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5097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8961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data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02336" y="1353312"/>
            <a:ext cx="82296" cy="82296"/>
          </a:xfrm>
          <a:prstGeom prst="ellipse">
            <a:avLst/>
          </a:prstGeom>
          <a:solidFill>
            <a:srgbClr val="2F6FBF"/>
          </a:solidFill>
          <a:ln w="12700">
            <a:solidFill>
              <a:srgbClr val="2F6FB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66928" y="1280160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Report No. 20 of 2025 — PMKVY audit (41% placed)   </a:t>
            </a:r>
            <a:r>
              <a:rPr lang="en-US" sz="720" u="sng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cag.gov.in</a:t>
            </a:r>
            <a:endParaRPr lang="en-US" sz="780" dirty="0"/>
          </a:p>
        </p:txBody>
      </p:sp>
      <p:sp>
        <p:nvSpPr>
          <p:cNvPr id="13" name="Shape 9"/>
          <p:cNvSpPr/>
          <p:nvPr/>
        </p:nvSpPr>
        <p:spPr>
          <a:xfrm>
            <a:off x="402336" y="1618488"/>
            <a:ext cx="82296" cy="82296"/>
          </a:xfrm>
          <a:prstGeom prst="ellipse">
            <a:avLst/>
          </a:prstGeom>
          <a:solidFill>
            <a:srgbClr val="2F6FBF"/>
          </a:solidFill>
          <a:ln w="12700">
            <a:solidFill>
              <a:srgbClr val="2F6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66928" y="1545336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GIA norms &amp; beneficiaries — PIB 2023 / 2025   </a:t>
            </a:r>
            <a:r>
              <a:rPr lang="en-US" sz="720" u="sng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80" dirty="0"/>
          </a:p>
        </p:txBody>
      </p:sp>
      <p:sp>
        <p:nvSpPr>
          <p:cNvPr id="15" name="Shape 11"/>
          <p:cNvSpPr/>
          <p:nvPr/>
        </p:nvSpPr>
        <p:spPr>
          <a:xfrm>
            <a:off x="402336" y="1883664"/>
            <a:ext cx="82296" cy="82296"/>
          </a:xfrm>
          <a:prstGeom prst="ellipse">
            <a:avLst/>
          </a:prstGeom>
          <a:solidFill>
            <a:srgbClr val="2F6FBF"/>
          </a:solidFill>
          <a:ln w="12700">
            <a:solidFill>
              <a:srgbClr val="2F6FB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66928" y="1810512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budget ₹2,140 cr — Demands for Grants 2026-27   </a:t>
            </a:r>
            <a:r>
              <a:rPr lang="en-US" sz="720" u="sng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indiabudget.gov.in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02336" y="2148840"/>
            <a:ext cx="82296" cy="82296"/>
          </a:xfrm>
          <a:prstGeom prst="ellipse">
            <a:avLst/>
          </a:prstGeom>
          <a:solidFill>
            <a:srgbClr val="2F6FBF"/>
          </a:solidFill>
          <a:ln w="12700">
            <a:solidFill>
              <a:srgbClr val="2F6FB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66928" y="2075688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NFHS-6 (women's phone access) · Census 2011 (SC literacy)   </a:t>
            </a:r>
            <a:r>
              <a:rPr lang="en-US" sz="720" u="sng" dirty="0">
                <a:solidFill>
                  <a:srgbClr val="2F6F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80" dirty="0"/>
          </a:p>
        </p:txBody>
      </p:sp>
      <p:sp>
        <p:nvSpPr>
          <p:cNvPr id="19" name="Shape 15"/>
          <p:cNvSpPr/>
          <p:nvPr/>
        </p:nvSpPr>
        <p:spPr>
          <a:xfrm>
            <a:off x="4663440" y="896112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63440" y="896112"/>
            <a:ext cx="4206240" cy="310896"/>
          </a:xfrm>
          <a:prstGeom prst="roundRect">
            <a:avLst>
              <a:gd name="adj" fmla="val 29412"/>
            </a:avLst>
          </a:prstGeom>
          <a:solidFill>
            <a:srgbClr val="F0ECFA"/>
          </a:solidFill>
          <a:ln w="12700">
            <a:solidFill>
              <a:srgbClr val="F0ECF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950976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029200" y="8961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papers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791456" y="1353312"/>
            <a:ext cx="82296" cy="82296"/>
          </a:xfrm>
          <a:prstGeom prst="ellipse">
            <a:avLst/>
          </a:prstGeom>
          <a:solidFill>
            <a:srgbClr val="6D4FB3"/>
          </a:solidFill>
          <a:ln w="12700">
            <a:solidFill>
              <a:srgbClr val="6D4FB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56048" y="1280160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Chakravorty et al. 2024, J. Dev. Econ. — honest job info → +11 pts retention   </a:t>
            </a:r>
            <a:r>
              <a:rPr lang="en-US" sz="720" u="sng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sciencedirect.com</a:t>
            </a:r>
            <a:endParaRPr lang="en-US" sz="780" dirty="0"/>
          </a:p>
        </p:txBody>
      </p:sp>
      <p:sp>
        <p:nvSpPr>
          <p:cNvPr id="25" name="Shape 20"/>
          <p:cNvSpPr/>
          <p:nvPr/>
        </p:nvSpPr>
        <p:spPr>
          <a:xfrm>
            <a:off x="4791456" y="1618488"/>
            <a:ext cx="82296" cy="82296"/>
          </a:xfrm>
          <a:prstGeom prst="ellipse">
            <a:avLst/>
          </a:prstGeom>
          <a:solidFill>
            <a:srgbClr val="6D4FB3"/>
          </a:solidFill>
          <a:ln w="12700">
            <a:solidFill>
              <a:srgbClr val="6D4FB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56048" y="1545336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Bashingwa et al. 2021, BMJ Global Health — Kilkari at 12 lakh calls/day   </a:t>
            </a:r>
            <a:r>
              <a:rPr lang="en-US" sz="720" u="sng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gh.bmj.com</a:t>
            </a:r>
            <a:endParaRPr lang="en-US" sz="780" dirty="0"/>
          </a:p>
        </p:txBody>
      </p:sp>
      <p:sp>
        <p:nvSpPr>
          <p:cNvPr id="27" name="Shape 22"/>
          <p:cNvSpPr/>
          <p:nvPr/>
        </p:nvSpPr>
        <p:spPr>
          <a:xfrm>
            <a:off x="4791456" y="1883664"/>
            <a:ext cx="82296" cy="82296"/>
          </a:xfrm>
          <a:prstGeom prst="ellipse">
            <a:avLst/>
          </a:prstGeom>
          <a:solidFill>
            <a:srgbClr val="6D4FB3"/>
          </a:solidFill>
          <a:ln w="12700">
            <a:solidFill>
              <a:srgbClr val="6D4FB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956048" y="1810512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2026 — Indian speech-AI benchmark on real calls   </a:t>
            </a:r>
            <a:r>
              <a:rPr lang="en-US" sz="720" u="sng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arxiv.org</a:t>
            </a:r>
            <a:endParaRPr lang="en-US" sz="780" dirty="0"/>
          </a:p>
        </p:txBody>
      </p:sp>
      <p:sp>
        <p:nvSpPr>
          <p:cNvPr id="29" name="Shape 24"/>
          <p:cNvSpPr/>
          <p:nvPr/>
        </p:nvSpPr>
        <p:spPr>
          <a:xfrm>
            <a:off x="4791456" y="2148840"/>
            <a:ext cx="82296" cy="82296"/>
          </a:xfrm>
          <a:prstGeom prst="ellipse">
            <a:avLst/>
          </a:prstGeom>
          <a:solidFill>
            <a:srgbClr val="6D4FB3"/>
          </a:solidFill>
          <a:ln w="12700">
            <a:solidFill>
              <a:srgbClr val="6D4FB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956048" y="2075688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Medhi et al. 2011, ACM TOCHI — voice UIs for low-literacy users   </a:t>
            </a:r>
            <a:r>
              <a:rPr lang="en-US" sz="720" u="sng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dl.acm.org</a:t>
            </a:r>
            <a:endParaRPr lang="en-US" sz="780" dirty="0"/>
          </a:p>
        </p:txBody>
      </p:sp>
      <p:sp>
        <p:nvSpPr>
          <p:cNvPr id="31" name="Shape 26"/>
          <p:cNvSpPr/>
          <p:nvPr/>
        </p:nvSpPr>
        <p:spPr>
          <a:xfrm>
            <a:off x="274320" y="2487168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274320" y="2487168"/>
            <a:ext cx="4206240" cy="310896"/>
          </a:xfrm>
          <a:prstGeom prst="roundRect">
            <a:avLst>
              <a:gd name="adj" fmla="val 29412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5760" y="2542032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0080" y="2487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402336" y="2944368"/>
            <a:ext cx="82296" cy="82296"/>
          </a:xfrm>
          <a:prstGeom prst="ellipse">
            <a:avLst/>
          </a:prstGeom>
          <a:solidFill>
            <a:srgbClr val="1B8A8A"/>
          </a:solidFill>
          <a:ln w="12700">
            <a:solidFill>
              <a:srgbClr val="1B8A8A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66928" y="2871216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 — Saaras v3, Bulbul v3, Sarvam-30B / 105B, pricing   </a:t>
            </a:r>
            <a:r>
              <a:rPr lang="en-US" sz="720" u="sng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sarvam.ai</a:t>
            </a:r>
            <a:endParaRPr lang="en-US" sz="780" dirty="0"/>
          </a:p>
        </p:txBody>
      </p:sp>
      <p:sp>
        <p:nvSpPr>
          <p:cNvPr id="37" name="Shape 31"/>
          <p:cNvSpPr/>
          <p:nvPr/>
        </p:nvSpPr>
        <p:spPr>
          <a:xfrm>
            <a:off x="402336" y="3209544"/>
            <a:ext cx="82296" cy="82296"/>
          </a:xfrm>
          <a:prstGeom prst="ellipse">
            <a:avLst/>
          </a:prstGeom>
          <a:solidFill>
            <a:srgbClr val="1B8A8A"/>
          </a:solidFill>
          <a:ln w="12700">
            <a:solidFill>
              <a:srgbClr val="1B8A8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66928" y="3136392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IndicConformer — open Indian speech recognition   </a:t>
            </a:r>
            <a:r>
              <a:rPr lang="en-US" sz="720" u="sng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ai4bharat.iitm.ac.in</a:t>
            </a:r>
            <a:endParaRPr lang="en-US" sz="780" dirty="0"/>
          </a:p>
        </p:txBody>
      </p:sp>
      <p:sp>
        <p:nvSpPr>
          <p:cNvPr id="39" name="Shape 33"/>
          <p:cNvSpPr/>
          <p:nvPr/>
        </p:nvSpPr>
        <p:spPr>
          <a:xfrm>
            <a:off x="402336" y="3474720"/>
            <a:ext cx="82296" cy="82296"/>
          </a:xfrm>
          <a:prstGeom prst="ellipse">
            <a:avLst/>
          </a:prstGeom>
          <a:solidFill>
            <a:srgbClr val="1B8A8A"/>
          </a:solidFill>
          <a:ln w="12700">
            <a:solidFill>
              <a:srgbClr val="1B8A8A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66928" y="3401568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— open-source voice-agent framework   </a:t>
            </a:r>
            <a:r>
              <a:rPr lang="en-US" sz="720" u="sng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pipecat.ai</a:t>
            </a:r>
            <a:endParaRPr lang="en-US" sz="780" dirty="0"/>
          </a:p>
        </p:txBody>
      </p:sp>
      <p:sp>
        <p:nvSpPr>
          <p:cNvPr id="41" name="Shape 35"/>
          <p:cNvSpPr/>
          <p:nvPr/>
        </p:nvSpPr>
        <p:spPr>
          <a:xfrm>
            <a:off x="402336" y="3739896"/>
            <a:ext cx="82296" cy="82296"/>
          </a:xfrm>
          <a:prstGeom prst="ellipse">
            <a:avLst/>
          </a:prstGeom>
          <a:solidFill>
            <a:srgbClr val="1B8A8A"/>
          </a:solidFill>
          <a:ln w="12700">
            <a:solidFill>
              <a:srgbClr val="1B8A8A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566928" y="3666744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(MeitY) · Exotel · PostgreSQL · FastAPI · React   </a:t>
            </a:r>
            <a:r>
              <a:rPr lang="en-US" sz="720" u="sng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bhashini.gov.in</a:t>
            </a:r>
            <a:endParaRPr lang="en-US" sz="780" dirty="0"/>
          </a:p>
        </p:txBody>
      </p:sp>
      <p:sp>
        <p:nvSpPr>
          <p:cNvPr id="43" name="Shape 37"/>
          <p:cNvSpPr/>
          <p:nvPr/>
        </p:nvSpPr>
        <p:spPr>
          <a:xfrm>
            <a:off x="4663440" y="2487168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4663440" y="2487168"/>
            <a:ext cx="4206240" cy="310896"/>
          </a:xfrm>
          <a:prstGeom prst="roundRect">
            <a:avLst>
              <a:gd name="adj" fmla="val 29412"/>
            </a:avLst>
          </a:prstGeom>
          <a:solidFill>
            <a:srgbClr val="FFF1E3"/>
          </a:solidFill>
          <a:ln w="12700">
            <a:solidFill>
              <a:srgbClr val="FFF1E3"/>
            </a:solidFill>
            <a:prstDash val="solid"/>
          </a:ln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4880" y="2542032"/>
            <a:ext cx="201168" cy="201168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5029200" y="2487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policy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791456" y="2944368"/>
            <a:ext cx="82296" cy="82296"/>
          </a:xfrm>
          <a:prstGeom prst="ellipse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4956048" y="2871216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occupation codes · NQR / NCVET job roles   </a:t>
            </a:r>
            <a:r>
              <a:rPr lang="en-US" sz="720" u="sng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nqr.gov.in</a:t>
            </a:r>
            <a:endParaRPr lang="en-US" sz="780" dirty="0"/>
          </a:p>
        </p:txBody>
      </p:sp>
      <p:sp>
        <p:nvSpPr>
          <p:cNvPr id="49" name="Shape 42"/>
          <p:cNvSpPr/>
          <p:nvPr/>
        </p:nvSpPr>
        <p:spPr>
          <a:xfrm>
            <a:off x="4791456" y="3209544"/>
            <a:ext cx="82296" cy="82296"/>
          </a:xfrm>
          <a:prstGeom prst="ellipse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956048" y="3136392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 2025 — consent and data protection   </a:t>
            </a:r>
            <a:r>
              <a:rPr lang="en-US" sz="720" u="sng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meity.gov.in</a:t>
            </a:r>
            <a:endParaRPr lang="en-US" sz="780" dirty="0"/>
          </a:p>
        </p:txBody>
      </p:sp>
      <p:sp>
        <p:nvSpPr>
          <p:cNvPr id="51" name="Shape 44"/>
          <p:cNvSpPr/>
          <p:nvPr/>
        </p:nvSpPr>
        <p:spPr>
          <a:xfrm>
            <a:off x="4791456" y="3474720"/>
            <a:ext cx="82296" cy="82296"/>
          </a:xfrm>
          <a:prstGeom prst="ellipse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956048" y="3401568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 1600-series rules for government calls (2026)   </a:t>
            </a:r>
            <a:r>
              <a:rPr lang="en-US" sz="720" u="sng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trai.gov.in</a:t>
            </a:r>
            <a:endParaRPr lang="en-US" sz="780" dirty="0"/>
          </a:p>
        </p:txBody>
      </p:sp>
      <p:sp>
        <p:nvSpPr>
          <p:cNvPr id="53" name="Shape 46"/>
          <p:cNvSpPr/>
          <p:nvPr/>
        </p:nvSpPr>
        <p:spPr>
          <a:xfrm>
            <a:off x="4791456" y="3739896"/>
            <a:ext cx="82296" cy="82296"/>
          </a:xfrm>
          <a:prstGeom prst="ellipse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4956048" y="3666744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UIDAI–Sarvam voice AI deployment — PIB / MeitY 2025   </a:t>
            </a:r>
            <a:r>
              <a:rPr lang="en-US" sz="720" u="sng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80" dirty="0"/>
          </a:p>
        </p:txBody>
      </p:sp>
      <p:sp>
        <p:nvSpPr>
          <p:cNvPr id="55" name="Shape 48"/>
          <p:cNvSpPr/>
          <p:nvPr/>
        </p:nvSpPr>
        <p:spPr>
          <a:xfrm>
            <a:off x="274320" y="4114800"/>
            <a:ext cx="8595360" cy="658368"/>
          </a:xfrm>
          <a:prstGeom prst="roundRect">
            <a:avLst>
              <a:gd name="adj" fmla="val 13889"/>
            </a:avLst>
          </a:prstGeom>
          <a:solidFill>
            <a:srgbClr val="EEF3F9"/>
          </a:solidFill>
          <a:ln w="9525">
            <a:solidFill>
              <a:srgbClr val="EEF3F9"/>
            </a:solidFill>
            <a:prstDash val="solid"/>
          </a:ln>
        </p:spPr>
      </p:sp>
      <p:pic>
        <p:nvPicPr>
          <p:cNvPr id="56" name="Image 5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11480" y="4233672"/>
            <a:ext cx="384048" cy="384048"/>
          </a:xfrm>
          <a:prstGeom prst="rect">
            <a:avLst/>
          </a:prstGeom>
        </p:spPr>
      </p:pic>
      <p:sp>
        <p:nvSpPr>
          <p:cNvPr id="57" name="Text 49"/>
          <p:cNvSpPr txBox="1"/>
          <p:nvPr/>
        </p:nvSpPr>
        <p:spPr>
          <a:xfrm>
            <a:off x="91440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more</a:t>
            </a:r>
            <a:endParaRPr lang="en-US" sz="1200" dirty="0"/>
          </a:p>
        </p:txBody>
      </p:sp>
      <p:sp>
        <p:nvSpPr>
          <p:cNvPr id="58" name="Text 50"/>
          <p:cNvSpPr txBox="1"/>
          <p:nvPr/>
        </p:nvSpPr>
        <p:spPr>
          <a:xfrm>
            <a:off x="914400" y="44348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working prototype, demo video and the full 16-part reference file with every calculation</a:t>
            </a:r>
            <a:endParaRPr lang="en-US" sz="750" dirty="0"/>
          </a:p>
        </p:txBody>
      </p:sp>
      <p:sp>
        <p:nvSpPr>
          <p:cNvPr id="59" name="Shape 51"/>
          <p:cNvSpPr/>
          <p:nvPr/>
        </p:nvSpPr>
        <p:spPr>
          <a:xfrm>
            <a:off x="4023360" y="4297680"/>
            <a:ext cx="112471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4023360" y="4297680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  →</a:t>
            </a:r>
            <a:endParaRPr lang="en-US" sz="800" dirty="0"/>
          </a:p>
        </p:txBody>
      </p:sp>
      <p:sp>
        <p:nvSpPr>
          <p:cNvPr id="61" name="Shape 53"/>
          <p:cNvSpPr/>
          <p:nvPr/>
        </p:nvSpPr>
        <p:spPr>
          <a:xfrm>
            <a:off x="5239512" y="4297680"/>
            <a:ext cx="112471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62" name="Text 54"/>
          <p:cNvSpPr txBox="1"/>
          <p:nvPr/>
        </p:nvSpPr>
        <p:spPr>
          <a:xfrm>
            <a:off x="5239512" y="4297680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prototype  →</a:t>
            </a:r>
            <a:endParaRPr lang="en-US" sz="800" dirty="0"/>
          </a:p>
        </p:txBody>
      </p:sp>
      <p:sp>
        <p:nvSpPr>
          <p:cNvPr id="63" name="Shape 55"/>
          <p:cNvSpPr/>
          <p:nvPr/>
        </p:nvSpPr>
        <p:spPr>
          <a:xfrm>
            <a:off x="6455664" y="4297680"/>
            <a:ext cx="112471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D4FB3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6455664" y="4297680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6D4F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video  →</a:t>
            </a:r>
            <a:endParaRPr lang="en-US" sz="800" dirty="0"/>
          </a:p>
        </p:txBody>
      </p:sp>
      <p:sp>
        <p:nvSpPr>
          <p:cNvPr id="65" name="Shape 57"/>
          <p:cNvSpPr/>
          <p:nvPr/>
        </p:nvSpPr>
        <p:spPr>
          <a:xfrm>
            <a:off x="7671816" y="4297680"/>
            <a:ext cx="112471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7671816" y="4297680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Reference file  →</a:t>
            </a:r>
            <a:endParaRPr lang="en-US" sz="800" dirty="0"/>
          </a:p>
        </p:txBody>
      </p:sp>
      <p:sp>
        <p:nvSpPr>
          <p:cNvPr id="67" name="Text 59"/>
          <p:cNvSpPr txBox="1"/>
          <p:nvPr/>
        </p:nvSpPr>
        <p:spPr>
          <a:xfrm>
            <a:off x="274320" y="4846320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Emoji: Microsoft Fluent Emoji (MIT). Logos: official marks via Devicon, Simple Icons and project GitHub profiles. Estimates are marked and show their working.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SkillCall — SIH26097 — Cognify</dc:title>
  <dc:subject>PptxGenJS Presentation</dc:subject>
  <dc:creator>PptxGenJS</dc:creator>
  <cp:lastModifiedBy>PptxGenJS</cp:lastModifiedBy>
  <cp:revision>1</cp:revision>
  <dcterms:created xsi:type="dcterms:W3CDTF">2026-09-24T23:04:51Z</dcterms:created>
  <dcterms:modified xsi:type="dcterms:W3CDTF">2026-09-24T23:04:51Z</dcterms:modified>
</cp:coreProperties>
</file>