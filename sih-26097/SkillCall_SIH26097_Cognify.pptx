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Official SIH 2026 title page. Fill the Team ID from the portal before exporting to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problem, three numbers, who we serve, four merged call steps and five differentiators. Colour code: red = problem, green = solved/verified, blue = trust, amber = attention.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call: Exotel → Pipecat → STT (IndicConformer / Saaras v3) → Sarvam-30B → SATYA → Bulbul v3, reply audio back through Pipecat and Exotel. Router escalates 30B → 105B → human. The answer cache logs every turn by language, district, job and question type; frequent questions get pre-written, verified answers and audio, so AI work and cost fall over time. After the call: FastAPI → PostgreSQL → CSC → AJAY app → Celery follow-ups → dashboard; the web portal uses the same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Proof points; cost as per-minute rates → per-call range → conclusion per 1,000 missed calls at the average ₹40; affordability; problems already solved. Full working: calculations sheet §3–4.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with working (calculations sheet §5–6): 41→70% placement gap; 62→73% retention; officer time 30 h → 5 h a month per 40 cases, ≈ 18 staff-years India-wide; ₹12.5–15 crore better used = 6–14× SkillCall's yearly cost; reach 1–1.5 lakh profiles a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by type with links; the four cards link to the repo, prototype, demo video and the calculations sheet — add the real links before upload.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3" Type="http://schemas.openxmlformats.org/officeDocument/2006/relationships/hyperlink" Target="https://github.com/" TargetMode="Externa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4" Type="http://schemas.openxmlformats.org/officeDocument/2006/relationships/image" Target="../media/image-3-23.png"/><Relationship Id="rId25" Type="http://schemas.openxmlformats.org/officeDocument/2006/relationships/image" Target="../media/image-3-24.png"/><Relationship Id="rId26" Type="http://schemas.openxmlformats.org/officeDocument/2006/relationships/image" Target="../media/image-3-25.png"/><Relationship Id="rId27" Type="http://schemas.openxmlformats.org/officeDocument/2006/relationships/image" Target="../media/image-3-26.png"/><Relationship Id="rId28" Type="http://schemas.openxmlformats.org/officeDocument/2006/relationships/image" Target="../media/image-3-27.png"/><Relationship Id="rId29" Type="http://schemas.openxmlformats.org/officeDocument/2006/relationships/image" Target="../media/image-3-28.png"/><Relationship Id="rId30" Type="http://schemas.openxmlformats.org/officeDocument/2006/relationships/image" Target="../media/image-3-29.png"/><Relationship Id="rId31" Type="http://schemas.openxmlformats.org/officeDocument/2006/relationships/image" Target="../media/image-3-30.png"/><Relationship Id="rId32" Type="http://schemas.openxmlformats.org/officeDocument/2006/relationships/image" Target="../media/image-3-31.png"/><Relationship Id="rId33" Type="http://schemas.openxmlformats.org/officeDocument/2006/relationships/image" Target="../media/image-3-32.png"/><Relationship Id="rId34" Type="http://schemas.openxmlformats.org/officeDocument/2006/relationships/image" Target="../media/image-3-33.png"/><Relationship Id="rId35" Type="http://schemas.openxmlformats.org/officeDocument/2006/relationships/image" Target="../media/image-3-34.png"/><Relationship Id="rId36" Type="http://schemas.openxmlformats.org/officeDocument/2006/relationships/image" Target="../media/image-3-35.png"/><Relationship Id="rId37" Type="http://schemas.openxmlformats.org/officeDocument/2006/relationships/image" Target="../media/image-3-36.png"/><Relationship Id="rId38" Type="http://schemas.openxmlformats.org/officeDocument/2006/relationships/image" Target="../media/image-3-37.png"/><Relationship Id="rId39" Type="http://schemas.openxmlformats.org/officeDocument/2006/relationships/image" Target="../media/image-3-38.png"/><Relationship Id="rId40" Type="http://schemas.openxmlformats.org/officeDocument/2006/relationships/image" Target="../media/image-3-39.png"/><Relationship Id="rId41" Type="http://schemas.openxmlformats.org/officeDocument/2006/relationships/image" Target="../media/image-3-40.png"/><Relationship Id="rId42" Type="http://schemas.openxmlformats.org/officeDocument/2006/relationships/slideLayout" Target="../slideLayouts/slideLayout1.xml"/><Relationship Id="rId4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ib.gov.in/PressReleasePage.aspx?PRID=2112697" TargetMode="External"/><Relationship Id="rId4" Type="http://schemas.openxmlformats.org/officeDocument/2006/relationships/hyperlink" Target="https://static.pib.gov.in/WriteReadData/specificdocs/documents/2025/may/doc202551548801.pdf" TargetMode="External"/><Relationship Id="rId5" Type="http://schemas.openxmlformats.org/officeDocument/2006/relationships/hyperlink" Target="https://cag.gov.in" TargetMode="External"/><Relationship Id="rId6" Type="http://schemas.openxmlformats.org/officeDocument/2006/relationships/hyperlink" Target="https://rchiips.org/nfhs" TargetMode="External"/><Relationship Id="rId7" Type="http://schemas.openxmlformats.org/officeDocument/2006/relationships/hyperlink" Target="https://socialjustice.gov.in" TargetMode="External"/><Relationship Id="rId9" Type="http://schemas.openxmlformats.org/officeDocument/2006/relationships/hyperlink" Target="https://www.povertyactionlab.org" TargetMode="External"/><Relationship Id="rId10" Type="http://schemas.openxmlformats.org/officeDocument/2006/relationships/hyperlink" Target="https://gh.bmj.com" TargetMode="External"/><Relationship Id="rId11" Type="http://schemas.openxmlformats.org/officeDocument/2006/relationships/hyperlink" Target="https://arxiv.org/abs/2604.19151" TargetMode="External"/><Relationship Id="rId12" Type="http://schemas.openxmlformats.org/officeDocument/2006/relationships/hyperlink" Target="https://dl.acm.org" TargetMode="External"/><Relationship Id="rId14" Type="http://schemas.openxmlformats.org/officeDocument/2006/relationships/hyperlink" Target="https://docs.sarvam.ai" TargetMode="External"/><Relationship Id="rId15" Type="http://schemas.openxmlformats.org/officeDocument/2006/relationships/hyperlink" Target="https://developer.nvidia.com/blog" TargetMode="External"/><Relationship Id="rId16" Type="http://schemas.openxmlformats.org/officeDocument/2006/relationships/hyperlink" Target="https://artificialanalysis.ai/models/sarvam-30b" TargetMode="External"/><Relationship Id="rId17" Type="http://schemas.openxmlformats.org/officeDocument/2006/relationships/hyperlink" Target="https://ai4bharat.iitm.ac.in" TargetMode="External"/><Relationship Id="rId19" Type="http://schemas.openxmlformats.org/officeDocument/2006/relationships/hyperlink" Target="https://www.pib.gov.in/PressReleasePage.aspx?PRID=2265106" TargetMode="External"/><Relationship Id="rId20" Type="http://schemas.openxmlformats.org/officeDocument/2006/relationships/hyperlink" Target="https://www.nqr.gov.in" TargetMode="External"/><Relationship Id="rId21" Type="http://schemas.openxmlformats.org/officeDocument/2006/relationships/hyperlink" Target="https://www.meity.gov.in" TargetMode="External"/><Relationship Id="rId22" Type="http://schemas.openxmlformats.org/officeDocument/2006/relationships/hyperlink" Target="https://www.trai.gov.in" TargetMode="External"/><Relationship Id="rId23" Type="http://schemas.openxmlformats.org/officeDocument/2006/relationships/hyperlink" Target="https://eparlib.nic.in" TargetMode="External"/><Relationship Id="rId25" Type="http://schemas.openxmlformats.org/officeDocument/2006/relationships/hyperlink" Target="https://github.com/" TargetMode="External"/><Relationship Id="rId27" Type="http://schemas.openxmlformats.org/officeDocument/2006/relationships/hyperlink" Target="https://example.com/" TargetMode="External"/><Relationship Id="rId29" Type="http://schemas.openxmlformats.org/officeDocument/2006/relationships/hyperlink" Target="https://youtube.com/" TargetMode="External"/><Relationship Id="rId31" Type="http://schemas.openxmlformats.org/officeDocument/2006/relationships/hyperlink" Target="https://example.com/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8" Type="http://schemas.openxmlformats.org/officeDocument/2006/relationships/image" Target="../media/image-6-3.png"/><Relationship Id="rId13" Type="http://schemas.openxmlformats.org/officeDocument/2006/relationships/image" Target="../media/image-6-4.png"/><Relationship Id="rId18" Type="http://schemas.openxmlformats.org/officeDocument/2006/relationships/image" Target="../media/image-6-5.png"/><Relationship Id="rId24" Type="http://schemas.openxmlformats.org/officeDocument/2006/relationships/image" Target="../media/image-6-6.png"/><Relationship Id="rId26" Type="http://schemas.openxmlformats.org/officeDocument/2006/relationships/image" Target="../media/image-6-7.png"/><Relationship Id="rId28" Type="http://schemas.openxmlformats.org/officeDocument/2006/relationships/image" Target="../media/image-6-8.png"/><Relationship Id="rId30" Type="http://schemas.openxmlformats.org/officeDocument/2006/relationships/image" Target="../media/image-6-9.png"/><Relationship Id="rId32" Type="http://schemas.openxmlformats.org/officeDocument/2006/relationships/slideLayout" Target="../slideLayouts/slideLayout1.xml"/><Relationship Id="rId3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INDIA HACKATHON 2026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73152"/>
            <a:ext cx="1691640" cy="7955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194560" y="868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TITLE PAGE</a:t>
            </a:r>
            <a:endParaRPr lang="en-US" sz="2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737360"/>
            <a:ext cx="4023360" cy="190195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11480" y="1463040"/>
            <a:ext cx="4389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 – </a:t>
            </a: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SIH26097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 – </a:t>
            </a: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voice assistant for livelihood mapping and NSQF-aligned skilling recommendations for SC communities under the GIA component of PM-AJAY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– </a:t>
            </a: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Agriculture, FoodTech &amp; Rural Development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Category – </a:t>
            </a: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 – </a:t>
            </a:r>
            <a:r>
              <a:rPr lang="en-US" sz="1250" b="1" dirty="0">
                <a:solidFill>
                  <a:srgbClr val="D6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  (fill from the SIH portal)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 (Registered on portal) – </a:t>
            </a: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Cognify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64592"/>
            <a:ext cx="960120" cy="548640"/>
          </a:xfrm>
          <a:prstGeom prst="ellipse">
            <a:avLst/>
          </a:prstGeom>
          <a:solidFill>
            <a:srgbClr val="EAF0F8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56032" y="164592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Cognify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10972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SkillCall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548640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 ·  one free phone call that turns a person's skills into the right work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73152"/>
            <a:ext cx="1691640" cy="7955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503920" y="48737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74320" y="896112"/>
            <a:ext cx="4846320" cy="841248"/>
          </a:xfrm>
          <a:prstGeom prst="roundRect">
            <a:avLst>
              <a:gd name="adj" fmla="val 8696"/>
            </a:avLst>
          </a:prstGeom>
          <a:solidFill>
            <a:srgbClr val="FFEFDD"/>
          </a:solidFill>
          <a:ln w="9525">
            <a:solidFill>
              <a:srgbClr val="FFEFDD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9264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49808" y="941832"/>
            <a:ext cx="4279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8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course, then no job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749808" y="1133856"/>
            <a:ext cx="42793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what happens to SC families today (SIH26097 · MoSJE)</a:t>
            </a:r>
            <a:endParaRPr lang="en-US" sz="730" dirty="0"/>
          </a:p>
        </p:txBody>
      </p:sp>
      <p:sp>
        <p:nvSpPr>
          <p:cNvPr id="12" name="Text 8"/>
          <p:cNvSpPr txBox="1"/>
          <p:nvPr/>
        </p:nvSpPr>
        <p:spPr>
          <a:xfrm>
            <a:off x="365760" y="13350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PM-AJAY pays for </a:t>
            </a:r>
            <a:r>
              <a:rPr lang="en-US" sz="670" b="1" dirty="0">
                <a:solidFill>
                  <a:srgbClr val="EF8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training</a:t>
            </a:r>
            <a:r>
              <a:rPr lang="en-US" sz="67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670" b="1" dirty="0">
                <a:solidFill>
                  <a:srgbClr val="EF8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small-business support</a:t>
            </a:r>
            <a:r>
              <a:rPr lang="en-US" sz="67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(up to ₹50,000). But people are picked and placed through </a:t>
            </a:r>
            <a:r>
              <a:rPr lang="en-US" sz="67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forms and field visits</a:t>
            </a:r>
            <a:r>
              <a:rPr lang="en-US" sz="67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those who can't read, or don't know the trades, land in the wrong course.</a:t>
            </a:r>
            <a:endParaRPr lang="en-US" sz="670" dirty="0"/>
          </a:p>
        </p:txBody>
      </p:sp>
      <p:sp>
        <p:nvSpPr>
          <p:cNvPr id="13" name="Shape 9"/>
          <p:cNvSpPr/>
          <p:nvPr/>
        </p:nvSpPr>
        <p:spPr>
          <a:xfrm>
            <a:off x="5230368" y="896112"/>
            <a:ext cx="1170432" cy="841248"/>
          </a:xfrm>
          <a:prstGeom prst="roundRect">
            <a:avLst>
              <a:gd name="adj" fmla="val 8696"/>
            </a:avLst>
          </a:prstGeom>
          <a:solidFill>
            <a:srgbClr val="FFEFDD"/>
          </a:solidFill>
          <a:ln w="9525">
            <a:solidFill>
              <a:srgbClr val="FFEFDD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303520" y="93268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8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 got a job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5303520" y="115214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government training</a:t>
            </a:r>
            <a:endParaRPr lang="en-US" sz="680" dirty="0"/>
          </a:p>
        </p:txBody>
      </p:sp>
      <p:sp>
        <p:nvSpPr>
          <p:cNvPr id="16" name="Shape 12"/>
          <p:cNvSpPr/>
          <p:nvPr/>
        </p:nvSpPr>
        <p:spPr>
          <a:xfrm>
            <a:off x="5303520" y="1536192"/>
            <a:ext cx="1024128" cy="137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358384" y="1536192"/>
            <a:ext cx="9326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EF8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CAG audit 2025</a:t>
            </a:r>
            <a:endParaRPr lang="en-US" sz="600" dirty="0"/>
          </a:p>
        </p:txBody>
      </p:sp>
      <p:sp>
        <p:nvSpPr>
          <p:cNvPr id="18" name="Shape 14"/>
          <p:cNvSpPr/>
          <p:nvPr/>
        </p:nvSpPr>
        <p:spPr>
          <a:xfrm>
            <a:off x="6455664" y="896112"/>
            <a:ext cx="1170432" cy="841248"/>
          </a:xfrm>
          <a:prstGeom prst="roundRect">
            <a:avLst>
              <a:gd name="adj" fmla="val 8696"/>
            </a:avLst>
          </a:prstGeom>
          <a:solidFill>
            <a:srgbClr val="FBE7EF"/>
          </a:solidFill>
          <a:ln w="9525">
            <a:solidFill>
              <a:srgbClr val="FBE7E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528816" y="93268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64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 have no phone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6528816" y="115214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rural women, of their own</a:t>
            </a:r>
            <a:endParaRPr lang="en-US" sz="680" dirty="0"/>
          </a:p>
        </p:txBody>
      </p:sp>
      <p:sp>
        <p:nvSpPr>
          <p:cNvPr id="21" name="Shape 17"/>
          <p:cNvSpPr/>
          <p:nvPr/>
        </p:nvSpPr>
        <p:spPr>
          <a:xfrm>
            <a:off x="6528816" y="1536192"/>
            <a:ext cx="1024128" cy="137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583680" y="1536192"/>
            <a:ext cx="9326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D64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NFHS-6, 2023-24</a:t>
            </a:r>
            <a:endParaRPr lang="en-US" sz="600" dirty="0"/>
          </a:p>
        </p:txBody>
      </p:sp>
      <p:sp>
        <p:nvSpPr>
          <p:cNvPr id="23" name="Shape 19"/>
          <p:cNvSpPr/>
          <p:nvPr/>
        </p:nvSpPr>
        <p:spPr>
          <a:xfrm>
            <a:off x="7680960" y="896112"/>
            <a:ext cx="1170432" cy="841248"/>
          </a:xfrm>
          <a:prstGeom prst="roundRect">
            <a:avLst>
              <a:gd name="adj" fmla="val 8696"/>
            </a:avLst>
          </a:prstGeom>
          <a:solidFill>
            <a:srgbClr val="EDE9FE"/>
          </a:solidFill>
          <a:ln w="9525">
            <a:solidFill>
              <a:srgbClr val="EDE9FE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7754112" y="93268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5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 cannot read</a:t>
            </a:r>
            <a:endParaRPr lang="en-US" sz="950" dirty="0"/>
          </a:p>
        </p:txBody>
      </p:sp>
      <p:sp>
        <p:nvSpPr>
          <p:cNvPr id="25" name="Text 21"/>
          <p:cNvSpPr txBox="1"/>
          <p:nvPr/>
        </p:nvSpPr>
        <p:spPr>
          <a:xfrm>
            <a:off x="7754112" y="115214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SC adults</a:t>
            </a:r>
            <a:endParaRPr lang="en-US" sz="680" dirty="0"/>
          </a:p>
        </p:txBody>
      </p:sp>
      <p:sp>
        <p:nvSpPr>
          <p:cNvPr id="26" name="Shape 22"/>
          <p:cNvSpPr/>
          <p:nvPr/>
        </p:nvSpPr>
        <p:spPr>
          <a:xfrm>
            <a:off x="7754112" y="1536192"/>
            <a:ext cx="1024128" cy="137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7808976" y="1536192"/>
            <a:ext cx="9326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A5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Census 2011</a:t>
            </a:r>
            <a:endParaRPr lang="en-US" sz="600" dirty="0"/>
          </a:p>
        </p:txBody>
      </p:sp>
      <p:sp>
        <p:nvSpPr>
          <p:cNvPr id="28" name="Shape 24"/>
          <p:cNvSpPr/>
          <p:nvPr/>
        </p:nvSpPr>
        <p:spPr>
          <a:xfrm>
            <a:off x="274320" y="1810512"/>
            <a:ext cx="8595360" cy="292608"/>
          </a:xfrm>
          <a:prstGeom prst="roundRect">
            <a:avLst>
              <a:gd name="adj" fmla="val 25000"/>
            </a:avLst>
          </a:prstGeom>
          <a:solidFill>
            <a:srgbClr val="EAF0F8"/>
          </a:solidFill>
          <a:ln w="9525">
            <a:solidFill>
              <a:srgbClr val="EAF0F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274320" y="1810512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274320" y="181051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SERVE</a:t>
            </a:r>
            <a:endParaRPr lang="en-US" sz="750" dirty="0"/>
          </a:p>
        </p:txBody>
      </p:sp>
      <p:sp>
        <p:nvSpPr>
          <p:cNvPr id="31" name="Text 27"/>
          <p:cNvSpPr txBox="1"/>
          <p:nvPr/>
        </p:nvSpPr>
        <p:spPr>
          <a:xfrm>
            <a:off x="1554480" y="18105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20.14 crore  </a:t>
            </a: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 people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2743200" y="1810512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3017520" y="18105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5.9 crore  </a:t>
            </a: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(below poverty line)</a:t>
            </a:r>
            <a:endParaRPr lang="en-US" sz="950" dirty="0"/>
          </a:p>
        </p:txBody>
      </p:sp>
      <p:sp>
        <p:nvSpPr>
          <p:cNvPr id="34" name="Text 30"/>
          <p:cNvSpPr txBox="1"/>
          <p:nvPr/>
        </p:nvSpPr>
        <p:spPr>
          <a:xfrm>
            <a:off x="4617720" y="1810512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4892040" y="181051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50,000  </a:t>
            </a: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GIA support each year</a:t>
            </a:r>
            <a:endParaRPr lang="en-US" sz="950" dirty="0"/>
          </a:p>
        </p:txBody>
      </p:sp>
      <p:sp>
        <p:nvSpPr>
          <p:cNvPr id="36" name="Text 32"/>
          <p:cNvSpPr txBox="1"/>
          <p:nvPr/>
        </p:nvSpPr>
        <p:spPr>
          <a:xfrm>
            <a:off x="6355080" y="1810512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6629400" y="18105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8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 1 in 1,000  </a:t>
            </a: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year → every seat must fit</a:t>
            </a:r>
            <a:endParaRPr lang="en-US" sz="950" dirty="0"/>
          </a:p>
        </p:txBody>
      </p:sp>
      <p:sp>
        <p:nvSpPr>
          <p:cNvPr id="38" name="Text 34"/>
          <p:cNvSpPr txBox="1"/>
          <p:nvPr/>
        </p:nvSpPr>
        <p:spPr>
          <a:xfrm>
            <a:off x="274320" y="2121408"/>
            <a:ext cx="8595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2011 (via MoSJE Handbook 2021)  ·  SC poverty ratios 31.5% rural / 21.7% urban (Planning Commission, 2011-12)  ·  GIA: 2,01,006 beneficiaries in 2021-25 → ≈ 50,000 a year (PIB, 19 Mar 2025)</a:t>
            </a:r>
            <a:endParaRPr lang="en-US" sz="600" dirty="0"/>
          </a:p>
        </p:txBody>
      </p:sp>
      <p:sp>
        <p:nvSpPr>
          <p:cNvPr id="39" name="Text 35"/>
          <p:cNvSpPr txBox="1"/>
          <p:nvPr/>
        </p:nvSpPr>
        <p:spPr>
          <a:xfrm>
            <a:off x="274320" y="22860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  </a:t>
            </a: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10 minutes, on any keypad phone — four steps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274320" y="2487168"/>
            <a:ext cx="2093976" cy="1042416"/>
          </a:xfrm>
          <a:prstGeom prst="roundRect">
            <a:avLst>
              <a:gd name="adj" fmla="val 7018"/>
            </a:avLst>
          </a:prstGeom>
          <a:solidFill>
            <a:srgbClr val="E6EEFC"/>
          </a:solidFill>
          <a:ln w="9525">
            <a:solidFill>
              <a:srgbClr val="E6EEFC"/>
            </a:solidFill>
            <a:prstDash val="solid"/>
          </a:ln>
        </p:spPr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560320"/>
            <a:ext cx="274320" cy="274320"/>
          </a:xfrm>
          <a:prstGeom prst="rect">
            <a:avLst/>
          </a:prstGeom>
        </p:spPr>
      </p:pic>
      <p:sp>
        <p:nvSpPr>
          <p:cNvPr id="42" name="Text 37"/>
          <p:cNvSpPr txBox="1"/>
          <p:nvPr/>
        </p:nvSpPr>
        <p:spPr>
          <a:xfrm>
            <a:off x="713232" y="2532888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2E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call → free call-back</a:t>
            </a:r>
            <a:endParaRPr lang="en-US" sz="920" dirty="0"/>
          </a:p>
        </p:txBody>
      </p:sp>
      <p:sp>
        <p:nvSpPr>
          <p:cNvPr id="43" name="Text 38"/>
          <p:cNvSpPr txBox="1"/>
          <p:nvPr/>
        </p:nvSpPr>
        <p:spPr>
          <a:xfrm>
            <a:off x="713232" y="2724912"/>
            <a:ext cx="1563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a minute, in his language</a:t>
            </a:r>
            <a:endParaRPr lang="en-US" sz="730" dirty="0"/>
          </a:p>
        </p:txBody>
      </p:sp>
      <p:sp>
        <p:nvSpPr>
          <p:cNvPr id="44" name="Text 39"/>
          <p:cNvSpPr txBox="1"/>
          <p:nvPr/>
        </p:nvSpPr>
        <p:spPr>
          <a:xfrm>
            <a:off x="365760" y="2907792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gives a missed call; SkillCall calls back from a </a:t>
            </a:r>
            <a:r>
              <a:rPr lang="en-US" sz="660" b="1" dirty="0">
                <a:solidFill>
                  <a:srgbClr val="2E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1600 number</a:t>
            </a:r>
            <a:r>
              <a:rPr lang="en-US" sz="6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language he picks on the keypad. </a:t>
            </a:r>
            <a:r>
              <a:rPr lang="en-US" sz="660" b="1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app, no internet, no reading.</a:t>
            </a:r>
            <a:endParaRPr lang="en-US" sz="660" dirty="0"/>
          </a:p>
        </p:txBody>
      </p:sp>
      <p:sp>
        <p:nvSpPr>
          <p:cNvPr id="45" name="Shape 40"/>
          <p:cNvSpPr/>
          <p:nvPr/>
        </p:nvSpPr>
        <p:spPr>
          <a:xfrm>
            <a:off x="2441448" y="2487168"/>
            <a:ext cx="2093976" cy="1042416"/>
          </a:xfrm>
          <a:prstGeom prst="roundRect">
            <a:avLst>
              <a:gd name="adj" fmla="val 7018"/>
            </a:avLst>
          </a:prstGeom>
          <a:solidFill>
            <a:srgbClr val="E0F4F5"/>
          </a:solidFill>
          <a:ln w="9525">
            <a:solidFill>
              <a:srgbClr val="E0F4F5"/>
            </a:solidFill>
            <a:prstDash val="solid"/>
          </a:ln>
        </p:spPr>
      </p:sp>
      <p:pic>
        <p:nvPicPr>
          <p:cNvPr id="4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2888" y="2560320"/>
            <a:ext cx="274320" cy="274320"/>
          </a:xfrm>
          <a:prstGeom prst="rect">
            <a:avLst/>
          </a:prstGeom>
        </p:spPr>
      </p:pic>
      <p:sp>
        <p:nvSpPr>
          <p:cNvPr id="47" name="Text 41"/>
          <p:cNvSpPr txBox="1"/>
          <p:nvPr/>
        </p:nvSpPr>
        <p:spPr>
          <a:xfrm>
            <a:off x="2880360" y="2532888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3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for facts, voice for skills</a:t>
            </a:r>
            <a:endParaRPr lang="en-US" sz="920" dirty="0"/>
          </a:p>
        </p:txBody>
      </p:sp>
      <p:sp>
        <p:nvSpPr>
          <p:cNvPr id="48" name="Text 42"/>
          <p:cNvSpPr txBox="1"/>
          <p:nvPr/>
        </p:nvSpPr>
        <p:spPr>
          <a:xfrm>
            <a:off x="2880360" y="2724912"/>
            <a:ext cx="1563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 speech error can never hurt</a:t>
            </a:r>
            <a:endParaRPr lang="en-US" sz="730" dirty="0"/>
          </a:p>
        </p:txBody>
      </p:sp>
      <p:sp>
        <p:nvSpPr>
          <p:cNvPr id="49" name="Text 43"/>
          <p:cNvSpPr txBox="1"/>
          <p:nvPr/>
        </p:nvSpPr>
        <p:spPr>
          <a:xfrm>
            <a:off x="2532888" y="2907792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education, travel distance are </a:t>
            </a:r>
            <a:r>
              <a:rPr lang="en-US" sz="660" b="1" dirty="0">
                <a:solidFill>
                  <a:srgbClr val="13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pressed on keys</a:t>
            </a:r>
            <a:r>
              <a:rPr lang="en-US" sz="6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eligibility never depends on speech. Then "Aap kya kaam karte ho?" — the AI maps his work to an </a:t>
            </a:r>
            <a:r>
              <a:rPr lang="en-US" sz="660" b="1" dirty="0">
                <a:solidFill>
                  <a:srgbClr val="13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NCO code</a:t>
            </a:r>
            <a:r>
              <a:rPr lang="en-US" sz="6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asks about his skills.</a:t>
            </a:r>
            <a:endParaRPr lang="en-US" sz="660" dirty="0"/>
          </a:p>
        </p:txBody>
      </p:sp>
      <p:sp>
        <p:nvSpPr>
          <p:cNvPr id="50" name="Shape 44"/>
          <p:cNvSpPr/>
          <p:nvPr/>
        </p:nvSpPr>
        <p:spPr>
          <a:xfrm>
            <a:off x="4608576" y="2487168"/>
            <a:ext cx="2093976" cy="1042416"/>
          </a:xfrm>
          <a:prstGeom prst="roundRect">
            <a:avLst>
              <a:gd name="adj" fmla="val 7018"/>
            </a:avLst>
          </a:prstGeom>
          <a:solidFill>
            <a:srgbClr val="E3F6EC"/>
          </a:solidFill>
          <a:ln w="9525">
            <a:solidFill>
              <a:srgbClr val="E3F6EC"/>
            </a:solidFill>
            <a:prstDash val="solid"/>
          </a:ln>
        </p:spPr>
      </p:sp>
      <p:pic>
        <p:nvPicPr>
          <p:cNvPr id="5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0016" y="2560320"/>
            <a:ext cx="274320" cy="274320"/>
          </a:xfrm>
          <a:prstGeom prst="rect">
            <a:avLst/>
          </a:prstGeom>
        </p:spPr>
      </p:pic>
      <p:sp>
        <p:nvSpPr>
          <p:cNvPr id="52" name="Text 45"/>
          <p:cNvSpPr txBox="1"/>
          <p:nvPr/>
        </p:nvSpPr>
        <p:spPr>
          <a:xfrm>
            <a:off x="5047488" y="2532888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→ 1–4 options that fit</a:t>
            </a:r>
            <a:endParaRPr lang="en-US" sz="920" dirty="0"/>
          </a:p>
        </p:txBody>
      </p:sp>
      <p:sp>
        <p:nvSpPr>
          <p:cNvPr id="53" name="Text 46"/>
          <p:cNvSpPr txBox="1"/>
          <p:nvPr/>
        </p:nvSpPr>
        <p:spPr>
          <a:xfrm>
            <a:off x="5047488" y="2724912"/>
            <a:ext cx="1563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 checked before it is spoken</a:t>
            </a:r>
            <a:endParaRPr lang="en-US" sz="730" dirty="0"/>
          </a:p>
        </p:txBody>
      </p:sp>
      <p:sp>
        <p:nvSpPr>
          <p:cNvPr id="54" name="Text 47"/>
          <p:cNvSpPr txBox="1"/>
          <p:nvPr/>
        </p:nvSpPr>
        <p:spPr>
          <a:xfrm>
            <a:off x="4700016" y="2907792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hears everything back and presses 1 to confirm — </a:t>
            </a:r>
            <a:r>
              <a:rPr lang="en-US" sz="660" b="1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writes the profile, no paper</a:t>
            </a:r>
            <a:r>
              <a:rPr lang="en-US" sz="6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Then only courses, schemes or jobs near him that truly fit. </a:t>
            </a:r>
            <a:r>
              <a:rPr lang="en-US" sz="660" b="1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can ask any doubt.</a:t>
            </a:r>
            <a:endParaRPr lang="en-US" sz="660" dirty="0"/>
          </a:p>
        </p:txBody>
      </p:sp>
      <p:sp>
        <p:nvSpPr>
          <p:cNvPr id="55" name="Shape 48"/>
          <p:cNvSpPr/>
          <p:nvPr/>
        </p:nvSpPr>
        <p:spPr>
          <a:xfrm>
            <a:off x="6775704" y="2487168"/>
            <a:ext cx="2093976" cy="1042416"/>
          </a:xfrm>
          <a:prstGeom prst="roundRect">
            <a:avLst>
              <a:gd name="adj" fmla="val 7018"/>
            </a:avLst>
          </a:prstGeom>
          <a:solidFill>
            <a:srgbClr val="FFEFDD"/>
          </a:solidFill>
          <a:ln w="9525">
            <a:solidFill>
              <a:srgbClr val="FFEFDD"/>
            </a:solidFill>
            <a:prstDash val="solid"/>
          </a:ln>
        </p:spPr>
      </p:sp>
      <p:pic>
        <p:nvPicPr>
          <p:cNvPr id="5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7144" y="2560320"/>
            <a:ext cx="274320" cy="274320"/>
          </a:xfrm>
          <a:prstGeom prst="rect">
            <a:avLst/>
          </a:prstGeom>
        </p:spPr>
      </p:pic>
      <p:sp>
        <p:nvSpPr>
          <p:cNvPr id="57" name="Text 49"/>
          <p:cNvSpPr txBox="1"/>
          <p:nvPr/>
        </p:nvSpPr>
        <p:spPr>
          <a:xfrm>
            <a:off x="7214616" y="2532888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EF8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&amp; follow-up</a:t>
            </a:r>
            <a:endParaRPr lang="en-US" sz="920" dirty="0"/>
          </a:p>
        </p:txBody>
      </p:sp>
      <p:sp>
        <p:nvSpPr>
          <p:cNvPr id="58" name="Text 50"/>
          <p:cNvSpPr txBox="1"/>
          <p:nvPr/>
        </p:nvSpPr>
        <p:spPr>
          <a:xfrm>
            <a:off x="7214616" y="2724912"/>
            <a:ext cx="1563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→ officer → 3 calls</a:t>
            </a:r>
            <a:endParaRPr lang="en-US" sz="730" dirty="0"/>
          </a:p>
        </p:txBody>
      </p:sp>
      <p:sp>
        <p:nvSpPr>
          <p:cNvPr id="59" name="Text 51"/>
          <p:cNvSpPr txBox="1"/>
          <p:nvPr/>
        </p:nvSpPr>
        <p:spPr>
          <a:xfrm>
            <a:off x="6867144" y="2907792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with </a:t>
            </a:r>
            <a:r>
              <a:rPr lang="en-US" sz="660" b="1" dirty="0">
                <a:solidFill>
                  <a:srgbClr val="EF8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ID + nearest CSC</a:t>
            </a:r>
            <a:r>
              <a:rPr lang="en-US" sz="6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the officer approves in the AJAY app; SkillCall calls at </a:t>
            </a:r>
            <a:r>
              <a:rPr lang="en-US" sz="660" b="1" dirty="0">
                <a:solidFill>
                  <a:srgbClr val="EF8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3 and 6 months</a:t>
            </a:r>
            <a:r>
              <a:rPr lang="en-US" sz="6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until he is earning.</a:t>
            </a:r>
            <a:endParaRPr lang="en-US" sz="660" dirty="0"/>
          </a:p>
        </p:txBody>
      </p:sp>
      <p:sp>
        <p:nvSpPr>
          <p:cNvPr id="60" name="Text 52"/>
          <p:cNvSpPr txBox="1"/>
          <p:nvPr/>
        </p:nvSpPr>
        <p:spPr>
          <a:xfrm>
            <a:off x="274320" y="3621024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7A5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DIFFERENT  </a:t>
            </a: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 a paper form can never do</a:t>
            </a:r>
            <a:endParaRPr lang="en-US" sz="850" dirty="0"/>
          </a:p>
        </p:txBody>
      </p:sp>
      <p:sp>
        <p:nvSpPr>
          <p:cNvPr id="61" name="Shape 53"/>
          <p:cNvSpPr/>
          <p:nvPr/>
        </p:nvSpPr>
        <p:spPr>
          <a:xfrm>
            <a:off x="274320" y="3822192"/>
            <a:ext cx="166055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pic>
        <p:nvPicPr>
          <p:cNvPr id="6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3895344"/>
            <a:ext cx="256032" cy="256032"/>
          </a:xfrm>
          <a:prstGeom prst="rect">
            <a:avLst/>
          </a:prstGeom>
        </p:spPr>
      </p:pic>
      <p:sp>
        <p:nvSpPr>
          <p:cNvPr id="63" name="Text 54"/>
          <p:cNvSpPr txBox="1"/>
          <p:nvPr/>
        </p:nvSpPr>
        <p:spPr>
          <a:xfrm>
            <a:off x="694944" y="3867912"/>
            <a:ext cx="11484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13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questions</a:t>
            </a:r>
            <a:endParaRPr lang="en-US" sz="840" dirty="0"/>
          </a:p>
        </p:txBody>
      </p:sp>
      <p:sp>
        <p:nvSpPr>
          <p:cNvPr id="64" name="Text 55"/>
          <p:cNvSpPr txBox="1"/>
          <p:nvPr/>
        </p:nvSpPr>
        <p:spPr>
          <a:xfrm>
            <a:off x="694944" y="4059936"/>
            <a:ext cx="114848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depends on the last answer</a:t>
            </a:r>
            <a:endParaRPr lang="en-US" sz="680" dirty="0"/>
          </a:p>
        </p:txBody>
      </p:sp>
      <p:sp>
        <p:nvSpPr>
          <p:cNvPr id="65" name="Text 56"/>
          <p:cNvSpPr txBox="1"/>
          <p:nvPr/>
        </p:nvSpPr>
        <p:spPr>
          <a:xfrm>
            <a:off x="365760" y="4242816"/>
            <a:ext cx="14776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mechanic → engine, tyres, oil — </a:t>
            </a:r>
            <a:r>
              <a:rPr lang="en-US" sz="640" b="1" dirty="0">
                <a:solidFill>
                  <a:srgbClr val="13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generic form</a:t>
            </a:r>
            <a:r>
              <a:rPr lang="en-US" sz="6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640" dirty="0"/>
          </a:p>
        </p:txBody>
      </p:sp>
      <p:sp>
        <p:nvSpPr>
          <p:cNvPr id="66" name="Shape 57"/>
          <p:cNvSpPr/>
          <p:nvPr/>
        </p:nvSpPr>
        <p:spPr>
          <a:xfrm>
            <a:off x="2008022" y="3822192"/>
            <a:ext cx="166055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pic>
        <p:nvPicPr>
          <p:cNvPr id="6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99462" y="3895344"/>
            <a:ext cx="256032" cy="256032"/>
          </a:xfrm>
          <a:prstGeom prst="rect">
            <a:avLst/>
          </a:prstGeom>
        </p:spPr>
      </p:pic>
      <p:sp>
        <p:nvSpPr>
          <p:cNvPr id="68" name="Text 58"/>
          <p:cNvSpPr txBox="1"/>
          <p:nvPr/>
        </p:nvSpPr>
        <p:spPr>
          <a:xfrm>
            <a:off x="2428646" y="3867912"/>
            <a:ext cx="11484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D49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writes itself</a:t>
            </a:r>
            <a:endParaRPr lang="en-US" sz="840" dirty="0"/>
          </a:p>
        </p:txBody>
      </p:sp>
      <p:sp>
        <p:nvSpPr>
          <p:cNvPr id="69" name="Text 59"/>
          <p:cNvSpPr txBox="1"/>
          <p:nvPr/>
        </p:nvSpPr>
        <p:spPr>
          <a:xfrm>
            <a:off x="2428646" y="4059936"/>
            <a:ext cx="114848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only review and approve</a:t>
            </a:r>
            <a:endParaRPr lang="en-US" sz="680" dirty="0"/>
          </a:p>
        </p:txBody>
      </p:sp>
      <p:sp>
        <p:nvSpPr>
          <p:cNvPr id="70" name="Text 60"/>
          <p:cNvSpPr txBox="1"/>
          <p:nvPr/>
        </p:nvSpPr>
        <p:spPr>
          <a:xfrm>
            <a:off x="2099462" y="4242816"/>
            <a:ext cx="14776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fills the </a:t>
            </a:r>
            <a:r>
              <a:rPr lang="en-US" sz="640" b="1" dirty="0">
                <a:solidFill>
                  <a:srgbClr val="D49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profile table</a:t>
            </a:r>
            <a:r>
              <a:rPr lang="en-US" sz="6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proper format.</a:t>
            </a:r>
            <a:endParaRPr lang="en-US" sz="640" dirty="0"/>
          </a:p>
        </p:txBody>
      </p:sp>
      <p:sp>
        <p:nvSpPr>
          <p:cNvPr id="71" name="Shape 61"/>
          <p:cNvSpPr/>
          <p:nvPr/>
        </p:nvSpPr>
        <p:spPr>
          <a:xfrm>
            <a:off x="3741725" y="3822192"/>
            <a:ext cx="166055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pic>
        <p:nvPicPr>
          <p:cNvPr id="7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33165" y="3895344"/>
            <a:ext cx="256032" cy="256032"/>
          </a:xfrm>
          <a:prstGeom prst="rect">
            <a:avLst/>
          </a:prstGeom>
        </p:spPr>
      </p:pic>
      <p:sp>
        <p:nvSpPr>
          <p:cNvPr id="73" name="Text 62"/>
          <p:cNvSpPr txBox="1"/>
          <p:nvPr/>
        </p:nvSpPr>
        <p:spPr>
          <a:xfrm>
            <a:off x="4162349" y="3867912"/>
            <a:ext cx="11484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facts only</a:t>
            </a:r>
            <a:endParaRPr lang="en-US" sz="840" dirty="0"/>
          </a:p>
        </p:txBody>
      </p:sp>
      <p:sp>
        <p:nvSpPr>
          <p:cNvPr id="74" name="Text 63"/>
          <p:cNvSpPr txBox="1"/>
          <p:nvPr/>
        </p:nvSpPr>
        <p:spPr>
          <a:xfrm>
            <a:off x="4162349" y="4059936"/>
            <a:ext cx="114848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data + SATYA double-check</a:t>
            </a:r>
            <a:endParaRPr lang="en-US" sz="680" dirty="0"/>
          </a:p>
        </p:txBody>
      </p:sp>
      <p:sp>
        <p:nvSpPr>
          <p:cNvPr id="75" name="Text 64"/>
          <p:cNvSpPr txBox="1"/>
          <p:nvPr/>
        </p:nvSpPr>
        <p:spPr>
          <a:xfrm>
            <a:off x="3833165" y="4242816"/>
            <a:ext cx="14776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come only from loaded rules, NQR courses, NCO codes, centres; SATYA matches each fact to a DB row — </a:t>
            </a:r>
            <a:r>
              <a:rPr lang="en-US" sz="640" b="1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 → not said</a:t>
            </a:r>
            <a:r>
              <a:rPr lang="en-US" sz="6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640" dirty="0"/>
          </a:p>
        </p:txBody>
      </p:sp>
      <p:sp>
        <p:nvSpPr>
          <p:cNvPr id="76" name="Shape 65"/>
          <p:cNvSpPr/>
          <p:nvPr/>
        </p:nvSpPr>
        <p:spPr>
          <a:xfrm>
            <a:off x="5475427" y="3822192"/>
            <a:ext cx="166055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pic>
        <p:nvPicPr>
          <p:cNvPr id="7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66867" y="3895344"/>
            <a:ext cx="256032" cy="256032"/>
          </a:xfrm>
          <a:prstGeom prst="rect">
            <a:avLst/>
          </a:prstGeom>
        </p:spPr>
      </p:pic>
      <p:sp>
        <p:nvSpPr>
          <p:cNvPr id="78" name="Text 66"/>
          <p:cNvSpPr txBox="1"/>
          <p:nvPr/>
        </p:nvSpPr>
        <p:spPr>
          <a:xfrm>
            <a:off x="5896051" y="3867912"/>
            <a:ext cx="11484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EF8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AI first</a:t>
            </a:r>
            <a:endParaRPr lang="en-US" sz="840" dirty="0"/>
          </a:p>
        </p:txBody>
      </p:sp>
      <p:sp>
        <p:nvSpPr>
          <p:cNvPr id="79" name="Text 67"/>
          <p:cNvSpPr txBox="1"/>
          <p:nvPr/>
        </p:nvSpPr>
        <p:spPr>
          <a:xfrm>
            <a:off x="5896051" y="4059936"/>
            <a:ext cx="114848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model, then a human, only if needed</a:t>
            </a:r>
            <a:endParaRPr lang="en-US" sz="680" dirty="0"/>
          </a:p>
        </p:txBody>
      </p:sp>
      <p:sp>
        <p:nvSpPr>
          <p:cNvPr id="80" name="Text 68"/>
          <p:cNvSpPr txBox="1"/>
          <p:nvPr/>
        </p:nvSpPr>
        <p:spPr>
          <a:xfrm>
            <a:off x="5566867" y="4242816"/>
            <a:ext cx="14776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answers get </a:t>
            </a:r>
            <a:r>
              <a:rPr lang="en-US" sz="640" b="1" dirty="0">
                <a:solidFill>
                  <a:srgbClr val="EF8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</a:t>
            </a:r>
            <a:r>
              <a:rPr lang="en-US" sz="6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cost falls over time.</a:t>
            </a:r>
            <a:endParaRPr lang="en-US" sz="640" dirty="0"/>
          </a:p>
        </p:txBody>
      </p:sp>
      <p:sp>
        <p:nvSpPr>
          <p:cNvPr id="81" name="Shape 69"/>
          <p:cNvSpPr/>
          <p:nvPr/>
        </p:nvSpPr>
        <p:spPr>
          <a:xfrm>
            <a:off x="7209130" y="3822192"/>
            <a:ext cx="166055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pic>
        <p:nvPicPr>
          <p:cNvPr id="8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00570" y="3895344"/>
            <a:ext cx="256032" cy="256032"/>
          </a:xfrm>
          <a:prstGeom prst="rect">
            <a:avLst/>
          </a:prstGeom>
        </p:spPr>
      </p:pic>
      <p:sp>
        <p:nvSpPr>
          <p:cNvPr id="83" name="Text 70"/>
          <p:cNvSpPr txBox="1"/>
          <p:nvPr/>
        </p:nvSpPr>
        <p:spPr>
          <a:xfrm>
            <a:off x="7629754" y="3867912"/>
            <a:ext cx="11484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E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portal too</a:t>
            </a:r>
            <a:endParaRPr lang="en-US" sz="840" dirty="0"/>
          </a:p>
        </p:txBody>
      </p:sp>
      <p:sp>
        <p:nvSpPr>
          <p:cNvPr id="84" name="Text 71"/>
          <p:cNvSpPr txBox="1"/>
          <p:nvPr/>
        </p:nvSpPr>
        <p:spPr>
          <a:xfrm>
            <a:off x="7629754" y="4059936"/>
            <a:ext cx="114848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case, no call needed</a:t>
            </a:r>
            <a:endParaRPr lang="en-US" sz="680" dirty="0"/>
          </a:p>
        </p:txBody>
      </p:sp>
      <p:sp>
        <p:nvSpPr>
          <p:cNvPr id="85" name="Text 72"/>
          <p:cNvSpPr txBox="1"/>
          <p:nvPr/>
        </p:nvSpPr>
        <p:spPr>
          <a:xfrm>
            <a:off x="7300570" y="4242816"/>
            <a:ext cx="14776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" b="1" dirty="0">
                <a:solidFill>
                  <a:srgbClr val="2E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+ OTP</a:t>
            </a:r>
            <a:r>
              <a:rPr lang="en-US" sz="6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login for the family, CSC or officer to view or edit.</a:t>
            </a:r>
            <a:endParaRPr lang="en-US" sz="640" dirty="0"/>
          </a:p>
        </p:txBody>
      </p:sp>
      <p:sp>
        <p:nvSpPr>
          <p:cNvPr id="86" name="Text 73"/>
          <p:cNvSpPr txBox="1"/>
          <p:nvPr/>
        </p:nvSpPr>
        <p:spPr>
          <a:xfrm>
            <a:off x="274320" y="4754880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answers the 5 GIA issues in the brief:  </a:t>
            </a:r>
            <a:r>
              <a:rPr lang="en-US" sz="68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 ·  beneficiary selection  ·  placement after training  ·  coordination  ·  too few ground staff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64592"/>
            <a:ext cx="960120" cy="548640"/>
          </a:xfrm>
          <a:prstGeom prst="ellipse">
            <a:avLst/>
          </a:prstGeom>
          <a:solidFill>
            <a:srgbClr val="EAF0F8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56032" y="164592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Cognify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1828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APPROACH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73152"/>
            <a:ext cx="1691640" cy="7955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503920" y="48737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8961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 </a:t>
            </a: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Indian, open where possible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74320" y="1097280"/>
            <a:ext cx="2834640" cy="640080"/>
          </a:xfrm>
          <a:prstGeom prst="roundRect">
            <a:avLst>
              <a:gd name="adj" fmla="val 11429"/>
            </a:avLst>
          </a:prstGeom>
          <a:solidFill>
            <a:srgbClr val="E6EEFC"/>
          </a:solidFill>
          <a:ln w="9525">
            <a:solidFill>
              <a:srgbClr val="E6EEF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5760" y="112471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E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&amp; voice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38328" y="1316736"/>
            <a:ext cx="132588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344168"/>
            <a:ext cx="128016" cy="1280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7784" y="1316736"/>
            <a:ext cx="1069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Exotel / Plivo</a:t>
            </a:r>
            <a:endParaRPr lang="en-US" sz="720" dirty="0"/>
          </a:p>
        </p:txBody>
      </p:sp>
      <p:sp>
        <p:nvSpPr>
          <p:cNvPr id="13" name="Shape 9"/>
          <p:cNvSpPr/>
          <p:nvPr/>
        </p:nvSpPr>
        <p:spPr>
          <a:xfrm>
            <a:off x="1719072" y="1316736"/>
            <a:ext cx="132588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792" y="1344168"/>
            <a:ext cx="128016" cy="12801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938528" y="1316736"/>
            <a:ext cx="1069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API</a:t>
            </a:r>
            <a:endParaRPr lang="en-US" sz="720" dirty="0"/>
          </a:p>
        </p:txBody>
      </p:sp>
      <p:sp>
        <p:nvSpPr>
          <p:cNvPr id="16" name="Shape 11"/>
          <p:cNvSpPr/>
          <p:nvPr/>
        </p:nvSpPr>
        <p:spPr>
          <a:xfrm>
            <a:off x="338328" y="1527048"/>
            <a:ext cx="132588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554480"/>
            <a:ext cx="128016" cy="12801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57784" y="1527048"/>
            <a:ext cx="1069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Pipecat voice server</a:t>
            </a:r>
            <a:endParaRPr lang="en-US" sz="720" dirty="0"/>
          </a:p>
        </p:txBody>
      </p:sp>
      <p:sp>
        <p:nvSpPr>
          <p:cNvPr id="19" name="Shape 13"/>
          <p:cNvSpPr/>
          <p:nvPr/>
        </p:nvSpPr>
        <p:spPr>
          <a:xfrm>
            <a:off x="274320" y="1792224"/>
            <a:ext cx="2834640" cy="850392"/>
          </a:xfrm>
          <a:prstGeom prst="roundRect">
            <a:avLst>
              <a:gd name="adj" fmla="val 8602"/>
            </a:avLst>
          </a:prstGeom>
          <a:solidFill>
            <a:srgbClr val="EDE9FE"/>
          </a:solidFill>
          <a:ln w="9525">
            <a:solidFill>
              <a:srgbClr val="EDE9FE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365760" y="181965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A5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</a:t>
            </a:r>
            <a:endParaRPr lang="en-US" sz="750" dirty="0"/>
          </a:p>
        </p:txBody>
      </p:sp>
      <p:sp>
        <p:nvSpPr>
          <p:cNvPr id="21" name="Shape 15"/>
          <p:cNvSpPr/>
          <p:nvPr/>
        </p:nvSpPr>
        <p:spPr>
          <a:xfrm>
            <a:off x="338328" y="2011680"/>
            <a:ext cx="132588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2039112"/>
            <a:ext cx="128016" cy="12801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57784" y="2011680"/>
            <a:ext cx="1069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Saaras v3 · STT</a:t>
            </a:r>
            <a:endParaRPr lang="en-US" sz="720" dirty="0"/>
          </a:p>
        </p:txBody>
      </p:sp>
      <p:sp>
        <p:nvSpPr>
          <p:cNvPr id="24" name="Shape 17"/>
          <p:cNvSpPr/>
          <p:nvPr/>
        </p:nvSpPr>
        <p:spPr>
          <a:xfrm>
            <a:off x="1719072" y="2011680"/>
            <a:ext cx="132588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64792" y="2039112"/>
            <a:ext cx="128016" cy="12801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938528" y="2011680"/>
            <a:ext cx="1069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Bulbul v3 · TTS</a:t>
            </a:r>
            <a:endParaRPr lang="en-US" sz="720" dirty="0"/>
          </a:p>
        </p:txBody>
      </p:sp>
      <p:sp>
        <p:nvSpPr>
          <p:cNvPr id="27" name="Shape 19"/>
          <p:cNvSpPr/>
          <p:nvPr/>
        </p:nvSpPr>
        <p:spPr>
          <a:xfrm>
            <a:off x="338328" y="2221992"/>
            <a:ext cx="132588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2249424"/>
            <a:ext cx="128016" cy="128016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557784" y="2221992"/>
            <a:ext cx="1069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Sarvam-30B / 105B</a:t>
            </a:r>
            <a:endParaRPr lang="en-US" sz="720" dirty="0"/>
          </a:p>
        </p:txBody>
      </p:sp>
      <p:sp>
        <p:nvSpPr>
          <p:cNvPr id="30" name="Shape 21"/>
          <p:cNvSpPr/>
          <p:nvPr/>
        </p:nvSpPr>
        <p:spPr>
          <a:xfrm>
            <a:off x="1719072" y="2221992"/>
            <a:ext cx="132588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64792" y="2249424"/>
            <a:ext cx="128016" cy="128016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1938528" y="2221992"/>
            <a:ext cx="1069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IndicConformer</a:t>
            </a:r>
            <a:endParaRPr lang="en-US" sz="720" dirty="0"/>
          </a:p>
        </p:txBody>
      </p:sp>
      <p:sp>
        <p:nvSpPr>
          <p:cNvPr id="33" name="Shape 23"/>
          <p:cNvSpPr/>
          <p:nvPr/>
        </p:nvSpPr>
        <p:spPr>
          <a:xfrm>
            <a:off x="338328" y="2432304"/>
            <a:ext cx="132588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4048" y="2459736"/>
            <a:ext cx="128016" cy="128016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557784" y="2432304"/>
            <a:ext cx="1069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Bhashini</a:t>
            </a:r>
            <a:endParaRPr lang="en-US" sz="720" dirty="0"/>
          </a:p>
        </p:txBody>
      </p:sp>
      <p:sp>
        <p:nvSpPr>
          <p:cNvPr id="36" name="Shape 25"/>
          <p:cNvSpPr/>
          <p:nvPr/>
        </p:nvSpPr>
        <p:spPr>
          <a:xfrm>
            <a:off x="1719072" y="2432304"/>
            <a:ext cx="132588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4792" y="2459736"/>
            <a:ext cx="128016" cy="128016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1938528" y="2432304"/>
            <a:ext cx="1069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SATYA (ours)</a:t>
            </a:r>
            <a:endParaRPr lang="en-US" sz="720" dirty="0"/>
          </a:p>
        </p:txBody>
      </p:sp>
      <p:sp>
        <p:nvSpPr>
          <p:cNvPr id="39" name="Shape 27"/>
          <p:cNvSpPr/>
          <p:nvPr/>
        </p:nvSpPr>
        <p:spPr>
          <a:xfrm>
            <a:off x="274320" y="2697480"/>
            <a:ext cx="2834640" cy="850392"/>
          </a:xfrm>
          <a:prstGeom prst="roundRect">
            <a:avLst>
              <a:gd name="adj" fmla="val 8602"/>
            </a:avLst>
          </a:prstGeom>
          <a:solidFill>
            <a:srgbClr val="E3F6EC"/>
          </a:solidFill>
          <a:ln w="9525">
            <a:solidFill>
              <a:srgbClr val="E3F6EC"/>
            </a:solidFill>
            <a:prstDash val="solid"/>
          </a:ln>
        </p:spPr>
      </p:sp>
      <p:sp>
        <p:nvSpPr>
          <p:cNvPr id="40" name="Text 28"/>
          <p:cNvSpPr txBox="1"/>
          <p:nvPr/>
        </p:nvSpPr>
        <p:spPr>
          <a:xfrm>
            <a:off x="365760" y="272491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data</a:t>
            </a:r>
            <a:endParaRPr lang="en-US" sz="750" dirty="0"/>
          </a:p>
        </p:txBody>
      </p:sp>
      <p:sp>
        <p:nvSpPr>
          <p:cNvPr id="41" name="Shape 29"/>
          <p:cNvSpPr/>
          <p:nvPr/>
        </p:nvSpPr>
        <p:spPr>
          <a:xfrm>
            <a:off x="338328" y="2916936"/>
            <a:ext cx="132588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4048" y="2944368"/>
            <a:ext cx="128016" cy="128016"/>
          </a:xfrm>
          <a:prstGeom prst="rect">
            <a:avLst/>
          </a:prstGeom>
        </p:spPr>
      </p:pic>
      <p:sp>
        <p:nvSpPr>
          <p:cNvPr id="43" name="Text 30"/>
          <p:cNvSpPr txBox="1"/>
          <p:nvPr/>
        </p:nvSpPr>
        <p:spPr>
          <a:xfrm>
            <a:off x="557784" y="2916936"/>
            <a:ext cx="1069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720" dirty="0"/>
          </a:p>
        </p:txBody>
      </p:sp>
      <p:sp>
        <p:nvSpPr>
          <p:cNvPr id="44" name="Shape 31"/>
          <p:cNvSpPr/>
          <p:nvPr/>
        </p:nvSpPr>
        <p:spPr>
          <a:xfrm>
            <a:off x="1719072" y="2916936"/>
            <a:ext cx="132588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64792" y="2944368"/>
            <a:ext cx="128016" cy="128016"/>
          </a:xfrm>
          <a:prstGeom prst="rect">
            <a:avLst/>
          </a:prstGeom>
        </p:spPr>
      </p:pic>
      <p:sp>
        <p:nvSpPr>
          <p:cNvPr id="46" name="Text 32"/>
          <p:cNvSpPr txBox="1"/>
          <p:nvPr/>
        </p:nvSpPr>
        <p:spPr>
          <a:xfrm>
            <a:off x="1938528" y="2916936"/>
            <a:ext cx="1069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720" dirty="0"/>
          </a:p>
        </p:txBody>
      </p:sp>
      <p:sp>
        <p:nvSpPr>
          <p:cNvPr id="47" name="Shape 33"/>
          <p:cNvSpPr/>
          <p:nvPr/>
        </p:nvSpPr>
        <p:spPr>
          <a:xfrm>
            <a:off x="338328" y="3127248"/>
            <a:ext cx="132588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pic>
        <p:nvPicPr>
          <p:cNvPr id="4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4048" y="3154680"/>
            <a:ext cx="128016" cy="128016"/>
          </a:xfrm>
          <a:prstGeom prst="rect">
            <a:avLst/>
          </a:prstGeom>
        </p:spPr>
      </p:pic>
      <p:sp>
        <p:nvSpPr>
          <p:cNvPr id="49" name="Text 34"/>
          <p:cNvSpPr txBox="1"/>
          <p:nvPr/>
        </p:nvSpPr>
        <p:spPr>
          <a:xfrm>
            <a:off x="557784" y="3127248"/>
            <a:ext cx="1069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</a:t>
            </a:r>
            <a:endParaRPr lang="en-US" sz="720" dirty="0"/>
          </a:p>
        </p:txBody>
      </p:sp>
      <p:sp>
        <p:nvSpPr>
          <p:cNvPr id="50" name="Shape 35"/>
          <p:cNvSpPr/>
          <p:nvPr/>
        </p:nvSpPr>
        <p:spPr>
          <a:xfrm>
            <a:off x="1719072" y="3127248"/>
            <a:ext cx="132588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pic>
        <p:nvPicPr>
          <p:cNvPr id="5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64792" y="3154680"/>
            <a:ext cx="128016" cy="128016"/>
          </a:xfrm>
          <a:prstGeom prst="rect">
            <a:avLst/>
          </a:prstGeom>
        </p:spPr>
      </p:pic>
      <p:sp>
        <p:nvSpPr>
          <p:cNvPr id="52" name="Text 36"/>
          <p:cNvSpPr txBox="1"/>
          <p:nvPr/>
        </p:nvSpPr>
        <p:spPr>
          <a:xfrm>
            <a:off x="1938528" y="3127248"/>
            <a:ext cx="1069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720" dirty="0"/>
          </a:p>
        </p:txBody>
      </p:sp>
      <p:sp>
        <p:nvSpPr>
          <p:cNvPr id="53" name="Shape 37"/>
          <p:cNvSpPr/>
          <p:nvPr/>
        </p:nvSpPr>
        <p:spPr>
          <a:xfrm>
            <a:off x="338328" y="3337560"/>
            <a:ext cx="132588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pic>
        <p:nvPicPr>
          <p:cNvPr id="5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4048" y="3364992"/>
            <a:ext cx="128016" cy="128016"/>
          </a:xfrm>
          <a:prstGeom prst="rect">
            <a:avLst/>
          </a:prstGeom>
        </p:spPr>
      </p:pic>
      <p:sp>
        <p:nvSpPr>
          <p:cNvPr id="55" name="Text 38"/>
          <p:cNvSpPr txBox="1"/>
          <p:nvPr/>
        </p:nvSpPr>
        <p:spPr>
          <a:xfrm>
            <a:off x="557784" y="3337560"/>
            <a:ext cx="1069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720" dirty="0"/>
          </a:p>
        </p:txBody>
      </p:sp>
      <p:sp>
        <p:nvSpPr>
          <p:cNvPr id="56" name="Shape 39"/>
          <p:cNvSpPr/>
          <p:nvPr/>
        </p:nvSpPr>
        <p:spPr>
          <a:xfrm>
            <a:off x="1719072" y="3337560"/>
            <a:ext cx="132588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pic>
        <p:nvPicPr>
          <p:cNvPr id="5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64792" y="3364992"/>
            <a:ext cx="128016" cy="128016"/>
          </a:xfrm>
          <a:prstGeom prst="rect">
            <a:avLst/>
          </a:prstGeom>
        </p:spPr>
      </p:pic>
      <p:sp>
        <p:nvSpPr>
          <p:cNvPr id="58" name="Text 40"/>
          <p:cNvSpPr txBox="1"/>
          <p:nvPr/>
        </p:nvSpPr>
        <p:spPr>
          <a:xfrm>
            <a:off x="1938528" y="3337560"/>
            <a:ext cx="1069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720" dirty="0"/>
          </a:p>
        </p:txBody>
      </p:sp>
      <p:sp>
        <p:nvSpPr>
          <p:cNvPr id="59" name="Shape 41"/>
          <p:cNvSpPr/>
          <p:nvPr/>
        </p:nvSpPr>
        <p:spPr>
          <a:xfrm>
            <a:off x="274320" y="3602736"/>
            <a:ext cx="2834640" cy="850392"/>
          </a:xfrm>
          <a:prstGeom prst="roundRect">
            <a:avLst>
              <a:gd name="adj" fmla="val 8602"/>
            </a:avLst>
          </a:prstGeom>
          <a:solidFill>
            <a:srgbClr val="FFF3D6"/>
          </a:solidFill>
          <a:ln w="9525">
            <a:solidFill>
              <a:srgbClr val="FFF3D6"/>
            </a:solidFill>
            <a:prstDash val="solid"/>
          </a:ln>
        </p:spPr>
      </p:sp>
      <p:sp>
        <p:nvSpPr>
          <p:cNvPr id="60" name="Text 42"/>
          <p:cNvSpPr txBox="1"/>
          <p:nvPr/>
        </p:nvSpPr>
        <p:spPr>
          <a:xfrm>
            <a:off x="365760" y="363016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9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&amp; govt links</a:t>
            </a:r>
            <a:endParaRPr lang="en-US" sz="750" dirty="0"/>
          </a:p>
        </p:txBody>
      </p:sp>
      <p:sp>
        <p:nvSpPr>
          <p:cNvPr id="61" name="Shape 43"/>
          <p:cNvSpPr/>
          <p:nvPr/>
        </p:nvSpPr>
        <p:spPr>
          <a:xfrm>
            <a:off x="338328" y="3822192"/>
            <a:ext cx="132588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pic>
        <p:nvPicPr>
          <p:cNvPr id="6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4048" y="3849624"/>
            <a:ext cx="128016" cy="128016"/>
          </a:xfrm>
          <a:prstGeom prst="rect">
            <a:avLst/>
          </a:prstGeom>
        </p:spPr>
      </p:pic>
      <p:sp>
        <p:nvSpPr>
          <p:cNvPr id="63" name="Text 44"/>
          <p:cNvSpPr txBox="1"/>
          <p:nvPr/>
        </p:nvSpPr>
        <p:spPr>
          <a:xfrm>
            <a:off x="557784" y="3822192"/>
            <a:ext cx="1069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720" dirty="0"/>
          </a:p>
        </p:txBody>
      </p:sp>
      <p:sp>
        <p:nvSpPr>
          <p:cNvPr id="64" name="Shape 45"/>
          <p:cNvSpPr/>
          <p:nvPr/>
        </p:nvSpPr>
        <p:spPr>
          <a:xfrm>
            <a:off x="1719072" y="3822192"/>
            <a:ext cx="132588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pic>
        <p:nvPicPr>
          <p:cNvPr id="65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764792" y="3849624"/>
            <a:ext cx="128016" cy="128016"/>
          </a:xfrm>
          <a:prstGeom prst="rect">
            <a:avLst/>
          </a:prstGeom>
        </p:spPr>
      </p:pic>
      <p:sp>
        <p:nvSpPr>
          <p:cNvPr id="66" name="Text 46"/>
          <p:cNvSpPr txBox="1"/>
          <p:nvPr/>
        </p:nvSpPr>
        <p:spPr>
          <a:xfrm>
            <a:off x="1938528" y="3822192"/>
            <a:ext cx="1069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maps</a:t>
            </a:r>
            <a:endParaRPr lang="en-US" sz="720" dirty="0"/>
          </a:p>
        </p:txBody>
      </p:sp>
      <p:sp>
        <p:nvSpPr>
          <p:cNvPr id="67" name="Shape 47"/>
          <p:cNvSpPr/>
          <p:nvPr/>
        </p:nvSpPr>
        <p:spPr>
          <a:xfrm>
            <a:off x="338328" y="4032504"/>
            <a:ext cx="132588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pic>
        <p:nvPicPr>
          <p:cNvPr id="68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4048" y="4059936"/>
            <a:ext cx="128016" cy="128016"/>
          </a:xfrm>
          <a:prstGeom prst="rect">
            <a:avLst/>
          </a:prstGeom>
        </p:spPr>
      </p:pic>
      <p:sp>
        <p:nvSpPr>
          <p:cNvPr id="69" name="Text 48"/>
          <p:cNvSpPr txBox="1"/>
          <p:nvPr/>
        </p:nvSpPr>
        <p:spPr>
          <a:xfrm>
            <a:off x="557784" y="4032504"/>
            <a:ext cx="1069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NCO / NQR</a:t>
            </a:r>
            <a:endParaRPr lang="en-US" sz="720" dirty="0"/>
          </a:p>
        </p:txBody>
      </p:sp>
      <p:sp>
        <p:nvSpPr>
          <p:cNvPr id="70" name="Shape 49"/>
          <p:cNvSpPr/>
          <p:nvPr/>
        </p:nvSpPr>
        <p:spPr>
          <a:xfrm>
            <a:off x="1719072" y="4032504"/>
            <a:ext cx="132588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pic>
        <p:nvPicPr>
          <p:cNvPr id="7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764792" y="4059936"/>
            <a:ext cx="128016" cy="128016"/>
          </a:xfrm>
          <a:prstGeom prst="rect">
            <a:avLst/>
          </a:prstGeom>
        </p:spPr>
      </p:pic>
      <p:sp>
        <p:nvSpPr>
          <p:cNvPr id="72" name="Text 50"/>
          <p:cNvSpPr txBox="1"/>
          <p:nvPr/>
        </p:nvSpPr>
        <p:spPr>
          <a:xfrm>
            <a:off x="1938528" y="4032504"/>
            <a:ext cx="1069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app*</a:t>
            </a:r>
            <a:endParaRPr lang="en-US" sz="720" dirty="0"/>
          </a:p>
        </p:txBody>
      </p:sp>
      <p:sp>
        <p:nvSpPr>
          <p:cNvPr id="73" name="Shape 51"/>
          <p:cNvSpPr/>
          <p:nvPr/>
        </p:nvSpPr>
        <p:spPr>
          <a:xfrm>
            <a:off x="338328" y="4242816"/>
            <a:ext cx="132588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pic>
        <p:nvPicPr>
          <p:cNvPr id="74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4048" y="4270248"/>
            <a:ext cx="128016" cy="128016"/>
          </a:xfrm>
          <a:prstGeom prst="rect">
            <a:avLst/>
          </a:prstGeom>
        </p:spPr>
      </p:pic>
      <p:sp>
        <p:nvSpPr>
          <p:cNvPr id="75" name="Text 52"/>
          <p:cNvSpPr txBox="1"/>
          <p:nvPr/>
        </p:nvSpPr>
        <p:spPr>
          <a:xfrm>
            <a:off x="557784" y="4242816"/>
            <a:ext cx="1069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DigiLocker*</a:t>
            </a:r>
            <a:endParaRPr lang="en-US" sz="720" dirty="0"/>
          </a:p>
        </p:txBody>
      </p:sp>
      <p:sp>
        <p:nvSpPr>
          <p:cNvPr id="76" name="Shape 53"/>
          <p:cNvSpPr/>
          <p:nvPr/>
        </p:nvSpPr>
        <p:spPr>
          <a:xfrm>
            <a:off x="1719072" y="4242816"/>
            <a:ext cx="132588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pic>
        <p:nvPicPr>
          <p:cNvPr id="77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764792" y="4270248"/>
            <a:ext cx="128016" cy="128016"/>
          </a:xfrm>
          <a:prstGeom prst="rect">
            <a:avLst/>
          </a:prstGeom>
        </p:spPr>
      </p:pic>
      <p:sp>
        <p:nvSpPr>
          <p:cNvPr id="78" name="Text 54"/>
          <p:cNvSpPr txBox="1"/>
          <p:nvPr/>
        </p:nvSpPr>
        <p:spPr>
          <a:xfrm>
            <a:off x="1938528" y="4242816"/>
            <a:ext cx="1069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MeghRaj*</a:t>
            </a:r>
            <a:endParaRPr lang="en-US" sz="720" dirty="0"/>
          </a:p>
        </p:txBody>
      </p:sp>
      <p:sp>
        <p:nvSpPr>
          <p:cNvPr id="79" name="Text 55"/>
          <p:cNvSpPr txBox="1"/>
          <p:nvPr/>
        </p:nvSpPr>
        <p:spPr>
          <a:xfrm>
            <a:off x="274320" y="4526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needs a government MoU.  </a:t>
            </a:r>
            <a:r>
              <a:rPr lang="en-US" sz="650" i="1" u="sng" dirty="0">
                <a:solidFill>
                  <a:srgbClr val="2E6FD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Full architecture, API docs and code → GitHub repo (add link)</a:t>
            </a:r>
            <a:endParaRPr lang="en-US" sz="650" dirty="0"/>
          </a:p>
        </p:txBody>
      </p:sp>
      <p:sp>
        <p:nvSpPr>
          <p:cNvPr id="80" name="Text 56"/>
          <p:cNvSpPr txBox="1"/>
          <p:nvPr/>
        </p:nvSpPr>
        <p:spPr>
          <a:xfrm>
            <a:off x="3200400" y="896112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 </a:t>
            </a: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lanes: during the call (AI, in seconds) and after it (people, in days)</a:t>
            </a:r>
            <a:endParaRPr lang="en-US" sz="850" dirty="0"/>
          </a:p>
        </p:txBody>
      </p:sp>
      <p:sp>
        <p:nvSpPr>
          <p:cNvPr id="81" name="Shape 57"/>
          <p:cNvSpPr/>
          <p:nvPr/>
        </p:nvSpPr>
        <p:spPr>
          <a:xfrm>
            <a:off x="3200400" y="1078992"/>
            <a:ext cx="5669280" cy="1975104"/>
          </a:xfrm>
          <a:prstGeom prst="roundRect">
            <a:avLst>
              <a:gd name="adj" fmla="val 3704"/>
            </a:avLst>
          </a:prstGeom>
          <a:solidFill>
            <a:srgbClr val="EAF0F8"/>
          </a:solidFill>
          <a:ln w="9525">
            <a:solidFill>
              <a:srgbClr val="EAF0F8"/>
            </a:solidFill>
            <a:prstDash val="solid"/>
          </a:ln>
        </p:spPr>
      </p:sp>
      <p:sp>
        <p:nvSpPr>
          <p:cNvPr id="82" name="Text 58"/>
          <p:cNvSpPr txBox="1"/>
          <p:nvPr/>
        </p:nvSpPr>
        <p:spPr>
          <a:xfrm>
            <a:off x="3291840" y="1106424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DURING THE CALL  —  each spoken turn ≈ 1.2–2.2 s · keypad turns are instant</a:t>
            </a:r>
            <a:endParaRPr lang="en-US" sz="730" dirty="0"/>
          </a:p>
        </p:txBody>
      </p:sp>
      <p:sp>
        <p:nvSpPr>
          <p:cNvPr id="83" name="Text 59"/>
          <p:cNvSpPr txBox="1"/>
          <p:nvPr/>
        </p:nvSpPr>
        <p:spPr>
          <a:xfrm>
            <a:off x="6766560" y="110642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= data flow · dashed = only when needed</a:t>
            </a:r>
            <a:endParaRPr lang="en-US" sz="630" dirty="0"/>
          </a:p>
        </p:txBody>
      </p:sp>
      <p:sp>
        <p:nvSpPr>
          <p:cNvPr id="84" name="Shape 60"/>
          <p:cNvSpPr/>
          <p:nvPr/>
        </p:nvSpPr>
        <p:spPr>
          <a:xfrm>
            <a:off x="3291840" y="1280160"/>
            <a:ext cx="665683" cy="548640"/>
          </a:xfrm>
          <a:prstGeom prst="roundRect">
            <a:avLst>
              <a:gd name="adj" fmla="val 10000"/>
            </a:avLst>
          </a:prstGeom>
          <a:solidFill>
            <a:srgbClr val="ECEFF3"/>
          </a:solidFill>
          <a:ln w="12700">
            <a:solidFill>
              <a:srgbClr val="5B6B7F"/>
            </a:solidFill>
            <a:prstDash val="solid"/>
          </a:ln>
        </p:spPr>
      </p:sp>
      <p:pic>
        <p:nvPicPr>
          <p:cNvPr id="85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337560" y="1325880"/>
            <a:ext cx="182880" cy="182880"/>
          </a:xfrm>
          <a:prstGeom prst="rect">
            <a:avLst/>
          </a:prstGeom>
        </p:spPr>
      </p:pic>
      <p:sp>
        <p:nvSpPr>
          <p:cNvPr id="86" name="Text 61"/>
          <p:cNvSpPr txBox="1"/>
          <p:nvPr/>
        </p:nvSpPr>
        <p:spPr>
          <a:xfrm>
            <a:off x="3547872" y="1316736"/>
            <a:ext cx="38221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650" dirty="0"/>
          </a:p>
        </p:txBody>
      </p:sp>
      <p:sp>
        <p:nvSpPr>
          <p:cNvPr id="87" name="Text 62"/>
          <p:cNvSpPr txBox="1"/>
          <p:nvPr/>
        </p:nvSpPr>
        <p:spPr>
          <a:xfrm>
            <a:off x="3337560" y="1527048"/>
            <a:ext cx="574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keypad phone, no internet</a:t>
            </a:r>
            <a:endParaRPr lang="en-US" sz="600" dirty="0"/>
          </a:p>
        </p:txBody>
      </p:sp>
      <p:sp>
        <p:nvSpPr>
          <p:cNvPr id="88" name="Shape 63"/>
          <p:cNvSpPr/>
          <p:nvPr/>
        </p:nvSpPr>
        <p:spPr>
          <a:xfrm>
            <a:off x="4094683" y="1280160"/>
            <a:ext cx="665683" cy="548640"/>
          </a:xfrm>
          <a:prstGeom prst="roundRect">
            <a:avLst>
              <a:gd name="adj" fmla="val 10000"/>
            </a:avLst>
          </a:prstGeom>
          <a:solidFill>
            <a:srgbClr val="E6EEFC"/>
          </a:solidFill>
          <a:ln w="12700">
            <a:solidFill>
              <a:srgbClr val="2E6FD6"/>
            </a:solidFill>
            <a:prstDash val="solid"/>
          </a:ln>
        </p:spPr>
      </p:sp>
      <p:pic>
        <p:nvPicPr>
          <p:cNvPr id="89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140403" y="1325880"/>
            <a:ext cx="182880" cy="182880"/>
          </a:xfrm>
          <a:prstGeom prst="rect">
            <a:avLst/>
          </a:prstGeom>
        </p:spPr>
      </p:pic>
      <p:sp>
        <p:nvSpPr>
          <p:cNvPr id="90" name="Text 64"/>
          <p:cNvSpPr txBox="1"/>
          <p:nvPr/>
        </p:nvSpPr>
        <p:spPr>
          <a:xfrm>
            <a:off x="4350715" y="1316736"/>
            <a:ext cx="38221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E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Exotel</a:t>
            </a:r>
            <a:endParaRPr lang="en-US" sz="650" dirty="0"/>
          </a:p>
        </p:txBody>
      </p:sp>
      <p:sp>
        <p:nvSpPr>
          <p:cNvPr id="91" name="Text 65"/>
          <p:cNvSpPr txBox="1"/>
          <p:nvPr/>
        </p:nvSpPr>
        <p:spPr>
          <a:xfrm>
            <a:off x="4140403" y="1527048"/>
            <a:ext cx="574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call-back, keys, SMS</a:t>
            </a:r>
            <a:endParaRPr lang="en-US" sz="600" dirty="0"/>
          </a:p>
        </p:txBody>
      </p:sp>
      <p:sp>
        <p:nvSpPr>
          <p:cNvPr id="92" name="Shape 66"/>
          <p:cNvSpPr/>
          <p:nvPr/>
        </p:nvSpPr>
        <p:spPr>
          <a:xfrm>
            <a:off x="4897526" y="1280160"/>
            <a:ext cx="665683" cy="54864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 w="12700">
            <a:solidFill>
              <a:srgbClr val="7A5AF8"/>
            </a:solidFill>
            <a:prstDash val="solid"/>
          </a:ln>
        </p:spPr>
      </p:sp>
      <p:pic>
        <p:nvPicPr>
          <p:cNvPr id="93" name="Image 24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943246" y="1325880"/>
            <a:ext cx="182880" cy="182880"/>
          </a:xfrm>
          <a:prstGeom prst="rect">
            <a:avLst/>
          </a:prstGeom>
        </p:spPr>
      </p:pic>
      <p:sp>
        <p:nvSpPr>
          <p:cNvPr id="94" name="Text 67"/>
          <p:cNvSpPr txBox="1"/>
          <p:nvPr/>
        </p:nvSpPr>
        <p:spPr>
          <a:xfrm>
            <a:off x="5153558" y="1316736"/>
            <a:ext cx="38221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7A5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Pipecat</a:t>
            </a:r>
            <a:endParaRPr lang="en-US" sz="650" dirty="0"/>
          </a:p>
        </p:txBody>
      </p:sp>
      <p:sp>
        <p:nvSpPr>
          <p:cNvPr id="95" name="Text 68"/>
          <p:cNvSpPr txBox="1"/>
          <p:nvPr/>
        </p:nvSpPr>
        <p:spPr>
          <a:xfrm>
            <a:off x="4943246" y="1527048"/>
            <a:ext cx="574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live call, turn-taking</a:t>
            </a:r>
            <a:endParaRPr lang="en-US" sz="600" dirty="0"/>
          </a:p>
        </p:txBody>
      </p:sp>
      <p:sp>
        <p:nvSpPr>
          <p:cNvPr id="96" name="Shape 69"/>
          <p:cNvSpPr/>
          <p:nvPr/>
        </p:nvSpPr>
        <p:spPr>
          <a:xfrm>
            <a:off x="5700370" y="1280160"/>
            <a:ext cx="665683" cy="548640"/>
          </a:xfrm>
          <a:prstGeom prst="roundRect">
            <a:avLst>
              <a:gd name="adj" fmla="val 10000"/>
            </a:avLst>
          </a:prstGeom>
          <a:solidFill>
            <a:srgbClr val="E0F4F5"/>
          </a:solidFill>
          <a:ln w="12700">
            <a:solidFill>
              <a:srgbClr val="13919B"/>
            </a:solidFill>
            <a:prstDash val="solid"/>
          </a:ln>
        </p:spPr>
      </p:sp>
      <p:pic>
        <p:nvPicPr>
          <p:cNvPr id="97" name="Image 25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746090" y="1325880"/>
            <a:ext cx="182880" cy="182880"/>
          </a:xfrm>
          <a:prstGeom prst="rect">
            <a:avLst/>
          </a:prstGeom>
        </p:spPr>
      </p:pic>
      <p:sp>
        <p:nvSpPr>
          <p:cNvPr id="98" name="Text 70"/>
          <p:cNvSpPr txBox="1"/>
          <p:nvPr/>
        </p:nvSpPr>
        <p:spPr>
          <a:xfrm>
            <a:off x="5956402" y="1316736"/>
            <a:ext cx="38221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3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</a:t>
            </a:r>
            <a:endParaRPr lang="en-US" sz="650" dirty="0"/>
          </a:p>
        </p:txBody>
      </p:sp>
      <p:sp>
        <p:nvSpPr>
          <p:cNvPr id="99" name="Text 71"/>
          <p:cNvSpPr txBox="1"/>
          <p:nvPr/>
        </p:nvSpPr>
        <p:spPr>
          <a:xfrm>
            <a:off x="5746090" y="1527048"/>
            <a:ext cx="574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IndicConformer or Saaras v3 → text</a:t>
            </a:r>
            <a:endParaRPr lang="en-US" sz="600" dirty="0"/>
          </a:p>
        </p:txBody>
      </p:sp>
      <p:sp>
        <p:nvSpPr>
          <p:cNvPr id="100" name="Shape 72"/>
          <p:cNvSpPr/>
          <p:nvPr/>
        </p:nvSpPr>
        <p:spPr>
          <a:xfrm>
            <a:off x="6503213" y="1280160"/>
            <a:ext cx="665683" cy="548640"/>
          </a:xfrm>
          <a:prstGeom prst="roundRect">
            <a:avLst>
              <a:gd name="adj" fmla="val 10000"/>
            </a:avLst>
          </a:prstGeom>
          <a:solidFill>
            <a:srgbClr val="E0F4F5"/>
          </a:solidFill>
          <a:ln w="12700">
            <a:solidFill>
              <a:srgbClr val="13919B"/>
            </a:solidFill>
            <a:prstDash val="solid"/>
          </a:ln>
        </p:spPr>
      </p:sp>
      <p:pic>
        <p:nvPicPr>
          <p:cNvPr id="101" name="Image 26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548933" y="1325880"/>
            <a:ext cx="182880" cy="182880"/>
          </a:xfrm>
          <a:prstGeom prst="rect">
            <a:avLst/>
          </a:prstGeom>
        </p:spPr>
      </p:pic>
      <p:sp>
        <p:nvSpPr>
          <p:cNvPr id="102" name="Text 73"/>
          <p:cNvSpPr txBox="1"/>
          <p:nvPr/>
        </p:nvSpPr>
        <p:spPr>
          <a:xfrm>
            <a:off x="6759245" y="1316736"/>
            <a:ext cx="38221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3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650" dirty="0"/>
          </a:p>
        </p:txBody>
      </p:sp>
      <p:sp>
        <p:nvSpPr>
          <p:cNvPr id="103" name="Text 74"/>
          <p:cNvSpPr txBox="1"/>
          <p:nvPr/>
        </p:nvSpPr>
        <p:spPr>
          <a:xfrm>
            <a:off x="6548933" y="1527048"/>
            <a:ext cx="574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Sarvam-30B: understands, asks next question</a:t>
            </a:r>
            <a:endParaRPr lang="en-US" sz="600" dirty="0"/>
          </a:p>
        </p:txBody>
      </p:sp>
      <p:sp>
        <p:nvSpPr>
          <p:cNvPr id="104" name="Shape 75"/>
          <p:cNvSpPr/>
          <p:nvPr/>
        </p:nvSpPr>
        <p:spPr>
          <a:xfrm>
            <a:off x="7306056" y="1280160"/>
            <a:ext cx="665683" cy="548640"/>
          </a:xfrm>
          <a:prstGeom prst="roundRect">
            <a:avLst>
              <a:gd name="adj" fmla="val 10000"/>
            </a:avLst>
          </a:prstGeom>
          <a:solidFill>
            <a:srgbClr val="FCE7E7"/>
          </a:solidFill>
          <a:ln w="12700">
            <a:solidFill>
              <a:srgbClr val="D64545"/>
            </a:solidFill>
            <a:prstDash val="solid"/>
          </a:ln>
        </p:spPr>
      </p:sp>
      <p:pic>
        <p:nvPicPr>
          <p:cNvPr id="105" name="Image 27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351776" y="1325880"/>
            <a:ext cx="182880" cy="182880"/>
          </a:xfrm>
          <a:prstGeom prst="rect">
            <a:avLst/>
          </a:prstGeom>
        </p:spPr>
      </p:pic>
      <p:sp>
        <p:nvSpPr>
          <p:cNvPr id="106" name="Text 76"/>
          <p:cNvSpPr txBox="1"/>
          <p:nvPr/>
        </p:nvSpPr>
        <p:spPr>
          <a:xfrm>
            <a:off x="7562088" y="1316736"/>
            <a:ext cx="38221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SATYA</a:t>
            </a:r>
            <a:endParaRPr lang="en-US" sz="650" dirty="0"/>
          </a:p>
        </p:txBody>
      </p:sp>
      <p:sp>
        <p:nvSpPr>
          <p:cNvPr id="107" name="Text 77"/>
          <p:cNvSpPr txBox="1"/>
          <p:nvPr/>
        </p:nvSpPr>
        <p:spPr>
          <a:xfrm>
            <a:off x="7351776" y="1527048"/>
            <a:ext cx="574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every fact against the DB</a:t>
            </a:r>
            <a:endParaRPr lang="en-US" sz="600" dirty="0"/>
          </a:p>
        </p:txBody>
      </p:sp>
      <p:sp>
        <p:nvSpPr>
          <p:cNvPr id="108" name="Shape 78"/>
          <p:cNvSpPr/>
          <p:nvPr/>
        </p:nvSpPr>
        <p:spPr>
          <a:xfrm>
            <a:off x="8108899" y="1280160"/>
            <a:ext cx="665683" cy="548640"/>
          </a:xfrm>
          <a:prstGeom prst="roundRect">
            <a:avLst>
              <a:gd name="adj" fmla="val 10000"/>
            </a:avLst>
          </a:prstGeom>
          <a:solidFill>
            <a:srgbClr val="E3F6EC"/>
          </a:solidFill>
          <a:ln w="12700">
            <a:solidFill>
              <a:srgbClr val="1F9D63"/>
            </a:solidFill>
            <a:prstDash val="solid"/>
          </a:ln>
        </p:spPr>
      </p:sp>
      <p:pic>
        <p:nvPicPr>
          <p:cNvPr id="109" name="Image 28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154619" y="1325880"/>
            <a:ext cx="182880" cy="182880"/>
          </a:xfrm>
          <a:prstGeom prst="rect">
            <a:avLst/>
          </a:prstGeom>
        </p:spPr>
      </p:pic>
      <p:sp>
        <p:nvSpPr>
          <p:cNvPr id="110" name="Text 79"/>
          <p:cNvSpPr txBox="1"/>
          <p:nvPr/>
        </p:nvSpPr>
        <p:spPr>
          <a:xfrm>
            <a:off x="8364931" y="1316736"/>
            <a:ext cx="38221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</a:t>
            </a:r>
            <a:endParaRPr lang="en-US" sz="650" dirty="0"/>
          </a:p>
        </p:txBody>
      </p:sp>
      <p:sp>
        <p:nvSpPr>
          <p:cNvPr id="111" name="Text 80"/>
          <p:cNvSpPr txBox="1"/>
          <p:nvPr/>
        </p:nvSpPr>
        <p:spPr>
          <a:xfrm>
            <a:off x="8154619" y="1527048"/>
            <a:ext cx="574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Bulbul v3 speaks; cached audio is free</a:t>
            </a:r>
            <a:endParaRPr lang="en-US" sz="600" dirty="0"/>
          </a:p>
        </p:txBody>
      </p:sp>
      <p:sp>
        <p:nvSpPr>
          <p:cNvPr id="112" name="Shape 81"/>
          <p:cNvSpPr/>
          <p:nvPr/>
        </p:nvSpPr>
        <p:spPr>
          <a:xfrm>
            <a:off x="3975811" y="1554480"/>
            <a:ext cx="100584" cy="0"/>
          </a:xfrm>
          <a:prstGeom prst="line">
            <a:avLst/>
          </a:prstGeom>
          <a:noFill/>
          <a:ln w="15875">
            <a:solidFill>
              <a:srgbClr val="2E6FD6"/>
            </a:solidFill>
            <a:prstDash val="solid"/>
            <a:tailEnd type="triangle"/>
          </a:ln>
        </p:spPr>
      </p:sp>
      <p:sp>
        <p:nvSpPr>
          <p:cNvPr id="113" name="Text 82"/>
          <p:cNvSpPr txBox="1"/>
          <p:nvPr/>
        </p:nvSpPr>
        <p:spPr>
          <a:xfrm>
            <a:off x="3774643" y="1847088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i="1" dirty="0">
                <a:solidFill>
                  <a:srgbClr val="2E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keys</a:t>
            </a:r>
            <a:endParaRPr lang="en-US" sz="580" dirty="0"/>
          </a:p>
        </p:txBody>
      </p:sp>
      <p:sp>
        <p:nvSpPr>
          <p:cNvPr id="114" name="Shape 83"/>
          <p:cNvSpPr/>
          <p:nvPr/>
        </p:nvSpPr>
        <p:spPr>
          <a:xfrm>
            <a:off x="4778654" y="1554480"/>
            <a:ext cx="100584" cy="0"/>
          </a:xfrm>
          <a:prstGeom prst="line">
            <a:avLst/>
          </a:prstGeom>
          <a:noFill/>
          <a:ln w="15875">
            <a:solidFill>
              <a:srgbClr val="2E6FD6"/>
            </a:solidFill>
            <a:prstDash val="solid"/>
            <a:tailEnd type="triangle"/>
          </a:ln>
        </p:spPr>
      </p:sp>
      <p:sp>
        <p:nvSpPr>
          <p:cNvPr id="115" name="Text 84"/>
          <p:cNvSpPr txBox="1"/>
          <p:nvPr/>
        </p:nvSpPr>
        <p:spPr>
          <a:xfrm>
            <a:off x="4577486" y="1847088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i="1" dirty="0">
                <a:solidFill>
                  <a:srgbClr val="2E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kHz audio</a:t>
            </a:r>
            <a:endParaRPr lang="en-US" sz="580" dirty="0"/>
          </a:p>
        </p:txBody>
      </p:sp>
      <p:sp>
        <p:nvSpPr>
          <p:cNvPr id="116" name="Shape 85"/>
          <p:cNvSpPr/>
          <p:nvPr/>
        </p:nvSpPr>
        <p:spPr>
          <a:xfrm>
            <a:off x="5581498" y="1554480"/>
            <a:ext cx="100584" cy="0"/>
          </a:xfrm>
          <a:prstGeom prst="line">
            <a:avLst/>
          </a:prstGeom>
          <a:noFill/>
          <a:ln w="15875">
            <a:solidFill>
              <a:srgbClr val="2E6FD6"/>
            </a:solidFill>
            <a:prstDash val="solid"/>
            <a:tailEnd type="triangle"/>
          </a:ln>
        </p:spPr>
      </p:sp>
      <p:sp>
        <p:nvSpPr>
          <p:cNvPr id="117" name="Text 86"/>
          <p:cNvSpPr txBox="1"/>
          <p:nvPr/>
        </p:nvSpPr>
        <p:spPr>
          <a:xfrm>
            <a:off x="5380330" y="1847088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i="1" dirty="0">
                <a:solidFill>
                  <a:srgbClr val="2E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580" dirty="0"/>
          </a:p>
        </p:txBody>
      </p:sp>
      <p:sp>
        <p:nvSpPr>
          <p:cNvPr id="118" name="Shape 87"/>
          <p:cNvSpPr/>
          <p:nvPr/>
        </p:nvSpPr>
        <p:spPr>
          <a:xfrm>
            <a:off x="6384341" y="1554480"/>
            <a:ext cx="100584" cy="0"/>
          </a:xfrm>
          <a:prstGeom prst="line">
            <a:avLst/>
          </a:prstGeom>
          <a:noFill/>
          <a:ln w="15875">
            <a:solidFill>
              <a:srgbClr val="2E6FD6"/>
            </a:solidFill>
            <a:prstDash val="solid"/>
            <a:tailEnd type="triangle"/>
          </a:ln>
        </p:spPr>
      </p:sp>
      <p:sp>
        <p:nvSpPr>
          <p:cNvPr id="119" name="Text 88"/>
          <p:cNvSpPr txBox="1"/>
          <p:nvPr/>
        </p:nvSpPr>
        <p:spPr>
          <a:xfrm>
            <a:off x="6183173" y="1847088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i="1" dirty="0">
                <a:solidFill>
                  <a:srgbClr val="2E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580" dirty="0"/>
          </a:p>
        </p:txBody>
      </p:sp>
      <p:sp>
        <p:nvSpPr>
          <p:cNvPr id="120" name="Shape 89"/>
          <p:cNvSpPr/>
          <p:nvPr/>
        </p:nvSpPr>
        <p:spPr>
          <a:xfrm>
            <a:off x="7187184" y="1554480"/>
            <a:ext cx="100584" cy="0"/>
          </a:xfrm>
          <a:prstGeom prst="line">
            <a:avLst/>
          </a:prstGeom>
          <a:noFill/>
          <a:ln w="15875">
            <a:solidFill>
              <a:srgbClr val="D64545"/>
            </a:solidFill>
            <a:prstDash val="solid"/>
            <a:tailEnd type="triangle"/>
          </a:ln>
        </p:spPr>
      </p:sp>
      <p:sp>
        <p:nvSpPr>
          <p:cNvPr id="121" name="Text 90"/>
          <p:cNvSpPr txBox="1"/>
          <p:nvPr/>
        </p:nvSpPr>
        <p:spPr>
          <a:xfrm>
            <a:off x="6986016" y="1847088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i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answer</a:t>
            </a:r>
            <a:endParaRPr lang="en-US" sz="580" dirty="0"/>
          </a:p>
        </p:txBody>
      </p:sp>
      <p:sp>
        <p:nvSpPr>
          <p:cNvPr id="122" name="Shape 91"/>
          <p:cNvSpPr/>
          <p:nvPr/>
        </p:nvSpPr>
        <p:spPr>
          <a:xfrm>
            <a:off x="7990027" y="1554480"/>
            <a:ext cx="100584" cy="0"/>
          </a:xfrm>
          <a:prstGeom prst="line">
            <a:avLst/>
          </a:prstGeom>
          <a:noFill/>
          <a:ln w="15875">
            <a:solidFill>
              <a:srgbClr val="1F9D63"/>
            </a:solidFill>
            <a:prstDash val="solid"/>
            <a:tailEnd type="triangle"/>
          </a:ln>
        </p:spPr>
      </p:sp>
      <p:sp>
        <p:nvSpPr>
          <p:cNvPr id="123" name="Text 92"/>
          <p:cNvSpPr txBox="1"/>
          <p:nvPr/>
        </p:nvSpPr>
        <p:spPr>
          <a:xfrm>
            <a:off x="7788859" y="1847088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i="1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text</a:t>
            </a:r>
            <a:endParaRPr lang="en-US" sz="580" dirty="0"/>
          </a:p>
        </p:txBody>
      </p:sp>
      <p:sp>
        <p:nvSpPr>
          <p:cNvPr id="124" name="Shape 93"/>
          <p:cNvSpPr/>
          <p:nvPr/>
        </p:nvSpPr>
        <p:spPr>
          <a:xfrm>
            <a:off x="3291840" y="2212848"/>
            <a:ext cx="665683" cy="621792"/>
          </a:xfrm>
          <a:prstGeom prst="roundRect">
            <a:avLst>
              <a:gd name="adj" fmla="val 8824"/>
            </a:avLst>
          </a:prstGeom>
          <a:solidFill>
            <a:srgbClr val="FFEFDD"/>
          </a:solidFill>
          <a:ln w="12700">
            <a:solidFill>
              <a:srgbClr val="EF8A22"/>
            </a:solidFill>
            <a:prstDash val="solid"/>
          </a:ln>
        </p:spPr>
      </p:sp>
      <p:pic>
        <p:nvPicPr>
          <p:cNvPr id="125" name="Image 29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337560" y="2258568"/>
            <a:ext cx="182880" cy="182880"/>
          </a:xfrm>
          <a:prstGeom prst="rect">
            <a:avLst/>
          </a:prstGeom>
        </p:spPr>
      </p:pic>
      <p:sp>
        <p:nvSpPr>
          <p:cNvPr id="126" name="Text 94"/>
          <p:cNvSpPr txBox="1"/>
          <p:nvPr/>
        </p:nvSpPr>
        <p:spPr>
          <a:xfrm>
            <a:off x="3547872" y="2249424"/>
            <a:ext cx="38221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EF8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650" dirty="0"/>
          </a:p>
        </p:txBody>
      </p:sp>
      <p:sp>
        <p:nvSpPr>
          <p:cNvPr id="127" name="Text 95"/>
          <p:cNvSpPr txBox="1"/>
          <p:nvPr/>
        </p:nvSpPr>
        <p:spPr>
          <a:xfrm>
            <a:off x="3337560" y="2459736"/>
            <a:ext cx="57424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back if the AI is stuck — the only hand-over</a:t>
            </a:r>
            <a:endParaRPr lang="en-US" sz="600" dirty="0"/>
          </a:p>
        </p:txBody>
      </p:sp>
      <p:sp>
        <p:nvSpPr>
          <p:cNvPr id="128" name="Shape 96"/>
          <p:cNvSpPr/>
          <p:nvPr/>
        </p:nvSpPr>
        <p:spPr>
          <a:xfrm>
            <a:off x="5700370" y="2212848"/>
            <a:ext cx="665683" cy="621792"/>
          </a:xfrm>
          <a:prstGeom prst="roundRect">
            <a:avLst>
              <a:gd name="adj" fmla="val 8824"/>
            </a:avLst>
          </a:prstGeom>
          <a:solidFill>
            <a:srgbClr val="FFEFDD"/>
          </a:solidFill>
          <a:ln w="12700">
            <a:solidFill>
              <a:srgbClr val="EF8A22"/>
            </a:solidFill>
            <a:prstDash val="solid"/>
          </a:ln>
        </p:spPr>
      </p:sp>
      <p:pic>
        <p:nvPicPr>
          <p:cNvPr id="129" name="Image 30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746090" y="2258568"/>
            <a:ext cx="182880" cy="182880"/>
          </a:xfrm>
          <a:prstGeom prst="rect">
            <a:avLst/>
          </a:prstGeom>
        </p:spPr>
      </p:pic>
      <p:sp>
        <p:nvSpPr>
          <p:cNvPr id="130" name="Text 97"/>
          <p:cNvSpPr txBox="1"/>
          <p:nvPr/>
        </p:nvSpPr>
        <p:spPr>
          <a:xfrm>
            <a:off x="5956402" y="2249424"/>
            <a:ext cx="38221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EF8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650" dirty="0"/>
          </a:p>
        </p:txBody>
      </p:sp>
      <p:sp>
        <p:nvSpPr>
          <p:cNvPr id="131" name="Text 98"/>
          <p:cNvSpPr txBox="1"/>
          <p:nvPr/>
        </p:nvSpPr>
        <p:spPr>
          <a:xfrm>
            <a:off x="5746090" y="2459736"/>
            <a:ext cx="57424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answer → 30B → 105B only if needed</a:t>
            </a:r>
            <a:endParaRPr lang="en-US" sz="600" dirty="0"/>
          </a:p>
        </p:txBody>
      </p:sp>
      <p:sp>
        <p:nvSpPr>
          <p:cNvPr id="132" name="Shape 99"/>
          <p:cNvSpPr/>
          <p:nvPr/>
        </p:nvSpPr>
        <p:spPr>
          <a:xfrm>
            <a:off x="6503213" y="2212848"/>
            <a:ext cx="665683" cy="621792"/>
          </a:xfrm>
          <a:prstGeom prst="roundRect">
            <a:avLst>
              <a:gd name="adj" fmla="val 8824"/>
            </a:avLst>
          </a:prstGeom>
          <a:solidFill>
            <a:srgbClr val="FFF3D6"/>
          </a:solidFill>
          <a:ln w="12700">
            <a:solidFill>
              <a:srgbClr val="D4930D"/>
            </a:solidFill>
            <a:prstDash val="solid"/>
          </a:ln>
        </p:spPr>
      </p:sp>
      <p:pic>
        <p:nvPicPr>
          <p:cNvPr id="133" name="Image 31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548933" y="2258568"/>
            <a:ext cx="182880" cy="182880"/>
          </a:xfrm>
          <a:prstGeom prst="rect">
            <a:avLst/>
          </a:prstGeom>
        </p:spPr>
      </p:pic>
      <p:sp>
        <p:nvSpPr>
          <p:cNvPr id="134" name="Text 100"/>
          <p:cNvSpPr txBox="1"/>
          <p:nvPr/>
        </p:nvSpPr>
        <p:spPr>
          <a:xfrm>
            <a:off x="6759245" y="2249424"/>
            <a:ext cx="38221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49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DB</a:t>
            </a:r>
            <a:endParaRPr lang="en-US" sz="650" dirty="0"/>
          </a:p>
        </p:txBody>
      </p:sp>
      <p:sp>
        <p:nvSpPr>
          <p:cNvPr id="135" name="Text 101"/>
          <p:cNvSpPr txBox="1"/>
          <p:nvPr/>
        </p:nvSpPr>
        <p:spPr>
          <a:xfrm>
            <a:off x="6548933" y="2459736"/>
            <a:ext cx="57424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NQR courses, NCO jobs, centres</a:t>
            </a:r>
            <a:endParaRPr lang="en-US" sz="600" dirty="0"/>
          </a:p>
        </p:txBody>
      </p:sp>
      <p:sp>
        <p:nvSpPr>
          <p:cNvPr id="136" name="Shape 102"/>
          <p:cNvSpPr/>
          <p:nvPr/>
        </p:nvSpPr>
        <p:spPr>
          <a:xfrm>
            <a:off x="7306056" y="2212848"/>
            <a:ext cx="1468526" cy="621792"/>
          </a:xfrm>
          <a:prstGeom prst="roundRect">
            <a:avLst>
              <a:gd name="adj" fmla="val 8824"/>
            </a:avLst>
          </a:prstGeom>
          <a:solidFill>
            <a:srgbClr val="E6EEFC"/>
          </a:solidFill>
          <a:ln w="12700">
            <a:solidFill>
              <a:srgbClr val="2E6FD6"/>
            </a:solidFill>
            <a:prstDash val="solid"/>
          </a:ln>
        </p:spPr>
      </p:sp>
      <p:pic>
        <p:nvPicPr>
          <p:cNvPr id="137" name="Image 32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351776" y="2258568"/>
            <a:ext cx="182880" cy="182880"/>
          </a:xfrm>
          <a:prstGeom prst="rect">
            <a:avLst/>
          </a:prstGeom>
        </p:spPr>
      </p:pic>
      <p:sp>
        <p:nvSpPr>
          <p:cNvPr id="138" name="Text 103"/>
          <p:cNvSpPr txBox="1"/>
          <p:nvPr/>
        </p:nvSpPr>
        <p:spPr>
          <a:xfrm>
            <a:off x="7562088" y="2249424"/>
            <a:ext cx="11850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2E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cache &amp; call log</a:t>
            </a:r>
            <a:endParaRPr lang="en-US" sz="680" dirty="0"/>
          </a:p>
        </p:txBody>
      </p:sp>
      <p:sp>
        <p:nvSpPr>
          <p:cNvPr id="139" name="Text 104"/>
          <p:cNvSpPr txBox="1"/>
          <p:nvPr/>
        </p:nvSpPr>
        <p:spPr>
          <a:xfrm>
            <a:off x="7351776" y="2459736"/>
            <a:ext cx="13770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turn logged by language, district, job and question type. Frequent questions get pre-written, verified answers + audio → less AI work, lower cost over time</a:t>
            </a:r>
            <a:endParaRPr lang="en-US" sz="600" dirty="0"/>
          </a:p>
        </p:txBody>
      </p:sp>
      <p:sp>
        <p:nvSpPr>
          <p:cNvPr id="140" name="Shape 105"/>
          <p:cNvSpPr/>
          <p:nvPr/>
        </p:nvSpPr>
        <p:spPr>
          <a:xfrm>
            <a:off x="3624682" y="1847088"/>
            <a:ext cx="0" cy="347472"/>
          </a:xfrm>
          <a:prstGeom prst="line">
            <a:avLst/>
          </a:prstGeom>
          <a:noFill/>
          <a:ln w="15875">
            <a:solidFill>
              <a:srgbClr val="EF8A22"/>
            </a:solidFill>
            <a:prstDash val="dash"/>
            <a:headEnd type="triangle"/>
          </a:ln>
        </p:spPr>
      </p:sp>
      <p:sp>
        <p:nvSpPr>
          <p:cNvPr id="141" name="Text 106"/>
          <p:cNvSpPr txBox="1"/>
          <p:nvPr/>
        </p:nvSpPr>
        <p:spPr>
          <a:xfrm>
            <a:off x="3652114" y="2011680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" i="1" dirty="0">
                <a:solidFill>
                  <a:srgbClr val="EF8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back if AI stuck</a:t>
            </a:r>
            <a:endParaRPr lang="en-US" sz="580" dirty="0"/>
          </a:p>
        </p:txBody>
      </p:sp>
      <p:sp>
        <p:nvSpPr>
          <p:cNvPr id="142" name="Shape 107"/>
          <p:cNvSpPr/>
          <p:nvPr/>
        </p:nvSpPr>
        <p:spPr>
          <a:xfrm>
            <a:off x="6033211" y="1847088"/>
            <a:ext cx="0" cy="347472"/>
          </a:xfrm>
          <a:prstGeom prst="line">
            <a:avLst/>
          </a:prstGeom>
          <a:noFill/>
          <a:ln w="15875">
            <a:solidFill>
              <a:srgbClr val="EF8A22"/>
            </a:solidFill>
            <a:prstDash val="dash"/>
            <a:headEnd type="triangle"/>
          </a:ln>
        </p:spPr>
      </p:sp>
      <p:sp>
        <p:nvSpPr>
          <p:cNvPr id="143" name="Text 108"/>
          <p:cNvSpPr txBox="1"/>
          <p:nvPr/>
        </p:nvSpPr>
        <p:spPr>
          <a:xfrm>
            <a:off x="6060643" y="2011680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" i="1" dirty="0">
                <a:solidFill>
                  <a:srgbClr val="EF8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the model</a:t>
            </a:r>
            <a:endParaRPr lang="en-US" sz="580" dirty="0"/>
          </a:p>
        </p:txBody>
      </p:sp>
      <p:sp>
        <p:nvSpPr>
          <p:cNvPr id="144" name="Shape 109"/>
          <p:cNvSpPr/>
          <p:nvPr/>
        </p:nvSpPr>
        <p:spPr>
          <a:xfrm>
            <a:off x="6836054" y="1847088"/>
            <a:ext cx="0" cy="347472"/>
          </a:xfrm>
          <a:prstGeom prst="line">
            <a:avLst/>
          </a:prstGeom>
          <a:noFill/>
          <a:ln w="15875">
            <a:solidFill>
              <a:srgbClr val="D4930D"/>
            </a:solidFill>
            <a:prstDash val="solid"/>
            <a:headEnd type="triangle"/>
          </a:ln>
        </p:spPr>
      </p:sp>
      <p:sp>
        <p:nvSpPr>
          <p:cNvPr id="145" name="Text 110"/>
          <p:cNvSpPr txBox="1"/>
          <p:nvPr/>
        </p:nvSpPr>
        <p:spPr>
          <a:xfrm>
            <a:off x="6534302" y="201168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i="1" dirty="0">
                <a:solidFill>
                  <a:srgbClr val="D49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</a:t>
            </a:r>
            <a:endParaRPr lang="en-US" sz="580" dirty="0"/>
          </a:p>
        </p:txBody>
      </p:sp>
      <p:sp>
        <p:nvSpPr>
          <p:cNvPr id="146" name="Shape 111"/>
          <p:cNvSpPr/>
          <p:nvPr/>
        </p:nvSpPr>
        <p:spPr>
          <a:xfrm>
            <a:off x="7077456" y="2048256"/>
            <a:ext cx="0" cy="146304"/>
          </a:xfrm>
          <a:prstGeom prst="line">
            <a:avLst/>
          </a:prstGeom>
          <a:noFill/>
          <a:ln w="15875">
            <a:solidFill>
              <a:srgbClr val="D4930D"/>
            </a:solidFill>
            <a:prstDash val="solid"/>
          </a:ln>
        </p:spPr>
      </p:sp>
      <p:sp>
        <p:nvSpPr>
          <p:cNvPr id="147" name="Shape 112"/>
          <p:cNvSpPr/>
          <p:nvPr/>
        </p:nvSpPr>
        <p:spPr>
          <a:xfrm>
            <a:off x="7077456" y="2048256"/>
            <a:ext cx="424282" cy="0"/>
          </a:xfrm>
          <a:prstGeom prst="line">
            <a:avLst/>
          </a:prstGeom>
          <a:noFill/>
          <a:ln w="15875">
            <a:solidFill>
              <a:srgbClr val="D4930D"/>
            </a:solidFill>
            <a:prstDash val="solid"/>
          </a:ln>
        </p:spPr>
      </p:sp>
      <p:sp>
        <p:nvSpPr>
          <p:cNvPr id="148" name="Shape 113"/>
          <p:cNvSpPr/>
          <p:nvPr/>
        </p:nvSpPr>
        <p:spPr>
          <a:xfrm>
            <a:off x="7501738" y="1847088"/>
            <a:ext cx="0" cy="201168"/>
          </a:xfrm>
          <a:prstGeom prst="line">
            <a:avLst/>
          </a:prstGeom>
          <a:noFill/>
          <a:ln w="15875">
            <a:solidFill>
              <a:srgbClr val="D4930D"/>
            </a:solidFill>
            <a:prstDash val="solid"/>
            <a:headEnd type="triangle"/>
          </a:ln>
        </p:spPr>
      </p:sp>
      <p:sp>
        <p:nvSpPr>
          <p:cNvPr id="149" name="Text 114"/>
          <p:cNvSpPr txBox="1"/>
          <p:nvPr/>
        </p:nvSpPr>
        <p:spPr>
          <a:xfrm>
            <a:off x="7095744" y="206654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" i="1" dirty="0">
                <a:solidFill>
                  <a:srgbClr val="D49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580" dirty="0"/>
          </a:p>
        </p:txBody>
      </p:sp>
      <p:sp>
        <p:nvSpPr>
          <p:cNvPr id="150" name="Shape 115"/>
          <p:cNvSpPr/>
          <p:nvPr/>
        </p:nvSpPr>
        <p:spPr>
          <a:xfrm>
            <a:off x="7748626" y="1847088"/>
            <a:ext cx="0" cy="347472"/>
          </a:xfrm>
          <a:prstGeom prst="line">
            <a:avLst/>
          </a:prstGeom>
          <a:noFill/>
          <a:ln w="15875">
            <a:solidFill>
              <a:srgbClr val="D64545"/>
            </a:solidFill>
            <a:prstDash val="solid"/>
            <a:tailEnd type="triangle"/>
          </a:ln>
        </p:spPr>
      </p:sp>
      <p:sp>
        <p:nvSpPr>
          <p:cNvPr id="151" name="Text 116"/>
          <p:cNvSpPr txBox="1"/>
          <p:nvPr/>
        </p:nvSpPr>
        <p:spPr>
          <a:xfrm>
            <a:off x="7776058" y="201168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" i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580" dirty="0"/>
          </a:p>
        </p:txBody>
      </p:sp>
      <p:sp>
        <p:nvSpPr>
          <p:cNvPr id="152" name="Shape 117"/>
          <p:cNvSpPr/>
          <p:nvPr/>
        </p:nvSpPr>
        <p:spPr>
          <a:xfrm>
            <a:off x="8350301" y="1847088"/>
            <a:ext cx="0" cy="347472"/>
          </a:xfrm>
          <a:prstGeom prst="line">
            <a:avLst/>
          </a:prstGeom>
          <a:noFill/>
          <a:ln w="15875">
            <a:solidFill>
              <a:srgbClr val="2E6FD6"/>
            </a:solidFill>
            <a:prstDash val="dash"/>
            <a:headEnd type="triangle"/>
          </a:ln>
        </p:spPr>
      </p:sp>
      <p:sp>
        <p:nvSpPr>
          <p:cNvPr id="153" name="Text 118"/>
          <p:cNvSpPr txBox="1"/>
          <p:nvPr/>
        </p:nvSpPr>
        <p:spPr>
          <a:xfrm>
            <a:off x="8377733" y="201168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" i="1" dirty="0">
                <a:solidFill>
                  <a:srgbClr val="2E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audio</a:t>
            </a:r>
            <a:endParaRPr lang="en-US" sz="580" dirty="0"/>
          </a:p>
        </p:txBody>
      </p:sp>
      <p:sp>
        <p:nvSpPr>
          <p:cNvPr id="154" name="Shape 119"/>
          <p:cNvSpPr/>
          <p:nvPr/>
        </p:nvSpPr>
        <p:spPr>
          <a:xfrm>
            <a:off x="8792870" y="1554480"/>
            <a:ext cx="36576" cy="0"/>
          </a:xfrm>
          <a:prstGeom prst="line">
            <a:avLst/>
          </a:prstGeom>
          <a:noFill/>
          <a:ln w="15875">
            <a:solidFill>
              <a:srgbClr val="1F9D63"/>
            </a:solidFill>
            <a:prstDash val="solid"/>
          </a:ln>
        </p:spPr>
      </p:sp>
      <p:sp>
        <p:nvSpPr>
          <p:cNvPr id="155" name="Shape 120"/>
          <p:cNvSpPr/>
          <p:nvPr/>
        </p:nvSpPr>
        <p:spPr>
          <a:xfrm>
            <a:off x="8829446" y="1554480"/>
            <a:ext cx="0" cy="1371600"/>
          </a:xfrm>
          <a:prstGeom prst="line">
            <a:avLst/>
          </a:prstGeom>
          <a:noFill/>
          <a:ln w="15875">
            <a:solidFill>
              <a:srgbClr val="1F9D63"/>
            </a:solidFill>
            <a:prstDash val="solid"/>
          </a:ln>
        </p:spPr>
      </p:sp>
      <p:sp>
        <p:nvSpPr>
          <p:cNvPr id="156" name="Shape 121"/>
          <p:cNvSpPr/>
          <p:nvPr/>
        </p:nvSpPr>
        <p:spPr>
          <a:xfrm>
            <a:off x="5230368" y="2926080"/>
            <a:ext cx="3599078" cy="0"/>
          </a:xfrm>
          <a:prstGeom prst="line">
            <a:avLst/>
          </a:prstGeom>
          <a:noFill/>
          <a:ln w="15875">
            <a:solidFill>
              <a:srgbClr val="1F9D63"/>
            </a:solidFill>
            <a:prstDash val="solid"/>
          </a:ln>
        </p:spPr>
      </p:sp>
      <p:sp>
        <p:nvSpPr>
          <p:cNvPr id="157" name="Shape 122"/>
          <p:cNvSpPr/>
          <p:nvPr/>
        </p:nvSpPr>
        <p:spPr>
          <a:xfrm>
            <a:off x="5230368" y="1847088"/>
            <a:ext cx="0" cy="1078992"/>
          </a:xfrm>
          <a:prstGeom prst="line">
            <a:avLst/>
          </a:prstGeom>
          <a:noFill/>
          <a:ln w="15875">
            <a:solidFill>
              <a:srgbClr val="1F9D63"/>
            </a:solidFill>
            <a:prstDash val="solid"/>
            <a:headEnd type="triangle"/>
          </a:ln>
        </p:spPr>
      </p:sp>
      <p:sp>
        <p:nvSpPr>
          <p:cNvPr id="158" name="Text 123"/>
          <p:cNvSpPr txBox="1"/>
          <p:nvPr/>
        </p:nvSpPr>
        <p:spPr>
          <a:xfrm>
            <a:off x="5257800" y="2011680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" i="1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audio → phone</a:t>
            </a:r>
            <a:endParaRPr lang="en-US" sz="580" dirty="0"/>
          </a:p>
        </p:txBody>
      </p:sp>
      <p:sp>
        <p:nvSpPr>
          <p:cNvPr id="159" name="Text 124"/>
          <p:cNvSpPr txBox="1"/>
          <p:nvPr/>
        </p:nvSpPr>
        <p:spPr>
          <a:xfrm>
            <a:off x="5321808" y="2935224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" i="1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reply goes back through Pipecat → Exotel → phone</a:t>
            </a:r>
            <a:endParaRPr lang="en-US" sz="580" dirty="0"/>
          </a:p>
        </p:txBody>
      </p:sp>
      <p:sp>
        <p:nvSpPr>
          <p:cNvPr id="160" name="Shape 125"/>
          <p:cNvSpPr/>
          <p:nvPr/>
        </p:nvSpPr>
        <p:spPr>
          <a:xfrm>
            <a:off x="3200400" y="3127248"/>
            <a:ext cx="5669280" cy="1207008"/>
          </a:xfrm>
          <a:prstGeom prst="roundRect">
            <a:avLst>
              <a:gd name="adj" fmla="val 6061"/>
            </a:avLst>
          </a:prstGeom>
          <a:solidFill>
            <a:srgbClr val="E3F6EC"/>
          </a:solidFill>
          <a:ln w="9525">
            <a:solidFill>
              <a:srgbClr val="E3F6EC"/>
            </a:solidFill>
            <a:prstDash val="solid"/>
          </a:ln>
        </p:spPr>
      </p:sp>
      <p:sp>
        <p:nvSpPr>
          <p:cNvPr id="161" name="Text 126"/>
          <p:cNvSpPr txBox="1"/>
          <p:nvPr/>
        </p:nvSpPr>
        <p:spPr>
          <a:xfrm>
            <a:off x="5577840" y="315468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AFTER THE CALL  —  the confirmed profile becomes a case</a:t>
            </a:r>
            <a:endParaRPr lang="en-US" sz="750" dirty="0"/>
          </a:p>
        </p:txBody>
      </p:sp>
      <p:sp>
        <p:nvSpPr>
          <p:cNvPr id="162" name="Shape 127"/>
          <p:cNvSpPr/>
          <p:nvPr/>
        </p:nvSpPr>
        <p:spPr>
          <a:xfrm>
            <a:off x="3291840" y="3346704"/>
            <a:ext cx="768096" cy="548640"/>
          </a:xfrm>
          <a:prstGeom prst="roundRect">
            <a:avLst>
              <a:gd name="adj" fmla="val 10000"/>
            </a:avLst>
          </a:prstGeom>
          <a:solidFill>
            <a:srgbClr val="E3F6EC"/>
          </a:solidFill>
          <a:ln w="12700">
            <a:solidFill>
              <a:srgbClr val="1F9D63"/>
            </a:solidFill>
            <a:prstDash val="solid"/>
          </a:ln>
        </p:spPr>
      </p:sp>
      <p:pic>
        <p:nvPicPr>
          <p:cNvPr id="163" name="Image 33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337560" y="3392424"/>
            <a:ext cx="182880" cy="182880"/>
          </a:xfrm>
          <a:prstGeom prst="rect">
            <a:avLst/>
          </a:prstGeom>
        </p:spPr>
      </p:pic>
      <p:sp>
        <p:nvSpPr>
          <p:cNvPr id="164" name="Text 128"/>
          <p:cNvSpPr txBox="1"/>
          <p:nvPr/>
        </p:nvSpPr>
        <p:spPr>
          <a:xfrm>
            <a:off x="3547872" y="3383280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680" dirty="0"/>
          </a:p>
        </p:txBody>
      </p:sp>
      <p:sp>
        <p:nvSpPr>
          <p:cNvPr id="165" name="Text 129"/>
          <p:cNvSpPr txBox="1"/>
          <p:nvPr/>
        </p:nvSpPr>
        <p:spPr>
          <a:xfrm>
            <a:off x="3337560" y="3593592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+ eligibility rules</a:t>
            </a:r>
            <a:endParaRPr lang="en-US" sz="600" dirty="0"/>
          </a:p>
        </p:txBody>
      </p:sp>
      <p:sp>
        <p:nvSpPr>
          <p:cNvPr id="166" name="Shape 130"/>
          <p:cNvSpPr/>
          <p:nvPr/>
        </p:nvSpPr>
        <p:spPr>
          <a:xfrm>
            <a:off x="4233672" y="3346704"/>
            <a:ext cx="768096" cy="548640"/>
          </a:xfrm>
          <a:prstGeom prst="roundRect">
            <a:avLst>
              <a:gd name="adj" fmla="val 10000"/>
            </a:avLst>
          </a:prstGeom>
          <a:solidFill>
            <a:srgbClr val="E6EEFC"/>
          </a:solidFill>
          <a:ln w="12700">
            <a:solidFill>
              <a:srgbClr val="2E6FD6"/>
            </a:solidFill>
            <a:prstDash val="solid"/>
          </a:ln>
        </p:spPr>
      </p:sp>
      <p:pic>
        <p:nvPicPr>
          <p:cNvPr id="167" name="Image 34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279392" y="3392424"/>
            <a:ext cx="182880" cy="182880"/>
          </a:xfrm>
          <a:prstGeom prst="rect">
            <a:avLst/>
          </a:prstGeom>
        </p:spPr>
      </p:pic>
      <p:sp>
        <p:nvSpPr>
          <p:cNvPr id="168" name="Text 131"/>
          <p:cNvSpPr txBox="1"/>
          <p:nvPr/>
        </p:nvSpPr>
        <p:spPr>
          <a:xfrm>
            <a:off x="4489704" y="3383280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2E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680" dirty="0"/>
          </a:p>
        </p:txBody>
      </p:sp>
      <p:sp>
        <p:nvSpPr>
          <p:cNvPr id="169" name="Text 132"/>
          <p:cNvSpPr txBox="1"/>
          <p:nvPr/>
        </p:nvSpPr>
        <p:spPr>
          <a:xfrm>
            <a:off x="4279392" y="3593592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profiles, cases, audit log</a:t>
            </a:r>
            <a:endParaRPr lang="en-US" sz="600" dirty="0"/>
          </a:p>
        </p:txBody>
      </p:sp>
      <p:sp>
        <p:nvSpPr>
          <p:cNvPr id="170" name="Shape 133"/>
          <p:cNvSpPr/>
          <p:nvPr/>
        </p:nvSpPr>
        <p:spPr>
          <a:xfrm>
            <a:off x="5175504" y="3346704"/>
            <a:ext cx="768096" cy="548640"/>
          </a:xfrm>
          <a:prstGeom prst="roundRect">
            <a:avLst>
              <a:gd name="adj" fmla="val 10000"/>
            </a:avLst>
          </a:prstGeom>
          <a:solidFill>
            <a:srgbClr val="FFF3D6"/>
          </a:solidFill>
          <a:ln w="12700">
            <a:solidFill>
              <a:srgbClr val="D4930D"/>
            </a:solidFill>
            <a:prstDash val="solid"/>
          </a:ln>
        </p:spPr>
      </p:sp>
      <p:pic>
        <p:nvPicPr>
          <p:cNvPr id="171" name="Image 35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221224" y="3392424"/>
            <a:ext cx="182880" cy="182880"/>
          </a:xfrm>
          <a:prstGeom prst="rect">
            <a:avLst/>
          </a:prstGeom>
        </p:spPr>
      </p:pic>
      <p:sp>
        <p:nvSpPr>
          <p:cNvPr id="172" name="Text 134"/>
          <p:cNvSpPr txBox="1"/>
          <p:nvPr/>
        </p:nvSpPr>
        <p:spPr>
          <a:xfrm>
            <a:off x="5431536" y="3383280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D49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centre</a:t>
            </a:r>
            <a:endParaRPr lang="en-US" sz="680" dirty="0"/>
          </a:p>
        </p:txBody>
      </p:sp>
      <p:sp>
        <p:nvSpPr>
          <p:cNvPr id="173" name="Text 135"/>
          <p:cNvSpPr txBox="1"/>
          <p:nvPr/>
        </p:nvSpPr>
        <p:spPr>
          <a:xfrm>
            <a:off x="5221224" y="3593592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+ Aadhaar e-KYC*</a:t>
            </a:r>
            <a:endParaRPr lang="en-US" sz="600" dirty="0"/>
          </a:p>
        </p:txBody>
      </p:sp>
      <p:sp>
        <p:nvSpPr>
          <p:cNvPr id="174" name="Shape 136"/>
          <p:cNvSpPr/>
          <p:nvPr/>
        </p:nvSpPr>
        <p:spPr>
          <a:xfrm>
            <a:off x="6117336" y="3346704"/>
            <a:ext cx="768096" cy="548640"/>
          </a:xfrm>
          <a:prstGeom prst="roundRect">
            <a:avLst>
              <a:gd name="adj" fmla="val 10000"/>
            </a:avLst>
          </a:prstGeom>
          <a:solidFill>
            <a:srgbClr val="FFEFDD"/>
          </a:solidFill>
          <a:ln w="12700">
            <a:solidFill>
              <a:srgbClr val="EF8A22"/>
            </a:solidFill>
            <a:prstDash val="solid"/>
          </a:ln>
        </p:spPr>
      </p:sp>
      <p:pic>
        <p:nvPicPr>
          <p:cNvPr id="175" name="Image 36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163056" y="3392424"/>
            <a:ext cx="182880" cy="182880"/>
          </a:xfrm>
          <a:prstGeom prst="rect">
            <a:avLst/>
          </a:prstGeom>
        </p:spPr>
      </p:pic>
      <p:sp>
        <p:nvSpPr>
          <p:cNvPr id="176" name="Text 137"/>
          <p:cNvSpPr txBox="1"/>
          <p:nvPr/>
        </p:nvSpPr>
        <p:spPr>
          <a:xfrm>
            <a:off x="6373368" y="3383280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EF8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app*</a:t>
            </a:r>
            <a:endParaRPr lang="en-US" sz="680" dirty="0"/>
          </a:p>
        </p:txBody>
      </p:sp>
      <p:sp>
        <p:nvSpPr>
          <p:cNvPr id="177" name="Text 138"/>
          <p:cNvSpPr txBox="1"/>
          <p:nvPr/>
        </p:nvSpPr>
        <p:spPr>
          <a:xfrm>
            <a:off x="6163056" y="3593592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approves or returns</a:t>
            </a:r>
            <a:endParaRPr lang="en-US" sz="600" dirty="0"/>
          </a:p>
        </p:txBody>
      </p:sp>
      <p:sp>
        <p:nvSpPr>
          <p:cNvPr id="178" name="Shape 139"/>
          <p:cNvSpPr/>
          <p:nvPr/>
        </p:nvSpPr>
        <p:spPr>
          <a:xfrm>
            <a:off x="7059168" y="3346704"/>
            <a:ext cx="768096" cy="548640"/>
          </a:xfrm>
          <a:prstGeom prst="roundRect">
            <a:avLst>
              <a:gd name="adj" fmla="val 10000"/>
            </a:avLst>
          </a:prstGeom>
          <a:solidFill>
            <a:srgbClr val="E3F6EC"/>
          </a:solidFill>
          <a:ln w="12700">
            <a:solidFill>
              <a:srgbClr val="1F9D63"/>
            </a:solidFill>
            <a:prstDash val="solid"/>
          </a:ln>
        </p:spPr>
      </p:sp>
      <p:pic>
        <p:nvPicPr>
          <p:cNvPr id="179" name="Image 37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104888" y="3392424"/>
            <a:ext cx="182880" cy="182880"/>
          </a:xfrm>
          <a:prstGeom prst="rect">
            <a:avLst/>
          </a:prstGeom>
        </p:spPr>
      </p:pic>
      <p:sp>
        <p:nvSpPr>
          <p:cNvPr id="180" name="Text 140"/>
          <p:cNvSpPr txBox="1"/>
          <p:nvPr/>
        </p:nvSpPr>
        <p:spPr>
          <a:xfrm>
            <a:off x="7315200" y="3383280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</a:t>
            </a:r>
            <a:endParaRPr lang="en-US" sz="680" dirty="0"/>
          </a:p>
        </p:txBody>
      </p:sp>
      <p:sp>
        <p:nvSpPr>
          <p:cNvPr id="181" name="Text 141"/>
          <p:cNvSpPr txBox="1"/>
          <p:nvPr/>
        </p:nvSpPr>
        <p:spPr>
          <a:xfrm>
            <a:off x="7104888" y="3593592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Redis: calls at 1, 3, 6 months</a:t>
            </a:r>
            <a:endParaRPr lang="en-US" sz="600" dirty="0"/>
          </a:p>
        </p:txBody>
      </p:sp>
      <p:sp>
        <p:nvSpPr>
          <p:cNvPr id="182" name="Shape 142"/>
          <p:cNvSpPr/>
          <p:nvPr/>
        </p:nvSpPr>
        <p:spPr>
          <a:xfrm>
            <a:off x="8001000" y="3346704"/>
            <a:ext cx="768096" cy="54864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 w="12700">
            <a:solidFill>
              <a:srgbClr val="7A5AF8"/>
            </a:solidFill>
            <a:prstDash val="solid"/>
          </a:ln>
        </p:spPr>
      </p:sp>
      <p:pic>
        <p:nvPicPr>
          <p:cNvPr id="183" name="Image 38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8046720" y="3392424"/>
            <a:ext cx="182880" cy="182880"/>
          </a:xfrm>
          <a:prstGeom prst="rect">
            <a:avLst/>
          </a:prstGeom>
        </p:spPr>
      </p:pic>
      <p:sp>
        <p:nvSpPr>
          <p:cNvPr id="184" name="Text 143"/>
          <p:cNvSpPr txBox="1"/>
          <p:nvPr/>
        </p:nvSpPr>
        <p:spPr>
          <a:xfrm>
            <a:off x="8257032" y="3383280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7A5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680" dirty="0"/>
          </a:p>
        </p:txBody>
      </p:sp>
      <p:sp>
        <p:nvSpPr>
          <p:cNvPr id="185" name="Text 144"/>
          <p:cNvSpPr txBox="1"/>
          <p:nvPr/>
        </p:nvSpPr>
        <p:spPr>
          <a:xfrm>
            <a:off x="8046720" y="3593592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Leaflet demand map</a:t>
            </a:r>
            <a:endParaRPr lang="en-US" sz="600" dirty="0"/>
          </a:p>
        </p:txBody>
      </p:sp>
      <p:sp>
        <p:nvSpPr>
          <p:cNvPr id="186" name="Shape 145"/>
          <p:cNvSpPr/>
          <p:nvPr/>
        </p:nvSpPr>
        <p:spPr>
          <a:xfrm>
            <a:off x="4078224" y="3621024"/>
            <a:ext cx="137160" cy="0"/>
          </a:xfrm>
          <a:prstGeom prst="line">
            <a:avLst/>
          </a:prstGeom>
          <a:noFill/>
          <a:ln w="15875">
            <a:solidFill>
              <a:srgbClr val="1F9D63"/>
            </a:solidFill>
            <a:prstDash val="solid"/>
            <a:tailEnd type="triangle"/>
          </a:ln>
        </p:spPr>
      </p:sp>
      <p:sp>
        <p:nvSpPr>
          <p:cNvPr id="187" name="Text 146"/>
          <p:cNvSpPr txBox="1"/>
          <p:nvPr/>
        </p:nvSpPr>
        <p:spPr>
          <a:xfrm>
            <a:off x="3877056" y="3913632"/>
            <a:ext cx="539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i="1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JSON</a:t>
            </a:r>
            <a:endParaRPr lang="en-US" sz="580" dirty="0"/>
          </a:p>
        </p:txBody>
      </p:sp>
      <p:sp>
        <p:nvSpPr>
          <p:cNvPr id="188" name="Shape 147"/>
          <p:cNvSpPr/>
          <p:nvPr/>
        </p:nvSpPr>
        <p:spPr>
          <a:xfrm>
            <a:off x="5020056" y="3621024"/>
            <a:ext cx="137160" cy="0"/>
          </a:xfrm>
          <a:prstGeom prst="line">
            <a:avLst/>
          </a:prstGeom>
          <a:noFill/>
          <a:ln w="15875">
            <a:solidFill>
              <a:srgbClr val="1F9D63"/>
            </a:solidFill>
            <a:prstDash val="solid"/>
            <a:tailEnd type="triangle"/>
          </a:ln>
        </p:spPr>
      </p:sp>
      <p:sp>
        <p:nvSpPr>
          <p:cNvPr id="189" name="Text 148"/>
          <p:cNvSpPr txBox="1"/>
          <p:nvPr/>
        </p:nvSpPr>
        <p:spPr>
          <a:xfrm>
            <a:off x="4818888" y="3913632"/>
            <a:ext cx="539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i="1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Case ID</a:t>
            </a:r>
            <a:endParaRPr lang="en-US" sz="580" dirty="0"/>
          </a:p>
        </p:txBody>
      </p:sp>
      <p:sp>
        <p:nvSpPr>
          <p:cNvPr id="190" name="Shape 149"/>
          <p:cNvSpPr/>
          <p:nvPr/>
        </p:nvSpPr>
        <p:spPr>
          <a:xfrm>
            <a:off x="5961888" y="3621024"/>
            <a:ext cx="137160" cy="0"/>
          </a:xfrm>
          <a:prstGeom prst="line">
            <a:avLst/>
          </a:prstGeom>
          <a:noFill/>
          <a:ln w="15875">
            <a:solidFill>
              <a:srgbClr val="1F9D63"/>
            </a:solidFill>
            <a:prstDash val="solid"/>
            <a:tailEnd type="triangle"/>
          </a:ln>
        </p:spPr>
      </p:sp>
      <p:sp>
        <p:nvSpPr>
          <p:cNvPr id="191" name="Text 150"/>
          <p:cNvSpPr txBox="1"/>
          <p:nvPr/>
        </p:nvSpPr>
        <p:spPr>
          <a:xfrm>
            <a:off x="5760720" y="3913632"/>
            <a:ext cx="539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i="1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+ e-KYC</a:t>
            </a:r>
            <a:endParaRPr lang="en-US" sz="580" dirty="0"/>
          </a:p>
        </p:txBody>
      </p:sp>
      <p:sp>
        <p:nvSpPr>
          <p:cNvPr id="192" name="Shape 151"/>
          <p:cNvSpPr/>
          <p:nvPr/>
        </p:nvSpPr>
        <p:spPr>
          <a:xfrm>
            <a:off x="6903720" y="3621024"/>
            <a:ext cx="137160" cy="0"/>
          </a:xfrm>
          <a:prstGeom prst="line">
            <a:avLst/>
          </a:prstGeom>
          <a:noFill/>
          <a:ln w="15875">
            <a:solidFill>
              <a:srgbClr val="1F9D63"/>
            </a:solidFill>
            <a:prstDash val="solid"/>
            <a:tailEnd type="triangle"/>
          </a:ln>
        </p:spPr>
      </p:sp>
      <p:sp>
        <p:nvSpPr>
          <p:cNvPr id="193" name="Text 152"/>
          <p:cNvSpPr txBox="1"/>
          <p:nvPr/>
        </p:nvSpPr>
        <p:spPr>
          <a:xfrm>
            <a:off x="6702552" y="3913632"/>
            <a:ext cx="539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i="1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580" dirty="0"/>
          </a:p>
        </p:txBody>
      </p:sp>
      <p:sp>
        <p:nvSpPr>
          <p:cNvPr id="194" name="Shape 153"/>
          <p:cNvSpPr/>
          <p:nvPr/>
        </p:nvSpPr>
        <p:spPr>
          <a:xfrm>
            <a:off x="7845552" y="3621024"/>
            <a:ext cx="137160" cy="0"/>
          </a:xfrm>
          <a:prstGeom prst="line">
            <a:avLst/>
          </a:prstGeom>
          <a:noFill/>
          <a:ln w="15875">
            <a:solidFill>
              <a:srgbClr val="1F9D63"/>
            </a:solidFill>
            <a:prstDash val="solid"/>
            <a:tailEnd type="triangle"/>
          </a:ln>
        </p:spPr>
      </p:sp>
      <p:sp>
        <p:nvSpPr>
          <p:cNvPr id="195" name="Text 154"/>
          <p:cNvSpPr txBox="1"/>
          <p:nvPr/>
        </p:nvSpPr>
        <p:spPr>
          <a:xfrm>
            <a:off x="7644384" y="3913632"/>
            <a:ext cx="539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i="1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580" dirty="0"/>
          </a:p>
        </p:txBody>
      </p:sp>
      <p:sp>
        <p:nvSpPr>
          <p:cNvPr id="196" name="Shape 155"/>
          <p:cNvSpPr/>
          <p:nvPr/>
        </p:nvSpPr>
        <p:spPr>
          <a:xfrm>
            <a:off x="3675888" y="3072384"/>
            <a:ext cx="0" cy="256032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197" name="Text 156"/>
          <p:cNvSpPr txBox="1"/>
          <p:nvPr/>
        </p:nvSpPr>
        <p:spPr>
          <a:xfrm>
            <a:off x="3730752" y="316382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ends → confirmed profile (JSON) → FastAPI</a:t>
            </a:r>
            <a:endParaRPr lang="en-US" sz="580" dirty="0"/>
          </a:p>
        </p:txBody>
      </p:sp>
      <p:sp>
        <p:nvSpPr>
          <p:cNvPr id="198" name="Shape 157"/>
          <p:cNvSpPr/>
          <p:nvPr/>
        </p:nvSpPr>
        <p:spPr>
          <a:xfrm>
            <a:off x="3291840" y="4041648"/>
            <a:ext cx="5486400" cy="237744"/>
          </a:xfrm>
          <a:prstGeom prst="roundRect">
            <a:avLst>
              <a:gd name="adj" fmla="val 15385"/>
            </a:avLst>
          </a:prstGeom>
          <a:solidFill>
            <a:srgbClr val="E6EEFC"/>
          </a:solidFill>
          <a:ln w="9525">
            <a:solidFill>
              <a:srgbClr val="E6EEFC"/>
            </a:solidFill>
            <a:prstDash val="solid"/>
          </a:ln>
        </p:spPr>
      </p:sp>
      <p:pic>
        <p:nvPicPr>
          <p:cNvPr id="199" name="Image 39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337560" y="4087368"/>
            <a:ext cx="146304" cy="146304"/>
          </a:xfrm>
          <a:prstGeom prst="rect">
            <a:avLst/>
          </a:prstGeom>
        </p:spPr>
      </p:pic>
      <p:sp>
        <p:nvSpPr>
          <p:cNvPr id="200" name="Text 158"/>
          <p:cNvSpPr txBox="1"/>
          <p:nvPr/>
        </p:nvSpPr>
        <p:spPr>
          <a:xfrm>
            <a:off x="3529584" y="4041648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E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portal (React): </a:t>
            </a:r>
            <a:r>
              <a:rPr lang="en-US" sz="6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+ OTP login to the same API and tables — the family, CSC operator or officer can view or edit the case anytime, no call needed.</a:t>
            </a:r>
            <a:endParaRPr lang="en-US" sz="650" dirty="0"/>
          </a:p>
        </p:txBody>
      </p:sp>
      <p:sp>
        <p:nvSpPr>
          <p:cNvPr id="201" name="Shape 159"/>
          <p:cNvSpPr/>
          <p:nvPr/>
        </p:nvSpPr>
        <p:spPr>
          <a:xfrm>
            <a:off x="3200400" y="4389120"/>
            <a:ext cx="5669280" cy="256032"/>
          </a:xfrm>
          <a:prstGeom prst="roundRect">
            <a:avLst>
              <a:gd name="adj" fmla="val 21429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02" name="Text 160"/>
          <p:cNvSpPr txBox="1"/>
          <p:nvPr/>
        </p:nvSpPr>
        <p:spPr>
          <a:xfrm>
            <a:off x="3200400" y="438912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understands   →   verified data decides   →   SATYA checks   →   humans approve</a:t>
            </a:r>
            <a:endParaRPr lang="en-US" sz="850" dirty="0"/>
          </a:p>
        </p:txBody>
      </p:sp>
      <p:sp>
        <p:nvSpPr>
          <p:cNvPr id="203" name="Text 161"/>
          <p:cNvSpPr txBox="1"/>
          <p:nvPr/>
        </p:nvSpPr>
        <p:spPr>
          <a:xfrm>
            <a:off x="3200400" y="468172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rules: no Aadhaar number stored · raw audio deleted after confirmation · consent logged (DPDP Rules 2025) · every edit in the audit log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64592"/>
            <a:ext cx="960120" cy="548640"/>
          </a:xfrm>
          <a:prstGeom prst="ellipse">
            <a:avLst/>
          </a:prstGeom>
          <a:solidFill>
            <a:srgbClr val="EAF0F8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56032" y="164592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Cognify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1828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FEASIBILITY AND VIABILITY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73152"/>
            <a:ext cx="1691640" cy="7955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503920" y="48737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89611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u="sng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it be built and run?</a:t>
            </a: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b="1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every part already runs in India, the prototype can be built today, and one completed call costs about </a:t>
            </a:r>
            <a:r>
              <a:rPr lang="en-US" sz="9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₹25–54</a:t>
            </a: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274320" y="11887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WORKING IN INDIA  </a:t>
            </a: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is untested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74320" y="1389888"/>
            <a:ext cx="2057400" cy="932688"/>
          </a:xfrm>
          <a:prstGeom prst="roundRect">
            <a:avLst>
              <a:gd name="adj" fmla="val 7843"/>
            </a:avLst>
          </a:prstGeom>
          <a:solidFill>
            <a:srgbClr val="E6EEFC"/>
          </a:solidFill>
          <a:ln w="9525">
            <a:solidFill>
              <a:srgbClr val="E6EEF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1520" y="143560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languages out of 22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1627632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already in use</a:t>
            </a:r>
            <a:endParaRPr lang="en-US" sz="730" dirty="0"/>
          </a:p>
        </p:txBody>
      </p:sp>
      <p:sp>
        <p:nvSpPr>
          <p:cNvPr id="13" name="Text 9"/>
          <p:cNvSpPr txBox="1"/>
          <p:nvPr/>
        </p:nvSpPr>
        <p:spPr>
          <a:xfrm>
            <a:off x="365760" y="181051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b="1" dirty="0">
                <a:solidFill>
                  <a:srgbClr val="2E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UIDAI</a:t>
            </a:r>
            <a:r>
              <a:rPr lang="en-US" sz="67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already runs Sarvam's voice AI for Aadhaar on its own servers, in 10 of Sarvam's 22 languages.</a:t>
            </a:r>
            <a:endParaRPr lang="en-US" sz="670" dirty="0"/>
          </a:p>
        </p:txBody>
      </p:sp>
      <p:sp>
        <p:nvSpPr>
          <p:cNvPr id="14" name="Shape 10"/>
          <p:cNvSpPr/>
          <p:nvPr/>
        </p:nvSpPr>
        <p:spPr>
          <a:xfrm>
            <a:off x="365760" y="2121408"/>
            <a:ext cx="1874520" cy="137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20624" y="2121408"/>
            <a:ext cx="1783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2E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PIB / MeitY 2025</a:t>
            </a:r>
            <a:endParaRPr lang="en-US" sz="600" dirty="0"/>
          </a:p>
        </p:txBody>
      </p:sp>
      <p:sp>
        <p:nvSpPr>
          <p:cNvPr id="16" name="Shape 12"/>
          <p:cNvSpPr/>
          <p:nvPr/>
        </p:nvSpPr>
        <p:spPr>
          <a:xfrm>
            <a:off x="2446020" y="1389888"/>
            <a:ext cx="2057400" cy="932688"/>
          </a:xfrm>
          <a:prstGeom prst="roundRect">
            <a:avLst>
              <a:gd name="adj" fmla="val 7843"/>
            </a:avLst>
          </a:prstGeom>
          <a:solidFill>
            <a:srgbClr val="E0F4F5"/>
          </a:solidFill>
          <a:ln w="9525">
            <a:solidFill>
              <a:srgbClr val="E0F4F5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7460" y="146304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2903220" y="143560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lakh calls a day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03220" y="1627632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handled by a govt line</a:t>
            </a:r>
            <a:endParaRPr lang="en-US" sz="730" dirty="0"/>
          </a:p>
        </p:txBody>
      </p:sp>
      <p:sp>
        <p:nvSpPr>
          <p:cNvPr id="20" name="Text 15"/>
          <p:cNvSpPr txBox="1"/>
          <p:nvPr/>
        </p:nvSpPr>
        <p:spPr>
          <a:xfrm>
            <a:off x="2537460" y="181051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b="1" dirty="0">
                <a:solidFill>
                  <a:srgbClr val="13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Kilkari</a:t>
            </a:r>
            <a:r>
              <a:rPr lang="en-US" sz="67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government health-advice line, runs this volume every single day.</a:t>
            </a:r>
            <a:endParaRPr lang="en-US" sz="670" dirty="0"/>
          </a:p>
        </p:txBody>
      </p:sp>
      <p:sp>
        <p:nvSpPr>
          <p:cNvPr id="21" name="Shape 16"/>
          <p:cNvSpPr/>
          <p:nvPr/>
        </p:nvSpPr>
        <p:spPr>
          <a:xfrm>
            <a:off x="2537460" y="2121408"/>
            <a:ext cx="1874520" cy="137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2592324" y="2121408"/>
            <a:ext cx="1783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3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BMJ Global Health 2021</a:t>
            </a:r>
            <a:endParaRPr lang="en-US" sz="600" dirty="0"/>
          </a:p>
        </p:txBody>
      </p:sp>
      <p:sp>
        <p:nvSpPr>
          <p:cNvPr id="23" name="Shape 18"/>
          <p:cNvSpPr/>
          <p:nvPr/>
        </p:nvSpPr>
        <p:spPr>
          <a:xfrm>
            <a:off x="4617720" y="1389888"/>
            <a:ext cx="2057400" cy="932688"/>
          </a:xfrm>
          <a:prstGeom prst="roundRect">
            <a:avLst>
              <a:gd name="adj" fmla="val 7843"/>
            </a:avLst>
          </a:prstGeom>
          <a:solidFill>
            <a:srgbClr val="EDE9FE"/>
          </a:solidFill>
          <a:ln w="9525">
            <a:solidFill>
              <a:srgbClr val="EDE9FE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463040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074920" y="143560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5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20% word error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5074920" y="1627632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real Indian phone calls</a:t>
            </a:r>
            <a:endParaRPr lang="en-US" sz="730" dirty="0"/>
          </a:p>
        </p:txBody>
      </p:sp>
      <p:sp>
        <p:nvSpPr>
          <p:cNvPr id="27" name="Text 21"/>
          <p:cNvSpPr txBox="1"/>
          <p:nvPr/>
        </p:nvSpPr>
        <p:spPr>
          <a:xfrm>
            <a:off x="4709160" y="181051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Indian speech AI, tested on </a:t>
            </a:r>
            <a:r>
              <a:rPr lang="en-US" sz="670" b="1" dirty="0">
                <a:solidFill>
                  <a:srgbClr val="7A5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36,691 speakers</a:t>
            </a:r>
            <a:r>
              <a:rPr lang="en-US" sz="67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15 languages (536 hours).</a:t>
            </a:r>
            <a:endParaRPr lang="en-US" sz="670" dirty="0"/>
          </a:p>
        </p:txBody>
      </p:sp>
      <p:sp>
        <p:nvSpPr>
          <p:cNvPr id="28" name="Shape 22"/>
          <p:cNvSpPr/>
          <p:nvPr/>
        </p:nvSpPr>
        <p:spPr>
          <a:xfrm>
            <a:off x="4709160" y="2121408"/>
            <a:ext cx="1874520" cy="137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4764024" y="2121408"/>
            <a:ext cx="1783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A5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Voice of India 2026 (arXiv)</a:t>
            </a:r>
            <a:endParaRPr lang="en-US" sz="600" dirty="0"/>
          </a:p>
        </p:txBody>
      </p:sp>
      <p:sp>
        <p:nvSpPr>
          <p:cNvPr id="30" name="Shape 24"/>
          <p:cNvSpPr/>
          <p:nvPr/>
        </p:nvSpPr>
        <p:spPr>
          <a:xfrm>
            <a:off x="6789420" y="1389888"/>
            <a:ext cx="2057400" cy="932688"/>
          </a:xfrm>
          <a:prstGeom prst="roundRect">
            <a:avLst>
              <a:gd name="adj" fmla="val 7843"/>
            </a:avLst>
          </a:prstGeom>
          <a:solidFill>
            <a:srgbClr val="FFEFDD"/>
          </a:solidFill>
          <a:ln w="9525">
            <a:solidFill>
              <a:srgbClr val="FFEFDD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0860" y="1463040"/>
            <a:ext cx="292608" cy="292608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7246620" y="143560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8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1.2–2.2 s per reply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7246620" y="1627632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enough to feel like a talk</a:t>
            </a:r>
            <a:endParaRPr lang="en-US" sz="730" dirty="0"/>
          </a:p>
        </p:txBody>
      </p:sp>
      <p:sp>
        <p:nvSpPr>
          <p:cNvPr id="34" name="Text 27"/>
          <p:cNvSpPr txBox="1"/>
          <p:nvPr/>
        </p:nvSpPr>
        <p:spPr>
          <a:xfrm>
            <a:off x="6880860" y="181051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speech 0.5 s + speech-to-text 0.1–0.3 s + AI first word 0.3–1 s + voice 0.2 s + network 0.1–0.2 s.</a:t>
            </a:r>
            <a:endParaRPr lang="en-US" sz="670" dirty="0"/>
          </a:p>
        </p:txBody>
      </p:sp>
      <p:sp>
        <p:nvSpPr>
          <p:cNvPr id="35" name="Shape 28"/>
          <p:cNvSpPr/>
          <p:nvPr/>
        </p:nvSpPr>
        <p:spPr>
          <a:xfrm>
            <a:off x="6880860" y="2121408"/>
            <a:ext cx="1874520" cy="137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6935724" y="2121408"/>
            <a:ext cx="1783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EF8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Sarvam docs · NVIDIA 2026</a:t>
            </a:r>
            <a:endParaRPr lang="en-US" sz="600" dirty="0"/>
          </a:p>
        </p:txBody>
      </p:sp>
      <p:sp>
        <p:nvSpPr>
          <p:cNvPr id="37" name="Text 30"/>
          <p:cNvSpPr txBox="1"/>
          <p:nvPr/>
        </p:nvSpPr>
        <p:spPr>
          <a:xfrm>
            <a:off x="274320" y="2414016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COMPLETED CALL COSTS ₹25–54  </a:t>
            </a: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per minute → one call of ≈ 16 min</a:t>
            </a:r>
            <a:endParaRPr lang="en-US" sz="8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15184"/>
          <a:ext cx="4206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240280"/>
                <a:gridCol w="685800"/>
              </a:tblGrid>
              <a:tr h="1417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item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call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4E79"/>
                    </a:solidFill>
                  </a:tcPr>
                </a:tc>
              </a:tr>
              <a:tr h="1417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 line (Exotel)</a:t>
                      </a:r>
                      <a:endParaRPr lang="en-US" sz="6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₹0.80–1.80 per minute (+ unfinished calls, 30-s billing)</a:t>
                      </a:r>
                      <a:endParaRPr lang="en-US" sz="6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₹14.7–33.7</a:t>
                      </a:r>
                      <a:endParaRPr lang="en-US" sz="6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417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Speech → text (Saaras v3)</a:t>
                      </a:r>
                      <a:endParaRPr lang="en-US" sz="6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₹0.50 per minute, only his speech (50–60% of the call)</a:t>
                      </a:r>
                      <a:endParaRPr lang="en-US" sz="6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₹4.2–5.1</a:t>
                      </a:r>
                      <a:endParaRPr lang="en-US" sz="6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5F8"/>
                    </a:solidFill>
                  </a:tcPr>
                </a:tc>
              </a:tr>
              <a:tr h="1417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→ speech (Bulbul v3)</a:t>
                      </a:r>
                      <a:endParaRPr lang="en-US" sz="6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 per 1,000 characters; fixed questions pre-recorded</a:t>
                      </a:r>
                      <a:endParaRPr lang="en-US" sz="6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₹2.4–6.0</a:t>
                      </a:r>
                      <a:endParaRPr lang="en-US" sz="6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417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brain (Sarvam-30B / 105B)</a:t>
                      </a:r>
                      <a:endParaRPr lang="en-US" sz="6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~90% of turns on 30B; 105B only when needed</a:t>
                      </a:r>
                      <a:endParaRPr lang="en-US" sz="6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₹0.25–0.5</a:t>
                      </a:r>
                      <a:endParaRPr lang="en-US" sz="6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5F8"/>
                    </a:solidFill>
                  </a:tcPr>
                </a:tc>
              </a:tr>
              <a:tr h="1417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 + human call-back</a:t>
                      </a:r>
                      <a:endParaRPr lang="en-US" sz="6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4–6 SMS; 10–20% of callers need a human for 5–6 min</a:t>
                      </a:r>
                      <a:endParaRPr lang="en-US" sz="6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₹2.2–5.3</a:t>
                      </a:r>
                      <a:endParaRPr lang="en-US" sz="6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417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 &amp; helpline number</a:t>
                      </a:r>
                      <a:endParaRPr lang="en-US" sz="6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servers, database, number — spread per call</a:t>
                      </a:r>
                      <a:endParaRPr lang="en-US" sz="6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₹1.0–3.0</a:t>
                      </a:r>
                      <a:endParaRPr lang="en-US" sz="6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5F8"/>
                    </a:solidFill>
                  </a:tcPr>
                </a:tc>
              </a:tr>
              <a:tr h="1417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COMPLETED CALL</a:t>
                      </a:r>
                      <a:endParaRPr lang="en-US" sz="6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9D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all-in ≈ ₹1.6–3.4 per minute</a:t>
                      </a:r>
                      <a:endParaRPr lang="en-US" sz="6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9D6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₹25–54</a:t>
                      </a:r>
                      <a:endParaRPr lang="en-US" sz="6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9D63"/>
                    </a:solidFill>
                  </a:tcPr>
                </a:tc>
              </a:tr>
            </a:tbl>
          </a:graphicData>
        </a:graphic>
      </p:graphicFrame>
      <p:sp>
        <p:nvSpPr>
          <p:cNvPr id="39" name="Shape 31"/>
          <p:cNvSpPr/>
          <p:nvPr/>
        </p:nvSpPr>
        <p:spPr>
          <a:xfrm>
            <a:off x="274320" y="3785616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E3F6EC"/>
          </a:solidFill>
          <a:ln w="9525">
            <a:solidFill>
              <a:srgbClr val="E3F6EC"/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365760" y="3803904"/>
            <a:ext cx="40416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1,000 missed calls, at the average ≈ ₹40 a call:</a:t>
            </a:r>
            <a:r>
              <a:rPr lang="en-US" sz="6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650" b="1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420–517 people</a:t>
            </a:r>
            <a:r>
              <a:rPr lang="en-US" sz="6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get a complete, verified profile for </a:t>
            </a:r>
            <a:r>
              <a:rPr lang="en-US" sz="650" b="1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₹17,000–21,000</a:t>
            </a:r>
            <a:r>
              <a:rPr lang="en-US" sz="6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total.
</a:t>
            </a:r>
            <a:r>
              <a:rPr lang="en-US" sz="650" b="1" dirty="0">
                <a:solidFill>
                  <a:srgbClr val="2E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r>
              <a:rPr lang="en-US" sz="6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reached on the 1st call and </a:t>
            </a:r>
            <a:r>
              <a:rPr lang="en-US" sz="650" b="1" dirty="0">
                <a:solidFill>
                  <a:srgbClr val="2E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r>
              <a:rPr lang="en-US" sz="6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the 3rd; ~80% of those finish the interview and ~85% of those finish the options. Only </a:t>
            </a:r>
            <a:r>
              <a:rPr lang="en-US" sz="650" b="1" dirty="0">
                <a:solidFill>
                  <a:srgbClr val="D49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10–20%</a:t>
            </a:r>
            <a:r>
              <a:rPr lang="en-US" sz="6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(≈ 40–100 people) need a human counsellor call. </a:t>
            </a:r>
            <a:r>
              <a:rPr lang="en-US" sz="6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</a:t>
            </a:r>
            <a:r>
              <a:rPr lang="en-US" sz="6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every step is worked in the calculations sheet.</a:t>
            </a:r>
            <a:endParaRPr lang="en-US" sz="650" dirty="0"/>
          </a:p>
        </p:txBody>
      </p:sp>
      <p:sp>
        <p:nvSpPr>
          <p:cNvPr id="41" name="Shape 33"/>
          <p:cNvSpPr/>
          <p:nvPr/>
        </p:nvSpPr>
        <p:spPr>
          <a:xfrm>
            <a:off x="274320" y="4480560"/>
            <a:ext cx="4206240" cy="13716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329184" y="4480560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&amp; funnel: Sarvam API pricing · Indian telephony rate cards 2026 · Kilkari (BMJ 2021) · funnel = our estimate</a:t>
            </a:r>
            <a:endParaRPr lang="en-US" sz="600" dirty="0"/>
          </a:p>
        </p:txBody>
      </p:sp>
      <p:sp>
        <p:nvSpPr>
          <p:cNvPr id="43" name="Text 35"/>
          <p:cNvSpPr txBox="1"/>
          <p:nvPr/>
        </p:nvSpPr>
        <p:spPr>
          <a:xfrm>
            <a:off x="4709160" y="2414016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D49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GOVERNMENT CAN AFFORD IT  </a:t>
            </a: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add ~1% to what is already spent</a:t>
            </a:r>
            <a:endParaRPr lang="en-US" sz="850" dirty="0"/>
          </a:p>
        </p:txBody>
      </p:sp>
      <p:sp>
        <p:nvSpPr>
          <p:cNvPr id="44" name="Shape 36"/>
          <p:cNvSpPr/>
          <p:nvPr/>
        </p:nvSpPr>
        <p:spPr>
          <a:xfrm>
            <a:off x="4709160" y="2615184"/>
            <a:ext cx="4160520" cy="365760"/>
          </a:xfrm>
          <a:prstGeom prst="roundRect">
            <a:avLst>
              <a:gd name="adj" fmla="val 20000"/>
            </a:avLst>
          </a:prstGeom>
          <a:solidFill>
            <a:srgbClr val="E3F6EC"/>
          </a:solidFill>
          <a:ln w="9525">
            <a:solidFill>
              <a:srgbClr val="E3F6EC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1456" y="2670048"/>
            <a:ext cx="256032" cy="256032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5120640" y="263347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0.05–0.10% of the budget  </a:t>
            </a:r>
            <a:r>
              <a:rPr lang="en-US" sz="65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all SkillCall needs</a:t>
            </a:r>
            <a:r>
              <a:rPr lang="en-US" sz="6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6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India: </a:t>
            </a:r>
            <a:r>
              <a:rPr lang="en-US" sz="630" b="1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₹1.1–2.1 crore a year</a:t>
            </a:r>
            <a:r>
              <a:rPr lang="en-US" sz="6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PM-AJAY's ₹2,140 crore (2026-27).</a:t>
            </a:r>
            <a:endParaRPr lang="en-US" sz="630" dirty="0"/>
          </a:p>
        </p:txBody>
      </p:sp>
      <p:sp>
        <p:nvSpPr>
          <p:cNvPr id="47" name="Shape 38"/>
          <p:cNvSpPr/>
          <p:nvPr/>
        </p:nvSpPr>
        <p:spPr>
          <a:xfrm>
            <a:off x="4709160" y="3017520"/>
            <a:ext cx="4160520" cy="365760"/>
          </a:xfrm>
          <a:prstGeom prst="roundRect">
            <a:avLst>
              <a:gd name="adj" fmla="val 20000"/>
            </a:avLst>
          </a:prstGeom>
          <a:solidFill>
            <a:srgbClr val="E6EEFC"/>
          </a:solidFill>
          <a:ln w="9525">
            <a:solidFill>
              <a:srgbClr val="E6EEFC"/>
            </a:solidFill>
            <a:prstDash val="solid"/>
          </a:ln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1456" y="3072384"/>
            <a:ext cx="256032" cy="256032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5120640" y="303580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1% more per person  </a:t>
            </a:r>
            <a:r>
              <a:rPr lang="en-US" sz="65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other 99% stops being wasted</a:t>
            </a:r>
            <a:r>
              <a:rPr lang="en-US" sz="6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6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govt already spends </a:t>
            </a:r>
            <a:r>
              <a:rPr lang="en-US" sz="630" b="1" dirty="0">
                <a:solidFill>
                  <a:srgbClr val="2E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₹60,700</a:t>
            </a:r>
            <a:r>
              <a:rPr lang="en-US" sz="6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one beneficiary. SkillCall costs </a:t>
            </a:r>
            <a:r>
              <a:rPr lang="en-US" sz="630" b="1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₹220–420</a:t>
            </a:r>
            <a:r>
              <a:rPr lang="en-US" sz="6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more — </a:t>
            </a:r>
            <a:r>
              <a:rPr lang="en-US" sz="630" b="1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1%</a:t>
            </a:r>
            <a:r>
              <a:rPr lang="en-US" sz="6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to make sure that ₹60,700 goes to the right course.</a:t>
            </a:r>
            <a:endParaRPr lang="en-US" sz="630" dirty="0"/>
          </a:p>
        </p:txBody>
      </p:sp>
      <p:sp>
        <p:nvSpPr>
          <p:cNvPr id="50" name="Shape 40"/>
          <p:cNvSpPr/>
          <p:nvPr/>
        </p:nvSpPr>
        <p:spPr>
          <a:xfrm>
            <a:off x="4709160" y="3419856"/>
            <a:ext cx="4160520" cy="365760"/>
          </a:xfrm>
          <a:prstGeom prst="roundRect">
            <a:avLst>
              <a:gd name="adj" fmla="val 20000"/>
            </a:avLst>
          </a:prstGeom>
          <a:solidFill>
            <a:srgbClr val="EDE9FE"/>
          </a:solidFill>
          <a:ln w="9525">
            <a:solidFill>
              <a:srgbClr val="EDE9FE"/>
            </a:solidFill>
            <a:prstDash val="solid"/>
          </a:ln>
        </p:spPr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91456" y="3474720"/>
            <a:ext cx="256032" cy="256032"/>
          </a:xfrm>
          <a:prstGeom prst="rect">
            <a:avLst/>
          </a:prstGeom>
        </p:spPr>
      </p:pic>
      <p:sp>
        <p:nvSpPr>
          <p:cNvPr id="52" name="Text 41"/>
          <p:cNvSpPr txBox="1"/>
          <p:nvPr/>
        </p:nvSpPr>
        <p:spPr>
          <a:xfrm>
            <a:off x="5120640" y="343814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5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₹9–13 lakh to start  </a:t>
            </a:r>
            <a:r>
              <a:rPr lang="en-US" sz="65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6-month pilot in one block</a:t>
            </a:r>
            <a:r>
              <a:rPr lang="en-US" sz="6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6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1,000 families: build, </a:t>
            </a:r>
            <a:r>
              <a:rPr lang="en-US" sz="630" b="1" dirty="0">
                <a:solidFill>
                  <a:srgbClr val="7A5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real users</a:t>
            </a:r>
            <a:r>
              <a:rPr lang="en-US" sz="6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then scale to the state.</a:t>
            </a:r>
            <a:endParaRPr lang="en-US" sz="630" dirty="0"/>
          </a:p>
        </p:txBody>
      </p:sp>
      <p:sp>
        <p:nvSpPr>
          <p:cNvPr id="53" name="Shape 42"/>
          <p:cNvSpPr/>
          <p:nvPr/>
        </p:nvSpPr>
        <p:spPr>
          <a:xfrm>
            <a:off x="4709160" y="3840480"/>
            <a:ext cx="4160520" cy="384048"/>
          </a:xfrm>
          <a:prstGeom prst="roundRect">
            <a:avLst>
              <a:gd name="adj" fmla="val 19048"/>
            </a:avLst>
          </a:prstGeom>
          <a:solidFill>
            <a:srgbClr val="E0F4F5"/>
          </a:solidFill>
          <a:ln w="9525">
            <a:solidFill>
              <a:srgbClr val="E0F4F5"/>
            </a:solidFill>
            <a:prstDash val="solid"/>
          </a:ln>
        </p:spPr>
      </p:sp>
      <p:sp>
        <p:nvSpPr>
          <p:cNvPr id="54" name="Text 43"/>
          <p:cNvSpPr txBox="1"/>
          <p:nvPr/>
        </p:nvSpPr>
        <p:spPr>
          <a:xfrm>
            <a:off x="4800600" y="385876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13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falls further over time.</a:t>
            </a:r>
            <a:r>
              <a:rPr lang="en-US" sz="6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Frequent questions get pre-written, verified answers and audio (answer cache, slide 3); Sarvam bills cached input at ₹10.98 vs ₹29.28 per 1M tokens; at national scale ~70% of speech moves to free IndicConformer → </a:t>
            </a:r>
            <a:r>
              <a:rPr lang="en-US" sz="630" b="1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₹21–49 per profile</a:t>
            </a:r>
            <a:r>
              <a:rPr lang="en-US" sz="6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630" dirty="0"/>
          </a:p>
        </p:txBody>
      </p:sp>
      <p:sp>
        <p:nvSpPr>
          <p:cNvPr id="55" name="Text 44"/>
          <p:cNvSpPr txBox="1"/>
          <p:nvPr/>
        </p:nvSpPr>
        <p:spPr>
          <a:xfrm>
            <a:off x="274320" y="457200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GO WRONG — AND WHAT ALREADY HANDLES IT  </a:t>
            </a:r>
            <a:endParaRPr lang="en-US" sz="850" dirty="0"/>
          </a:p>
        </p:txBody>
      </p:sp>
      <p:sp>
        <p:nvSpPr>
          <p:cNvPr id="56" name="Text 45"/>
          <p:cNvSpPr txBox="1"/>
          <p:nvPr/>
        </p:nvSpPr>
        <p:spPr>
          <a:xfrm>
            <a:off x="274320" y="4736592"/>
            <a:ext cx="42519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Village dialects are hard to understand</a:t>
            </a:r>
            <a:r>
              <a:rPr lang="en-US" sz="600" b="1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✓ solved: </a:t>
            </a:r>
            <a:r>
              <a:rPr lang="en-US" sz="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by keypad, every answer read back, bigger model, then a human</a:t>
            </a:r>
            <a:endParaRPr lang="en-US" sz="600" dirty="0"/>
          </a:p>
        </p:txBody>
      </p:sp>
      <p:sp>
        <p:nvSpPr>
          <p:cNvPr id="57" name="Text 46"/>
          <p:cNvSpPr txBox="1"/>
          <p:nvPr/>
        </p:nvSpPr>
        <p:spPr>
          <a:xfrm>
            <a:off x="4617720" y="4736592"/>
            <a:ext cx="42519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The AI could say something wrong</a:t>
            </a:r>
            <a:r>
              <a:rPr lang="en-US" sz="600" b="1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✓ solved: </a:t>
            </a:r>
            <a:r>
              <a:rPr lang="en-US" sz="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SATYA blocks anything not in the government database</a:t>
            </a:r>
            <a:endParaRPr lang="en-US" sz="600" dirty="0"/>
          </a:p>
        </p:txBody>
      </p:sp>
      <p:sp>
        <p:nvSpPr>
          <p:cNvPr id="58" name="Text 47"/>
          <p:cNvSpPr txBox="1"/>
          <p:nvPr/>
        </p:nvSpPr>
        <p:spPr>
          <a:xfrm>
            <a:off x="274320" y="4841748"/>
            <a:ext cx="42519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People ignore unknown numbers</a:t>
            </a:r>
            <a:r>
              <a:rPr lang="en-US" sz="600" b="1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✓ solved: </a:t>
            </a:r>
            <a:r>
              <a:rPr lang="en-US" sz="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calls first; the call-back comes from an official 1600 number</a:t>
            </a:r>
            <a:endParaRPr lang="en-US" sz="600" dirty="0"/>
          </a:p>
        </p:txBody>
      </p:sp>
      <p:sp>
        <p:nvSpPr>
          <p:cNvPr id="59" name="Text 48"/>
          <p:cNvSpPr txBox="1"/>
          <p:nvPr/>
        </p:nvSpPr>
        <p:spPr>
          <a:xfrm>
            <a:off x="4617720" y="4841748"/>
            <a:ext cx="42519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Slow replies bore callers</a:t>
            </a:r>
            <a:r>
              <a:rPr lang="en-US" sz="600" b="1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✓ solved: </a:t>
            </a:r>
            <a:r>
              <a:rPr lang="en-US" sz="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voice, pre-recorded questions, keypad turns are instant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64592"/>
            <a:ext cx="960120" cy="548640"/>
          </a:xfrm>
          <a:prstGeom prst="ellipse">
            <a:avLst/>
          </a:prstGeom>
          <a:solidFill>
            <a:srgbClr val="EAF0F8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56032" y="164592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Cognify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1828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 AND BENEFITS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73152"/>
            <a:ext cx="1691640" cy="7955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503920" y="48737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89611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gains?</a:t>
            </a: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b="1" u="sng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 families</a:t>
            </a: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00" b="1" u="sng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operators</a:t>
            </a: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00" b="1" u="sng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officers</a:t>
            </a: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the </a:t>
            </a:r>
            <a:r>
              <a:rPr lang="en-US" sz="900" b="1" u="sng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</a:t>
            </a: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Every number shows how it was worked out.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274320" y="11887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 </a:t>
            </a: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numbers, each with its working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74320" y="1389888"/>
            <a:ext cx="2057400" cy="1298448"/>
          </a:xfrm>
          <a:prstGeom prst="roundRect">
            <a:avLst>
              <a:gd name="adj" fmla="val 5634"/>
            </a:avLst>
          </a:prstGeom>
          <a:solidFill>
            <a:srgbClr val="E3F6EC"/>
          </a:solidFill>
          <a:ln w="9525">
            <a:solidFill>
              <a:srgbClr val="E3F6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5760" y="1481328"/>
            <a:ext cx="310896" cy="310896"/>
          </a:xfrm>
          <a:prstGeom prst="roundRect">
            <a:avLst>
              <a:gd name="adj" fmla="val 22000"/>
            </a:avLst>
          </a:prstGeom>
          <a:solidFill>
            <a:srgbClr val="1F9D63"/>
          </a:solidFill>
          <a:ln w="12700">
            <a:solidFill>
              <a:srgbClr val="1F9D6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394" y="1527962"/>
            <a:ext cx="217627" cy="21762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8096" y="1453896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 → 70% placed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768096" y="1664208"/>
            <a:ext cx="1472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we close</a:t>
            </a:r>
            <a:endParaRPr lang="en-US" sz="730" dirty="0"/>
          </a:p>
        </p:txBody>
      </p:sp>
      <p:sp>
        <p:nvSpPr>
          <p:cNvPr id="14" name="Text 10"/>
          <p:cNvSpPr txBox="1"/>
          <p:nvPr/>
        </p:nvSpPr>
        <p:spPr>
          <a:xfrm>
            <a:off x="365760" y="1865376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41% of trained people get a job today; 70% is the govt's own target. Per 1,000 trainees, even 50% means 90 more people working.</a:t>
            </a:r>
            <a:endParaRPr lang="en-US" sz="640" dirty="0"/>
          </a:p>
        </p:txBody>
      </p:sp>
      <p:sp>
        <p:nvSpPr>
          <p:cNvPr id="15" name="Shape 11"/>
          <p:cNvSpPr/>
          <p:nvPr/>
        </p:nvSpPr>
        <p:spPr>
          <a:xfrm>
            <a:off x="365760" y="2487168"/>
            <a:ext cx="1874520" cy="137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20624" y="2487168"/>
            <a:ext cx="1783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CAG 2025 · MSDE norms</a:t>
            </a:r>
            <a:endParaRPr lang="en-US" sz="600" dirty="0"/>
          </a:p>
        </p:txBody>
      </p:sp>
      <p:sp>
        <p:nvSpPr>
          <p:cNvPr id="17" name="Shape 13"/>
          <p:cNvSpPr/>
          <p:nvPr/>
        </p:nvSpPr>
        <p:spPr>
          <a:xfrm>
            <a:off x="2446020" y="1389888"/>
            <a:ext cx="2057400" cy="1298448"/>
          </a:xfrm>
          <a:prstGeom prst="roundRect">
            <a:avLst>
              <a:gd name="adj" fmla="val 5634"/>
            </a:avLst>
          </a:prstGeom>
          <a:solidFill>
            <a:srgbClr val="E6EEFC"/>
          </a:solidFill>
          <a:ln w="9525">
            <a:solidFill>
              <a:srgbClr val="E6EEF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537460" y="1481328"/>
            <a:ext cx="310896" cy="310896"/>
          </a:xfrm>
          <a:prstGeom prst="roundRect">
            <a:avLst>
              <a:gd name="adj" fmla="val 22000"/>
            </a:avLst>
          </a:prstGeom>
          <a:solidFill>
            <a:srgbClr val="2E6FD6"/>
          </a:solidFill>
          <a:ln w="12700">
            <a:solidFill>
              <a:srgbClr val="2E6FD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4094" y="1527962"/>
            <a:ext cx="217627" cy="217627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939796" y="1453896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→ 73% stay in the job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2939796" y="1664208"/>
            <a:ext cx="1472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told the truth before joining</a:t>
            </a:r>
            <a:endParaRPr lang="en-US" sz="730" dirty="0"/>
          </a:p>
        </p:txBody>
      </p:sp>
      <p:sp>
        <p:nvSpPr>
          <p:cNvPr id="22" name="Text 17"/>
          <p:cNvSpPr txBox="1"/>
          <p:nvPr/>
        </p:nvSpPr>
        <p:spPr>
          <a:xfrm>
            <a:off x="2537460" y="1865376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 percentage points (men) in a field trial of two honest job-information sessions. SkillCall gives that on the call.</a:t>
            </a:r>
            <a:endParaRPr lang="en-US" sz="640" dirty="0"/>
          </a:p>
        </p:txBody>
      </p:sp>
      <p:sp>
        <p:nvSpPr>
          <p:cNvPr id="23" name="Shape 18"/>
          <p:cNvSpPr/>
          <p:nvPr/>
        </p:nvSpPr>
        <p:spPr>
          <a:xfrm>
            <a:off x="2537460" y="2487168"/>
            <a:ext cx="1874520" cy="137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2592324" y="2487168"/>
            <a:ext cx="1783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2E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J-PAL · Chakravorty et al. 2024</a:t>
            </a:r>
            <a:endParaRPr lang="en-US" sz="600" dirty="0"/>
          </a:p>
        </p:txBody>
      </p:sp>
      <p:sp>
        <p:nvSpPr>
          <p:cNvPr id="25" name="Shape 20"/>
          <p:cNvSpPr/>
          <p:nvPr/>
        </p:nvSpPr>
        <p:spPr>
          <a:xfrm>
            <a:off x="4617720" y="1389888"/>
            <a:ext cx="2057400" cy="1298448"/>
          </a:xfrm>
          <a:prstGeom prst="roundRect">
            <a:avLst>
              <a:gd name="adj" fmla="val 5634"/>
            </a:avLst>
          </a:prstGeom>
          <a:solidFill>
            <a:srgbClr val="EDE9FE"/>
          </a:solidFill>
          <a:ln w="9525">
            <a:solidFill>
              <a:srgbClr val="EDE9FE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709160" y="1481328"/>
            <a:ext cx="310896" cy="310896"/>
          </a:xfrm>
          <a:prstGeom prst="roundRect">
            <a:avLst>
              <a:gd name="adj" fmla="val 22000"/>
            </a:avLst>
          </a:prstGeom>
          <a:solidFill>
            <a:srgbClr val="7A5AF8"/>
          </a:solidFill>
          <a:ln w="12700">
            <a:solidFill>
              <a:srgbClr val="7A5AF8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5794" y="1527962"/>
            <a:ext cx="217627" cy="217627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5111496" y="1453896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5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h → 5 h a month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5111496" y="1664208"/>
            <a:ext cx="1472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officer time, per 40 cases</a:t>
            </a:r>
            <a:endParaRPr lang="en-US" sz="730" dirty="0"/>
          </a:p>
        </p:txBody>
      </p:sp>
      <p:sp>
        <p:nvSpPr>
          <p:cNvPr id="30" name="Text 24"/>
          <p:cNvSpPr txBox="1"/>
          <p:nvPr/>
        </p:nvSpPr>
        <p:spPr>
          <a:xfrm>
            <a:off x="4709160" y="1865376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45 min each (interview + 3 follow-up calls); with SkillCall a 7.5-min review. India: 50,000 × 37.5 min ≈ 31,250 h a year ≈ 18 full-time officers.</a:t>
            </a:r>
            <a:endParaRPr lang="en-US" sz="640" dirty="0"/>
          </a:p>
        </p:txBody>
      </p:sp>
      <p:sp>
        <p:nvSpPr>
          <p:cNvPr id="31" name="Shape 25"/>
          <p:cNvSpPr/>
          <p:nvPr/>
        </p:nvSpPr>
        <p:spPr>
          <a:xfrm>
            <a:off x="4709160" y="2487168"/>
            <a:ext cx="1874520" cy="137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4764024" y="2487168"/>
            <a:ext cx="1783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A5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estimate: AJAY app's data entry not counted</a:t>
            </a:r>
            <a:endParaRPr lang="en-US" sz="600" dirty="0"/>
          </a:p>
        </p:txBody>
      </p:sp>
      <p:sp>
        <p:nvSpPr>
          <p:cNvPr id="33" name="Shape 27"/>
          <p:cNvSpPr/>
          <p:nvPr/>
        </p:nvSpPr>
        <p:spPr>
          <a:xfrm>
            <a:off x="6789420" y="1389888"/>
            <a:ext cx="2057400" cy="1298448"/>
          </a:xfrm>
          <a:prstGeom prst="roundRect">
            <a:avLst>
              <a:gd name="adj" fmla="val 5634"/>
            </a:avLst>
          </a:prstGeom>
          <a:solidFill>
            <a:srgbClr val="FFEFDD"/>
          </a:solidFill>
          <a:ln w="9525">
            <a:solidFill>
              <a:srgbClr val="FFEFDD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6880860" y="1481328"/>
            <a:ext cx="310896" cy="310896"/>
          </a:xfrm>
          <a:prstGeom prst="roundRect">
            <a:avLst>
              <a:gd name="adj" fmla="val 22000"/>
            </a:avLst>
          </a:prstGeom>
          <a:solidFill>
            <a:srgbClr val="EF8A22"/>
          </a:solidFill>
          <a:ln w="12700">
            <a:solidFill>
              <a:srgbClr val="EF8A22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7494" y="1527962"/>
            <a:ext cx="217627" cy="217627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7283196" y="1453896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8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₹12.5–15 cr a year</a:t>
            </a:r>
            <a:endParaRPr lang="en-US" sz="1000" dirty="0"/>
          </a:p>
        </p:txBody>
      </p:sp>
      <p:sp>
        <p:nvSpPr>
          <p:cNvPr id="37" name="Text 30"/>
          <p:cNvSpPr txBox="1"/>
          <p:nvPr/>
        </p:nvSpPr>
        <p:spPr>
          <a:xfrm>
            <a:off x="7283196" y="1664208"/>
            <a:ext cx="1472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wasted on wrong matches</a:t>
            </a:r>
            <a:endParaRPr lang="en-US" sz="730" dirty="0"/>
          </a:p>
        </p:txBody>
      </p:sp>
      <p:sp>
        <p:nvSpPr>
          <p:cNvPr id="38" name="Text 31"/>
          <p:cNvSpPr txBox="1"/>
          <p:nvPr/>
        </p:nvSpPr>
        <p:spPr>
          <a:xfrm>
            <a:off x="6880860" y="1865376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wrong matches fall in 5 of every 100 cases: 2,500 × ₹50,000–60,700 support = 6–14× SkillCall's yearly cost.</a:t>
            </a:r>
            <a:endParaRPr lang="en-US" sz="640" dirty="0"/>
          </a:p>
        </p:txBody>
      </p:sp>
      <p:sp>
        <p:nvSpPr>
          <p:cNvPr id="39" name="Shape 32"/>
          <p:cNvSpPr/>
          <p:nvPr/>
        </p:nvSpPr>
        <p:spPr>
          <a:xfrm>
            <a:off x="6880860" y="2487168"/>
            <a:ext cx="1874520" cy="137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935724" y="2487168"/>
            <a:ext cx="1783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EF8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estimate: PIB 2025 average support</a:t>
            </a:r>
            <a:endParaRPr lang="en-US" sz="600" dirty="0"/>
          </a:p>
        </p:txBody>
      </p:sp>
      <p:sp>
        <p:nvSpPr>
          <p:cNvPr id="41" name="Shape 34"/>
          <p:cNvSpPr/>
          <p:nvPr/>
        </p:nvSpPr>
        <p:spPr>
          <a:xfrm>
            <a:off x="274320" y="2761488"/>
            <a:ext cx="8595360" cy="274320"/>
          </a:xfrm>
          <a:prstGeom prst="roundRect">
            <a:avLst>
              <a:gd name="adj" fmla="val 26667"/>
            </a:avLst>
          </a:prstGeom>
          <a:solidFill>
            <a:srgbClr val="EAF0F8"/>
          </a:solidFill>
          <a:ln w="9525">
            <a:solidFill>
              <a:srgbClr val="EAF0F8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384048" y="276148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1–1.5 lakh profiles a year  </a:t>
            </a:r>
            <a:r>
              <a:rPr lang="en-US" sz="7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every one of the ≈ 50,000 GIA seats goes to the person it fits  </a:t>
            </a:r>
            <a:r>
              <a:rPr lang="en-US" sz="6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2–3 applicants screened per seat (calculations sheet §1.9)</a:t>
            </a:r>
            <a:endParaRPr lang="en-US" sz="850" dirty="0"/>
          </a:p>
        </p:txBody>
      </p:sp>
      <p:sp>
        <p:nvSpPr>
          <p:cNvPr id="43" name="Text 36"/>
          <p:cNvSpPr txBox="1"/>
          <p:nvPr/>
        </p:nvSpPr>
        <p:spPr>
          <a:xfrm>
            <a:off x="274320" y="31089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7A5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WINS  </a:t>
            </a: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each one actually gets</a:t>
            </a:r>
            <a:endParaRPr lang="en-US" sz="850" dirty="0"/>
          </a:p>
        </p:txBody>
      </p:sp>
      <p:sp>
        <p:nvSpPr>
          <p:cNvPr id="44" name="Shape 37"/>
          <p:cNvSpPr/>
          <p:nvPr/>
        </p:nvSpPr>
        <p:spPr>
          <a:xfrm>
            <a:off x="274320" y="3310128"/>
            <a:ext cx="20574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365760" y="3401568"/>
            <a:ext cx="274320" cy="274320"/>
          </a:xfrm>
          <a:prstGeom prst="roundRect">
            <a:avLst>
              <a:gd name="adj" fmla="val 22000"/>
            </a:avLst>
          </a:prstGeom>
          <a:solidFill>
            <a:srgbClr val="1F9D63"/>
          </a:solidFill>
          <a:ln w="12700">
            <a:solidFill>
              <a:srgbClr val="1F9D63"/>
            </a:solidFill>
            <a:prstDash val="solid"/>
          </a:ln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908" y="3442716"/>
            <a:ext cx="192024" cy="192024"/>
          </a:xfrm>
          <a:prstGeom prst="rect">
            <a:avLst/>
          </a:prstGeom>
        </p:spPr>
      </p:pic>
      <p:sp>
        <p:nvSpPr>
          <p:cNvPr id="47" name="Text 39"/>
          <p:cNvSpPr txBox="1"/>
          <p:nvPr/>
        </p:nvSpPr>
        <p:spPr>
          <a:xfrm>
            <a:off x="731520" y="337413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 family</a:t>
            </a:r>
            <a:endParaRPr lang="en-US" sz="950" dirty="0"/>
          </a:p>
        </p:txBody>
      </p:sp>
      <p:sp>
        <p:nvSpPr>
          <p:cNvPr id="48" name="Text 40"/>
          <p:cNvSpPr txBox="1"/>
          <p:nvPr/>
        </p:nvSpPr>
        <p:spPr>
          <a:xfrm>
            <a:off x="731520" y="3584448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course, first time</a:t>
            </a:r>
            <a:endParaRPr lang="en-US" sz="730" dirty="0"/>
          </a:p>
        </p:txBody>
      </p:sp>
      <p:sp>
        <p:nvSpPr>
          <p:cNvPr id="49" name="Text 41"/>
          <p:cNvSpPr txBox="1"/>
          <p:nvPr/>
        </p:nvSpPr>
        <p:spPr>
          <a:xfrm>
            <a:off x="365760" y="3785616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in his own language — and calls until he is earning.</a:t>
            </a:r>
            <a:endParaRPr lang="en-US" sz="670" dirty="0"/>
          </a:p>
        </p:txBody>
      </p:sp>
      <p:sp>
        <p:nvSpPr>
          <p:cNvPr id="50" name="Shape 42"/>
          <p:cNvSpPr/>
          <p:nvPr/>
        </p:nvSpPr>
        <p:spPr>
          <a:xfrm>
            <a:off x="2446020" y="3310128"/>
            <a:ext cx="20574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2537460" y="3401568"/>
            <a:ext cx="274320" cy="274320"/>
          </a:xfrm>
          <a:prstGeom prst="roundRect">
            <a:avLst>
              <a:gd name="adj" fmla="val 22000"/>
            </a:avLst>
          </a:prstGeom>
          <a:solidFill>
            <a:srgbClr val="D4930D"/>
          </a:solidFill>
          <a:ln w="12700">
            <a:solidFill>
              <a:srgbClr val="D4930D"/>
            </a:solidFill>
            <a:prstDash val="solid"/>
          </a:ln>
        </p:spPr>
      </p:sp>
      <p:pic>
        <p:nvPicPr>
          <p:cNvPr id="5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78608" y="3442716"/>
            <a:ext cx="192024" cy="192024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2903220" y="337413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9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operator</a:t>
            </a:r>
            <a:endParaRPr lang="en-US" sz="950" dirty="0"/>
          </a:p>
        </p:txBody>
      </p:sp>
      <p:sp>
        <p:nvSpPr>
          <p:cNvPr id="54" name="Text 45"/>
          <p:cNvSpPr txBox="1"/>
          <p:nvPr/>
        </p:nvSpPr>
        <p:spPr>
          <a:xfrm>
            <a:off x="2903220" y="3584448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arrives pre-filled</a:t>
            </a:r>
            <a:endParaRPr lang="en-US" sz="730" dirty="0"/>
          </a:p>
        </p:txBody>
      </p:sp>
      <p:sp>
        <p:nvSpPr>
          <p:cNvPr id="55" name="Text 46"/>
          <p:cNvSpPr txBox="1"/>
          <p:nvPr/>
        </p:nvSpPr>
        <p:spPr>
          <a:xfrm>
            <a:off x="2537460" y="3785616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documents and Aadhaar e-KYC are left to do.</a:t>
            </a:r>
            <a:endParaRPr lang="en-US" sz="670" dirty="0"/>
          </a:p>
        </p:txBody>
      </p:sp>
      <p:sp>
        <p:nvSpPr>
          <p:cNvPr id="56" name="Shape 47"/>
          <p:cNvSpPr/>
          <p:nvPr/>
        </p:nvSpPr>
        <p:spPr>
          <a:xfrm>
            <a:off x="4617720" y="3310128"/>
            <a:ext cx="20574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57" name="Shape 48"/>
          <p:cNvSpPr/>
          <p:nvPr/>
        </p:nvSpPr>
        <p:spPr>
          <a:xfrm>
            <a:off x="4709160" y="3401568"/>
            <a:ext cx="274320" cy="274320"/>
          </a:xfrm>
          <a:prstGeom prst="roundRect">
            <a:avLst>
              <a:gd name="adj" fmla="val 22000"/>
            </a:avLst>
          </a:prstGeom>
          <a:solidFill>
            <a:srgbClr val="2E6FD6"/>
          </a:solidFill>
          <a:ln w="12700">
            <a:solidFill>
              <a:srgbClr val="2E6FD6"/>
            </a:solidFill>
            <a:prstDash val="solid"/>
          </a:ln>
        </p:spPr>
      </p:sp>
      <p:pic>
        <p:nvPicPr>
          <p:cNvPr id="5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0308" y="3442716"/>
            <a:ext cx="192024" cy="192024"/>
          </a:xfrm>
          <a:prstGeom prst="rect">
            <a:avLst/>
          </a:prstGeom>
        </p:spPr>
      </p:pic>
      <p:sp>
        <p:nvSpPr>
          <p:cNvPr id="59" name="Text 49"/>
          <p:cNvSpPr txBox="1"/>
          <p:nvPr/>
        </p:nvSpPr>
        <p:spPr>
          <a:xfrm>
            <a:off x="5074920" y="337413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officer</a:t>
            </a:r>
            <a:endParaRPr lang="en-US" sz="950" dirty="0"/>
          </a:p>
        </p:txBody>
      </p:sp>
      <p:sp>
        <p:nvSpPr>
          <p:cNvPr id="60" name="Text 50"/>
          <p:cNvSpPr txBox="1"/>
          <p:nvPr/>
        </p:nvSpPr>
        <p:spPr>
          <a:xfrm>
            <a:off x="5074920" y="3584448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ready, checked cases</a:t>
            </a:r>
            <a:endParaRPr lang="en-US" sz="730" dirty="0"/>
          </a:p>
        </p:txBody>
      </p:sp>
      <p:sp>
        <p:nvSpPr>
          <p:cNvPr id="61" name="Text 51"/>
          <p:cNvSpPr txBox="1"/>
          <p:nvPr/>
        </p:nvSpPr>
        <p:spPr>
          <a:xfrm>
            <a:off x="4709160" y="3785616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AJAY app, plus a demand map by block for the yearly plan.</a:t>
            </a:r>
            <a:endParaRPr lang="en-US" sz="670" dirty="0"/>
          </a:p>
        </p:txBody>
      </p:sp>
      <p:sp>
        <p:nvSpPr>
          <p:cNvPr id="62" name="Shape 52"/>
          <p:cNvSpPr/>
          <p:nvPr/>
        </p:nvSpPr>
        <p:spPr>
          <a:xfrm>
            <a:off x="6789420" y="3310128"/>
            <a:ext cx="20574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63" name="Shape 53"/>
          <p:cNvSpPr/>
          <p:nvPr/>
        </p:nvSpPr>
        <p:spPr>
          <a:xfrm>
            <a:off x="6880860" y="3401568"/>
            <a:ext cx="274320" cy="274320"/>
          </a:xfrm>
          <a:prstGeom prst="roundRect">
            <a:avLst>
              <a:gd name="adj" fmla="val 22000"/>
            </a:avLst>
          </a:prstGeom>
          <a:solidFill>
            <a:srgbClr val="7A5AF8"/>
          </a:solidFill>
          <a:ln w="12700">
            <a:solidFill>
              <a:srgbClr val="7A5AF8"/>
            </a:solidFill>
            <a:prstDash val="solid"/>
          </a:ln>
        </p:spPr>
      </p:sp>
      <p:pic>
        <p:nvPicPr>
          <p:cNvPr id="6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22008" y="3442716"/>
            <a:ext cx="192024" cy="192024"/>
          </a:xfrm>
          <a:prstGeom prst="rect">
            <a:avLst/>
          </a:prstGeom>
        </p:spPr>
      </p:pic>
      <p:sp>
        <p:nvSpPr>
          <p:cNvPr id="65" name="Text 54"/>
          <p:cNvSpPr txBox="1"/>
          <p:nvPr/>
        </p:nvSpPr>
        <p:spPr>
          <a:xfrm>
            <a:off x="7246620" y="337413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5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</a:t>
            </a:r>
            <a:endParaRPr lang="en-US" sz="950" dirty="0"/>
          </a:p>
        </p:txBody>
      </p:sp>
      <p:sp>
        <p:nvSpPr>
          <p:cNvPr id="66" name="Text 55"/>
          <p:cNvSpPr txBox="1"/>
          <p:nvPr/>
        </p:nvSpPr>
        <p:spPr>
          <a:xfrm>
            <a:off x="7246620" y="3584448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record, call to job</a:t>
            </a:r>
            <a:endParaRPr lang="en-US" sz="730" dirty="0"/>
          </a:p>
        </p:txBody>
      </p:sp>
      <p:sp>
        <p:nvSpPr>
          <p:cNvPr id="67" name="Text 56"/>
          <p:cNvSpPr txBox="1"/>
          <p:nvPr/>
        </p:nvSpPr>
        <p:spPr>
          <a:xfrm>
            <a:off x="6880860" y="3785616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outcome marked confirmed (employer / EPFO*) or self-reported.</a:t>
            </a:r>
            <a:endParaRPr lang="en-US" sz="670" dirty="0"/>
          </a:p>
        </p:txBody>
      </p:sp>
      <p:sp>
        <p:nvSpPr>
          <p:cNvPr id="68" name="Text 57"/>
          <p:cNvSpPr txBox="1"/>
          <p:nvPr/>
        </p:nvSpPr>
        <p:spPr>
          <a:xfrm>
            <a:off x="274320" y="41879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3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 </a:t>
            </a: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· economic · governance · environment</a:t>
            </a:r>
            <a:endParaRPr lang="en-US" sz="850" dirty="0"/>
          </a:p>
        </p:txBody>
      </p:sp>
      <p:sp>
        <p:nvSpPr>
          <p:cNvPr id="69" name="Shape 58"/>
          <p:cNvSpPr/>
          <p:nvPr/>
        </p:nvSpPr>
        <p:spPr>
          <a:xfrm>
            <a:off x="274320" y="4370832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FBE7EF"/>
          </a:solidFill>
          <a:ln w="9525">
            <a:solidFill>
              <a:srgbClr val="FBE7EF"/>
            </a:solidFill>
            <a:prstDash val="solid"/>
          </a:ln>
        </p:spPr>
      </p:sp>
      <p:sp>
        <p:nvSpPr>
          <p:cNvPr id="70" name="Shape 59"/>
          <p:cNvSpPr/>
          <p:nvPr/>
        </p:nvSpPr>
        <p:spPr>
          <a:xfrm>
            <a:off x="365760" y="4434840"/>
            <a:ext cx="237744" cy="237744"/>
          </a:xfrm>
          <a:prstGeom prst="roundRect">
            <a:avLst>
              <a:gd name="adj" fmla="val 22000"/>
            </a:avLst>
          </a:prstGeom>
          <a:solidFill>
            <a:srgbClr val="D6467A"/>
          </a:solidFill>
          <a:ln w="12700">
            <a:solidFill>
              <a:srgbClr val="D6467A"/>
            </a:solidFill>
            <a:prstDash val="solid"/>
          </a:ln>
        </p:spPr>
      </p:sp>
      <p:pic>
        <p:nvPicPr>
          <p:cNvPr id="7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1422" y="4470502"/>
            <a:ext cx="166421" cy="166421"/>
          </a:xfrm>
          <a:prstGeom prst="rect">
            <a:avLst/>
          </a:prstGeom>
        </p:spPr>
      </p:pic>
      <p:sp>
        <p:nvSpPr>
          <p:cNvPr id="72" name="Text 60"/>
          <p:cNvSpPr txBox="1"/>
          <p:nvPr/>
        </p:nvSpPr>
        <p:spPr>
          <a:xfrm>
            <a:off x="676656" y="437083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4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 </a:t>
            </a:r>
            <a:r>
              <a:rPr lang="en-US" sz="6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and non-readers included; right course the first time.</a:t>
            </a:r>
            <a:endParaRPr lang="en-US" sz="650" dirty="0"/>
          </a:p>
        </p:txBody>
      </p:sp>
      <p:sp>
        <p:nvSpPr>
          <p:cNvPr id="73" name="Shape 61"/>
          <p:cNvSpPr/>
          <p:nvPr/>
        </p:nvSpPr>
        <p:spPr>
          <a:xfrm>
            <a:off x="2446020" y="4370832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E3F6EC"/>
          </a:solidFill>
          <a:ln w="9525">
            <a:solidFill>
              <a:srgbClr val="E3F6EC"/>
            </a:solidFill>
            <a:prstDash val="solid"/>
          </a:ln>
        </p:spPr>
      </p:sp>
      <p:sp>
        <p:nvSpPr>
          <p:cNvPr id="74" name="Shape 62"/>
          <p:cNvSpPr/>
          <p:nvPr/>
        </p:nvSpPr>
        <p:spPr>
          <a:xfrm>
            <a:off x="2537460" y="4434840"/>
            <a:ext cx="237744" cy="237744"/>
          </a:xfrm>
          <a:prstGeom prst="roundRect">
            <a:avLst>
              <a:gd name="adj" fmla="val 22000"/>
            </a:avLst>
          </a:prstGeom>
          <a:solidFill>
            <a:srgbClr val="1F9D63"/>
          </a:solidFill>
          <a:ln w="12700">
            <a:solidFill>
              <a:srgbClr val="1F9D63"/>
            </a:solidFill>
            <a:prstDash val="solid"/>
          </a:ln>
        </p:spPr>
      </p:sp>
      <p:pic>
        <p:nvPicPr>
          <p:cNvPr id="7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73122" y="4470502"/>
            <a:ext cx="166421" cy="166421"/>
          </a:xfrm>
          <a:prstGeom prst="rect">
            <a:avLst/>
          </a:prstGeom>
        </p:spPr>
      </p:pic>
      <p:sp>
        <p:nvSpPr>
          <p:cNvPr id="76" name="Text 63"/>
          <p:cNvSpPr txBox="1"/>
          <p:nvPr/>
        </p:nvSpPr>
        <p:spPr>
          <a:xfrm>
            <a:off x="2848356" y="437083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 </a:t>
            </a:r>
            <a:r>
              <a:rPr lang="en-US" sz="6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money on wrong training; more people earning — proved by follow-up.</a:t>
            </a:r>
            <a:endParaRPr lang="en-US" sz="650" dirty="0"/>
          </a:p>
        </p:txBody>
      </p:sp>
      <p:sp>
        <p:nvSpPr>
          <p:cNvPr id="77" name="Shape 64"/>
          <p:cNvSpPr/>
          <p:nvPr/>
        </p:nvSpPr>
        <p:spPr>
          <a:xfrm>
            <a:off x="4617720" y="4370832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E6EEFC"/>
          </a:solidFill>
          <a:ln w="9525">
            <a:solidFill>
              <a:srgbClr val="E6EEFC"/>
            </a:solidFill>
            <a:prstDash val="solid"/>
          </a:ln>
        </p:spPr>
      </p:sp>
      <p:sp>
        <p:nvSpPr>
          <p:cNvPr id="78" name="Shape 65"/>
          <p:cNvSpPr/>
          <p:nvPr/>
        </p:nvSpPr>
        <p:spPr>
          <a:xfrm>
            <a:off x="4709160" y="4434840"/>
            <a:ext cx="237744" cy="237744"/>
          </a:xfrm>
          <a:prstGeom prst="roundRect">
            <a:avLst>
              <a:gd name="adj" fmla="val 22000"/>
            </a:avLst>
          </a:prstGeom>
          <a:solidFill>
            <a:srgbClr val="2E6FD6"/>
          </a:solidFill>
          <a:ln w="12700">
            <a:solidFill>
              <a:srgbClr val="2E6FD6"/>
            </a:solidFill>
            <a:prstDash val="solid"/>
          </a:ln>
        </p:spPr>
      </p:sp>
      <p:pic>
        <p:nvPicPr>
          <p:cNvPr id="7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44822" y="4470502"/>
            <a:ext cx="166421" cy="166421"/>
          </a:xfrm>
          <a:prstGeom prst="rect">
            <a:avLst/>
          </a:prstGeom>
        </p:spPr>
      </p:pic>
      <p:sp>
        <p:nvSpPr>
          <p:cNvPr id="80" name="Text 66"/>
          <p:cNvSpPr txBox="1"/>
          <p:nvPr/>
        </p:nvSpPr>
        <p:spPr>
          <a:xfrm>
            <a:off x="5020056" y="437083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 </a:t>
            </a:r>
            <a:r>
              <a:rPr lang="en-US" sz="6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case for CSC, officer, partner and bank; planning data, not paper.</a:t>
            </a:r>
            <a:endParaRPr lang="en-US" sz="650" dirty="0"/>
          </a:p>
        </p:txBody>
      </p:sp>
      <p:sp>
        <p:nvSpPr>
          <p:cNvPr id="81" name="Shape 67"/>
          <p:cNvSpPr/>
          <p:nvPr/>
        </p:nvSpPr>
        <p:spPr>
          <a:xfrm>
            <a:off x="6789420" y="4370832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E0F4F5"/>
          </a:solidFill>
          <a:ln w="9525">
            <a:solidFill>
              <a:srgbClr val="E0F4F5"/>
            </a:solidFill>
            <a:prstDash val="solid"/>
          </a:ln>
        </p:spPr>
      </p:sp>
      <p:sp>
        <p:nvSpPr>
          <p:cNvPr id="82" name="Shape 68"/>
          <p:cNvSpPr/>
          <p:nvPr/>
        </p:nvSpPr>
        <p:spPr>
          <a:xfrm>
            <a:off x="6880860" y="4434840"/>
            <a:ext cx="237744" cy="237744"/>
          </a:xfrm>
          <a:prstGeom prst="roundRect">
            <a:avLst>
              <a:gd name="adj" fmla="val 22000"/>
            </a:avLst>
          </a:prstGeom>
          <a:solidFill>
            <a:srgbClr val="13919B"/>
          </a:solidFill>
          <a:ln w="12700">
            <a:solidFill>
              <a:srgbClr val="13919B"/>
            </a:solidFill>
            <a:prstDash val="solid"/>
          </a:ln>
        </p:spPr>
      </p:sp>
      <p:pic>
        <p:nvPicPr>
          <p:cNvPr id="8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16522" y="4470502"/>
            <a:ext cx="166421" cy="166421"/>
          </a:xfrm>
          <a:prstGeom prst="rect">
            <a:avLst/>
          </a:prstGeom>
        </p:spPr>
      </p:pic>
      <p:sp>
        <p:nvSpPr>
          <p:cNvPr id="84" name="Text 69"/>
          <p:cNvSpPr txBox="1"/>
          <p:nvPr/>
        </p:nvSpPr>
        <p:spPr>
          <a:xfrm>
            <a:off x="7191756" y="437083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3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 </a:t>
            </a:r>
            <a:r>
              <a:rPr lang="en-US" sz="6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paper forms, fewer trips to offices, runs on the shared govt cloud.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64592"/>
            <a:ext cx="960120" cy="548640"/>
          </a:xfrm>
          <a:prstGeom prst="ellipse">
            <a:avLst/>
          </a:prstGeom>
          <a:solidFill>
            <a:srgbClr val="EAF0F8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56032" y="164592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Cognify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1828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AND REFERENCES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73152"/>
            <a:ext cx="1691640" cy="7955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503920" y="48737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74320" y="896112"/>
            <a:ext cx="4206240" cy="1517904"/>
          </a:xfrm>
          <a:prstGeom prst="roundRect">
            <a:avLst>
              <a:gd name="adj" fmla="val 4819"/>
            </a:avLst>
          </a:prstGeom>
          <a:solidFill>
            <a:srgbClr val="E6EEFC"/>
          </a:solidFill>
          <a:ln w="9525">
            <a:solidFill>
              <a:srgbClr val="E6EEF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960120"/>
            <a:ext cx="237744" cy="237744"/>
          </a:xfrm>
          <a:prstGeom prst="roundRect">
            <a:avLst>
              <a:gd name="adj" fmla="val 22000"/>
            </a:avLst>
          </a:prstGeom>
          <a:solidFill>
            <a:srgbClr val="2E6FD6"/>
          </a:solidFill>
          <a:ln w="12700">
            <a:solidFill>
              <a:srgbClr val="2E6FD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422" y="995782"/>
            <a:ext cx="166421" cy="16642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76656" y="9418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data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65760" y="1280160"/>
            <a:ext cx="40233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57200" y="1280160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PIB, Rajya Sabha reply (19 Mar 2025) — GIA: 2,01,006 beneficiaries, ₹1,219.80 cr   </a:t>
            </a:r>
            <a:r>
              <a:rPr lang="en-US" sz="660" b="1" u="sng" dirty="0">
                <a:solidFill>
                  <a:srgbClr val="2E6FD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pib.gov.in</a:t>
            </a:r>
            <a:endParaRPr lang="en-US" sz="720" dirty="0"/>
          </a:p>
        </p:txBody>
      </p:sp>
      <p:sp>
        <p:nvSpPr>
          <p:cNvPr id="13" name="Shape 9"/>
          <p:cNvSpPr/>
          <p:nvPr/>
        </p:nvSpPr>
        <p:spPr>
          <a:xfrm>
            <a:off x="365760" y="1504188"/>
            <a:ext cx="40233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57200" y="1504188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PM-AJAY explainer (May 2025) — eligibility, 5% admin &amp; MIS line   </a:t>
            </a:r>
            <a:r>
              <a:rPr lang="en-US" sz="660" b="1" u="sng" dirty="0">
                <a:solidFill>
                  <a:srgbClr val="2E6FD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pib.gov.in</a:t>
            </a:r>
            <a:endParaRPr lang="en-US" sz="720" dirty="0"/>
          </a:p>
        </p:txBody>
      </p:sp>
      <p:sp>
        <p:nvSpPr>
          <p:cNvPr id="15" name="Shape 11"/>
          <p:cNvSpPr/>
          <p:nvPr/>
        </p:nvSpPr>
        <p:spPr>
          <a:xfrm>
            <a:off x="365760" y="1728216"/>
            <a:ext cx="40233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57200" y="1728216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 Report No. 20 of 2025 — PMKVY: 41% placed, no skill-gap analysis   </a:t>
            </a:r>
            <a:r>
              <a:rPr lang="en-US" sz="660" b="1" u="sng" dirty="0">
                <a:solidFill>
                  <a:srgbClr val="2E6FD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cag.gov.in</a:t>
            </a:r>
            <a:endParaRPr lang="en-US" sz="720" dirty="0"/>
          </a:p>
        </p:txBody>
      </p:sp>
      <p:sp>
        <p:nvSpPr>
          <p:cNvPr id="17" name="Shape 13"/>
          <p:cNvSpPr/>
          <p:nvPr/>
        </p:nvSpPr>
        <p:spPr>
          <a:xfrm>
            <a:off x="365760" y="1952244"/>
            <a:ext cx="40233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57200" y="1952244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NFHS-6 (2023-24) — women's phone ownership 63.6%, rural 57.4%   </a:t>
            </a:r>
            <a:r>
              <a:rPr lang="en-US" sz="660" b="1" u="sng" dirty="0">
                <a:solidFill>
                  <a:srgbClr val="2E6FD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rchiips.org</a:t>
            </a:r>
            <a:endParaRPr lang="en-US" sz="720" dirty="0"/>
          </a:p>
        </p:txBody>
      </p:sp>
      <p:sp>
        <p:nvSpPr>
          <p:cNvPr id="19" name="Shape 15"/>
          <p:cNvSpPr/>
          <p:nvPr/>
        </p:nvSpPr>
        <p:spPr>
          <a:xfrm>
            <a:off x="365760" y="2176272"/>
            <a:ext cx="40233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57200" y="2176272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2011 (MoSJE Handbook 2021) · SC poverty ratios 2011-12 (Lok Sabha)   </a:t>
            </a:r>
            <a:r>
              <a:rPr lang="en-US" sz="660" b="1" u="sng" dirty="0">
                <a:solidFill>
                  <a:srgbClr val="2E6FD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socialjustice.gov.in</a:t>
            </a:r>
            <a:endParaRPr lang="en-US" sz="720" dirty="0"/>
          </a:p>
        </p:txBody>
      </p:sp>
      <p:sp>
        <p:nvSpPr>
          <p:cNvPr id="21" name="Shape 17"/>
          <p:cNvSpPr/>
          <p:nvPr/>
        </p:nvSpPr>
        <p:spPr>
          <a:xfrm>
            <a:off x="4663440" y="896112"/>
            <a:ext cx="4206240" cy="1517904"/>
          </a:xfrm>
          <a:prstGeom prst="roundRect">
            <a:avLst>
              <a:gd name="adj" fmla="val 4819"/>
            </a:avLst>
          </a:prstGeom>
          <a:solidFill>
            <a:srgbClr val="EDE9FE"/>
          </a:solidFill>
          <a:ln w="9525">
            <a:solidFill>
              <a:srgbClr val="EDE9FE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754880" y="960120"/>
            <a:ext cx="237744" cy="237744"/>
          </a:xfrm>
          <a:prstGeom prst="roundRect">
            <a:avLst>
              <a:gd name="adj" fmla="val 22000"/>
            </a:avLst>
          </a:prstGeom>
          <a:solidFill>
            <a:srgbClr val="7A5AF8"/>
          </a:solidFill>
          <a:ln w="12700">
            <a:solidFill>
              <a:srgbClr val="7A5AF8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90542" y="995782"/>
            <a:ext cx="166421" cy="166421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5065776" y="9418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5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754880" y="1280160"/>
            <a:ext cx="40233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4846320" y="1280160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Chakravorty et al. 2024 / J-PAL — honest job info: 62% → 73% stay in job   </a:t>
            </a:r>
            <a:r>
              <a:rPr lang="en-US" sz="660" b="1" u="sng" dirty="0">
                <a:solidFill>
                  <a:srgbClr val="7A5AF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povertyactionlab.org</a:t>
            </a:r>
            <a:endParaRPr lang="en-US" sz="720" dirty="0"/>
          </a:p>
        </p:txBody>
      </p:sp>
      <p:sp>
        <p:nvSpPr>
          <p:cNvPr id="27" name="Shape 22"/>
          <p:cNvSpPr/>
          <p:nvPr/>
        </p:nvSpPr>
        <p:spPr>
          <a:xfrm>
            <a:off x="4754880" y="1504188"/>
            <a:ext cx="40233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4846320" y="1504188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Bashingwa et al. 2021, BMJ Global Health — Kilkari call answer rates   </a:t>
            </a:r>
            <a:r>
              <a:rPr lang="en-US" sz="660" b="1" u="sng" dirty="0">
                <a:solidFill>
                  <a:srgbClr val="7A5AF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gh.bmj.com</a:t>
            </a:r>
            <a:endParaRPr lang="en-US" sz="720" dirty="0"/>
          </a:p>
        </p:txBody>
      </p:sp>
      <p:sp>
        <p:nvSpPr>
          <p:cNvPr id="29" name="Shape 24"/>
          <p:cNvSpPr/>
          <p:nvPr/>
        </p:nvSpPr>
        <p:spPr>
          <a:xfrm>
            <a:off x="4754880" y="1728216"/>
            <a:ext cx="40233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4846320" y="1728216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of India 2026 — speech-AI benchmark on real Indian phone calls   </a:t>
            </a:r>
            <a:r>
              <a:rPr lang="en-US" sz="660" b="1" u="sng" dirty="0">
                <a:solidFill>
                  <a:srgbClr val="7A5AF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arxiv.org</a:t>
            </a:r>
            <a:endParaRPr lang="en-US" sz="720" dirty="0"/>
          </a:p>
        </p:txBody>
      </p:sp>
      <p:sp>
        <p:nvSpPr>
          <p:cNvPr id="31" name="Shape 26"/>
          <p:cNvSpPr/>
          <p:nvPr/>
        </p:nvSpPr>
        <p:spPr>
          <a:xfrm>
            <a:off x="4754880" y="1952244"/>
            <a:ext cx="40233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4846320" y="1952244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Medhi et al. 2011, ACM TOCHI — voice interfaces for low-literacy users   </a:t>
            </a:r>
            <a:r>
              <a:rPr lang="en-US" sz="660" b="1" u="sng" dirty="0">
                <a:solidFill>
                  <a:srgbClr val="7A5AF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dl.acm.org</a:t>
            </a:r>
            <a:endParaRPr lang="en-US" sz="720" dirty="0"/>
          </a:p>
        </p:txBody>
      </p:sp>
      <p:sp>
        <p:nvSpPr>
          <p:cNvPr id="33" name="Shape 28"/>
          <p:cNvSpPr/>
          <p:nvPr/>
        </p:nvSpPr>
        <p:spPr>
          <a:xfrm>
            <a:off x="274320" y="2487168"/>
            <a:ext cx="4206240" cy="1517904"/>
          </a:xfrm>
          <a:prstGeom prst="roundRect">
            <a:avLst>
              <a:gd name="adj" fmla="val 4819"/>
            </a:avLst>
          </a:prstGeom>
          <a:solidFill>
            <a:srgbClr val="E0F4F5"/>
          </a:solidFill>
          <a:ln w="9525">
            <a:solidFill>
              <a:srgbClr val="E0F4F5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365760" y="2551176"/>
            <a:ext cx="237744" cy="237744"/>
          </a:xfrm>
          <a:prstGeom prst="roundRect">
            <a:avLst>
              <a:gd name="adj" fmla="val 22000"/>
            </a:avLst>
          </a:prstGeom>
          <a:solidFill>
            <a:srgbClr val="13919B"/>
          </a:solidFill>
          <a:ln w="12700">
            <a:solidFill>
              <a:srgbClr val="13919B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1422" y="2586838"/>
            <a:ext cx="166421" cy="166421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676656" y="25328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365760" y="2871216"/>
            <a:ext cx="40233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457200" y="2871216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API pricing &amp; docs — Saaras v3, Bulbul v3, 30B / 105B; voice-agent guide   </a:t>
            </a:r>
            <a:r>
              <a:rPr lang="en-US" sz="660" b="1" u="sng" dirty="0">
                <a:solidFill>
                  <a:srgbClr val="1391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docs.sarvam.ai</a:t>
            </a:r>
            <a:endParaRPr lang="en-US" sz="720" dirty="0"/>
          </a:p>
        </p:txBody>
      </p:sp>
      <p:sp>
        <p:nvSpPr>
          <p:cNvPr id="39" name="Shape 33"/>
          <p:cNvSpPr/>
          <p:nvPr/>
        </p:nvSpPr>
        <p:spPr>
          <a:xfrm>
            <a:off x="365760" y="3095244"/>
            <a:ext cx="40233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457200" y="3095244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× Sarvam 2026 — Sarvam-30B serving, first token &lt; 1 s (P95)   </a:t>
            </a:r>
            <a:r>
              <a:rPr lang="en-US" sz="660" b="1" u="sng" dirty="0">
                <a:solidFill>
                  <a:srgbClr val="1391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developer.nvidia.com</a:t>
            </a:r>
            <a:endParaRPr lang="en-US" sz="720" dirty="0"/>
          </a:p>
        </p:txBody>
      </p:sp>
      <p:sp>
        <p:nvSpPr>
          <p:cNvPr id="41" name="Shape 35"/>
          <p:cNvSpPr/>
          <p:nvPr/>
        </p:nvSpPr>
        <p:spPr>
          <a:xfrm>
            <a:off x="365760" y="3319272"/>
            <a:ext cx="40233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457200" y="3319272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Analysis — Sarvam-30B ≈ $0.03 per 1M tokens (blended)   </a:t>
            </a:r>
            <a:r>
              <a:rPr lang="en-US" sz="660" b="1" u="sng" dirty="0">
                <a:solidFill>
                  <a:srgbClr val="1391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artificialanalysis.ai</a:t>
            </a:r>
            <a:endParaRPr lang="en-US" sz="720" dirty="0"/>
          </a:p>
        </p:txBody>
      </p:sp>
      <p:sp>
        <p:nvSpPr>
          <p:cNvPr id="43" name="Shape 37"/>
          <p:cNvSpPr/>
          <p:nvPr/>
        </p:nvSpPr>
        <p:spPr>
          <a:xfrm>
            <a:off x="365760" y="3543300"/>
            <a:ext cx="40233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457200" y="3543300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AI4Bharat IndicConformer · Pipecat · Bhashini   </a:t>
            </a:r>
            <a:r>
              <a:rPr lang="en-US" sz="660" b="1" u="sng" dirty="0">
                <a:solidFill>
                  <a:srgbClr val="1391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ai4bharat.iitm.ac.in</a:t>
            </a:r>
            <a:endParaRPr lang="en-US" sz="720" dirty="0"/>
          </a:p>
        </p:txBody>
      </p:sp>
      <p:sp>
        <p:nvSpPr>
          <p:cNvPr id="45" name="Shape 39"/>
          <p:cNvSpPr/>
          <p:nvPr/>
        </p:nvSpPr>
        <p:spPr>
          <a:xfrm>
            <a:off x="4663440" y="2487168"/>
            <a:ext cx="4206240" cy="1517904"/>
          </a:xfrm>
          <a:prstGeom prst="roundRect">
            <a:avLst>
              <a:gd name="adj" fmla="val 4819"/>
            </a:avLst>
          </a:prstGeom>
          <a:solidFill>
            <a:srgbClr val="FFEFDD"/>
          </a:solidFill>
          <a:ln w="9525">
            <a:solidFill>
              <a:srgbClr val="FFEFDD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4754880" y="2551176"/>
            <a:ext cx="237744" cy="237744"/>
          </a:xfrm>
          <a:prstGeom prst="roundRect">
            <a:avLst>
              <a:gd name="adj" fmla="val 22000"/>
            </a:avLst>
          </a:prstGeom>
          <a:solidFill>
            <a:srgbClr val="EF8A22"/>
          </a:solidFill>
          <a:ln w="12700">
            <a:solidFill>
              <a:srgbClr val="EF8A22"/>
            </a:solidFill>
            <a:prstDash val="solid"/>
          </a:ln>
        </p:spPr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90542" y="2586838"/>
            <a:ext cx="166421" cy="166421"/>
          </a:xfrm>
          <a:prstGeom prst="rect">
            <a:avLst/>
          </a:prstGeom>
        </p:spPr>
      </p:pic>
      <p:sp>
        <p:nvSpPr>
          <p:cNvPr id="48" name="Text 41"/>
          <p:cNvSpPr txBox="1"/>
          <p:nvPr/>
        </p:nvSpPr>
        <p:spPr>
          <a:xfrm>
            <a:off x="5065776" y="25328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8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&amp; policy</a:t>
            </a:r>
            <a:endParaRPr lang="en-US" sz="1000" dirty="0"/>
          </a:p>
        </p:txBody>
      </p:sp>
      <p:sp>
        <p:nvSpPr>
          <p:cNvPr id="49" name="Shape 42"/>
          <p:cNvSpPr/>
          <p:nvPr/>
        </p:nvSpPr>
        <p:spPr>
          <a:xfrm>
            <a:off x="4754880" y="2871216"/>
            <a:ext cx="40233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0" name="Text 43"/>
          <p:cNvSpPr txBox="1"/>
          <p:nvPr/>
        </p:nvSpPr>
        <p:spPr>
          <a:xfrm>
            <a:off x="4846320" y="2871216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PM-AJAY portal &amp; AJAY app launch (26 May 2026) — PIB   </a:t>
            </a:r>
            <a:r>
              <a:rPr lang="en-US" sz="660" b="1" u="sng" dirty="0">
                <a:solidFill>
                  <a:srgbClr val="EF8A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pib.gov.in</a:t>
            </a:r>
            <a:endParaRPr lang="en-US" sz="720" dirty="0"/>
          </a:p>
        </p:txBody>
      </p:sp>
      <p:sp>
        <p:nvSpPr>
          <p:cNvPr id="51" name="Shape 44"/>
          <p:cNvSpPr/>
          <p:nvPr/>
        </p:nvSpPr>
        <p:spPr>
          <a:xfrm>
            <a:off x="4754880" y="3095244"/>
            <a:ext cx="40233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2" name="Text 45"/>
          <p:cNvSpPr txBox="1"/>
          <p:nvPr/>
        </p:nvSpPr>
        <p:spPr>
          <a:xfrm>
            <a:off x="4846320" y="3095244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NCO-2015 occupation codes · NQR / NCVET job roles   </a:t>
            </a:r>
            <a:r>
              <a:rPr lang="en-US" sz="660" b="1" u="sng" dirty="0">
                <a:solidFill>
                  <a:srgbClr val="EF8A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nqr.gov.in</a:t>
            </a:r>
            <a:endParaRPr lang="en-US" sz="720" dirty="0"/>
          </a:p>
        </p:txBody>
      </p:sp>
      <p:sp>
        <p:nvSpPr>
          <p:cNvPr id="53" name="Shape 46"/>
          <p:cNvSpPr/>
          <p:nvPr/>
        </p:nvSpPr>
        <p:spPr>
          <a:xfrm>
            <a:off x="4754880" y="3319272"/>
            <a:ext cx="40233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4" name="Text 47"/>
          <p:cNvSpPr txBox="1"/>
          <p:nvPr/>
        </p:nvSpPr>
        <p:spPr>
          <a:xfrm>
            <a:off x="4846320" y="3319272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Rules 2025 — consent and data protection   </a:t>
            </a:r>
            <a:r>
              <a:rPr lang="en-US" sz="660" b="1" u="sng" dirty="0">
                <a:solidFill>
                  <a:srgbClr val="EF8A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meity.gov.in</a:t>
            </a:r>
            <a:endParaRPr lang="en-US" sz="720" dirty="0"/>
          </a:p>
        </p:txBody>
      </p:sp>
      <p:sp>
        <p:nvSpPr>
          <p:cNvPr id="55" name="Shape 48"/>
          <p:cNvSpPr/>
          <p:nvPr/>
        </p:nvSpPr>
        <p:spPr>
          <a:xfrm>
            <a:off x="4754880" y="3543300"/>
            <a:ext cx="40233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6" name="Text 49"/>
          <p:cNvSpPr txBox="1"/>
          <p:nvPr/>
        </p:nvSpPr>
        <p:spPr>
          <a:xfrm>
            <a:off x="4846320" y="3543300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 1600-series rules for government calls (2026)   </a:t>
            </a:r>
            <a:r>
              <a:rPr lang="en-US" sz="660" b="1" u="sng" dirty="0">
                <a:solidFill>
                  <a:srgbClr val="EF8A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trai.gov.in</a:t>
            </a:r>
            <a:endParaRPr lang="en-US" sz="720" dirty="0"/>
          </a:p>
        </p:txBody>
      </p:sp>
      <p:sp>
        <p:nvSpPr>
          <p:cNvPr id="57" name="Shape 50"/>
          <p:cNvSpPr/>
          <p:nvPr/>
        </p:nvSpPr>
        <p:spPr>
          <a:xfrm>
            <a:off x="4754880" y="3767328"/>
            <a:ext cx="40233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8" name="Text 51"/>
          <p:cNvSpPr txBox="1"/>
          <p:nvPr/>
        </p:nvSpPr>
        <p:spPr>
          <a:xfrm>
            <a:off x="4846320" y="3767328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MeitY (Lok Sabha 2023) — 5.58 lakh CSCs, 4.44 lakh at gram panchayats   </a:t>
            </a:r>
            <a:r>
              <a:rPr lang="en-US" sz="660" b="1" u="sng" dirty="0">
                <a:solidFill>
                  <a:srgbClr val="EF8A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eparlib.nic.in</a:t>
            </a:r>
            <a:endParaRPr lang="en-US" sz="720" dirty="0"/>
          </a:p>
        </p:txBody>
      </p:sp>
      <p:sp>
        <p:nvSpPr>
          <p:cNvPr id="59" name="Text 52"/>
          <p:cNvSpPr txBox="1"/>
          <p:nvPr/>
        </p:nvSpPr>
        <p:spPr>
          <a:xfrm>
            <a:off x="274320" y="405993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MORE  </a:t>
            </a: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prototype, video and every calculation — one click each</a:t>
            </a:r>
            <a:endParaRPr lang="en-US" sz="850" dirty="0"/>
          </a:p>
        </p:txBody>
      </p:sp>
      <p:sp>
        <p:nvSpPr>
          <p:cNvPr id="60" name="Shape 53"/>
          <p:cNvSpPr/>
          <p:nvPr/>
        </p:nvSpPr>
        <p:spPr>
          <a:xfrm>
            <a:off x="274320" y="4242816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1" name="Shape 54"/>
          <p:cNvSpPr/>
          <p:nvPr/>
        </p:nvSpPr>
        <p:spPr>
          <a:xfrm>
            <a:off x="365760" y="4315968"/>
            <a:ext cx="256032" cy="256032"/>
          </a:xfrm>
          <a:prstGeom prst="roundRect">
            <a:avLst>
              <a:gd name="adj" fmla="val 22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62" name="Image 5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04165" y="4354373"/>
            <a:ext cx="179222" cy="179222"/>
          </a:xfrm>
          <a:prstGeom prst="rect">
            <a:avLst/>
          </a:prstGeom>
        </p:spPr>
      </p:pic>
      <p:sp>
        <p:nvSpPr>
          <p:cNvPr id="63" name="Text 55"/>
          <p:cNvSpPr txBox="1"/>
          <p:nvPr/>
        </p:nvSpPr>
        <p:spPr>
          <a:xfrm>
            <a:off x="694944" y="427939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</a:t>
            </a:r>
            <a:endParaRPr lang="en-US" sz="900" dirty="0"/>
          </a:p>
        </p:txBody>
      </p:sp>
      <p:sp>
        <p:nvSpPr>
          <p:cNvPr id="64" name="Text 56"/>
          <p:cNvSpPr txBox="1"/>
          <p:nvPr/>
        </p:nvSpPr>
        <p:spPr>
          <a:xfrm>
            <a:off x="365760" y="459028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architecture docs, API reference</a:t>
            </a:r>
            <a:endParaRPr lang="en-US" sz="640" dirty="0"/>
          </a:p>
        </p:txBody>
      </p:sp>
      <p:sp>
        <p:nvSpPr>
          <p:cNvPr id="65" name="Text 57"/>
          <p:cNvSpPr txBox="1"/>
          <p:nvPr/>
        </p:nvSpPr>
        <p:spPr>
          <a:xfrm>
            <a:off x="1600200" y="459028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b="1" u="sng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(add link) →</a:t>
            </a:r>
            <a:endParaRPr lang="en-US" sz="640" dirty="0"/>
          </a:p>
        </p:txBody>
      </p:sp>
      <p:sp>
        <p:nvSpPr>
          <p:cNvPr id="66" name="Shape 58"/>
          <p:cNvSpPr/>
          <p:nvPr/>
        </p:nvSpPr>
        <p:spPr>
          <a:xfrm>
            <a:off x="2446020" y="4242816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F8A22"/>
            </a:solidFill>
            <a:prstDash val="solid"/>
          </a:ln>
        </p:spPr>
      </p:sp>
      <p:sp>
        <p:nvSpPr>
          <p:cNvPr id="67" name="Shape 59"/>
          <p:cNvSpPr/>
          <p:nvPr/>
        </p:nvSpPr>
        <p:spPr>
          <a:xfrm>
            <a:off x="2537460" y="4315968"/>
            <a:ext cx="256032" cy="256032"/>
          </a:xfrm>
          <a:prstGeom prst="roundRect">
            <a:avLst>
              <a:gd name="adj" fmla="val 22000"/>
            </a:avLst>
          </a:prstGeom>
          <a:solidFill>
            <a:srgbClr val="EF8A22"/>
          </a:solidFill>
          <a:ln w="12700">
            <a:solidFill>
              <a:srgbClr val="EF8A22"/>
            </a:solidFill>
            <a:prstDash val="solid"/>
          </a:ln>
        </p:spPr>
      </p:sp>
      <p:pic>
        <p:nvPicPr>
          <p:cNvPr id="68" name="Image 6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575865" y="4354373"/>
            <a:ext cx="179222" cy="179222"/>
          </a:xfrm>
          <a:prstGeom prst="rect">
            <a:avLst/>
          </a:prstGeom>
        </p:spPr>
      </p:pic>
      <p:sp>
        <p:nvSpPr>
          <p:cNvPr id="69" name="Text 60"/>
          <p:cNvSpPr txBox="1"/>
          <p:nvPr/>
        </p:nvSpPr>
        <p:spPr>
          <a:xfrm>
            <a:off x="2866644" y="427939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8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</a:t>
            </a:r>
            <a:endParaRPr lang="en-US" sz="900" dirty="0"/>
          </a:p>
        </p:txBody>
      </p:sp>
      <p:sp>
        <p:nvSpPr>
          <p:cNvPr id="70" name="Text 61"/>
          <p:cNvSpPr txBox="1"/>
          <p:nvPr/>
        </p:nvSpPr>
        <p:spPr>
          <a:xfrm>
            <a:off x="2537460" y="459028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 SkillCall conversation in the browser</a:t>
            </a:r>
            <a:endParaRPr lang="en-US" sz="640" dirty="0"/>
          </a:p>
        </p:txBody>
      </p:sp>
      <p:sp>
        <p:nvSpPr>
          <p:cNvPr id="71" name="Text 62"/>
          <p:cNvSpPr txBox="1"/>
          <p:nvPr/>
        </p:nvSpPr>
        <p:spPr>
          <a:xfrm>
            <a:off x="3771900" y="459028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b="1" u="sng" dirty="0">
                <a:solidFill>
                  <a:srgbClr val="EF8A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(add link) →</a:t>
            </a:r>
            <a:endParaRPr lang="en-US" sz="640" dirty="0"/>
          </a:p>
        </p:txBody>
      </p:sp>
      <p:sp>
        <p:nvSpPr>
          <p:cNvPr id="72" name="Shape 63"/>
          <p:cNvSpPr/>
          <p:nvPr/>
        </p:nvSpPr>
        <p:spPr>
          <a:xfrm>
            <a:off x="4617720" y="4242816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6467A"/>
            </a:solidFill>
            <a:prstDash val="solid"/>
          </a:ln>
        </p:spPr>
      </p:sp>
      <p:sp>
        <p:nvSpPr>
          <p:cNvPr id="73" name="Shape 64"/>
          <p:cNvSpPr/>
          <p:nvPr/>
        </p:nvSpPr>
        <p:spPr>
          <a:xfrm>
            <a:off x="4709160" y="4315968"/>
            <a:ext cx="256032" cy="256032"/>
          </a:xfrm>
          <a:prstGeom prst="roundRect">
            <a:avLst>
              <a:gd name="adj" fmla="val 22000"/>
            </a:avLst>
          </a:prstGeom>
          <a:solidFill>
            <a:srgbClr val="D6467A"/>
          </a:solidFill>
          <a:ln w="12700">
            <a:solidFill>
              <a:srgbClr val="D6467A"/>
            </a:solidFill>
            <a:prstDash val="solid"/>
          </a:ln>
        </p:spPr>
      </p:sp>
      <p:pic>
        <p:nvPicPr>
          <p:cNvPr id="74" name="Image 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747565" y="4354373"/>
            <a:ext cx="179222" cy="179222"/>
          </a:xfrm>
          <a:prstGeom prst="rect">
            <a:avLst/>
          </a:prstGeom>
        </p:spPr>
      </p:pic>
      <p:sp>
        <p:nvSpPr>
          <p:cNvPr id="75" name="Text 65"/>
          <p:cNvSpPr txBox="1"/>
          <p:nvPr/>
        </p:nvSpPr>
        <p:spPr>
          <a:xfrm>
            <a:off x="5038344" y="427939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4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</a:t>
            </a:r>
            <a:endParaRPr lang="en-US" sz="900" dirty="0"/>
          </a:p>
        </p:txBody>
      </p:sp>
      <p:sp>
        <p:nvSpPr>
          <p:cNvPr id="76" name="Text 66"/>
          <p:cNvSpPr txBox="1"/>
          <p:nvPr/>
        </p:nvSpPr>
        <p:spPr>
          <a:xfrm>
            <a:off x="4709160" y="459028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2-minute walkthrough of a real call</a:t>
            </a:r>
            <a:endParaRPr lang="en-US" sz="640" dirty="0"/>
          </a:p>
        </p:txBody>
      </p:sp>
      <p:sp>
        <p:nvSpPr>
          <p:cNvPr id="77" name="Text 67"/>
          <p:cNvSpPr txBox="1"/>
          <p:nvPr/>
        </p:nvSpPr>
        <p:spPr>
          <a:xfrm>
            <a:off x="5943600" y="459028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b="1" u="sng" dirty="0">
                <a:solidFill>
                  <a:srgbClr val="D6467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(add link) →</a:t>
            </a:r>
            <a:endParaRPr lang="en-US" sz="640" dirty="0"/>
          </a:p>
        </p:txBody>
      </p:sp>
      <p:sp>
        <p:nvSpPr>
          <p:cNvPr id="78" name="Shape 68"/>
          <p:cNvSpPr/>
          <p:nvPr/>
        </p:nvSpPr>
        <p:spPr>
          <a:xfrm>
            <a:off x="6789420" y="4242816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F9D63"/>
            </a:solidFill>
            <a:prstDash val="solid"/>
          </a:ln>
        </p:spPr>
      </p:sp>
      <p:sp>
        <p:nvSpPr>
          <p:cNvPr id="79" name="Shape 69"/>
          <p:cNvSpPr/>
          <p:nvPr/>
        </p:nvSpPr>
        <p:spPr>
          <a:xfrm>
            <a:off x="6880860" y="4315968"/>
            <a:ext cx="256032" cy="256032"/>
          </a:xfrm>
          <a:prstGeom prst="roundRect">
            <a:avLst>
              <a:gd name="adj" fmla="val 22000"/>
            </a:avLst>
          </a:prstGeom>
          <a:solidFill>
            <a:srgbClr val="1F9D63"/>
          </a:solidFill>
          <a:ln w="12700">
            <a:solidFill>
              <a:srgbClr val="1F9D63"/>
            </a:solidFill>
            <a:prstDash val="solid"/>
          </a:ln>
        </p:spPr>
      </p:sp>
      <p:pic>
        <p:nvPicPr>
          <p:cNvPr id="80" name="Image 8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919265" y="4354373"/>
            <a:ext cx="179222" cy="179222"/>
          </a:xfrm>
          <a:prstGeom prst="rect">
            <a:avLst/>
          </a:prstGeom>
        </p:spPr>
      </p:pic>
      <p:sp>
        <p:nvSpPr>
          <p:cNvPr id="81" name="Text 70"/>
          <p:cNvSpPr txBox="1"/>
          <p:nvPr/>
        </p:nvSpPr>
        <p:spPr>
          <a:xfrm>
            <a:off x="7210044" y="427939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Calculations sheet</a:t>
            </a:r>
            <a:endParaRPr lang="en-US" sz="900" dirty="0"/>
          </a:p>
        </p:txBody>
      </p:sp>
      <p:sp>
        <p:nvSpPr>
          <p:cNvPr id="82" name="Text 71"/>
          <p:cNvSpPr txBox="1"/>
          <p:nvPr/>
        </p:nvSpPr>
        <p:spPr>
          <a:xfrm>
            <a:off x="6880860" y="459028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number, its source and full working</a:t>
            </a:r>
            <a:endParaRPr lang="en-US" sz="640" dirty="0"/>
          </a:p>
        </p:txBody>
      </p:sp>
      <p:sp>
        <p:nvSpPr>
          <p:cNvPr id="83" name="Text 72"/>
          <p:cNvSpPr txBox="1"/>
          <p:nvPr/>
        </p:nvSpPr>
        <p:spPr>
          <a:xfrm>
            <a:off x="8115300" y="459028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b="1" u="sng" dirty="0">
                <a:solidFill>
                  <a:srgbClr val="1F9D6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(add link) →</a:t>
            </a:r>
            <a:endParaRPr lang="en-US" sz="640" dirty="0"/>
          </a:p>
        </p:txBody>
      </p:sp>
      <p:sp>
        <p:nvSpPr>
          <p:cNvPr id="84" name="Text 73"/>
          <p:cNvSpPr txBox="1"/>
          <p:nvPr/>
        </p:nvSpPr>
        <p:spPr>
          <a:xfrm>
            <a:off x="274320" y="4846320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Icons: Microsoft Fluent Emoji (MIT). Logos: official marks via Devicon, Simple Icons and project sites. Estimates are marked and fully worked in the calculations sheet.</a:t>
            </a:r>
            <a:endParaRPr lang="en-US" sz="6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SkillCall — SIH26097 — Cognify</dc:title>
  <dc:subject>PptxGenJS Presentation</dc:subject>
  <dc:creator>PptxGenJS</dc:creator>
  <cp:lastModifiedBy>PptxGenJS</cp:lastModifiedBy>
  <cp:revision>1</cp:revision>
  <dcterms:created xsi:type="dcterms:W3CDTF">2026-09-25T11:10:02Z</dcterms:created>
  <dcterms:modified xsi:type="dcterms:W3CDTF">2026-09-25T11:10:02Z</dcterms:modified>
</cp:coreProperties>
</file>