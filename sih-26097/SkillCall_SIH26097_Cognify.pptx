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page in the official SIH 2026 format. Replace the Team ID with the ID from the SIH portal before exporting to PDF. Theme is taken from the team's reference file (Agriculture, FoodTech &amp; Rural Development) — confirm on the portal.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SkillCall in one line: a free missed call, a call-back in the person's own language, a voice+keypad interview that becomes a clean profile table, 1–4 verified options explained aloud, then the case goes to the CSC and the officer. The 8 highlights on the right are the USP; the 5 GIA issues are taken word for word from the problem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lanes. During the call: Exotel carries the phone line, Pipecat runs the live conversation, Saaras v3 / IndicConformer convert speech to text, Sarvam-30B understands and fills the profile through tool calls only, SATYA validates every fact against the database, Bulbul v3 speaks the reply. After the call: FastAPI creates the case in PostgreSQL, the CSC collects documents and does e-KYC, the officer approves in the AJAY app, Celery schedules the 1/3/6-month calls, the React dashboard shows the demand map. The same tables power the web portal (mobile + OTP login).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Feasibility: UIDAI–Sarvam (10 languages), Kilkari (1.2 million calls/day), Voice of India benchmark (≤20% WER). Cost: ₹37–83 per completed profile; the funnel and working are shown in the table. Viability: ₹0.9–1.7 crore per state per year = 0.04–0.08% of the PM-AJAY budget. Risks and mitigations in the bottom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Impact numbers with working: the 41%→70% placement gap, +11 points retention from honest information, ~24 staff-years saved per year at 50,000 beneficiaries, ₹12.5 crore per year better used if 5% of wrong matches are avoided. Benefits by group and by type (social, economic, governance, environment). Reliability: keypad fields have no speech error; speech fields 20% × 10% missed at read-back ≈ 2% residual, and every decision still passes rules and an officer.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sources used in the deck, grouped: government data, research, technology, standards and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slideLayout" Target="../slideLayouts/slideLayout1.xml"/><Relationship Id="rId1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image" Target="../media/image-3-15.png"/><Relationship Id="rId16" Type="http://schemas.openxmlformats.org/officeDocument/2006/relationships/image" Target="../media/image-3-16.png"/><Relationship Id="rId17" Type="http://schemas.openxmlformats.org/officeDocument/2006/relationships/image" Target="../media/image-3-17.png"/><Relationship Id="rId18" Type="http://schemas.openxmlformats.org/officeDocument/2006/relationships/image" Target="../media/image-3-18.png"/><Relationship Id="rId19" Type="http://schemas.openxmlformats.org/officeDocument/2006/relationships/image" Target="../media/image-3-19.png"/><Relationship Id="rId20" Type="http://schemas.openxmlformats.org/officeDocument/2006/relationships/image" Target="../media/image-3-20.png"/><Relationship Id="rId21" Type="http://schemas.openxmlformats.org/officeDocument/2006/relationships/image" Target="../media/image-3-21.png"/><Relationship Id="rId22" Type="http://schemas.openxmlformats.org/officeDocument/2006/relationships/image" Target="../media/image-3-22.png"/><Relationship Id="rId23" Type="http://schemas.openxmlformats.org/officeDocument/2006/relationships/image" Target="../media/image-3-23.png"/><Relationship Id="rId24" Type="http://schemas.openxmlformats.org/officeDocument/2006/relationships/image" Target="../media/image-3-24.png"/><Relationship Id="rId25" Type="http://schemas.openxmlformats.org/officeDocument/2006/relationships/image" Target="../media/image-3-25.png"/><Relationship Id="rId26" Type="http://schemas.openxmlformats.org/officeDocument/2006/relationships/image" Target="../media/image-3-26.png"/><Relationship Id="rId27" Type="http://schemas.openxmlformats.org/officeDocument/2006/relationships/slideLayout" Target="../slideLayouts/slideLayout1.xml"/><Relationship Id="rId2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1.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82880"/>
            <a:ext cx="6766560" cy="548640"/>
          </a:xfrm>
          <a:prstGeom prst="rect">
            <a:avLst/>
          </a:prstGeom>
          <a:noFill/>
          <a:ln/>
        </p:spPr>
        <p:txBody>
          <a:bodyPr wrap="square" lIns="0" tIns="0" rIns="0" bIns="0" rtlCol="0" anchor="ctr"/>
          <a:lstStyle/>
          <a:p>
            <a:pPr indent="0" marL="0">
              <a:buNone/>
            </a:pPr>
            <a:r>
              <a:rPr lang="en-US" sz="3000" b="1" dirty="0">
                <a:solidFill>
                  <a:srgbClr val="1F4E79"/>
                </a:solidFill>
                <a:latin typeface="Times New Roman" pitchFamily="34" charset="0"/>
                <a:ea typeface="Times New Roman" pitchFamily="34" charset="-122"/>
                <a:cs typeface="Times New Roman" pitchFamily="34" charset="-120"/>
              </a:rPr>
              <a:t>SMART INDIA HACKATHON 2026</a:t>
            </a:r>
            <a:endParaRPr lang="en-US" sz="3000" dirty="0"/>
          </a:p>
        </p:txBody>
      </p:sp>
      <p:pic>
        <p:nvPicPr>
          <p:cNvPr id="3" name="Image 0" descr="preencoded.png">    </p:cNvPr>
          <p:cNvPicPr>
            <a:picLocks noChangeAspect="1"/>
          </p:cNvPicPr>
          <p:nvPr/>
        </p:nvPicPr>
        <p:blipFill>
          <a:blip r:embed="rId1"/>
          <a:stretch>
            <a:fillRect/>
          </a:stretch>
        </p:blipFill>
        <p:spPr>
          <a:xfrm>
            <a:off x="7223760" y="73152"/>
            <a:ext cx="1691640" cy="795528"/>
          </a:xfrm>
          <a:prstGeom prst="rect">
            <a:avLst/>
          </a:prstGeom>
        </p:spPr>
      </p:pic>
      <p:sp>
        <p:nvSpPr>
          <p:cNvPr id="4" name="Text 1"/>
          <p:cNvSpPr txBox="1"/>
          <p:nvPr/>
        </p:nvSpPr>
        <p:spPr>
          <a:xfrm>
            <a:off x="2194560" y="868680"/>
            <a:ext cx="3200400" cy="411480"/>
          </a:xfrm>
          <a:prstGeom prst="rect">
            <a:avLst/>
          </a:prstGeom>
          <a:noFill/>
          <a:ln/>
        </p:spPr>
        <p:txBody>
          <a:bodyPr wrap="square" lIns="0" tIns="0" rIns="0" bIns="0" rtlCol="0" anchor="ctr"/>
          <a:lstStyle/>
          <a:p>
            <a:pPr algn="ctr" indent="0" marL="0">
              <a:buNone/>
            </a:pPr>
            <a:r>
              <a:rPr lang="en-US" sz="2200" b="1" dirty="0">
                <a:solidFill>
                  <a:srgbClr val="1F1F1F"/>
                </a:solidFill>
                <a:latin typeface="Times New Roman" pitchFamily="34" charset="0"/>
                <a:ea typeface="Times New Roman" pitchFamily="34" charset="-122"/>
                <a:cs typeface="Times New Roman" pitchFamily="34" charset="-120"/>
              </a:rPr>
              <a:t>TITLE PAGE</a:t>
            </a:r>
            <a:endParaRPr lang="en-US" sz="2200" dirty="0"/>
          </a:p>
        </p:txBody>
      </p:sp>
      <p:pic>
        <p:nvPicPr>
          <p:cNvPr id="5" name="Image 1" descr="preencoded.png">    </p:cNvPr>
          <p:cNvPicPr>
            <a:picLocks noChangeAspect="1"/>
          </p:cNvPicPr>
          <p:nvPr/>
        </p:nvPicPr>
        <p:blipFill>
          <a:blip r:embed="rId2"/>
          <a:stretch>
            <a:fillRect/>
          </a:stretch>
        </p:blipFill>
        <p:spPr>
          <a:xfrm>
            <a:off x="4892040" y="1737360"/>
            <a:ext cx="4023360" cy="1901952"/>
          </a:xfrm>
          <a:prstGeom prst="rect">
            <a:avLst/>
          </a:prstGeom>
        </p:spPr>
      </p:pic>
      <p:sp>
        <p:nvSpPr>
          <p:cNvPr id="6" name="Text 2"/>
          <p:cNvSpPr txBox="1"/>
          <p:nvPr/>
        </p:nvSpPr>
        <p:spPr>
          <a:xfrm>
            <a:off x="411480" y="1463040"/>
            <a:ext cx="4389120" cy="3383280"/>
          </a:xfrm>
          <a:prstGeom prst="rect">
            <a:avLst/>
          </a:prstGeom>
          <a:noFill/>
          <a:ln/>
        </p:spPr>
        <p:txBody>
          <a:bodyPr wrap="square" lIns="0" tIns="0" rIns="0" bIns="0" rtlCol="0" anchor="t"/>
          <a:lstStyle/>
          <a:p>
            <a:pPr marL="177800" indent="-177800">
              <a:spcAft>
                <a:spcPts val="1200"/>
              </a:spcAft>
              <a:buSzPct val="100000"/>
              <a:buChar char="•"/>
            </a:pPr>
            <a:r>
              <a:rPr lang="en-US" sz="1400" b="1" dirty="0">
                <a:solidFill>
                  <a:srgbClr val="1F1F1F"/>
                </a:solidFill>
                <a:latin typeface="Arial" pitchFamily="34" charset="0"/>
                <a:ea typeface="Arial" pitchFamily="34" charset="-122"/>
                <a:cs typeface="Arial" pitchFamily="34" charset="-120"/>
              </a:rPr>
              <a:t>Problem Statement ID – </a:t>
            </a:r>
            <a:r>
              <a:rPr lang="en-US" sz="1250" b="1" dirty="0">
                <a:solidFill>
                  <a:srgbClr val="1F4E79"/>
                </a:solidFill>
                <a:latin typeface="Arial" pitchFamily="34" charset="0"/>
                <a:ea typeface="Arial" pitchFamily="34" charset="-122"/>
                <a:cs typeface="Arial" pitchFamily="34" charset="-120"/>
              </a:rPr>
              <a:t>SIH26097</a:t>
            </a:r>
            <a:endParaRPr lang="en-US" sz="1400" dirty="0"/>
          </a:p>
          <a:p>
            <a:pPr marL="177800" indent="-177800">
              <a:spcAft>
                <a:spcPts val="1200"/>
              </a:spcAft>
              <a:buSzPct val="100000"/>
              <a:buChar char="•"/>
            </a:pPr>
            <a:r>
              <a:rPr lang="en-US" sz="1400" b="1" dirty="0">
                <a:solidFill>
                  <a:srgbClr val="1F1F1F"/>
                </a:solidFill>
                <a:latin typeface="Arial" pitchFamily="34" charset="0"/>
                <a:ea typeface="Arial" pitchFamily="34" charset="-122"/>
                <a:cs typeface="Arial" pitchFamily="34" charset="-120"/>
              </a:rPr>
              <a:t>Problem Statement Title – </a:t>
            </a:r>
            <a:r>
              <a:rPr lang="en-US" sz="1250" b="1" dirty="0">
                <a:solidFill>
                  <a:srgbClr val="1F4E79"/>
                </a:solidFill>
                <a:latin typeface="Arial" pitchFamily="34" charset="0"/>
                <a:ea typeface="Arial" pitchFamily="34" charset="-122"/>
                <a:cs typeface="Arial" pitchFamily="34" charset="-120"/>
              </a:rPr>
              <a:t>AI-driven voice assistant for livelihood mapping and NSQF-aligned skilling recommendations for SC communities under the GIA component of PM-AJAY</a:t>
            </a:r>
            <a:endParaRPr lang="en-US" sz="1400" dirty="0"/>
          </a:p>
          <a:p>
            <a:pPr marL="177800" indent="-177800">
              <a:spcAft>
                <a:spcPts val="1200"/>
              </a:spcAft>
              <a:buSzPct val="100000"/>
              <a:buChar char="•"/>
            </a:pPr>
            <a:r>
              <a:rPr lang="en-US" sz="1400" b="1" dirty="0">
                <a:solidFill>
                  <a:srgbClr val="1F1F1F"/>
                </a:solidFill>
                <a:latin typeface="Arial" pitchFamily="34" charset="0"/>
                <a:ea typeface="Arial" pitchFamily="34" charset="-122"/>
                <a:cs typeface="Arial" pitchFamily="34" charset="-120"/>
              </a:rPr>
              <a:t>Theme – </a:t>
            </a:r>
            <a:r>
              <a:rPr lang="en-US" sz="1250" b="1" dirty="0">
                <a:solidFill>
                  <a:srgbClr val="1F4E79"/>
                </a:solidFill>
                <a:latin typeface="Arial" pitchFamily="34" charset="0"/>
                <a:ea typeface="Arial" pitchFamily="34" charset="-122"/>
                <a:cs typeface="Arial" pitchFamily="34" charset="-120"/>
              </a:rPr>
              <a:t>Agriculture, FoodTech &amp; Rural Development</a:t>
            </a:r>
            <a:endParaRPr lang="en-US" sz="1400" dirty="0"/>
          </a:p>
          <a:p>
            <a:pPr marL="177800" indent="-177800">
              <a:spcAft>
                <a:spcPts val="1200"/>
              </a:spcAft>
              <a:buSzPct val="100000"/>
              <a:buChar char="•"/>
            </a:pPr>
            <a:r>
              <a:rPr lang="en-US" sz="1400" b="1" dirty="0">
                <a:solidFill>
                  <a:srgbClr val="1F1F1F"/>
                </a:solidFill>
                <a:latin typeface="Arial" pitchFamily="34" charset="0"/>
                <a:ea typeface="Arial" pitchFamily="34" charset="-122"/>
                <a:cs typeface="Arial" pitchFamily="34" charset="-120"/>
              </a:rPr>
              <a:t>PS Category – </a:t>
            </a:r>
            <a:r>
              <a:rPr lang="en-US" sz="1250" b="1" dirty="0">
                <a:solidFill>
                  <a:srgbClr val="1F4E79"/>
                </a:solidFill>
                <a:latin typeface="Arial" pitchFamily="34" charset="0"/>
                <a:ea typeface="Arial" pitchFamily="34" charset="-122"/>
                <a:cs typeface="Arial" pitchFamily="34" charset="-120"/>
              </a:rPr>
              <a:t>Software</a:t>
            </a:r>
            <a:endParaRPr lang="en-US" sz="1400" dirty="0"/>
          </a:p>
          <a:p>
            <a:pPr marL="177800" indent="-177800">
              <a:spcAft>
                <a:spcPts val="1200"/>
              </a:spcAft>
              <a:buSzPct val="100000"/>
              <a:buChar char="•"/>
            </a:pPr>
            <a:r>
              <a:rPr lang="en-US" sz="1400" b="1" dirty="0">
                <a:solidFill>
                  <a:srgbClr val="1F1F1F"/>
                </a:solidFill>
                <a:latin typeface="Arial" pitchFamily="34" charset="0"/>
                <a:ea typeface="Arial" pitchFamily="34" charset="-122"/>
                <a:cs typeface="Arial" pitchFamily="34" charset="-120"/>
              </a:rPr>
              <a:t>Team ID – </a:t>
            </a:r>
            <a:r>
              <a:rPr lang="en-US" sz="1250" b="1" dirty="0">
                <a:solidFill>
                  <a:srgbClr val="C62828"/>
                </a:solidFill>
                <a:latin typeface="Arial" pitchFamily="34" charset="0"/>
                <a:ea typeface="Arial" pitchFamily="34" charset="-122"/>
                <a:cs typeface="Arial" pitchFamily="34" charset="-120"/>
              </a:rPr>
              <a:t>________  (fill from the SIH portal)</a:t>
            </a:r>
            <a:endParaRPr lang="en-US" sz="1400" dirty="0"/>
          </a:p>
          <a:p>
            <a:pPr marL="177800" indent="-177800">
              <a:spcAft>
                <a:spcPts val="1200"/>
              </a:spcAft>
              <a:buSzPct val="100000"/>
              <a:buChar char="•"/>
            </a:pPr>
            <a:r>
              <a:rPr lang="en-US" sz="1400" b="1" dirty="0">
                <a:solidFill>
                  <a:srgbClr val="1F1F1F"/>
                </a:solidFill>
                <a:latin typeface="Arial" pitchFamily="34" charset="0"/>
                <a:ea typeface="Arial" pitchFamily="34" charset="-122"/>
                <a:cs typeface="Arial" pitchFamily="34" charset="-120"/>
              </a:rPr>
              <a:t>Team Name (Registered on portal) – </a:t>
            </a:r>
            <a:r>
              <a:rPr lang="en-US" sz="1250" b="1" dirty="0">
                <a:solidFill>
                  <a:srgbClr val="1F4E79"/>
                </a:solidFill>
                <a:latin typeface="Arial" pitchFamily="34" charset="0"/>
                <a:ea typeface="Arial" pitchFamily="34" charset="-122"/>
                <a:cs typeface="Arial" pitchFamily="34" charset="-120"/>
              </a:rPr>
              <a:t>Cognify</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56032" y="164592"/>
            <a:ext cx="960120" cy="548640"/>
          </a:xfrm>
          <a:prstGeom prst="ellipse">
            <a:avLst/>
          </a:prstGeom>
          <a:solidFill>
            <a:srgbClr val="FFFFFF"/>
          </a:solidFill>
          <a:ln w="15875">
            <a:solidFill>
              <a:srgbClr val="1F4E79"/>
            </a:solidFill>
            <a:prstDash val="solid"/>
          </a:ln>
        </p:spPr>
      </p:sp>
      <p:sp>
        <p:nvSpPr>
          <p:cNvPr id="3" name="Text 1"/>
          <p:cNvSpPr txBox="1"/>
          <p:nvPr/>
        </p:nvSpPr>
        <p:spPr>
          <a:xfrm>
            <a:off x="256032" y="164592"/>
            <a:ext cx="960120" cy="548640"/>
          </a:xfrm>
          <a:prstGeom prst="rect">
            <a:avLst/>
          </a:prstGeom>
          <a:noFill/>
          <a:ln/>
        </p:spPr>
        <p:txBody>
          <a:bodyPr wrap="square" lIns="0" tIns="0" rIns="0" bIns="0" rtlCol="0" anchor="ctr"/>
          <a:lstStyle/>
          <a:p>
            <a:pPr algn="ctr" indent="0" marL="0">
              <a:buNone/>
            </a:pPr>
            <a:r>
              <a:rPr lang="en-US" sz="1100" b="1" dirty="0">
                <a:solidFill>
                  <a:srgbClr val="1F4E79"/>
                </a:solidFill>
                <a:latin typeface="Calibri" pitchFamily="34" charset="0"/>
                <a:ea typeface="Calibri" pitchFamily="34" charset="-122"/>
                <a:cs typeface="Calibri" pitchFamily="34" charset="-120"/>
              </a:rPr>
              <a:t>Cognify</a:t>
            </a:r>
            <a:endParaRPr lang="en-US" sz="1100" dirty="0"/>
          </a:p>
        </p:txBody>
      </p:sp>
      <p:sp>
        <p:nvSpPr>
          <p:cNvPr id="4" name="Text 2"/>
          <p:cNvSpPr txBox="1"/>
          <p:nvPr/>
        </p:nvSpPr>
        <p:spPr>
          <a:xfrm>
            <a:off x="1371600" y="109728"/>
            <a:ext cx="5852160" cy="457200"/>
          </a:xfrm>
          <a:prstGeom prst="rect">
            <a:avLst/>
          </a:prstGeom>
          <a:noFill/>
          <a:ln/>
        </p:spPr>
        <p:txBody>
          <a:bodyPr wrap="square" lIns="0" tIns="0" rIns="0" bIns="0" rtlCol="0" anchor="ctr"/>
          <a:lstStyle/>
          <a:p>
            <a:pPr algn="ctr" indent="0" marL="0">
              <a:buNone/>
            </a:pPr>
            <a:r>
              <a:rPr lang="en-US" sz="2400" b="1" dirty="0">
                <a:solidFill>
                  <a:srgbClr val="1F1F1F"/>
                </a:solidFill>
                <a:latin typeface="Times New Roman" pitchFamily="34" charset="0"/>
                <a:ea typeface="Times New Roman" pitchFamily="34" charset="-122"/>
                <a:cs typeface="Times New Roman" pitchFamily="34" charset="-120"/>
              </a:rPr>
              <a:t>SkillCall</a:t>
            </a:r>
            <a:endParaRPr lang="en-US" sz="2400" dirty="0"/>
          </a:p>
        </p:txBody>
      </p:sp>
      <p:sp>
        <p:nvSpPr>
          <p:cNvPr id="5" name="Text 3"/>
          <p:cNvSpPr txBox="1"/>
          <p:nvPr/>
        </p:nvSpPr>
        <p:spPr>
          <a:xfrm>
            <a:off x="1371600" y="548640"/>
            <a:ext cx="5852160" cy="201168"/>
          </a:xfrm>
          <a:prstGeom prst="rect">
            <a:avLst/>
          </a:prstGeom>
          <a:noFill/>
          <a:ln/>
        </p:spPr>
        <p:txBody>
          <a:bodyPr wrap="square" lIns="0" tIns="0" rIns="0" bIns="0" rtlCol="0" anchor="ctr"/>
          <a:lstStyle/>
          <a:p>
            <a:pPr algn="ctr" indent="0" marL="0">
              <a:buNone/>
            </a:pPr>
            <a:r>
              <a:rPr lang="en-US" sz="1000" i="1" dirty="0">
                <a:solidFill>
                  <a:srgbClr val="1F4E79"/>
                </a:solidFill>
                <a:latin typeface="Calibri" pitchFamily="34" charset="0"/>
                <a:ea typeface="Calibri" pitchFamily="34" charset="-122"/>
                <a:cs typeface="Calibri" pitchFamily="34" charset="-120"/>
              </a:rPr>
              <a:t>Proposed Solution  ·  one free phone call that turns a person's skills into the right work</a:t>
            </a:r>
            <a:endParaRPr lang="en-US" sz="1000" dirty="0"/>
          </a:p>
        </p:txBody>
      </p:sp>
      <p:pic>
        <p:nvPicPr>
          <p:cNvPr id="6" name="Image 0" descr="preencoded.png">    </p:cNvPr>
          <p:cNvPicPr>
            <a:picLocks noChangeAspect="1"/>
          </p:cNvPicPr>
          <p:nvPr/>
        </p:nvPicPr>
        <p:blipFill>
          <a:blip r:embed="rId1"/>
          <a:stretch>
            <a:fillRect/>
          </a:stretch>
        </p:blipFill>
        <p:spPr>
          <a:xfrm>
            <a:off x="7223760" y="73152"/>
            <a:ext cx="1691640" cy="795528"/>
          </a:xfrm>
          <a:prstGeom prst="rect">
            <a:avLst/>
          </a:prstGeom>
        </p:spPr>
      </p:pic>
      <p:sp>
        <p:nvSpPr>
          <p:cNvPr id="7" name="Text 4"/>
          <p:cNvSpPr txBox="1"/>
          <p:nvPr/>
        </p:nvSpPr>
        <p:spPr>
          <a:xfrm>
            <a:off x="8503920" y="4864608"/>
            <a:ext cx="365760" cy="182880"/>
          </a:xfrm>
          <a:prstGeom prst="rect">
            <a:avLst/>
          </a:prstGeom>
          <a:noFill/>
          <a:ln/>
        </p:spPr>
        <p:txBody>
          <a:bodyPr wrap="square" lIns="0" tIns="0" rIns="0" bIns="0" rtlCol="0" anchor="t"/>
          <a:lstStyle/>
          <a:p>
            <a:pPr algn="r" indent="0" marL="0">
              <a:buNone/>
            </a:pPr>
            <a:r>
              <a:rPr lang="en-US" sz="1000" b="1" dirty="0">
                <a:solidFill>
                  <a:srgbClr val="1F4E79"/>
                </a:solidFill>
                <a:latin typeface="Calibri" pitchFamily="34" charset="0"/>
                <a:ea typeface="Calibri" pitchFamily="34" charset="-122"/>
                <a:cs typeface="Calibri" pitchFamily="34" charset="-120"/>
              </a:rPr>
              <a:t>2</a:t>
            </a:r>
            <a:endParaRPr lang="en-US" sz="1000" dirty="0"/>
          </a:p>
        </p:txBody>
      </p:sp>
      <p:sp>
        <p:nvSpPr>
          <p:cNvPr id="8" name="Shape 5"/>
          <p:cNvSpPr/>
          <p:nvPr/>
        </p:nvSpPr>
        <p:spPr>
          <a:xfrm>
            <a:off x="274320" y="896112"/>
            <a:ext cx="8595360" cy="822960"/>
          </a:xfrm>
          <a:prstGeom prst="roundRect">
            <a:avLst>
              <a:gd name="adj" fmla="val 6667"/>
            </a:avLst>
          </a:prstGeom>
          <a:solidFill>
            <a:srgbClr val="EEF3F9"/>
          </a:solidFill>
          <a:ln w="9525">
            <a:solidFill>
              <a:srgbClr val="EEF3F9"/>
            </a:solidFill>
            <a:prstDash val="solid"/>
          </a:ln>
        </p:spPr>
      </p:sp>
      <p:sp>
        <p:nvSpPr>
          <p:cNvPr id="9" name="Text 6"/>
          <p:cNvSpPr txBox="1"/>
          <p:nvPr/>
        </p:nvSpPr>
        <p:spPr>
          <a:xfrm>
            <a:off x="384048" y="950976"/>
            <a:ext cx="4937760" cy="731520"/>
          </a:xfrm>
          <a:prstGeom prst="rect">
            <a:avLst/>
          </a:prstGeom>
          <a:noFill/>
          <a:ln/>
        </p:spPr>
        <p:txBody>
          <a:bodyPr wrap="square" lIns="0" tIns="0" rIns="0" bIns="0" rtlCol="0" anchor="t"/>
          <a:lstStyle/>
          <a:p>
            <a:pPr indent="0" marL="0">
              <a:buNone/>
            </a:pPr>
            <a:r>
              <a:rPr lang="en-US" sz="850" b="1" dirty="0">
                <a:solidFill>
                  <a:srgbClr val="1F4E79"/>
                </a:solidFill>
                <a:latin typeface="Calibri" pitchFamily="34" charset="0"/>
                <a:ea typeface="Calibri" pitchFamily="34" charset="-122"/>
                <a:cs typeface="Calibri" pitchFamily="34" charset="-120"/>
              </a:rPr>
              <a:t>What is the problem?  </a:t>
            </a:r>
            <a:r>
              <a:rPr lang="en-US" sz="800" dirty="0">
                <a:solidFill>
                  <a:srgbClr val="5F6B7A"/>
                </a:solidFill>
                <a:latin typeface="Calibri" pitchFamily="34" charset="0"/>
                <a:ea typeface="Calibri" pitchFamily="34" charset="-122"/>
                <a:cs typeface="Calibri" pitchFamily="34" charset="-120"/>
              </a:rPr>
              <a:t>SIH26097 · Ministry of Social Justice &amp; Empowerment</a:t>
            </a:r>
            <a:r>
              <a:rPr lang="en-US" sz="850" dirty="0">
                <a:solidFill>
                  <a:srgbClr val="1F1F1F"/>
                </a:solidFill>
                <a:latin typeface="Calibri" pitchFamily="34" charset="0"/>
                <a:ea typeface="Calibri" pitchFamily="34" charset="-122"/>
                <a:cs typeface="Calibri" pitchFamily="34" charset="-120"/>
              </a:rPr>
              <a:t>
</a:t>
            </a:r>
            <a:r>
              <a:rPr lang="en-US" sz="850" dirty="0">
                <a:solidFill>
                  <a:srgbClr val="1F1F1F"/>
                </a:solidFill>
                <a:latin typeface="Calibri" pitchFamily="34" charset="0"/>
                <a:ea typeface="Calibri" pitchFamily="34" charset="-122"/>
                <a:cs typeface="Calibri" pitchFamily="34" charset="-120"/>
              </a:rPr>
              <a:t>PM-AJAY is a central scheme for poor Scheduled Caste (SC) families. Its Grant-in-Aid (GIA) part pays for </a:t>
            </a:r>
            <a:r>
              <a:rPr lang="en-US" sz="850" b="1" dirty="0">
                <a:solidFill>
                  <a:srgbClr val="1F1F1F"/>
                </a:solidFill>
                <a:latin typeface="Calibri" pitchFamily="34" charset="0"/>
                <a:ea typeface="Calibri" pitchFamily="34" charset="-122"/>
                <a:cs typeface="Calibri" pitchFamily="34" charset="-120"/>
              </a:rPr>
              <a:t>skill training</a:t>
            </a:r>
            <a:r>
              <a:rPr lang="en-US" sz="850" dirty="0">
                <a:solidFill>
                  <a:srgbClr val="1F1F1F"/>
                </a:solidFill>
                <a:latin typeface="Calibri" pitchFamily="34" charset="0"/>
                <a:ea typeface="Calibri" pitchFamily="34" charset="-122"/>
                <a:cs typeface="Calibri" pitchFamily="34" charset="-120"/>
              </a:rPr>
              <a:t> (at least 10% of GIA funds) and </a:t>
            </a:r>
            <a:r>
              <a:rPr lang="en-US" sz="850" b="1" dirty="0">
                <a:solidFill>
                  <a:srgbClr val="1F1F1F"/>
                </a:solidFill>
                <a:latin typeface="Calibri" pitchFamily="34" charset="0"/>
                <a:ea typeface="Calibri" pitchFamily="34" charset="-122"/>
                <a:cs typeface="Calibri" pitchFamily="34" charset="-120"/>
              </a:rPr>
              <a:t>small-business support</a:t>
            </a:r>
            <a:r>
              <a:rPr lang="en-US" sz="850" dirty="0">
                <a:solidFill>
                  <a:srgbClr val="1F1F1F"/>
                </a:solidFill>
                <a:latin typeface="Calibri" pitchFamily="34" charset="0"/>
                <a:ea typeface="Calibri" pitchFamily="34" charset="-122"/>
                <a:cs typeface="Calibri" pitchFamily="34" charset="-120"/>
              </a:rPr>
              <a:t> (up to ₹50,000 or 50% of the asset cost, paid towards a bank loan). </a:t>
            </a:r>
            <a:r>
              <a:rPr lang="en-US" sz="850" dirty="0">
                <a:solidFill>
                  <a:srgbClr val="1F1F1F"/>
                </a:solidFill>
                <a:latin typeface="Calibri" pitchFamily="34" charset="0"/>
                <a:ea typeface="Calibri" pitchFamily="34" charset="-122"/>
                <a:cs typeface="Calibri" pitchFamily="34" charset="-120"/>
              </a:rPr>
              <a:t>Today the course for each person is chosen through paper forms and field officers. People who cannot read, do not know the modern trades, or speak only a dialect are put in the wrong course → drop-outs, no job, money spent without result.</a:t>
            </a:r>
            <a:endParaRPr lang="en-US" sz="850" dirty="0"/>
          </a:p>
        </p:txBody>
      </p:sp>
      <p:sp>
        <p:nvSpPr>
          <p:cNvPr id="10" name="Shape 7"/>
          <p:cNvSpPr/>
          <p:nvPr/>
        </p:nvSpPr>
        <p:spPr>
          <a:xfrm>
            <a:off x="5440680" y="950976"/>
            <a:ext cx="1097280" cy="713232"/>
          </a:xfrm>
          <a:prstGeom prst="roundRect">
            <a:avLst>
              <a:gd name="adj" fmla="val 7692"/>
            </a:avLst>
          </a:prstGeom>
          <a:solidFill>
            <a:srgbClr val="FFFFFF"/>
          </a:solidFill>
          <a:ln w="9525">
            <a:solidFill>
              <a:srgbClr val="FFFFFF"/>
            </a:solidFill>
            <a:prstDash val="solid"/>
          </a:ln>
        </p:spPr>
      </p:sp>
      <p:sp>
        <p:nvSpPr>
          <p:cNvPr id="11" name="Text 8"/>
          <p:cNvSpPr txBox="1"/>
          <p:nvPr/>
        </p:nvSpPr>
        <p:spPr>
          <a:xfrm>
            <a:off x="5513832" y="987552"/>
            <a:ext cx="950976" cy="274320"/>
          </a:xfrm>
          <a:prstGeom prst="rect">
            <a:avLst/>
          </a:prstGeom>
          <a:noFill/>
          <a:ln/>
        </p:spPr>
        <p:txBody>
          <a:bodyPr wrap="square" lIns="0" tIns="0" rIns="0" bIns="0" rtlCol="0" anchor="ctr"/>
          <a:lstStyle/>
          <a:p>
            <a:pPr indent="0" marL="0">
              <a:buNone/>
            </a:pPr>
            <a:r>
              <a:rPr lang="en-US" sz="1700" b="1" dirty="0">
                <a:solidFill>
                  <a:srgbClr val="E8710A"/>
                </a:solidFill>
                <a:latin typeface="Calibri" pitchFamily="34" charset="0"/>
                <a:ea typeface="Calibri" pitchFamily="34" charset="-122"/>
                <a:cs typeface="Calibri" pitchFamily="34" charset="-120"/>
              </a:rPr>
              <a:t>41%</a:t>
            </a:r>
            <a:endParaRPr lang="en-US" sz="1700" dirty="0"/>
          </a:p>
        </p:txBody>
      </p:sp>
      <p:sp>
        <p:nvSpPr>
          <p:cNvPr id="12" name="Text 9"/>
          <p:cNvSpPr txBox="1"/>
          <p:nvPr/>
        </p:nvSpPr>
        <p:spPr>
          <a:xfrm>
            <a:off x="5513832" y="1280160"/>
            <a:ext cx="950976" cy="347472"/>
          </a:xfrm>
          <a:prstGeom prst="rect">
            <a:avLst/>
          </a:prstGeom>
          <a:noFill/>
          <a:ln/>
        </p:spPr>
        <p:txBody>
          <a:bodyPr wrap="square" lIns="0" tIns="0" rIns="0" bIns="0" rtlCol="0" anchor="t"/>
          <a:lstStyle/>
          <a:p>
            <a:pPr indent="0" marL="0">
              <a:buNone/>
            </a:pPr>
            <a:r>
              <a:rPr lang="en-US" sz="680" dirty="0">
                <a:solidFill>
                  <a:srgbClr val="1F1F1F"/>
                </a:solidFill>
                <a:latin typeface="Calibri" pitchFamily="34" charset="0"/>
                <a:ea typeface="Calibri" pitchFamily="34" charset="-122"/>
                <a:cs typeface="Calibri" pitchFamily="34" charset="-120"/>
              </a:rPr>
              <a:t>of trained people got a job — CAG audit of PMKVY, 2025</a:t>
            </a:r>
            <a:endParaRPr lang="en-US" sz="680" dirty="0"/>
          </a:p>
        </p:txBody>
      </p:sp>
      <p:sp>
        <p:nvSpPr>
          <p:cNvPr id="13" name="Shape 10"/>
          <p:cNvSpPr/>
          <p:nvPr/>
        </p:nvSpPr>
        <p:spPr>
          <a:xfrm>
            <a:off x="6583680" y="950976"/>
            <a:ext cx="1097280" cy="713232"/>
          </a:xfrm>
          <a:prstGeom prst="roundRect">
            <a:avLst>
              <a:gd name="adj" fmla="val 7692"/>
            </a:avLst>
          </a:prstGeom>
          <a:solidFill>
            <a:srgbClr val="FFFFFF"/>
          </a:solidFill>
          <a:ln w="9525">
            <a:solidFill>
              <a:srgbClr val="FFFFFF"/>
            </a:solidFill>
            <a:prstDash val="solid"/>
          </a:ln>
        </p:spPr>
      </p:sp>
      <p:sp>
        <p:nvSpPr>
          <p:cNvPr id="14" name="Text 11"/>
          <p:cNvSpPr txBox="1"/>
          <p:nvPr/>
        </p:nvSpPr>
        <p:spPr>
          <a:xfrm>
            <a:off x="6656832" y="987552"/>
            <a:ext cx="950976" cy="274320"/>
          </a:xfrm>
          <a:prstGeom prst="rect">
            <a:avLst/>
          </a:prstGeom>
          <a:noFill/>
          <a:ln/>
        </p:spPr>
        <p:txBody>
          <a:bodyPr wrap="square" lIns="0" tIns="0" rIns="0" bIns="0" rtlCol="0" anchor="ctr"/>
          <a:lstStyle/>
          <a:p>
            <a:pPr indent="0" marL="0">
              <a:buNone/>
            </a:pPr>
            <a:r>
              <a:rPr lang="en-US" sz="1700" b="1" dirty="0">
                <a:solidFill>
                  <a:srgbClr val="E8710A"/>
                </a:solidFill>
                <a:latin typeface="Calibri" pitchFamily="34" charset="0"/>
                <a:ea typeface="Calibri" pitchFamily="34" charset="-122"/>
                <a:cs typeface="Calibri" pitchFamily="34" charset="-120"/>
              </a:rPr>
              <a:t>34%</a:t>
            </a:r>
            <a:endParaRPr lang="en-US" sz="1700" dirty="0"/>
          </a:p>
        </p:txBody>
      </p:sp>
      <p:sp>
        <p:nvSpPr>
          <p:cNvPr id="15" name="Text 12"/>
          <p:cNvSpPr txBox="1"/>
          <p:nvPr/>
        </p:nvSpPr>
        <p:spPr>
          <a:xfrm>
            <a:off x="6656832" y="1280160"/>
            <a:ext cx="950976" cy="347472"/>
          </a:xfrm>
          <a:prstGeom prst="rect">
            <a:avLst/>
          </a:prstGeom>
          <a:noFill/>
          <a:ln/>
        </p:spPr>
        <p:txBody>
          <a:bodyPr wrap="square" lIns="0" tIns="0" rIns="0" bIns="0" rtlCol="0" anchor="t"/>
          <a:lstStyle/>
          <a:p>
            <a:pPr indent="0" marL="0">
              <a:buNone/>
            </a:pPr>
            <a:r>
              <a:rPr lang="en-US" sz="680" dirty="0">
                <a:solidFill>
                  <a:srgbClr val="1F1F1F"/>
                </a:solidFill>
                <a:latin typeface="Calibri" pitchFamily="34" charset="0"/>
                <a:ea typeface="Calibri" pitchFamily="34" charset="-122"/>
                <a:cs typeface="Calibri" pitchFamily="34" charset="-120"/>
              </a:rPr>
              <a:t>of SC adults cannot read — Census 2011</a:t>
            </a:r>
            <a:endParaRPr lang="en-US" sz="680" dirty="0"/>
          </a:p>
        </p:txBody>
      </p:sp>
      <p:sp>
        <p:nvSpPr>
          <p:cNvPr id="16" name="Shape 13"/>
          <p:cNvSpPr/>
          <p:nvPr/>
        </p:nvSpPr>
        <p:spPr>
          <a:xfrm>
            <a:off x="7726680" y="950976"/>
            <a:ext cx="1097280" cy="713232"/>
          </a:xfrm>
          <a:prstGeom prst="roundRect">
            <a:avLst>
              <a:gd name="adj" fmla="val 7692"/>
            </a:avLst>
          </a:prstGeom>
          <a:solidFill>
            <a:srgbClr val="FFFFFF"/>
          </a:solidFill>
          <a:ln w="9525">
            <a:solidFill>
              <a:srgbClr val="FFFFFF"/>
            </a:solidFill>
            <a:prstDash val="solid"/>
          </a:ln>
        </p:spPr>
      </p:sp>
      <p:sp>
        <p:nvSpPr>
          <p:cNvPr id="17" name="Text 14"/>
          <p:cNvSpPr txBox="1"/>
          <p:nvPr/>
        </p:nvSpPr>
        <p:spPr>
          <a:xfrm>
            <a:off x="7799832" y="987552"/>
            <a:ext cx="950976" cy="274320"/>
          </a:xfrm>
          <a:prstGeom prst="rect">
            <a:avLst/>
          </a:prstGeom>
          <a:noFill/>
          <a:ln/>
        </p:spPr>
        <p:txBody>
          <a:bodyPr wrap="square" lIns="0" tIns="0" rIns="0" bIns="0" rtlCol="0" anchor="ctr"/>
          <a:lstStyle/>
          <a:p>
            <a:pPr indent="0" marL="0">
              <a:buNone/>
            </a:pPr>
            <a:r>
              <a:rPr lang="en-US" sz="1700" b="1" dirty="0">
                <a:solidFill>
                  <a:srgbClr val="E8710A"/>
                </a:solidFill>
                <a:latin typeface="Calibri" pitchFamily="34" charset="0"/>
                <a:ea typeface="Calibri" pitchFamily="34" charset="-122"/>
                <a:cs typeface="Calibri" pitchFamily="34" charset="-120"/>
              </a:rPr>
              <a:t>36%</a:t>
            </a:r>
            <a:endParaRPr lang="en-US" sz="1700" dirty="0"/>
          </a:p>
        </p:txBody>
      </p:sp>
      <p:sp>
        <p:nvSpPr>
          <p:cNvPr id="18" name="Text 15"/>
          <p:cNvSpPr txBox="1"/>
          <p:nvPr/>
        </p:nvSpPr>
        <p:spPr>
          <a:xfrm>
            <a:off x="7799832" y="1280160"/>
            <a:ext cx="950976" cy="347472"/>
          </a:xfrm>
          <a:prstGeom prst="rect">
            <a:avLst/>
          </a:prstGeom>
          <a:noFill/>
          <a:ln/>
        </p:spPr>
        <p:txBody>
          <a:bodyPr wrap="square" lIns="0" tIns="0" rIns="0" bIns="0" rtlCol="0" anchor="t"/>
          <a:lstStyle/>
          <a:p>
            <a:pPr indent="0" marL="0">
              <a:buNone/>
            </a:pPr>
            <a:r>
              <a:rPr lang="en-US" sz="680" dirty="0">
                <a:solidFill>
                  <a:srgbClr val="1F1F1F"/>
                </a:solidFill>
                <a:latin typeface="Calibri" pitchFamily="34" charset="0"/>
                <a:ea typeface="Calibri" pitchFamily="34" charset="-122"/>
                <a:cs typeface="Calibri" pitchFamily="34" charset="-120"/>
              </a:rPr>
              <a:t>of women have no phone of their own — NFHS-6, 2023–24</a:t>
            </a:r>
            <a:endParaRPr lang="en-US" sz="680" dirty="0"/>
          </a:p>
        </p:txBody>
      </p:sp>
      <p:sp>
        <p:nvSpPr>
          <p:cNvPr id="19" name="Text 16"/>
          <p:cNvSpPr txBox="1"/>
          <p:nvPr/>
        </p:nvSpPr>
        <p:spPr>
          <a:xfrm>
            <a:off x="274320" y="1792224"/>
            <a:ext cx="8595360" cy="182880"/>
          </a:xfrm>
          <a:prstGeom prst="rect">
            <a:avLst/>
          </a:prstGeom>
          <a:noFill/>
          <a:ln/>
        </p:spPr>
        <p:txBody>
          <a:bodyPr wrap="square" lIns="0" tIns="0" rIns="0" bIns="0" rtlCol="0" anchor="t"/>
          <a:lstStyle/>
          <a:p>
            <a:pPr indent="0" marL="0">
              <a:buNone/>
            </a:pPr>
            <a:r>
              <a:rPr lang="en-US" sz="850" b="1" spc="100" kern="0" dirty="0">
                <a:solidFill>
                  <a:srgbClr val="18864B"/>
                </a:solidFill>
                <a:latin typeface="Calibri" pitchFamily="34" charset="0"/>
                <a:ea typeface="Calibri" pitchFamily="34" charset="-122"/>
                <a:cs typeface="Calibri" pitchFamily="34" charset="-120"/>
              </a:rPr>
              <a:t>PROPOSED SOLUTION — WHAT HAPPENS ON ONE CALL (STEPS THE PERSON EXPERIENCES)</a:t>
            </a:r>
            <a:endParaRPr lang="en-US" sz="850" dirty="0"/>
          </a:p>
        </p:txBody>
      </p:sp>
      <p:sp>
        <p:nvSpPr>
          <p:cNvPr id="20" name="Shape 17"/>
          <p:cNvSpPr/>
          <p:nvPr/>
        </p:nvSpPr>
        <p:spPr>
          <a:xfrm>
            <a:off x="274320" y="1993392"/>
            <a:ext cx="1353312" cy="1243584"/>
          </a:xfrm>
          <a:prstGeom prst="roundRect">
            <a:avLst>
              <a:gd name="adj" fmla="val 4412"/>
            </a:avLst>
          </a:prstGeom>
          <a:solidFill>
            <a:srgbClr val="FFFFFF"/>
          </a:solidFill>
          <a:ln w="9525">
            <a:solidFill>
              <a:srgbClr val="D6DCE5"/>
            </a:solidFill>
            <a:prstDash val="solid"/>
          </a:ln>
        </p:spPr>
      </p:sp>
      <p:pic>
        <p:nvPicPr>
          <p:cNvPr id="21" name="Image 1" descr="preencoded.png">    </p:cNvPr>
          <p:cNvPicPr>
            <a:picLocks noChangeAspect="1"/>
          </p:cNvPicPr>
          <p:nvPr/>
        </p:nvPicPr>
        <p:blipFill>
          <a:blip r:embed="rId2"/>
          <a:stretch>
            <a:fillRect/>
          </a:stretch>
        </p:blipFill>
        <p:spPr>
          <a:xfrm>
            <a:off x="347472" y="2057400"/>
            <a:ext cx="274320" cy="274320"/>
          </a:xfrm>
          <a:prstGeom prst="rect">
            <a:avLst/>
          </a:prstGeom>
        </p:spPr>
      </p:pic>
      <p:sp>
        <p:nvSpPr>
          <p:cNvPr id="22" name="Text 18"/>
          <p:cNvSpPr txBox="1"/>
          <p:nvPr/>
        </p:nvSpPr>
        <p:spPr>
          <a:xfrm>
            <a:off x="676656" y="2048256"/>
            <a:ext cx="896112" cy="310896"/>
          </a:xfrm>
          <a:prstGeom prst="rect">
            <a:avLst/>
          </a:prstGeom>
          <a:noFill/>
          <a:ln/>
        </p:spPr>
        <p:txBody>
          <a:bodyPr wrap="square" lIns="0" tIns="0" rIns="0" bIns="0" rtlCol="0" anchor="ctr"/>
          <a:lstStyle/>
          <a:p>
            <a:pPr indent="0" marL="0">
              <a:buNone/>
            </a:pPr>
            <a:r>
              <a:rPr lang="en-US" sz="850" b="1" dirty="0">
                <a:solidFill>
                  <a:srgbClr val="1F4E79"/>
                </a:solidFill>
                <a:latin typeface="Calibri" pitchFamily="34" charset="0"/>
                <a:ea typeface="Calibri" pitchFamily="34" charset="-122"/>
                <a:cs typeface="Calibri" pitchFamily="34" charset="-120"/>
              </a:rPr>
              <a:t>1. Missed call → free call-back</a:t>
            </a:r>
            <a:endParaRPr lang="en-US" sz="850" dirty="0"/>
          </a:p>
        </p:txBody>
      </p:sp>
      <p:sp>
        <p:nvSpPr>
          <p:cNvPr id="23" name="Text 19"/>
          <p:cNvSpPr txBox="1"/>
          <p:nvPr/>
        </p:nvSpPr>
        <p:spPr>
          <a:xfrm>
            <a:off x="347472" y="2404872"/>
            <a:ext cx="1207008" cy="786384"/>
          </a:xfrm>
          <a:prstGeom prst="rect">
            <a:avLst/>
          </a:prstGeom>
          <a:noFill/>
          <a:ln/>
        </p:spPr>
        <p:txBody>
          <a:bodyPr wrap="square" lIns="0" tIns="0" rIns="0" bIns="0" rtlCol="0" anchor="t"/>
          <a:lstStyle/>
          <a:p>
            <a:pPr indent="0" marL="0">
              <a:buNone/>
            </a:pPr>
            <a:r>
              <a:rPr lang="en-US" sz="730" dirty="0">
                <a:solidFill>
                  <a:srgbClr val="1F1F1F"/>
                </a:solidFill>
                <a:latin typeface="Calibri" pitchFamily="34" charset="0"/>
                <a:ea typeface="Calibri" pitchFamily="34" charset="-122"/>
                <a:cs typeface="Calibri" pitchFamily="34" charset="-120"/>
              </a:rPr>
              <a:t>The family gives a free missed call. Within ~1 minute SkillCall calls back from an official 1600-series government number, so the call costs the family nothing.</a:t>
            </a:r>
            <a:endParaRPr lang="en-US" sz="730" dirty="0"/>
          </a:p>
        </p:txBody>
      </p:sp>
      <p:sp>
        <p:nvSpPr>
          <p:cNvPr id="24" name="Shape 20"/>
          <p:cNvSpPr/>
          <p:nvPr/>
        </p:nvSpPr>
        <p:spPr>
          <a:xfrm>
            <a:off x="1722730" y="1993392"/>
            <a:ext cx="1353312" cy="1243584"/>
          </a:xfrm>
          <a:prstGeom prst="roundRect">
            <a:avLst>
              <a:gd name="adj" fmla="val 4412"/>
            </a:avLst>
          </a:prstGeom>
          <a:solidFill>
            <a:srgbClr val="FFFFFF"/>
          </a:solidFill>
          <a:ln w="9525">
            <a:solidFill>
              <a:srgbClr val="D6DCE5"/>
            </a:solidFill>
            <a:prstDash val="solid"/>
          </a:ln>
        </p:spPr>
      </p:sp>
      <p:pic>
        <p:nvPicPr>
          <p:cNvPr id="25" name="Image 2" descr="preencoded.png">    </p:cNvPr>
          <p:cNvPicPr>
            <a:picLocks noChangeAspect="1"/>
          </p:cNvPicPr>
          <p:nvPr/>
        </p:nvPicPr>
        <p:blipFill>
          <a:blip r:embed="rId3"/>
          <a:stretch>
            <a:fillRect/>
          </a:stretch>
        </p:blipFill>
        <p:spPr>
          <a:xfrm>
            <a:off x="1795882" y="2057400"/>
            <a:ext cx="274320" cy="274320"/>
          </a:xfrm>
          <a:prstGeom prst="rect">
            <a:avLst/>
          </a:prstGeom>
        </p:spPr>
      </p:pic>
      <p:sp>
        <p:nvSpPr>
          <p:cNvPr id="26" name="Text 21"/>
          <p:cNvSpPr txBox="1"/>
          <p:nvPr/>
        </p:nvSpPr>
        <p:spPr>
          <a:xfrm>
            <a:off x="2125066" y="2048256"/>
            <a:ext cx="896112" cy="310896"/>
          </a:xfrm>
          <a:prstGeom prst="rect">
            <a:avLst/>
          </a:prstGeom>
          <a:noFill/>
          <a:ln/>
        </p:spPr>
        <p:txBody>
          <a:bodyPr wrap="square" lIns="0" tIns="0" rIns="0" bIns="0" rtlCol="0" anchor="ctr"/>
          <a:lstStyle/>
          <a:p>
            <a:pPr indent="0" marL="0">
              <a:buNone/>
            </a:pPr>
            <a:r>
              <a:rPr lang="en-US" sz="850" b="1" dirty="0">
                <a:solidFill>
                  <a:srgbClr val="1F4E79"/>
                </a:solidFill>
                <a:latin typeface="Calibri" pitchFamily="34" charset="0"/>
                <a:ea typeface="Calibri" pitchFamily="34" charset="-122"/>
                <a:cs typeface="Calibri" pitchFamily="34" charset="-120"/>
              </a:rPr>
              <a:t>2. Language + basics by keypad</a:t>
            </a:r>
            <a:endParaRPr lang="en-US" sz="850" dirty="0"/>
          </a:p>
        </p:txBody>
      </p:sp>
      <p:sp>
        <p:nvSpPr>
          <p:cNvPr id="27" name="Text 22"/>
          <p:cNvSpPr txBox="1"/>
          <p:nvPr/>
        </p:nvSpPr>
        <p:spPr>
          <a:xfrm>
            <a:off x="1795882" y="2404872"/>
            <a:ext cx="1207008" cy="786384"/>
          </a:xfrm>
          <a:prstGeom prst="rect">
            <a:avLst/>
          </a:prstGeom>
          <a:noFill/>
          <a:ln/>
        </p:spPr>
        <p:txBody>
          <a:bodyPr wrap="square" lIns="0" tIns="0" rIns="0" bIns="0" rtlCol="0" anchor="t"/>
          <a:lstStyle/>
          <a:p>
            <a:pPr indent="0" marL="0">
              <a:buNone/>
            </a:pPr>
            <a:r>
              <a:rPr lang="en-US" sz="730" dirty="0">
                <a:solidFill>
                  <a:srgbClr val="1F1F1F"/>
                </a:solidFill>
                <a:latin typeface="Calibri" pitchFamily="34" charset="0"/>
                <a:ea typeface="Calibri" pitchFamily="34" charset="-122"/>
                <a:cs typeface="Calibri" pitchFamily="34" charset="-120"/>
              </a:rPr>
              <a:t>Press 1 Hindi, 2 Gujarati … (22 languages possible). Consent, age group, education and travel distance are pressed on keys — a speech mistake can never change eligibility.</a:t>
            </a:r>
            <a:endParaRPr lang="en-US" sz="730" dirty="0"/>
          </a:p>
        </p:txBody>
      </p:sp>
      <p:sp>
        <p:nvSpPr>
          <p:cNvPr id="28" name="Shape 23"/>
          <p:cNvSpPr/>
          <p:nvPr/>
        </p:nvSpPr>
        <p:spPr>
          <a:xfrm>
            <a:off x="3171139" y="1993392"/>
            <a:ext cx="1353312" cy="1243584"/>
          </a:xfrm>
          <a:prstGeom prst="roundRect">
            <a:avLst>
              <a:gd name="adj" fmla="val 4412"/>
            </a:avLst>
          </a:prstGeom>
          <a:solidFill>
            <a:srgbClr val="FFFFFF"/>
          </a:solidFill>
          <a:ln w="9525">
            <a:solidFill>
              <a:srgbClr val="D6DCE5"/>
            </a:solidFill>
            <a:prstDash val="solid"/>
          </a:ln>
        </p:spPr>
      </p:sp>
      <p:pic>
        <p:nvPicPr>
          <p:cNvPr id="29" name="Image 3" descr="preencoded.png">    </p:cNvPr>
          <p:cNvPicPr>
            <a:picLocks noChangeAspect="1"/>
          </p:cNvPicPr>
          <p:nvPr/>
        </p:nvPicPr>
        <p:blipFill>
          <a:blip r:embed="rId4"/>
          <a:stretch>
            <a:fillRect/>
          </a:stretch>
        </p:blipFill>
        <p:spPr>
          <a:xfrm>
            <a:off x="3244291" y="2057400"/>
            <a:ext cx="274320" cy="274320"/>
          </a:xfrm>
          <a:prstGeom prst="rect">
            <a:avLst/>
          </a:prstGeom>
        </p:spPr>
      </p:pic>
      <p:sp>
        <p:nvSpPr>
          <p:cNvPr id="30" name="Text 24"/>
          <p:cNvSpPr txBox="1"/>
          <p:nvPr/>
        </p:nvSpPr>
        <p:spPr>
          <a:xfrm>
            <a:off x="3573475" y="2048256"/>
            <a:ext cx="896112" cy="310896"/>
          </a:xfrm>
          <a:prstGeom prst="rect">
            <a:avLst/>
          </a:prstGeom>
          <a:noFill/>
          <a:ln/>
        </p:spPr>
        <p:txBody>
          <a:bodyPr wrap="square" lIns="0" tIns="0" rIns="0" bIns="0" rtlCol="0" anchor="ctr"/>
          <a:lstStyle/>
          <a:p>
            <a:pPr indent="0" marL="0">
              <a:buNone/>
            </a:pPr>
            <a:r>
              <a:rPr lang="en-US" sz="850" b="1" dirty="0">
                <a:solidFill>
                  <a:srgbClr val="1F4E79"/>
                </a:solidFill>
                <a:latin typeface="Calibri" pitchFamily="34" charset="0"/>
                <a:ea typeface="Calibri" pitchFamily="34" charset="-122"/>
                <a:cs typeface="Calibri" pitchFamily="34" charset="-120"/>
              </a:rPr>
              <a:t>3. Talk about work and skills</a:t>
            </a:r>
            <a:endParaRPr lang="en-US" sz="850" dirty="0"/>
          </a:p>
        </p:txBody>
      </p:sp>
      <p:sp>
        <p:nvSpPr>
          <p:cNvPr id="31" name="Text 25"/>
          <p:cNvSpPr txBox="1"/>
          <p:nvPr/>
        </p:nvSpPr>
        <p:spPr>
          <a:xfrm>
            <a:off x="3244291" y="2404872"/>
            <a:ext cx="1207008" cy="786384"/>
          </a:xfrm>
          <a:prstGeom prst="rect">
            <a:avLst/>
          </a:prstGeom>
          <a:noFill/>
          <a:ln/>
        </p:spPr>
        <p:txBody>
          <a:bodyPr wrap="square" lIns="0" tIns="0" rIns="0" bIns="0" rtlCol="0" anchor="t"/>
          <a:lstStyle/>
          <a:p>
            <a:pPr indent="0" marL="0">
              <a:buNone/>
            </a:pPr>
            <a:r>
              <a:rPr lang="en-US" sz="730" dirty="0">
                <a:solidFill>
                  <a:srgbClr val="1F1F1F"/>
                </a:solidFill>
                <a:latin typeface="Calibri" pitchFamily="34" charset="0"/>
                <a:ea typeface="Calibri" pitchFamily="34" charset="-122"/>
                <a:cs typeface="Calibri" pitchFamily="34" charset="-120"/>
              </a:rPr>
              <a:t>"Aap kya kaam karte ho?" The AI maps the answer to an official NCO-2015 occupation, then asks skill questions that depend on the last answer (bike repair → engine repair? tyre change? oil service?).</a:t>
            </a:r>
            <a:endParaRPr lang="en-US" sz="730" dirty="0"/>
          </a:p>
        </p:txBody>
      </p:sp>
      <p:sp>
        <p:nvSpPr>
          <p:cNvPr id="32" name="Shape 26"/>
          <p:cNvSpPr/>
          <p:nvPr/>
        </p:nvSpPr>
        <p:spPr>
          <a:xfrm>
            <a:off x="4619549" y="1993392"/>
            <a:ext cx="1353312" cy="1243584"/>
          </a:xfrm>
          <a:prstGeom prst="roundRect">
            <a:avLst>
              <a:gd name="adj" fmla="val 4412"/>
            </a:avLst>
          </a:prstGeom>
          <a:solidFill>
            <a:srgbClr val="FFFFFF"/>
          </a:solidFill>
          <a:ln w="9525">
            <a:solidFill>
              <a:srgbClr val="D6DCE5"/>
            </a:solidFill>
            <a:prstDash val="solid"/>
          </a:ln>
        </p:spPr>
      </p:sp>
      <p:pic>
        <p:nvPicPr>
          <p:cNvPr id="33" name="Image 4" descr="preencoded.png">    </p:cNvPr>
          <p:cNvPicPr>
            <a:picLocks noChangeAspect="1"/>
          </p:cNvPicPr>
          <p:nvPr/>
        </p:nvPicPr>
        <p:blipFill>
          <a:blip r:embed="rId5"/>
          <a:stretch>
            <a:fillRect/>
          </a:stretch>
        </p:blipFill>
        <p:spPr>
          <a:xfrm>
            <a:off x="4692701" y="2057400"/>
            <a:ext cx="274320" cy="274320"/>
          </a:xfrm>
          <a:prstGeom prst="rect">
            <a:avLst/>
          </a:prstGeom>
        </p:spPr>
      </p:pic>
      <p:sp>
        <p:nvSpPr>
          <p:cNvPr id="34" name="Text 27"/>
          <p:cNvSpPr txBox="1"/>
          <p:nvPr/>
        </p:nvSpPr>
        <p:spPr>
          <a:xfrm>
            <a:off x="5021885" y="2048256"/>
            <a:ext cx="896112" cy="310896"/>
          </a:xfrm>
          <a:prstGeom prst="rect">
            <a:avLst/>
          </a:prstGeom>
          <a:noFill/>
          <a:ln/>
        </p:spPr>
        <p:txBody>
          <a:bodyPr wrap="square" lIns="0" tIns="0" rIns="0" bIns="0" rtlCol="0" anchor="ctr"/>
          <a:lstStyle/>
          <a:p>
            <a:pPr indent="0" marL="0">
              <a:buNone/>
            </a:pPr>
            <a:r>
              <a:rPr lang="en-US" sz="850" b="1" dirty="0">
                <a:solidFill>
                  <a:srgbClr val="1F4E79"/>
                </a:solidFill>
                <a:latin typeface="Calibri" pitchFamily="34" charset="0"/>
                <a:ea typeface="Calibri" pitchFamily="34" charset="-122"/>
                <a:cs typeface="Calibri" pitchFamily="34" charset="-120"/>
              </a:rPr>
              <a:t>4. Read back → saved as a table</a:t>
            </a:r>
            <a:endParaRPr lang="en-US" sz="850" dirty="0"/>
          </a:p>
        </p:txBody>
      </p:sp>
      <p:sp>
        <p:nvSpPr>
          <p:cNvPr id="35" name="Text 28"/>
          <p:cNvSpPr txBox="1"/>
          <p:nvPr/>
        </p:nvSpPr>
        <p:spPr>
          <a:xfrm>
            <a:off x="4692701" y="2404872"/>
            <a:ext cx="1207008" cy="786384"/>
          </a:xfrm>
          <a:prstGeom prst="rect">
            <a:avLst/>
          </a:prstGeom>
          <a:noFill/>
          <a:ln/>
        </p:spPr>
        <p:txBody>
          <a:bodyPr wrap="square" lIns="0" tIns="0" rIns="0" bIns="0" rtlCol="0" anchor="t"/>
          <a:lstStyle/>
          <a:p>
            <a:pPr indent="0" marL="0">
              <a:buNone/>
            </a:pPr>
            <a:r>
              <a:rPr lang="en-US" sz="730" dirty="0">
                <a:solidFill>
                  <a:srgbClr val="1F1F1F"/>
                </a:solidFill>
                <a:latin typeface="Calibri" pitchFamily="34" charset="0"/>
                <a:ea typeface="Calibri" pitchFamily="34" charset="-122"/>
                <a:cs typeface="Calibri" pitchFamily="34" charset="-120"/>
              </a:rPr>
              <a:t>Everything is read back; press 1 to confirm, 2 to correct. The confirmed profile is stored as one clean row: name, age, education, occupation, skills, distance, job-or-business.</a:t>
            </a:r>
            <a:endParaRPr lang="en-US" sz="730" dirty="0"/>
          </a:p>
        </p:txBody>
      </p:sp>
      <p:sp>
        <p:nvSpPr>
          <p:cNvPr id="36" name="Shape 29"/>
          <p:cNvSpPr/>
          <p:nvPr/>
        </p:nvSpPr>
        <p:spPr>
          <a:xfrm>
            <a:off x="6067958" y="1993392"/>
            <a:ext cx="1353312" cy="1243584"/>
          </a:xfrm>
          <a:prstGeom prst="roundRect">
            <a:avLst>
              <a:gd name="adj" fmla="val 4412"/>
            </a:avLst>
          </a:prstGeom>
          <a:solidFill>
            <a:srgbClr val="FFFFFF"/>
          </a:solidFill>
          <a:ln w="9525">
            <a:solidFill>
              <a:srgbClr val="D6DCE5"/>
            </a:solidFill>
            <a:prstDash val="solid"/>
          </a:ln>
        </p:spPr>
      </p:sp>
      <p:pic>
        <p:nvPicPr>
          <p:cNvPr id="37" name="Image 5" descr="preencoded.png">    </p:cNvPr>
          <p:cNvPicPr>
            <a:picLocks noChangeAspect="1"/>
          </p:cNvPicPr>
          <p:nvPr/>
        </p:nvPicPr>
        <p:blipFill>
          <a:blip r:embed="rId6"/>
          <a:stretch>
            <a:fillRect/>
          </a:stretch>
        </p:blipFill>
        <p:spPr>
          <a:xfrm>
            <a:off x="6141110" y="2057400"/>
            <a:ext cx="274320" cy="274320"/>
          </a:xfrm>
          <a:prstGeom prst="rect">
            <a:avLst/>
          </a:prstGeom>
        </p:spPr>
      </p:pic>
      <p:sp>
        <p:nvSpPr>
          <p:cNvPr id="38" name="Text 30"/>
          <p:cNvSpPr txBox="1"/>
          <p:nvPr/>
        </p:nvSpPr>
        <p:spPr>
          <a:xfrm>
            <a:off x="6470294" y="2048256"/>
            <a:ext cx="896112" cy="310896"/>
          </a:xfrm>
          <a:prstGeom prst="rect">
            <a:avLst/>
          </a:prstGeom>
          <a:noFill/>
          <a:ln/>
        </p:spPr>
        <p:txBody>
          <a:bodyPr wrap="square" lIns="0" tIns="0" rIns="0" bIns="0" rtlCol="0" anchor="ctr"/>
          <a:lstStyle/>
          <a:p>
            <a:pPr indent="0" marL="0">
              <a:buNone/>
            </a:pPr>
            <a:r>
              <a:rPr lang="en-US" sz="850" b="1" dirty="0">
                <a:solidFill>
                  <a:srgbClr val="1F4E79"/>
                </a:solidFill>
                <a:latin typeface="Calibri" pitchFamily="34" charset="0"/>
                <a:ea typeface="Calibri" pitchFamily="34" charset="-122"/>
                <a:cs typeface="Calibri" pitchFamily="34" charset="-120"/>
              </a:rPr>
              <a:t>5. Best 1–4 options, checked, explained</a:t>
            </a:r>
            <a:endParaRPr lang="en-US" sz="850" dirty="0"/>
          </a:p>
        </p:txBody>
      </p:sp>
      <p:sp>
        <p:nvSpPr>
          <p:cNvPr id="39" name="Text 31"/>
          <p:cNvSpPr txBox="1"/>
          <p:nvPr/>
        </p:nvSpPr>
        <p:spPr>
          <a:xfrm>
            <a:off x="6141110" y="2404872"/>
            <a:ext cx="1207008" cy="786384"/>
          </a:xfrm>
          <a:prstGeom prst="rect">
            <a:avLst/>
          </a:prstGeom>
          <a:noFill/>
          <a:ln/>
        </p:spPr>
        <p:txBody>
          <a:bodyPr wrap="square" lIns="0" tIns="0" rIns="0" bIns="0" rtlCol="0" anchor="t"/>
          <a:lstStyle/>
          <a:p>
            <a:pPr indent="0" marL="0">
              <a:buNone/>
            </a:pPr>
            <a:r>
              <a:rPr lang="en-US" sz="730" dirty="0">
                <a:solidFill>
                  <a:srgbClr val="1F1F1F"/>
                </a:solidFill>
                <a:latin typeface="Calibri" pitchFamily="34" charset="0"/>
                <a:ea typeface="Calibri" pitchFamily="34" charset="-122"/>
                <a:cs typeface="Calibri" pitchFamily="34" charset="-120"/>
              </a:rPr>
              <a:t>Profile is matched to government rules, NQR courses, training centres and local jobs. Every fact is verified by the SATYA validator before it is spoken. He can ask anything about any option.</a:t>
            </a:r>
            <a:endParaRPr lang="en-US" sz="730" dirty="0"/>
          </a:p>
        </p:txBody>
      </p:sp>
      <p:sp>
        <p:nvSpPr>
          <p:cNvPr id="40" name="Shape 32"/>
          <p:cNvSpPr/>
          <p:nvPr/>
        </p:nvSpPr>
        <p:spPr>
          <a:xfrm>
            <a:off x="7516368" y="1993392"/>
            <a:ext cx="1353312" cy="1243584"/>
          </a:xfrm>
          <a:prstGeom prst="roundRect">
            <a:avLst>
              <a:gd name="adj" fmla="val 4412"/>
            </a:avLst>
          </a:prstGeom>
          <a:solidFill>
            <a:srgbClr val="FFFFFF"/>
          </a:solidFill>
          <a:ln w="9525">
            <a:solidFill>
              <a:srgbClr val="D6DCE5"/>
            </a:solidFill>
            <a:prstDash val="solid"/>
          </a:ln>
        </p:spPr>
      </p:sp>
      <p:pic>
        <p:nvPicPr>
          <p:cNvPr id="41" name="Image 6" descr="preencoded.png">    </p:cNvPr>
          <p:cNvPicPr>
            <a:picLocks noChangeAspect="1"/>
          </p:cNvPicPr>
          <p:nvPr/>
        </p:nvPicPr>
        <p:blipFill>
          <a:blip r:embed="rId7"/>
          <a:stretch>
            <a:fillRect/>
          </a:stretch>
        </p:blipFill>
        <p:spPr>
          <a:xfrm>
            <a:off x="7589520" y="2057400"/>
            <a:ext cx="274320" cy="274320"/>
          </a:xfrm>
          <a:prstGeom prst="rect">
            <a:avLst/>
          </a:prstGeom>
        </p:spPr>
      </p:pic>
      <p:sp>
        <p:nvSpPr>
          <p:cNvPr id="42" name="Text 33"/>
          <p:cNvSpPr txBox="1"/>
          <p:nvPr/>
        </p:nvSpPr>
        <p:spPr>
          <a:xfrm>
            <a:off x="7918704" y="2048256"/>
            <a:ext cx="896112" cy="310896"/>
          </a:xfrm>
          <a:prstGeom prst="rect">
            <a:avLst/>
          </a:prstGeom>
          <a:noFill/>
          <a:ln/>
        </p:spPr>
        <p:txBody>
          <a:bodyPr wrap="square" lIns="0" tIns="0" rIns="0" bIns="0" rtlCol="0" anchor="ctr"/>
          <a:lstStyle/>
          <a:p>
            <a:pPr indent="0" marL="0">
              <a:buNone/>
            </a:pPr>
            <a:r>
              <a:rPr lang="en-US" sz="850" b="1" dirty="0">
                <a:solidFill>
                  <a:srgbClr val="1F4E79"/>
                </a:solidFill>
                <a:latin typeface="Calibri" pitchFamily="34" charset="0"/>
                <a:ea typeface="Calibri" pitchFamily="34" charset="-122"/>
                <a:cs typeface="Calibri" pitchFamily="34" charset="-120"/>
              </a:rPr>
              <a:t>6. Choose → CSC → officer → follow-up</a:t>
            </a:r>
            <a:endParaRPr lang="en-US" sz="850" dirty="0"/>
          </a:p>
        </p:txBody>
      </p:sp>
      <p:sp>
        <p:nvSpPr>
          <p:cNvPr id="43" name="Text 34"/>
          <p:cNvSpPr txBox="1"/>
          <p:nvPr/>
        </p:nvSpPr>
        <p:spPr>
          <a:xfrm>
            <a:off x="7589520" y="2404872"/>
            <a:ext cx="1207008" cy="786384"/>
          </a:xfrm>
          <a:prstGeom prst="rect">
            <a:avLst/>
          </a:prstGeom>
          <a:noFill/>
          <a:ln/>
        </p:spPr>
        <p:txBody>
          <a:bodyPr wrap="square" lIns="0" tIns="0" rIns="0" bIns="0" rtlCol="0" anchor="t"/>
          <a:lstStyle/>
          <a:p>
            <a:pPr indent="0" marL="0">
              <a:buNone/>
            </a:pPr>
            <a:r>
              <a:rPr lang="en-US" sz="730" dirty="0">
                <a:solidFill>
                  <a:srgbClr val="1F1F1F"/>
                </a:solidFill>
                <a:latin typeface="Calibri" pitchFamily="34" charset="0"/>
                <a:ea typeface="Calibri" pitchFamily="34" charset="-122"/>
                <a:cs typeface="Calibri" pitchFamily="34" charset="-120"/>
              </a:rPr>
              <a:t>Press 1–4 to choose. SMS with Case ID + nearest CSC. Documents and Aadhaar e-KYC at the CSC; the officer approves in the AJAY app. Automatic calls at 1, 3 and 6 months check he is earning.</a:t>
            </a:r>
            <a:endParaRPr lang="en-US" sz="730" dirty="0"/>
          </a:p>
        </p:txBody>
      </p:sp>
      <p:sp>
        <p:nvSpPr>
          <p:cNvPr id="44" name="Text 35"/>
          <p:cNvSpPr txBox="1"/>
          <p:nvPr/>
        </p:nvSpPr>
        <p:spPr>
          <a:xfrm>
            <a:off x="274320" y="3328416"/>
            <a:ext cx="3291840" cy="182880"/>
          </a:xfrm>
          <a:prstGeom prst="rect">
            <a:avLst/>
          </a:prstGeom>
          <a:noFill/>
          <a:ln/>
        </p:spPr>
        <p:txBody>
          <a:bodyPr wrap="square" lIns="0" tIns="0" rIns="0" bIns="0" rtlCol="0" anchor="t"/>
          <a:lstStyle/>
          <a:p>
            <a:pPr indent="0" marL="0">
              <a:buNone/>
            </a:pPr>
            <a:r>
              <a:rPr lang="en-US" sz="850" b="1" spc="100" kern="0" dirty="0">
                <a:solidFill>
                  <a:srgbClr val="1F4E79"/>
                </a:solidFill>
                <a:latin typeface="Calibri" pitchFamily="34" charset="0"/>
                <a:ea typeface="Calibri" pitchFamily="34" charset="-122"/>
                <a:cs typeface="Calibri" pitchFamily="34" charset="-120"/>
              </a:rPr>
              <a:t>THE 5 GIA ISSUES IN THE BRIEF → OUR ANSWER</a:t>
            </a:r>
            <a:endParaRPr lang="en-US" sz="850" dirty="0"/>
          </a:p>
        </p:txBody>
      </p:sp>
      <p:sp>
        <p:nvSpPr>
          <p:cNvPr id="45" name="Shape 36"/>
          <p:cNvSpPr/>
          <p:nvPr/>
        </p:nvSpPr>
        <p:spPr>
          <a:xfrm>
            <a:off x="274320" y="3529584"/>
            <a:ext cx="3291840" cy="1298448"/>
          </a:xfrm>
          <a:prstGeom prst="roundRect">
            <a:avLst>
              <a:gd name="adj" fmla="val 4225"/>
            </a:avLst>
          </a:prstGeom>
          <a:solidFill>
            <a:srgbClr val="E8F5EC"/>
          </a:solidFill>
          <a:ln w="9525">
            <a:solidFill>
              <a:srgbClr val="E8F5EC"/>
            </a:solidFill>
            <a:prstDash val="solid"/>
          </a:ln>
        </p:spPr>
      </p:sp>
      <p:sp>
        <p:nvSpPr>
          <p:cNvPr id="46" name="Text 37"/>
          <p:cNvSpPr txBox="1"/>
          <p:nvPr/>
        </p:nvSpPr>
        <p:spPr>
          <a:xfrm>
            <a:off x="365760" y="3566160"/>
            <a:ext cx="3127248" cy="256032"/>
          </a:xfrm>
          <a:prstGeom prst="rect">
            <a:avLst/>
          </a:prstGeom>
          <a:noFill/>
          <a:ln/>
        </p:spPr>
        <p:txBody>
          <a:bodyPr wrap="square" lIns="0" tIns="0" rIns="0" bIns="0" rtlCol="0" anchor="ctr"/>
          <a:lstStyle/>
          <a:p>
            <a:pPr indent="0" marL="0">
              <a:buNone/>
            </a:pPr>
            <a:r>
              <a:rPr lang="en-US" sz="730" b="1" dirty="0">
                <a:solidFill>
                  <a:srgbClr val="1F4E79"/>
                </a:solidFill>
                <a:latin typeface="Calibri" pitchFamily="34" charset="0"/>
                <a:ea typeface="Calibri" pitchFamily="34" charset="-122"/>
                <a:cs typeface="Calibri" pitchFamily="34" charset="-120"/>
              </a:rPr>
              <a:t>No planning roadmap → </a:t>
            </a:r>
            <a:r>
              <a:rPr lang="en-US" sz="730" dirty="0">
                <a:solidFill>
                  <a:srgbClr val="1F1F1F"/>
                </a:solidFill>
                <a:latin typeface="Calibri" pitchFamily="34" charset="0"/>
                <a:ea typeface="Calibri" pitchFamily="34" charset="-122"/>
                <a:cs typeface="Calibri" pitchFamily="34" charset="-120"/>
              </a:rPr>
              <a:t>demand map by block + draft projects for the Annual Action Plan</a:t>
            </a:r>
            <a:endParaRPr lang="en-US" sz="730" dirty="0"/>
          </a:p>
        </p:txBody>
      </p:sp>
      <p:sp>
        <p:nvSpPr>
          <p:cNvPr id="47" name="Text 38"/>
          <p:cNvSpPr txBox="1"/>
          <p:nvPr/>
        </p:nvSpPr>
        <p:spPr>
          <a:xfrm>
            <a:off x="365760" y="3822192"/>
            <a:ext cx="3127248" cy="256032"/>
          </a:xfrm>
          <a:prstGeom prst="rect">
            <a:avLst/>
          </a:prstGeom>
          <a:noFill/>
          <a:ln/>
        </p:spPr>
        <p:txBody>
          <a:bodyPr wrap="square" lIns="0" tIns="0" rIns="0" bIns="0" rtlCol="0" anchor="ctr"/>
          <a:lstStyle/>
          <a:p>
            <a:pPr indent="0" marL="0">
              <a:buNone/>
            </a:pPr>
            <a:r>
              <a:rPr lang="en-US" sz="730" b="1" dirty="0">
                <a:solidFill>
                  <a:srgbClr val="1F4E79"/>
                </a:solidFill>
                <a:latin typeface="Calibri" pitchFamily="34" charset="0"/>
                <a:ea typeface="Calibri" pitchFamily="34" charset="-122"/>
                <a:cs typeface="Calibri" pitchFamily="34" charset="-120"/>
              </a:rPr>
              <a:t>Identifying participants → </a:t>
            </a:r>
            <a:r>
              <a:rPr lang="en-US" sz="730" dirty="0">
                <a:solidFill>
                  <a:srgbClr val="1F1F1F"/>
                </a:solidFill>
                <a:latin typeface="Calibri" pitchFamily="34" charset="0"/>
                <a:ea typeface="Calibri" pitchFamily="34" charset="-122"/>
                <a:cs typeface="Calibri" pitchFamily="34" charset="-120"/>
              </a:rPr>
              <a:t>one verified profile per person + recorded interest assessment for the selection committee</a:t>
            </a:r>
            <a:endParaRPr lang="en-US" sz="730" dirty="0"/>
          </a:p>
        </p:txBody>
      </p:sp>
      <p:sp>
        <p:nvSpPr>
          <p:cNvPr id="48" name="Text 39"/>
          <p:cNvSpPr txBox="1"/>
          <p:nvPr/>
        </p:nvSpPr>
        <p:spPr>
          <a:xfrm>
            <a:off x="365760" y="4078224"/>
            <a:ext cx="3127248" cy="256032"/>
          </a:xfrm>
          <a:prstGeom prst="rect">
            <a:avLst/>
          </a:prstGeom>
          <a:noFill/>
          <a:ln/>
        </p:spPr>
        <p:txBody>
          <a:bodyPr wrap="square" lIns="0" tIns="0" rIns="0" bIns="0" rtlCol="0" anchor="ctr"/>
          <a:lstStyle/>
          <a:p>
            <a:pPr indent="0" marL="0">
              <a:buNone/>
            </a:pPr>
            <a:r>
              <a:rPr lang="en-US" sz="730" b="1" dirty="0">
                <a:solidFill>
                  <a:srgbClr val="1F4E79"/>
                </a:solidFill>
                <a:latin typeface="Calibri" pitchFamily="34" charset="0"/>
                <a:ea typeface="Calibri" pitchFamily="34" charset="-122"/>
                <a:cs typeface="Calibri" pitchFamily="34" charset="-120"/>
              </a:rPr>
              <a:t>Placement after training → </a:t>
            </a:r>
            <a:r>
              <a:rPr lang="en-US" sz="730" dirty="0">
                <a:solidFill>
                  <a:srgbClr val="1F1F1F"/>
                </a:solidFill>
                <a:latin typeface="Calibri" pitchFamily="34" charset="0"/>
                <a:ea typeface="Calibri" pitchFamily="34" charset="-122"/>
                <a:cs typeface="Calibri" pitchFamily="34" charset="-120"/>
              </a:rPr>
              <a:t>honest option details before joining + 1/3/6-month calls + outcome proof</a:t>
            </a:r>
            <a:endParaRPr lang="en-US" sz="730" dirty="0"/>
          </a:p>
        </p:txBody>
      </p:sp>
      <p:sp>
        <p:nvSpPr>
          <p:cNvPr id="49" name="Text 40"/>
          <p:cNvSpPr txBox="1"/>
          <p:nvPr/>
        </p:nvSpPr>
        <p:spPr>
          <a:xfrm>
            <a:off x="365760" y="4334256"/>
            <a:ext cx="3127248" cy="256032"/>
          </a:xfrm>
          <a:prstGeom prst="rect">
            <a:avLst/>
          </a:prstGeom>
          <a:noFill/>
          <a:ln/>
        </p:spPr>
        <p:txBody>
          <a:bodyPr wrap="square" lIns="0" tIns="0" rIns="0" bIns="0" rtlCol="0" anchor="ctr"/>
          <a:lstStyle/>
          <a:p>
            <a:pPr indent="0" marL="0">
              <a:buNone/>
            </a:pPr>
            <a:r>
              <a:rPr lang="en-US" sz="730" b="1" dirty="0">
                <a:solidFill>
                  <a:srgbClr val="1F4E79"/>
                </a:solidFill>
                <a:latin typeface="Calibri" pitchFamily="34" charset="0"/>
                <a:ea typeface="Calibri" pitchFamily="34" charset="-122"/>
                <a:cs typeface="Calibri" pitchFamily="34" charset="-120"/>
              </a:rPr>
              <a:t>Coordination gaps → </a:t>
            </a:r>
            <a:r>
              <a:rPr lang="en-US" sz="730" dirty="0">
                <a:solidFill>
                  <a:srgbClr val="1F1F1F"/>
                </a:solidFill>
                <a:latin typeface="Calibri" pitchFamily="34" charset="0"/>
                <a:ea typeface="Calibri" pitchFamily="34" charset="-122"/>
                <a:cs typeface="Calibri" pitchFamily="34" charset="-120"/>
              </a:rPr>
              <a:t>one shared case record seen by CSC, officer, training partner and bank</a:t>
            </a:r>
            <a:endParaRPr lang="en-US" sz="730" dirty="0"/>
          </a:p>
        </p:txBody>
      </p:sp>
      <p:sp>
        <p:nvSpPr>
          <p:cNvPr id="50" name="Text 41"/>
          <p:cNvSpPr txBox="1"/>
          <p:nvPr/>
        </p:nvSpPr>
        <p:spPr>
          <a:xfrm>
            <a:off x="365760" y="4590288"/>
            <a:ext cx="3127248" cy="256032"/>
          </a:xfrm>
          <a:prstGeom prst="rect">
            <a:avLst/>
          </a:prstGeom>
          <a:noFill/>
          <a:ln/>
        </p:spPr>
        <p:txBody>
          <a:bodyPr wrap="square" lIns="0" tIns="0" rIns="0" bIns="0" rtlCol="0" anchor="ctr"/>
          <a:lstStyle/>
          <a:p>
            <a:pPr indent="0" marL="0">
              <a:buNone/>
            </a:pPr>
            <a:r>
              <a:rPr lang="en-US" sz="730" b="1" dirty="0">
                <a:solidFill>
                  <a:srgbClr val="1F4E79"/>
                </a:solidFill>
                <a:latin typeface="Calibri" pitchFamily="34" charset="0"/>
                <a:ea typeface="Calibri" pitchFamily="34" charset="-122"/>
                <a:cs typeface="Calibri" pitchFamily="34" charset="-120"/>
              </a:rPr>
              <a:t>Too few ground staff → </a:t>
            </a:r>
            <a:r>
              <a:rPr lang="en-US" sz="730" dirty="0">
                <a:solidFill>
                  <a:srgbClr val="1F1F1F"/>
                </a:solidFill>
                <a:latin typeface="Calibri" pitchFamily="34" charset="0"/>
                <a:ea typeface="Calibri" pitchFamily="34" charset="-122"/>
                <a:cs typeface="Calibri" pitchFamily="34" charset="-120"/>
              </a:rPr>
              <a:t>AI does the routine calls; humans only approve and handle hard cases</a:t>
            </a:r>
            <a:endParaRPr lang="en-US" sz="730" dirty="0"/>
          </a:p>
        </p:txBody>
      </p:sp>
      <p:sp>
        <p:nvSpPr>
          <p:cNvPr id="51" name="Text 42"/>
          <p:cNvSpPr txBox="1"/>
          <p:nvPr/>
        </p:nvSpPr>
        <p:spPr>
          <a:xfrm>
            <a:off x="3703320" y="3328416"/>
            <a:ext cx="5166360" cy="182880"/>
          </a:xfrm>
          <a:prstGeom prst="rect">
            <a:avLst/>
          </a:prstGeom>
          <a:noFill/>
          <a:ln/>
        </p:spPr>
        <p:txBody>
          <a:bodyPr wrap="square" lIns="0" tIns="0" rIns="0" bIns="0" rtlCol="0" anchor="t"/>
          <a:lstStyle/>
          <a:p>
            <a:pPr indent="0" marL="0">
              <a:buNone/>
            </a:pPr>
            <a:r>
              <a:rPr lang="en-US" sz="850" b="1" spc="100" kern="0" dirty="0">
                <a:solidFill>
                  <a:srgbClr val="1F4E79"/>
                </a:solidFill>
                <a:latin typeface="Calibri" pitchFamily="34" charset="0"/>
                <a:ea typeface="Calibri" pitchFamily="34" charset="-122"/>
                <a:cs typeface="Calibri" pitchFamily="34" charset="-120"/>
              </a:rPr>
              <a:t>INNOVATION &amp; UNIQUENESS — 8 THINGS SKILLCALL DOES DIFFERENTLY</a:t>
            </a:r>
            <a:endParaRPr lang="en-US" sz="850" dirty="0"/>
          </a:p>
        </p:txBody>
      </p:sp>
      <p:sp>
        <p:nvSpPr>
          <p:cNvPr id="52" name="Shape 43"/>
          <p:cNvSpPr/>
          <p:nvPr/>
        </p:nvSpPr>
        <p:spPr>
          <a:xfrm>
            <a:off x="3703320" y="3529584"/>
            <a:ext cx="2542032" cy="310896"/>
          </a:xfrm>
          <a:prstGeom prst="roundRect">
            <a:avLst>
              <a:gd name="adj" fmla="val 17647"/>
            </a:avLst>
          </a:prstGeom>
          <a:solidFill>
            <a:srgbClr val="F5F6F8"/>
          </a:solidFill>
          <a:ln w="9525">
            <a:solidFill>
              <a:srgbClr val="F5F6F8"/>
            </a:solidFill>
            <a:prstDash val="solid"/>
          </a:ln>
        </p:spPr>
      </p:sp>
      <p:pic>
        <p:nvPicPr>
          <p:cNvPr id="53" name="Image 7" descr="preencoded.png">    </p:cNvPr>
          <p:cNvPicPr>
            <a:picLocks noChangeAspect="1"/>
          </p:cNvPicPr>
          <p:nvPr/>
        </p:nvPicPr>
        <p:blipFill>
          <a:blip r:embed="rId8"/>
          <a:stretch>
            <a:fillRect/>
          </a:stretch>
        </p:blipFill>
        <p:spPr>
          <a:xfrm>
            <a:off x="3758184" y="3593592"/>
            <a:ext cx="182880" cy="182880"/>
          </a:xfrm>
          <a:prstGeom prst="rect">
            <a:avLst/>
          </a:prstGeom>
        </p:spPr>
      </p:pic>
      <p:sp>
        <p:nvSpPr>
          <p:cNvPr id="54" name="Text 44"/>
          <p:cNvSpPr txBox="1"/>
          <p:nvPr/>
        </p:nvSpPr>
        <p:spPr>
          <a:xfrm>
            <a:off x="3995928" y="3547872"/>
            <a:ext cx="2194560" cy="274320"/>
          </a:xfrm>
          <a:prstGeom prst="rect">
            <a:avLst/>
          </a:prstGeom>
          <a:noFill/>
          <a:ln/>
        </p:spPr>
        <p:txBody>
          <a:bodyPr wrap="square" lIns="0" tIns="0" rIns="0" bIns="0" rtlCol="0" anchor="ctr"/>
          <a:lstStyle/>
          <a:p>
            <a:pPr indent="0" marL="0">
              <a:buNone/>
            </a:pPr>
            <a:r>
              <a:rPr lang="en-US" sz="710" b="1" dirty="0">
                <a:solidFill>
                  <a:srgbClr val="1F4E79"/>
                </a:solidFill>
                <a:latin typeface="Calibri" pitchFamily="34" charset="0"/>
                <a:ea typeface="Calibri" pitchFamily="34" charset="-122"/>
                <a:cs typeface="Calibri" pitchFamily="34" charset="-120"/>
              </a:rPr>
              <a:t>Everything on a call — </a:t>
            </a:r>
            <a:r>
              <a:rPr lang="en-US" sz="710" dirty="0">
                <a:solidFill>
                  <a:srgbClr val="1F1F1F"/>
                </a:solidFill>
                <a:latin typeface="Calibri" pitchFamily="34" charset="0"/>
                <a:ea typeface="Calibri" pitchFamily="34" charset="-122"/>
                <a:cs typeface="Calibri" pitchFamily="34" charset="-120"/>
              </a:rPr>
              <a:t>any keypad phone, no internet, no reading — in his own regional language</a:t>
            </a:r>
            <a:endParaRPr lang="en-US" sz="710" dirty="0"/>
          </a:p>
        </p:txBody>
      </p:sp>
      <p:sp>
        <p:nvSpPr>
          <p:cNvPr id="55" name="Shape 45"/>
          <p:cNvSpPr/>
          <p:nvPr/>
        </p:nvSpPr>
        <p:spPr>
          <a:xfrm>
            <a:off x="6327648" y="3529584"/>
            <a:ext cx="2542032" cy="310896"/>
          </a:xfrm>
          <a:prstGeom prst="roundRect">
            <a:avLst>
              <a:gd name="adj" fmla="val 17647"/>
            </a:avLst>
          </a:prstGeom>
          <a:solidFill>
            <a:srgbClr val="F5F6F8"/>
          </a:solidFill>
          <a:ln w="9525">
            <a:solidFill>
              <a:srgbClr val="F5F6F8"/>
            </a:solidFill>
            <a:prstDash val="solid"/>
          </a:ln>
        </p:spPr>
      </p:sp>
      <p:pic>
        <p:nvPicPr>
          <p:cNvPr id="56" name="Image 8" descr="preencoded.png">    </p:cNvPr>
          <p:cNvPicPr>
            <a:picLocks noChangeAspect="1"/>
          </p:cNvPicPr>
          <p:nvPr/>
        </p:nvPicPr>
        <p:blipFill>
          <a:blip r:embed="rId9"/>
          <a:stretch>
            <a:fillRect/>
          </a:stretch>
        </p:blipFill>
        <p:spPr>
          <a:xfrm>
            <a:off x="6382512" y="3593592"/>
            <a:ext cx="182880" cy="182880"/>
          </a:xfrm>
          <a:prstGeom prst="rect">
            <a:avLst/>
          </a:prstGeom>
        </p:spPr>
      </p:pic>
      <p:sp>
        <p:nvSpPr>
          <p:cNvPr id="57" name="Text 46"/>
          <p:cNvSpPr txBox="1"/>
          <p:nvPr/>
        </p:nvSpPr>
        <p:spPr>
          <a:xfrm>
            <a:off x="6620256" y="3547872"/>
            <a:ext cx="2194560" cy="274320"/>
          </a:xfrm>
          <a:prstGeom prst="rect">
            <a:avLst/>
          </a:prstGeom>
          <a:noFill/>
          <a:ln/>
        </p:spPr>
        <p:txBody>
          <a:bodyPr wrap="square" lIns="0" tIns="0" rIns="0" bIns="0" rtlCol="0" anchor="ctr"/>
          <a:lstStyle/>
          <a:p>
            <a:pPr indent="0" marL="0">
              <a:buNone/>
            </a:pPr>
            <a:r>
              <a:rPr lang="en-US" sz="710" b="1" dirty="0">
                <a:solidFill>
                  <a:srgbClr val="1F4E79"/>
                </a:solidFill>
                <a:latin typeface="Calibri" pitchFamily="34" charset="0"/>
                <a:ea typeface="Calibri" pitchFamily="34" charset="-122"/>
                <a:cs typeface="Calibri" pitchFamily="34" charset="-120"/>
              </a:rPr>
              <a:t>Ask anything — </a:t>
            </a:r>
            <a:r>
              <a:rPr lang="en-US" sz="710" dirty="0">
                <a:solidFill>
                  <a:srgbClr val="1F1F1F"/>
                </a:solidFill>
                <a:latin typeface="Calibri" pitchFamily="34" charset="0"/>
                <a:ea typeface="Calibri" pitchFamily="34" charset="-122"/>
                <a:cs typeface="Calibri" pitchFamily="34" charset="-120"/>
              </a:rPr>
              <a:t>every doubt about a course, scheme, loan or job is answered by the LLM in his language</a:t>
            </a:r>
            <a:endParaRPr lang="en-US" sz="710" dirty="0"/>
          </a:p>
        </p:txBody>
      </p:sp>
      <p:sp>
        <p:nvSpPr>
          <p:cNvPr id="58" name="Shape 47"/>
          <p:cNvSpPr/>
          <p:nvPr/>
        </p:nvSpPr>
        <p:spPr>
          <a:xfrm>
            <a:off x="3703320" y="3858768"/>
            <a:ext cx="2542032" cy="310896"/>
          </a:xfrm>
          <a:prstGeom prst="roundRect">
            <a:avLst>
              <a:gd name="adj" fmla="val 17647"/>
            </a:avLst>
          </a:prstGeom>
          <a:solidFill>
            <a:srgbClr val="F5F6F8"/>
          </a:solidFill>
          <a:ln w="9525">
            <a:solidFill>
              <a:srgbClr val="F5F6F8"/>
            </a:solidFill>
            <a:prstDash val="solid"/>
          </a:ln>
        </p:spPr>
      </p:sp>
      <p:pic>
        <p:nvPicPr>
          <p:cNvPr id="59" name="Image 9" descr="preencoded.png">    </p:cNvPr>
          <p:cNvPicPr>
            <a:picLocks noChangeAspect="1"/>
          </p:cNvPicPr>
          <p:nvPr/>
        </p:nvPicPr>
        <p:blipFill>
          <a:blip r:embed="rId10"/>
          <a:stretch>
            <a:fillRect/>
          </a:stretch>
        </p:blipFill>
        <p:spPr>
          <a:xfrm>
            <a:off x="3758184" y="3922776"/>
            <a:ext cx="182880" cy="182880"/>
          </a:xfrm>
          <a:prstGeom prst="rect">
            <a:avLst/>
          </a:prstGeom>
        </p:spPr>
      </p:pic>
      <p:sp>
        <p:nvSpPr>
          <p:cNvPr id="60" name="Text 48"/>
          <p:cNvSpPr txBox="1"/>
          <p:nvPr/>
        </p:nvSpPr>
        <p:spPr>
          <a:xfrm>
            <a:off x="3995928" y="3877056"/>
            <a:ext cx="2194560" cy="274320"/>
          </a:xfrm>
          <a:prstGeom prst="rect">
            <a:avLst/>
          </a:prstGeom>
          <a:noFill/>
          <a:ln/>
        </p:spPr>
        <p:txBody>
          <a:bodyPr wrap="square" lIns="0" tIns="0" rIns="0" bIns="0" rtlCol="0" anchor="ctr"/>
          <a:lstStyle/>
          <a:p>
            <a:pPr indent="0" marL="0">
              <a:buNone/>
            </a:pPr>
            <a:r>
              <a:rPr lang="en-US" sz="710" b="1" dirty="0">
                <a:solidFill>
                  <a:srgbClr val="1F4E79"/>
                </a:solidFill>
                <a:latin typeface="Calibri" pitchFamily="34" charset="0"/>
                <a:ea typeface="Calibri" pitchFamily="34" charset="-122"/>
                <a:cs typeface="Calibri" pitchFamily="34" charset="-120"/>
              </a:rPr>
              <a:t>Tables, not forms — </a:t>
            </a:r>
            <a:r>
              <a:rPr lang="en-US" sz="710" dirty="0">
                <a:solidFill>
                  <a:srgbClr val="1F1F1F"/>
                </a:solidFill>
                <a:latin typeface="Calibri" pitchFamily="34" charset="0"/>
                <a:ea typeface="Calibri" pitchFamily="34" charset="-122"/>
                <a:cs typeface="Calibri" pitchFamily="34" charset="-120"/>
              </a:rPr>
              <a:t>AI stores every answer in structured tables; officers only review ready, arranged data + documents</a:t>
            </a:r>
            <a:endParaRPr lang="en-US" sz="710" dirty="0"/>
          </a:p>
        </p:txBody>
      </p:sp>
      <p:sp>
        <p:nvSpPr>
          <p:cNvPr id="61" name="Shape 49"/>
          <p:cNvSpPr/>
          <p:nvPr/>
        </p:nvSpPr>
        <p:spPr>
          <a:xfrm>
            <a:off x="6327648" y="3858768"/>
            <a:ext cx="2542032" cy="310896"/>
          </a:xfrm>
          <a:prstGeom prst="roundRect">
            <a:avLst>
              <a:gd name="adj" fmla="val 17647"/>
            </a:avLst>
          </a:prstGeom>
          <a:solidFill>
            <a:srgbClr val="F5F6F8"/>
          </a:solidFill>
          <a:ln w="9525">
            <a:solidFill>
              <a:srgbClr val="F5F6F8"/>
            </a:solidFill>
            <a:prstDash val="solid"/>
          </a:ln>
        </p:spPr>
      </p:sp>
      <p:pic>
        <p:nvPicPr>
          <p:cNvPr id="62" name="Image 10" descr="preencoded.png">    </p:cNvPr>
          <p:cNvPicPr>
            <a:picLocks noChangeAspect="1"/>
          </p:cNvPicPr>
          <p:nvPr/>
        </p:nvPicPr>
        <p:blipFill>
          <a:blip r:embed="rId11"/>
          <a:stretch>
            <a:fillRect/>
          </a:stretch>
        </p:blipFill>
        <p:spPr>
          <a:xfrm>
            <a:off x="6382512" y="3922776"/>
            <a:ext cx="182880" cy="182880"/>
          </a:xfrm>
          <a:prstGeom prst="rect">
            <a:avLst/>
          </a:prstGeom>
        </p:spPr>
      </p:pic>
      <p:sp>
        <p:nvSpPr>
          <p:cNvPr id="63" name="Text 50"/>
          <p:cNvSpPr txBox="1"/>
          <p:nvPr/>
        </p:nvSpPr>
        <p:spPr>
          <a:xfrm>
            <a:off x="6620256" y="3877056"/>
            <a:ext cx="2194560" cy="274320"/>
          </a:xfrm>
          <a:prstGeom prst="rect">
            <a:avLst/>
          </a:prstGeom>
          <a:noFill/>
          <a:ln/>
        </p:spPr>
        <p:txBody>
          <a:bodyPr wrap="square" lIns="0" tIns="0" rIns="0" bIns="0" rtlCol="0" anchor="ctr"/>
          <a:lstStyle/>
          <a:p>
            <a:pPr indent="0" marL="0">
              <a:buNone/>
            </a:pPr>
            <a:r>
              <a:rPr lang="en-US" sz="710" b="1" dirty="0">
                <a:solidFill>
                  <a:srgbClr val="1F4E79"/>
                </a:solidFill>
                <a:latin typeface="Calibri" pitchFamily="34" charset="0"/>
                <a:ea typeface="Calibri" pitchFamily="34" charset="-122"/>
                <a:cs typeface="Calibri" pitchFamily="34" charset="-120"/>
              </a:rPr>
              <a:t>Adaptive questions — </a:t>
            </a:r>
            <a:r>
              <a:rPr lang="en-US" sz="710" dirty="0">
                <a:solidFill>
                  <a:srgbClr val="1F1F1F"/>
                </a:solidFill>
                <a:latin typeface="Calibri" pitchFamily="34" charset="0"/>
                <a:ea typeface="Calibri" pitchFamily="34" charset="-122"/>
                <a:cs typeface="Calibri" pitchFamily="34" charset="-120"/>
              </a:rPr>
              <a:t>next question depends on past answers (bike mechanic → engine repair, tyre change, oil service)</a:t>
            </a:r>
            <a:endParaRPr lang="en-US" sz="710" dirty="0"/>
          </a:p>
        </p:txBody>
      </p:sp>
      <p:sp>
        <p:nvSpPr>
          <p:cNvPr id="64" name="Shape 51"/>
          <p:cNvSpPr/>
          <p:nvPr/>
        </p:nvSpPr>
        <p:spPr>
          <a:xfrm>
            <a:off x="3703320" y="4187952"/>
            <a:ext cx="2542032" cy="310896"/>
          </a:xfrm>
          <a:prstGeom prst="roundRect">
            <a:avLst>
              <a:gd name="adj" fmla="val 17647"/>
            </a:avLst>
          </a:prstGeom>
          <a:solidFill>
            <a:srgbClr val="F5F6F8"/>
          </a:solidFill>
          <a:ln w="9525">
            <a:solidFill>
              <a:srgbClr val="F5F6F8"/>
            </a:solidFill>
            <a:prstDash val="solid"/>
          </a:ln>
        </p:spPr>
      </p:sp>
      <p:pic>
        <p:nvPicPr>
          <p:cNvPr id="65" name="Image 11" descr="preencoded.png">    </p:cNvPr>
          <p:cNvPicPr>
            <a:picLocks noChangeAspect="1"/>
          </p:cNvPicPr>
          <p:nvPr/>
        </p:nvPicPr>
        <p:blipFill>
          <a:blip r:embed="rId12"/>
          <a:stretch>
            <a:fillRect/>
          </a:stretch>
        </p:blipFill>
        <p:spPr>
          <a:xfrm>
            <a:off x="3758184" y="4251960"/>
            <a:ext cx="182880" cy="182880"/>
          </a:xfrm>
          <a:prstGeom prst="rect">
            <a:avLst/>
          </a:prstGeom>
        </p:spPr>
      </p:pic>
      <p:sp>
        <p:nvSpPr>
          <p:cNvPr id="66" name="Text 52"/>
          <p:cNvSpPr txBox="1"/>
          <p:nvPr/>
        </p:nvSpPr>
        <p:spPr>
          <a:xfrm>
            <a:off x="3995928" y="4206240"/>
            <a:ext cx="2194560" cy="274320"/>
          </a:xfrm>
          <a:prstGeom prst="rect">
            <a:avLst/>
          </a:prstGeom>
          <a:noFill/>
          <a:ln/>
        </p:spPr>
        <p:txBody>
          <a:bodyPr wrap="square" lIns="0" tIns="0" rIns="0" bIns="0" rtlCol="0" anchor="ctr"/>
          <a:lstStyle/>
          <a:p>
            <a:pPr indent="0" marL="0">
              <a:buNone/>
            </a:pPr>
            <a:r>
              <a:rPr lang="en-US" sz="710" b="1" dirty="0">
                <a:solidFill>
                  <a:srgbClr val="1F4E79"/>
                </a:solidFill>
                <a:latin typeface="Calibri" pitchFamily="34" charset="0"/>
                <a:ea typeface="Calibri" pitchFamily="34" charset="-122"/>
                <a:cs typeface="Calibri" pitchFamily="34" charset="-120"/>
              </a:rPr>
              <a:t>Closed knowledge only — </a:t>
            </a:r>
            <a:r>
              <a:rPr lang="en-US" sz="710" dirty="0">
                <a:solidFill>
                  <a:srgbClr val="1F1F1F"/>
                </a:solidFill>
                <a:latin typeface="Calibri" pitchFamily="34" charset="0"/>
                <a:ea typeface="Calibri" pitchFamily="34" charset="-122"/>
                <a:cs typeface="Calibri" pitchFamily="34" charset="-120"/>
              </a:rPr>
              <a:t>answers come only from the government data we feed it (rules, NQR, NCO, centres) — no internet search</a:t>
            </a:r>
            <a:endParaRPr lang="en-US" sz="710" dirty="0"/>
          </a:p>
        </p:txBody>
      </p:sp>
      <p:sp>
        <p:nvSpPr>
          <p:cNvPr id="67" name="Shape 53"/>
          <p:cNvSpPr/>
          <p:nvPr/>
        </p:nvSpPr>
        <p:spPr>
          <a:xfrm>
            <a:off x="6327648" y="4187952"/>
            <a:ext cx="2542032" cy="310896"/>
          </a:xfrm>
          <a:prstGeom prst="roundRect">
            <a:avLst>
              <a:gd name="adj" fmla="val 17647"/>
            </a:avLst>
          </a:prstGeom>
          <a:solidFill>
            <a:srgbClr val="F5F6F8"/>
          </a:solidFill>
          <a:ln w="9525">
            <a:solidFill>
              <a:srgbClr val="F5F6F8"/>
            </a:solidFill>
            <a:prstDash val="solid"/>
          </a:ln>
        </p:spPr>
      </p:sp>
      <p:pic>
        <p:nvPicPr>
          <p:cNvPr id="68" name="Image 12" descr="preencoded.png">    </p:cNvPr>
          <p:cNvPicPr>
            <a:picLocks noChangeAspect="1"/>
          </p:cNvPicPr>
          <p:nvPr/>
        </p:nvPicPr>
        <p:blipFill>
          <a:blip r:embed="rId13"/>
          <a:stretch>
            <a:fillRect/>
          </a:stretch>
        </p:blipFill>
        <p:spPr>
          <a:xfrm>
            <a:off x="6382512" y="4251960"/>
            <a:ext cx="182880" cy="182880"/>
          </a:xfrm>
          <a:prstGeom prst="rect">
            <a:avLst/>
          </a:prstGeom>
        </p:spPr>
      </p:pic>
      <p:sp>
        <p:nvSpPr>
          <p:cNvPr id="69" name="Text 54"/>
          <p:cNvSpPr txBox="1"/>
          <p:nvPr/>
        </p:nvSpPr>
        <p:spPr>
          <a:xfrm>
            <a:off x="6620256" y="4206240"/>
            <a:ext cx="2194560" cy="274320"/>
          </a:xfrm>
          <a:prstGeom prst="rect">
            <a:avLst/>
          </a:prstGeom>
          <a:noFill/>
          <a:ln/>
        </p:spPr>
        <p:txBody>
          <a:bodyPr wrap="square" lIns="0" tIns="0" rIns="0" bIns="0" rtlCol="0" anchor="ctr"/>
          <a:lstStyle/>
          <a:p>
            <a:pPr indent="0" marL="0">
              <a:buNone/>
            </a:pPr>
            <a:r>
              <a:rPr lang="en-US" sz="710" b="1" dirty="0">
                <a:solidFill>
                  <a:srgbClr val="1F4E79"/>
                </a:solidFill>
                <a:latin typeface="Calibri" pitchFamily="34" charset="0"/>
                <a:ea typeface="Calibri" pitchFamily="34" charset="-122"/>
                <a:cs typeface="Calibri" pitchFamily="34" charset="-120"/>
              </a:rPr>
              <a:t>Validator AI (SATYA) — </a:t>
            </a:r>
            <a:r>
              <a:rPr lang="en-US" sz="710" dirty="0">
                <a:solidFill>
                  <a:srgbClr val="1F1F1F"/>
                </a:solidFill>
                <a:latin typeface="Calibri" pitchFamily="34" charset="0"/>
                <a:ea typeface="Calibri" pitchFamily="34" charset="-122"/>
                <a:cs typeface="Calibri" pitchFamily="34" charset="-120"/>
              </a:rPr>
              <a:t>every important fact is checked a second time against the database before it is spoken</a:t>
            </a:r>
            <a:endParaRPr lang="en-US" sz="710" dirty="0"/>
          </a:p>
        </p:txBody>
      </p:sp>
      <p:sp>
        <p:nvSpPr>
          <p:cNvPr id="70" name="Shape 55"/>
          <p:cNvSpPr/>
          <p:nvPr/>
        </p:nvSpPr>
        <p:spPr>
          <a:xfrm>
            <a:off x="3703320" y="4517136"/>
            <a:ext cx="2542032" cy="310896"/>
          </a:xfrm>
          <a:prstGeom prst="roundRect">
            <a:avLst>
              <a:gd name="adj" fmla="val 17647"/>
            </a:avLst>
          </a:prstGeom>
          <a:solidFill>
            <a:srgbClr val="F5F6F8"/>
          </a:solidFill>
          <a:ln w="9525">
            <a:solidFill>
              <a:srgbClr val="F5F6F8"/>
            </a:solidFill>
            <a:prstDash val="solid"/>
          </a:ln>
        </p:spPr>
      </p:sp>
      <p:pic>
        <p:nvPicPr>
          <p:cNvPr id="71" name="Image 13" descr="preencoded.png">    </p:cNvPr>
          <p:cNvPicPr>
            <a:picLocks noChangeAspect="1"/>
          </p:cNvPicPr>
          <p:nvPr/>
        </p:nvPicPr>
        <p:blipFill>
          <a:blip r:embed="rId14"/>
          <a:stretch>
            <a:fillRect/>
          </a:stretch>
        </p:blipFill>
        <p:spPr>
          <a:xfrm>
            <a:off x="3758184" y="4581144"/>
            <a:ext cx="182880" cy="182880"/>
          </a:xfrm>
          <a:prstGeom prst="rect">
            <a:avLst/>
          </a:prstGeom>
        </p:spPr>
      </p:pic>
      <p:sp>
        <p:nvSpPr>
          <p:cNvPr id="72" name="Text 56"/>
          <p:cNvSpPr txBox="1"/>
          <p:nvPr/>
        </p:nvSpPr>
        <p:spPr>
          <a:xfrm>
            <a:off x="3995928" y="4535424"/>
            <a:ext cx="2194560" cy="274320"/>
          </a:xfrm>
          <a:prstGeom prst="rect">
            <a:avLst/>
          </a:prstGeom>
          <a:noFill/>
          <a:ln/>
        </p:spPr>
        <p:txBody>
          <a:bodyPr wrap="square" lIns="0" tIns="0" rIns="0" bIns="0" rtlCol="0" anchor="ctr"/>
          <a:lstStyle/>
          <a:p>
            <a:pPr indent="0" marL="0">
              <a:buNone/>
            </a:pPr>
            <a:r>
              <a:rPr lang="en-US" sz="710" b="1" dirty="0">
                <a:solidFill>
                  <a:srgbClr val="1F4E79"/>
                </a:solidFill>
                <a:latin typeface="Calibri" pitchFamily="34" charset="0"/>
                <a:ea typeface="Calibri" pitchFamily="34" charset="-122"/>
                <a:cs typeface="Calibri" pitchFamily="34" charset="-120"/>
              </a:rPr>
              <a:t>Smart model switching — </a:t>
            </a:r>
            <a:r>
              <a:rPr lang="en-US" sz="710" dirty="0">
                <a:solidFill>
                  <a:srgbClr val="1F1F1F"/>
                </a:solidFill>
                <a:latin typeface="Calibri" pitchFamily="34" charset="0"/>
                <a:ea typeface="Calibri" pitchFamily="34" charset="-122"/>
                <a:cs typeface="Calibri" pitchFamily="34" charset="-120"/>
              </a:rPr>
              <a:t>cheapest model by default; regional-language or 105B model only when needed; still unhappy → human calls</a:t>
            </a:r>
            <a:endParaRPr lang="en-US" sz="710" dirty="0"/>
          </a:p>
        </p:txBody>
      </p:sp>
      <p:sp>
        <p:nvSpPr>
          <p:cNvPr id="73" name="Shape 57"/>
          <p:cNvSpPr/>
          <p:nvPr/>
        </p:nvSpPr>
        <p:spPr>
          <a:xfrm>
            <a:off x="6327648" y="4517136"/>
            <a:ext cx="2542032" cy="310896"/>
          </a:xfrm>
          <a:prstGeom prst="roundRect">
            <a:avLst>
              <a:gd name="adj" fmla="val 17647"/>
            </a:avLst>
          </a:prstGeom>
          <a:solidFill>
            <a:srgbClr val="F5F6F8"/>
          </a:solidFill>
          <a:ln w="9525">
            <a:solidFill>
              <a:srgbClr val="F5F6F8"/>
            </a:solidFill>
            <a:prstDash val="solid"/>
          </a:ln>
        </p:spPr>
      </p:sp>
      <p:pic>
        <p:nvPicPr>
          <p:cNvPr id="74" name="Image 14" descr="preencoded.png">    </p:cNvPr>
          <p:cNvPicPr>
            <a:picLocks noChangeAspect="1"/>
          </p:cNvPicPr>
          <p:nvPr/>
        </p:nvPicPr>
        <p:blipFill>
          <a:blip r:embed="rId15"/>
          <a:stretch>
            <a:fillRect/>
          </a:stretch>
        </p:blipFill>
        <p:spPr>
          <a:xfrm>
            <a:off x="6382512" y="4581144"/>
            <a:ext cx="182880" cy="182880"/>
          </a:xfrm>
          <a:prstGeom prst="rect">
            <a:avLst/>
          </a:prstGeom>
        </p:spPr>
      </p:pic>
      <p:sp>
        <p:nvSpPr>
          <p:cNvPr id="75" name="Text 58"/>
          <p:cNvSpPr txBox="1"/>
          <p:nvPr/>
        </p:nvSpPr>
        <p:spPr>
          <a:xfrm>
            <a:off x="6620256" y="4535424"/>
            <a:ext cx="2194560" cy="274320"/>
          </a:xfrm>
          <a:prstGeom prst="rect">
            <a:avLst/>
          </a:prstGeom>
          <a:noFill/>
          <a:ln/>
        </p:spPr>
        <p:txBody>
          <a:bodyPr wrap="square" lIns="0" tIns="0" rIns="0" bIns="0" rtlCol="0" anchor="ctr"/>
          <a:lstStyle/>
          <a:p>
            <a:pPr indent="0" marL="0">
              <a:buNone/>
            </a:pPr>
            <a:r>
              <a:rPr lang="en-US" sz="710" b="1" dirty="0">
                <a:solidFill>
                  <a:srgbClr val="1F4E79"/>
                </a:solidFill>
                <a:latin typeface="Calibri" pitchFamily="34" charset="0"/>
                <a:ea typeface="Calibri" pitchFamily="34" charset="-122"/>
                <a:cs typeface="Calibri" pitchFamily="34" charset="-120"/>
              </a:rPr>
              <a:t>Web portal too — </a:t>
            </a:r>
            <a:r>
              <a:rPr lang="en-US" sz="710" dirty="0">
                <a:solidFill>
                  <a:srgbClr val="1F1F1F"/>
                </a:solidFill>
                <a:latin typeface="Calibri" pitchFamily="34" charset="0"/>
                <a:ea typeface="Calibri" pitchFamily="34" charset="-122"/>
                <a:cs typeface="Calibri" pitchFamily="34" charset="-120"/>
              </a:rPr>
              <a:t>login with mobile + OTP; the person, the CSC or the officer can view / edit the profile any time, or do it all on the web</a:t>
            </a:r>
            <a:endParaRPr lang="en-US" sz="71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56032" y="164592"/>
            <a:ext cx="960120" cy="548640"/>
          </a:xfrm>
          <a:prstGeom prst="ellipse">
            <a:avLst/>
          </a:prstGeom>
          <a:solidFill>
            <a:srgbClr val="FFFFFF"/>
          </a:solidFill>
          <a:ln w="15875">
            <a:solidFill>
              <a:srgbClr val="1F4E79"/>
            </a:solidFill>
            <a:prstDash val="solid"/>
          </a:ln>
        </p:spPr>
      </p:sp>
      <p:sp>
        <p:nvSpPr>
          <p:cNvPr id="3" name="Text 1"/>
          <p:cNvSpPr txBox="1"/>
          <p:nvPr/>
        </p:nvSpPr>
        <p:spPr>
          <a:xfrm>
            <a:off x="256032" y="164592"/>
            <a:ext cx="960120" cy="548640"/>
          </a:xfrm>
          <a:prstGeom prst="rect">
            <a:avLst/>
          </a:prstGeom>
          <a:noFill/>
          <a:ln/>
        </p:spPr>
        <p:txBody>
          <a:bodyPr wrap="square" lIns="0" tIns="0" rIns="0" bIns="0" rtlCol="0" anchor="ctr"/>
          <a:lstStyle/>
          <a:p>
            <a:pPr algn="ctr" indent="0" marL="0">
              <a:buNone/>
            </a:pPr>
            <a:r>
              <a:rPr lang="en-US" sz="1100" b="1" dirty="0">
                <a:solidFill>
                  <a:srgbClr val="1F4E79"/>
                </a:solidFill>
                <a:latin typeface="Calibri" pitchFamily="34" charset="0"/>
                <a:ea typeface="Calibri" pitchFamily="34" charset="-122"/>
                <a:cs typeface="Calibri" pitchFamily="34" charset="-120"/>
              </a:rPr>
              <a:t>Cognify</a:t>
            </a:r>
            <a:endParaRPr lang="en-US" sz="1100" dirty="0"/>
          </a:p>
        </p:txBody>
      </p:sp>
      <p:sp>
        <p:nvSpPr>
          <p:cNvPr id="4" name="Text 2"/>
          <p:cNvSpPr txBox="1"/>
          <p:nvPr/>
        </p:nvSpPr>
        <p:spPr>
          <a:xfrm>
            <a:off x="1371600" y="182880"/>
            <a:ext cx="5852160" cy="457200"/>
          </a:xfrm>
          <a:prstGeom prst="rect">
            <a:avLst/>
          </a:prstGeom>
          <a:noFill/>
          <a:ln/>
        </p:spPr>
        <p:txBody>
          <a:bodyPr wrap="square" lIns="0" tIns="0" rIns="0" bIns="0" rtlCol="0" anchor="ctr"/>
          <a:lstStyle/>
          <a:p>
            <a:pPr algn="ctr" indent="0" marL="0">
              <a:buNone/>
            </a:pPr>
            <a:r>
              <a:rPr lang="en-US" sz="2400" b="1" dirty="0">
                <a:solidFill>
                  <a:srgbClr val="1F1F1F"/>
                </a:solidFill>
                <a:latin typeface="Times New Roman" pitchFamily="34" charset="0"/>
                <a:ea typeface="Times New Roman" pitchFamily="34" charset="-122"/>
                <a:cs typeface="Times New Roman" pitchFamily="34" charset="-120"/>
              </a:rPr>
              <a:t>TECHNICAL APPROACH</a:t>
            </a:r>
            <a:endParaRPr lang="en-US" sz="2400" dirty="0"/>
          </a:p>
        </p:txBody>
      </p:sp>
      <p:pic>
        <p:nvPicPr>
          <p:cNvPr id="5" name="Image 0" descr="preencoded.png">    </p:cNvPr>
          <p:cNvPicPr>
            <a:picLocks noChangeAspect="1"/>
          </p:cNvPicPr>
          <p:nvPr/>
        </p:nvPicPr>
        <p:blipFill>
          <a:blip r:embed="rId1"/>
          <a:stretch>
            <a:fillRect/>
          </a:stretch>
        </p:blipFill>
        <p:spPr>
          <a:xfrm>
            <a:off x="7223760" y="73152"/>
            <a:ext cx="1691640" cy="795528"/>
          </a:xfrm>
          <a:prstGeom prst="rect">
            <a:avLst/>
          </a:prstGeom>
        </p:spPr>
      </p:pic>
      <p:sp>
        <p:nvSpPr>
          <p:cNvPr id="6" name="Text 3"/>
          <p:cNvSpPr txBox="1"/>
          <p:nvPr/>
        </p:nvSpPr>
        <p:spPr>
          <a:xfrm>
            <a:off x="8503920" y="4864608"/>
            <a:ext cx="365760" cy="182880"/>
          </a:xfrm>
          <a:prstGeom prst="rect">
            <a:avLst/>
          </a:prstGeom>
          <a:noFill/>
          <a:ln/>
        </p:spPr>
        <p:txBody>
          <a:bodyPr wrap="square" lIns="0" tIns="0" rIns="0" bIns="0" rtlCol="0" anchor="t"/>
          <a:lstStyle/>
          <a:p>
            <a:pPr algn="r" indent="0" marL="0">
              <a:buNone/>
            </a:pPr>
            <a:r>
              <a:rPr lang="en-US" sz="1000" b="1" dirty="0">
                <a:solidFill>
                  <a:srgbClr val="1F4E79"/>
                </a:solidFill>
                <a:latin typeface="Calibri" pitchFamily="34" charset="0"/>
                <a:ea typeface="Calibri" pitchFamily="34" charset="-122"/>
                <a:cs typeface="Calibri" pitchFamily="34" charset="-120"/>
              </a:rPr>
              <a:t>3</a:t>
            </a:r>
            <a:endParaRPr lang="en-US" sz="1000" dirty="0"/>
          </a:p>
        </p:txBody>
      </p:sp>
      <p:sp>
        <p:nvSpPr>
          <p:cNvPr id="7" name="Text 4"/>
          <p:cNvSpPr txBox="1"/>
          <p:nvPr/>
        </p:nvSpPr>
        <p:spPr>
          <a:xfrm>
            <a:off x="274320" y="896112"/>
            <a:ext cx="3017520" cy="182880"/>
          </a:xfrm>
          <a:prstGeom prst="rect">
            <a:avLst/>
          </a:prstGeom>
          <a:noFill/>
          <a:ln/>
        </p:spPr>
        <p:txBody>
          <a:bodyPr wrap="square" lIns="0" tIns="0" rIns="0" bIns="0" rtlCol="0" anchor="t"/>
          <a:lstStyle/>
          <a:p>
            <a:pPr indent="0" marL="0">
              <a:buNone/>
            </a:pPr>
            <a:r>
              <a:rPr lang="en-US" sz="850" b="1" spc="100" kern="0" dirty="0">
                <a:solidFill>
                  <a:srgbClr val="1F4E79"/>
                </a:solidFill>
                <a:latin typeface="Calibri" pitchFamily="34" charset="0"/>
                <a:ea typeface="Calibri" pitchFamily="34" charset="-122"/>
                <a:cs typeface="Calibri" pitchFamily="34" charset="-120"/>
              </a:rPr>
              <a:t>TECHNOLOGIES USED (LOGO + NAME)</a:t>
            </a:r>
            <a:endParaRPr lang="en-US" sz="850" dirty="0"/>
          </a:p>
        </p:txBody>
      </p:sp>
      <p:sp>
        <p:nvSpPr>
          <p:cNvPr id="8" name="Text 5"/>
          <p:cNvSpPr txBox="1"/>
          <p:nvPr/>
        </p:nvSpPr>
        <p:spPr>
          <a:xfrm>
            <a:off x="274320" y="1097280"/>
            <a:ext cx="3017520" cy="146304"/>
          </a:xfrm>
          <a:prstGeom prst="rect">
            <a:avLst/>
          </a:prstGeom>
          <a:noFill/>
          <a:ln/>
        </p:spPr>
        <p:txBody>
          <a:bodyPr wrap="square" lIns="0" tIns="0" rIns="0" bIns="0" rtlCol="0" anchor="t"/>
          <a:lstStyle/>
          <a:p>
            <a:pPr indent="0" marL="0">
              <a:buNone/>
            </a:pPr>
            <a:r>
              <a:rPr lang="en-US" sz="750" b="1" dirty="0">
                <a:solidFill>
                  <a:srgbClr val="5F6B7A"/>
                </a:solidFill>
                <a:latin typeface="Calibri" pitchFamily="34" charset="0"/>
                <a:ea typeface="Calibri" pitchFamily="34" charset="-122"/>
                <a:cs typeface="Calibri" pitchFamily="34" charset="-120"/>
              </a:rPr>
              <a:t>Calls &amp; voice engine</a:t>
            </a:r>
            <a:endParaRPr lang="en-US" sz="750" dirty="0"/>
          </a:p>
        </p:txBody>
      </p:sp>
      <p:sp>
        <p:nvSpPr>
          <p:cNvPr id="9" name="Shape 6"/>
          <p:cNvSpPr/>
          <p:nvPr/>
        </p:nvSpPr>
        <p:spPr>
          <a:xfrm>
            <a:off x="274320" y="1252728"/>
            <a:ext cx="969264" cy="201168"/>
          </a:xfrm>
          <a:prstGeom prst="roundRect">
            <a:avLst>
              <a:gd name="adj" fmla="val 18182"/>
            </a:avLst>
          </a:prstGeom>
          <a:solidFill>
            <a:srgbClr val="FFFFFF"/>
          </a:solidFill>
          <a:ln w="9525">
            <a:solidFill>
              <a:srgbClr val="D6DCE5"/>
            </a:solidFill>
            <a:prstDash val="solid"/>
          </a:ln>
        </p:spPr>
      </p:sp>
      <p:sp>
        <p:nvSpPr>
          <p:cNvPr id="10" name="Shape 7"/>
          <p:cNvSpPr/>
          <p:nvPr/>
        </p:nvSpPr>
        <p:spPr>
          <a:xfrm>
            <a:off x="320040" y="1284732"/>
            <a:ext cx="137160" cy="137160"/>
          </a:xfrm>
          <a:prstGeom prst="roundRect">
            <a:avLst>
              <a:gd name="adj" fmla="val 13333"/>
            </a:avLst>
          </a:prstGeom>
          <a:solidFill>
            <a:srgbClr val="1F4E79"/>
          </a:solidFill>
          <a:ln w="12700">
            <a:solidFill>
              <a:srgbClr val="1F4E79"/>
            </a:solidFill>
            <a:prstDash val="solid"/>
          </a:ln>
        </p:spPr>
      </p:sp>
      <p:sp>
        <p:nvSpPr>
          <p:cNvPr id="11" name="Text 8"/>
          <p:cNvSpPr txBox="1"/>
          <p:nvPr/>
        </p:nvSpPr>
        <p:spPr>
          <a:xfrm>
            <a:off x="320040" y="1284732"/>
            <a:ext cx="137160" cy="137160"/>
          </a:xfrm>
          <a:prstGeom prst="rect">
            <a:avLst/>
          </a:prstGeom>
          <a:noFill/>
          <a:ln/>
        </p:spPr>
        <p:txBody>
          <a:bodyPr wrap="square" lIns="0" tIns="0" rIns="0" bIns="0" rtlCol="0" anchor="ctr"/>
          <a:lstStyle/>
          <a:p>
            <a:pPr algn="ctr" indent="0" marL="0">
              <a:buNone/>
            </a:pPr>
            <a:r>
              <a:rPr lang="en-US" sz="550" b="1" dirty="0">
                <a:solidFill>
                  <a:srgbClr val="FFFFFF"/>
                </a:solidFill>
                <a:latin typeface="Calibri" pitchFamily="34" charset="0"/>
                <a:ea typeface="Calibri" pitchFamily="34" charset="-122"/>
                <a:cs typeface="Calibri" pitchFamily="34" charset="-120"/>
              </a:rPr>
              <a:t>Ex</a:t>
            </a:r>
            <a:endParaRPr lang="en-US" sz="550" dirty="0"/>
          </a:p>
        </p:txBody>
      </p:sp>
      <p:sp>
        <p:nvSpPr>
          <p:cNvPr id="12" name="Text 9"/>
          <p:cNvSpPr txBox="1"/>
          <p:nvPr/>
        </p:nvSpPr>
        <p:spPr>
          <a:xfrm>
            <a:off x="502920" y="1252728"/>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Exotel / Plivo</a:t>
            </a:r>
            <a:endParaRPr lang="en-US" sz="750" dirty="0"/>
          </a:p>
        </p:txBody>
      </p:sp>
      <p:sp>
        <p:nvSpPr>
          <p:cNvPr id="13" name="Shape 10"/>
          <p:cNvSpPr/>
          <p:nvPr/>
        </p:nvSpPr>
        <p:spPr>
          <a:xfrm>
            <a:off x="1298448" y="1252728"/>
            <a:ext cx="969264" cy="201168"/>
          </a:xfrm>
          <a:prstGeom prst="roundRect">
            <a:avLst>
              <a:gd name="adj" fmla="val 18182"/>
            </a:avLst>
          </a:prstGeom>
          <a:solidFill>
            <a:srgbClr val="FFFFFF"/>
          </a:solidFill>
          <a:ln w="9525">
            <a:solidFill>
              <a:srgbClr val="D6DCE5"/>
            </a:solidFill>
            <a:prstDash val="solid"/>
          </a:ln>
        </p:spPr>
      </p:sp>
      <p:pic>
        <p:nvPicPr>
          <p:cNvPr id="14" name="Image 1" descr="preencoded.png">    </p:cNvPr>
          <p:cNvPicPr>
            <a:picLocks noChangeAspect="1"/>
          </p:cNvPicPr>
          <p:nvPr/>
        </p:nvPicPr>
        <p:blipFill>
          <a:blip r:embed="rId2"/>
          <a:stretch>
            <a:fillRect/>
          </a:stretch>
        </p:blipFill>
        <p:spPr>
          <a:xfrm>
            <a:off x="1344168" y="1284732"/>
            <a:ext cx="137160" cy="137160"/>
          </a:xfrm>
          <a:prstGeom prst="rect">
            <a:avLst/>
          </a:prstGeom>
        </p:spPr>
      </p:pic>
      <p:sp>
        <p:nvSpPr>
          <p:cNvPr id="15" name="Text 11"/>
          <p:cNvSpPr txBox="1"/>
          <p:nvPr/>
        </p:nvSpPr>
        <p:spPr>
          <a:xfrm>
            <a:off x="1527048" y="1252728"/>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WhatsApp API</a:t>
            </a:r>
            <a:endParaRPr lang="en-US" sz="750" dirty="0"/>
          </a:p>
        </p:txBody>
      </p:sp>
      <p:sp>
        <p:nvSpPr>
          <p:cNvPr id="16" name="Shape 12"/>
          <p:cNvSpPr/>
          <p:nvPr/>
        </p:nvSpPr>
        <p:spPr>
          <a:xfrm>
            <a:off x="2322576" y="1252728"/>
            <a:ext cx="969264" cy="201168"/>
          </a:xfrm>
          <a:prstGeom prst="roundRect">
            <a:avLst>
              <a:gd name="adj" fmla="val 18182"/>
            </a:avLst>
          </a:prstGeom>
          <a:solidFill>
            <a:srgbClr val="FFFFFF"/>
          </a:solidFill>
          <a:ln w="9525">
            <a:solidFill>
              <a:srgbClr val="D6DCE5"/>
            </a:solidFill>
            <a:prstDash val="solid"/>
          </a:ln>
        </p:spPr>
      </p:sp>
      <p:sp>
        <p:nvSpPr>
          <p:cNvPr id="17" name="Shape 13"/>
          <p:cNvSpPr/>
          <p:nvPr/>
        </p:nvSpPr>
        <p:spPr>
          <a:xfrm>
            <a:off x="2368296" y="1284732"/>
            <a:ext cx="137160" cy="137160"/>
          </a:xfrm>
          <a:prstGeom prst="roundRect">
            <a:avLst>
              <a:gd name="adj" fmla="val 13333"/>
            </a:avLst>
          </a:prstGeom>
          <a:solidFill>
            <a:srgbClr val="1F4E79"/>
          </a:solidFill>
          <a:ln w="12700">
            <a:solidFill>
              <a:srgbClr val="1F4E79"/>
            </a:solidFill>
            <a:prstDash val="solid"/>
          </a:ln>
        </p:spPr>
      </p:sp>
      <p:sp>
        <p:nvSpPr>
          <p:cNvPr id="18" name="Text 14"/>
          <p:cNvSpPr txBox="1"/>
          <p:nvPr/>
        </p:nvSpPr>
        <p:spPr>
          <a:xfrm>
            <a:off x="2368296" y="1284732"/>
            <a:ext cx="137160" cy="137160"/>
          </a:xfrm>
          <a:prstGeom prst="rect">
            <a:avLst/>
          </a:prstGeom>
          <a:noFill/>
          <a:ln/>
        </p:spPr>
        <p:txBody>
          <a:bodyPr wrap="square" lIns="0" tIns="0" rIns="0" bIns="0" rtlCol="0" anchor="ctr"/>
          <a:lstStyle/>
          <a:p>
            <a:pPr algn="ctr" indent="0" marL="0">
              <a:buNone/>
            </a:pPr>
            <a:r>
              <a:rPr lang="en-US" sz="550" b="1" dirty="0">
                <a:solidFill>
                  <a:srgbClr val="FFFFFF"/>
                </a:solidFill>
                <a:latin typeface="Calibri" pitchFamily="34" charset="0"/>
                <a:ea typeface="Calibri" pitchFamily="34" charset="-122"/>
                <a:cs typeface="Calibri" pitchFamily="34" charset="-120"/>
              </a:rPr>
              <a:t>SMS</a:t>
            </a:r>
            <a:endParaRPr lang="en-US" sz="550" dirty="0"/>
          </a:p>
        </p:txBody>
      </p:sp>
      <p:sp>
        <p:nvSpPr>
          <p:cNvPr id="19" name="Text 15"/>
          <p:cNvSpPr txBox="1"/>
          <p:nvPr/>
        </p:nvSpPr>
        <p:spPr>
          <a:xfrm>
            <a:off x="2551176" y="1252728"/>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SMS (DLT)</a:t>
            </a:r>
            <a:endParaRPr lang="en-US" sz="750" dirty="0"/>
          </a:p>
        </p:txBody>
      </p:sp>
      <p:sp>
        <p:nvSpPr>
          <p:cNvPr id="20" name="Shape 16"/>
          <p:cNvSpPr/>
          <p:nvPr/>
        </p:nvSpPr>
        <p:spPr>
          <a:xfrm>
            <a:off x="274320" y="1490472"/>
            <a:ext cx="969264" cy="201168"/>
          </a:xfrm>
          <a:prstGeom prst="roundRect">
            <a:avLst>
              <a:gd name="adj" fmla="val 18182"/>
            </a:avLst>
          </a:prstGeom>
          <a:solidFill>
            <a:srgbClr val="FFFFFF"/>
          </a:solidFill>
          <a:ln w="9525">
            <a:solidFill>
              <a:srgbClr val="D6DCE5"/>
            </a:solidFill>
            <a:prstDash val="solid"/>
          </a:ln>
        </p:spPr>
      </p:sp>
      <p:sp>
        <p:nvSpPr>
          <p:cNvPr id="21" name="Shape 17"/>
          <p:cNvSpPr/>
          <p:nvPr/>
        </p:nvSpPr>
        <p:spPr>
          <a:xfrm>
            <a:off x="320040" y="1522476"/>
            <a:ext cx="137160" cy="137160"/>
          </a:xfrm>
          <a:prstGeom prst="roundRect">
            <a:avLst>
              <a:gd name="adj" fmla="val 13333"/>
            </a:avLst>
          </a:prstGeom>
          <a:solidFill>
            <a:srgbClr val="1F4E79"/>
          </a:solidFill>
          <a:ln w="12700">
            <a:solidFill>
              <a:srgbClr val="1F4E79"/>
            </a:solidFill>
            <a:prstDash val="solid"/>
          </a:ln>
        </p:spPr>
      </p:sp>
      <p:sp>
        <p:nvSpPr>
          <p:cNvPr id="22" name="Text 18"/>
          <p:cNvSpPr txBox="1"/>
          <p:nvPr/>
        </p:nvSpPr>
        <p:spPr>
          <a:xfrm>
            <a:off x="320040" y="1522476"/>
            <a:ext cx="137160" cy="137160"/>
          </a:xfrm>
          <a:prstGeom prst="rect">
            <a:avLst/>
          </a:prstGeom>
          <a:noFill/>
          <a:ln/>
        </p:spPr>
        <p:txBody>
          <a:bodyPr wrap="square" lIns="0" tIns="0" rIns="0" bIns="0" rtlCol="0" anchor="ctr"/>
          <a:lstStyle/>
          <a:p>
            <a:pPr algn="ctr" indent="0" marL="0">
              <a:buNone/>
            </a:pPr>
            <a:r>
              <a:rPr lang="en-US" sz="550" b="1" dirty="0">
                <a:solidFill>
                  <a:srgbClr val="FFFFFF"/>
                </a:solidFill>
                <a:latin typeface="Calibri" pitchFamily="34" charset="0"/>
                <a:ea typeface="Calibri" pitchFamily="34" charset="-122"/>
                <a:cs typeface="Calibri" pitchFamily="34" charset="-120"/>
              </a:rPr>
              <a:t>Pc</a:t>
            </a:r>
            <a:endParaRPr lang="en-US" sz="550" dirty="0"/>
          </a:p>
        </p:txBody>
      </p:sp>
      <p:sp>
        <p:nvSpPr>
          <p:cNvPr id="23" name="Text 19"/>
          <p:cNvSpPr txBox="1"/>
          <p:nvPr/>
        </p:nvSpPr>
        <p:spPr>
          <a:xfrm>
            <a:off x="502920" y="1490472"/>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Pipecat</a:t>
            </a:r>
            <a:endParaRPr lang="en-US" sz="750" dirty="0"/>
          </a:p>
        </p:txBody>
      </p:sp>
      <p:sp>
        <p:nvSpPr>
          <p:cNvPr id="24" name="Shape 20"/>
          <p:cNvSpPr/>
          <p:nvPr/>
        </p:nvSpPr>
        <p:spPr>
          <a:xfrm>
            <a:off x="1298448" y="1490472"/>
            <a:ext cx="969264" cy="201168"/>
          </a:xfrm>
          <a:prstGeom prst="roundRect">
            <a:avLst>
              <a:gd name="adj" fmla="val 18182"/>
            </a:avLst>
          </a:prstGeom>
          <a:solidFill>
            <a:srgbClr val="FFFFFF"/>
          </a:solidFill>
          <a:ln w="9525">
            <a:solidFill>
              <a:srgbClr val="D6DCE5"/>
            </a:solidFill>
            <a:prstDash val="solid"/>
          </a:ln>
        </p:spPr>
      </p:sp>
      <p:sp>
        <p:nvSpPr>
          <p:cNvPr id="25" name="Shape 21"/>
          <p:cNvSpPr/>
          <p:nvPr/>
        </p:nvSpPr>
        <p:spPr>
          <a:xfrm>
            <a:off x="1344168" y="1522476"/>
            <a:ext cx="137160" cy="137160"/>
          </a:xfrm>
          <a:prstGeom prst="roundRect">
            <a:avLst>
              <a:gd name="adj" fmla="val 13333"/>
            </a:avLst>
          </a:prstGeom>
          <a:solidFill>
            <a:srgbClr val="1F4E79"/>
          </a:solidFill>
          <a:ln w="12700">
            <a:solidFill>
              <a:srgbClr val="1F4E79"/>
            </a:solidFill>
            <a:prstDash val="solid"/>
          </a:ln>
        </p:spPr>
      </p:sp>
      <p:sp>
        <p:nvSpPr>
          <p:cNvPr id="26" name="Text 22"/>
          <p:cNvSpPr txBox="1"/>
          <p:nvPr/>
        </p:nvSpPr>
        <p:spPr>
          <a:xfrm>
            <a:off x="1344168" y="1522476"/>
            <a:ext cx="137160" cy="137160"/>
          </a:xfrm>
          <a:prstGeom prst="rect">
            <a:avLst/>
          </a:prstGeom>
          <a:noFill/>
          <a:ln/>
        </p:spPr>
        <p:txBody>
          <a:bodyPr wrap="square" lIns="0" tIns="0" rIns="0" bIns="0" rtlCol="0" anchor="ctr"/>
          <a:lstStyle/>
          <a:p>
            <a:pPr algn="ctr" indent="0" marL="0">
              <a:buNone/>
            </a:pPr>
            <a:r>
              <a:rPr lang="en-US" sz="550" b="1" dirty="0">
                <a:solidFill>
                  <a:srgbClr val="FFFFFF"/>
                </a:solidFill>
                <a:latin typeface="Calibri" pitchFamily="34" charset="0"/>
                <a:ea typeface="Calibri" pitchFamily="34" charset="-122"/>
                <a:cs typeface="Calibri" pitchFamily="34" charset="-120"/>
              </a:rPr>
              <a:t>VAD</a:t>
            </a:r>
            <a:endParaRPr lang="en-US" sz="550" dirty="0"/>
          </a:p>
        </p:txBody>
      </p:sp>
      <p:sp>
        <p:nvSpPr>
          <p:cNvPr id="27" name="Text 23"/>
          <p:cNvSpPr txBox="1"/>
          <p:nvPr/>
        </p:nvSpPr>
        <p:spPr>
          <a:xfrm>
            <a:off x="1527048" y="1490472"/>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Silero VAD</a:t>
            </a:r>
            <a:endParaRPr lang="en-US" sz="750" dirty="0"/>
          </a:p>
        </p:txBody>
      </p:sp>
      <p:sp>
        <p:nvSpPr>
          <p:cNvPr id="28" name="Shape 24"/>
          <p:cNvSpPr/>
          <p:nvPr/>
        </p:nvSpPr>
        <p:spPr>
          <a:xfrm>
            <a:off x="2322576" y="1490472"/>
            <a:ext cx="969264" cy="201168"/>
          </a:xfrm>
          <a:prstGeom prst="roundRect">
            <a:avLst>
              <a:gd name="adj" fmla="val 18182"/>
            </a:avLst>
          </a:prstGeom>
          <a:solidFill>
            <a:srgbClr val="FFFFFF"/>
          </a:solidFill>
          <a:ln w="9525">
            <a:solidFill>
              <a:srgbClr val="D6DCE5"/>
            </a:solidFill>
            <a:prstDash val="solid"/>
          </a:ln>
        </p:spPr>
      </p:sp>
      <p:sp>
        <p:nvSpPr>
          <p:cNvPr id="29" name="Shape 25"/>
          <p:cNvSpPr/>
          <p:nvPr/>
        </p:nvSpPr>
        <p:spPr>
          <a:xfrm>
            <a:off x="2368296" y="1522476"/>
            <a:ext cx="137160" cy="137160"/>
          </a:xfrm>
          <a:prstGeom prst="roundRect">
            <a:avLst>
              <a:gd name="adj" fmla="val 13333"/>
            </a:avLst>
          </a:prstGeom>
          <a:solidFill>
            <a:srgbClr val="1F4E79"/>
          </a:solidFill>
          <a:ln w="12700">
            <a:solidFill>
              <a:srgbClr val="1F4E79"/>
            </a:solidFill>
            <a:prstDash val="solid"/>
          </a:ln>
        </p:spPr>
      </p:sp>
      <p:sp>
        <p:nvSpPr>
          <p:cNvPr id="30" name="Text 26"/>
          <p:cNvSpPr txBox="1"/>
          <p:nvPr/>
        </p:nvSpPr>
        <p:spPr>
          <a:xfrm>
            <a:off x="2368296" y="1522476"/>
            <a:ext cx="137160" cy="137160"/>
          </a:xfrm>
          <a:prstGeom prst="rect">
            <a:avLst/>
          </a:prstGeom>
          <a:noFill/>
          <a:ln/>
        </p:spPr>
        <p:txBody>
          <a:bodyPr wrap="square" lIns="0" tIns="0" rIns="0" bIns="0" rtlCol="0" anchor="ctr"/>
          <a:lstStyle/>
          <a:p>
            <a:pPr algn="ctr" indent="0" marL="0">
              <a:buNone/>
            </a:pPr>
            <a:r>
              <a:rPr lang="en-US" sz="550" b="1" dirty="0">
                <a:solidFill>
                  <a:srgbClr val="FFFFFF"/>
                </a:solidFill>
                <a:latin typeface="Calibri" pitchFamily="34" charset="0"/>
                <a:ea typeface="Calibri" pitchFamily="34" charset="-122"/>
                <a:cs typeface="Calibri" pitchFamily="34" charset="-120"/>
              </a:rPr>
              <a:t>16</a:t>
            </a:r>
            <a:endParaRPr lang="en-US" sz="550" dirty="0"/>
          </a:p>
        </p:txBody>
      </p:sp>
      <p:sp>
        <p:nvSpPr>
          <p:cNvPr id="31" name="Text 27"/>
          <p:cNvSpPr txBox="1"/>
          <p:nvPr/>
        </p:nvSpPr>
        <p:spPr>
          <a:xfrm>
            <a:off x="2551176" y="1490472"/>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1600 govt no.</a:t>
            </a:r>
            <a:endParaRPr lang="en-US" sz="750" dirty="0"/>
          </a:p>
        </p:txBody>
      </p:sp>
      <p:sp>
        <p:nvSpPr>
          <p:cNvPr id="32" name="Text 28"/>
          <p:cNvSpPr txBox="1"/>
          <p:nvPr/>
        </p:nvSpPr>
        <p:spPr>
          <a:xfrm>
            <a:off x="274320" y="1792224"/>
            <a:ext cx="3017520" cy="146304"/>
          </a:xfrm>
          <a:prstGeom prst="rect">
            <a:avLst/>
          </a:prstGeom>
          <a:noFill/>
          <a:ln/>
        </p:spPr>
        <p:txBody>
          <a:bodyPr wrap="square" lIns="0" tIns="0" rIns="0" bIns="0" rtlCol="0" anchor="t"/>
          <a:lstStyle/>
          <a:p>
            <a:pPr indent="0" marL="0">
              <a:buNone/>
            </a:pPr>
            <a:r>
              <a:rPr lang="en-US" sz="750" b="1" dirty="0">
                <a:solidFill>
                  <a:srgbClr val="5F6B7A"/>
                </a:solidFill>
                <a:latin typeface="Calibri" pitchFamily="34" charset="0"/>
                <a:ea typeface="Calibri" pitchFamily="34" charset="-122"/>
                <a:cs typeface="Calibri" pitchFamily="34" charset="-120"/>
              </a:rPr>
              <a:t>AI models (Indian, open where possible)</a:t>
            </a:r>
            <a:endParaRPr lang="en-US" sz="750" dirty="0"/>
          </a:p>
        </p:txBody>
      </p:sp>
      <p:sp>
        <p:nvSpPr>
          <p:cNvPr id="33" name="Shape 29"/>
          <p:cNvSpPr/>
          <p:nvPr/>
        </p:nvSpPr>
        <p:spPr>
          <a:xfrm>
            <a:off x="274320" y="1947672"/>
            <a:ext cx="969264" cy="201168"/>
          </a:xfrm>
          <a:prstGeom prst="roundRect">
            <a:avLst>
              <a:gd name="adj" fmla="val 18182"/>
            </a:avLst>
          </a:prstGeom>
          <a:solidFill>
            <a:srgbClr val="FFFFFF"/>
          </a:solidFill>
          <a:ln w="9525">
            <a:solidFill>
              <a:srgbClr val="D6DCE5"/>
            </a:solidFill>
            <a:prstDash val="solid"/>
          </a:ln>
        </p:spPr>
      </p:sp>
      <p:pic>
        <p:nvPicPr>
          <p:cNvPr id="34" name="Image 2" descr="preencoded.png">    </p:cNvPr>
          <p:cNvPicPr>
            <a:picLocks noChangeAspect="1"/>
          </p:cNvPicPr>
          <p:nvPr/>
        </p:nvPicPr>
        <p:blipFill>
          <a:blip r:embed="rId3"/>
          <a:stretch>
            <a:fillRect/>
          </a:stretch>
        </p:blipFill>
        <p:spPr>
          <a:xfrm>
            <a:off x="320040" y="1979676"/>
            <a:ext cx="137160" cy="137160"/>
          </a:xfrm>
          <a:prstGeom prst="rect">
            <a:avLst/>
          </a:prstGeom>
        </p:spPr>
      </p:pic>
      <p:sp>
        <p:nvSpPr>
          <p:cNvPr id="35" name="Text 30"/>
          <p:cNvSpPr txBox="1"/>
          <p:nvPr/>
        </p:nvSpPr>
        <p:spPr>
          <a:xfrm>
            <a:off x="502920" y="1947672"/>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Saaras v3 · STT</a:t>
            </a:r>
            <a:endParaRPr lang="en-US" sz="750" dirty="0"/>
          </a:p>
        </p:txBody>
      </p:sp>
      <p:sp>
        <p:nvSpPr>
          <p:cNvPr id="36" name="Shape 31"/>
          <p:cNvSpPr/>
          <p:nvPr/>
        </p:nvSpPr>
        <p:spPr>
          <a:xfrm>
            <a:off x="1298448" y="1947672"/>
            <a:ext cx="969264" cy="201168"/>
          </a:xfrm>
          <a:prstGeom prst="roundRect">
            <a:avLst>
              <a:gd name="adj" fmla="val 18182"/>
            </a:avLst>
          </a:prstGeom>
          <a:solidFill>
            <a:srgbClr val="FFFFFF"/>
          </a:solidFill>
          <a:ln w="9525">
            <a:solidFill>
              <a:srgbClr val="D6DCE5"/>
            </a:solidFill>
            <a:prstDash val="solid"/>
          </a:ln>
        </p:spPr>
      </p:sp>
      <p:pic>
        <p:nvPicPr>
          <p:cNvPr id="37" name="Image 3" descr="preencoded.png">    </p:cNvPr>
          <p:cNvPicPr>
            <a:picLocks noChangeAspect="1"/>
          </p:cNvPicPr>
          <p:nvPr/>
        </p:nvPicPr>
        <p:blipFill>
          <a:blip r:embed="rId4"/>
          <a:stretch>
            <a:fillRect/>
          </a:stretch>
        </p:blipFill>
        <p:spPr>
          <a:xfrm>
            <a:off x="1344168" y="1979676"/>
            <a:ext cx="137160" cy="137160"/>
          </a:xfrm>
          <a:prstGeom prst="rect">
            <a:avLst/>
          </a:prstGeom>
        </p:spPr>
      </p:pic>
      <p:sp>
        <p:nvSpPr>
          <p:cNvPr id="38" name="Text 32"/>
          <p:cNvSpPr txBox="1"/>
          <p:nvPr/>
        </p:nvSpPr>
        <p:spPr>
          <a:xfrm>
            <a:off x="1527048" y="1947672"/>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Bulbul v3 · TTS</a:t>
            </a:r>
            <a:endParaRPr lang="en-US" sz="750" dirty="0"/>
          </a:p>
        </p:txBody>
      </p:sp>
      <p:sp>
        <p:nvSpPr>
          <p:cNvPr id="39" name="Shape 33"/>
          <p:cNvSpPr/>
          <p:nvPr/>
        </p:nvSpPr>
        <p:spPr>
          <a:xfrm>
            <a:off x="2322576" y="1947672"/>
            <a:ext cx="969264" cy="201168"/>
          </a:xfrm>
          <a:prstGeom prst="roundRect">
            <a:avLst>
              <a:gd name="adj" fmla="val 18182"/>
            </a:avLst>
          </a:prstGeom>
          <a:solidFill>
            <a:srgbClr val="FFFFFF"/>
          </a:solidFill>
          <a:ln w="9525">
            <a:solidFill>
              <a:srgbClr val="D6DCE5"/>
            </a:solidFill>
            <a:prstDash val="solid"/>
          </a:ln>
        </p:spPr>
      </p:sp>
      <p:pic>
        <p:nvPicPr>
          <p:cNvPr id="40" name="Image 4" descr="preencoded.png">    </p:cNvPr>
          <p:cNvPicPr>
            <a:picLocks noChangeAspect="1"/>
          </p:cNvPicPr>
          <p:nvPr/>
        </p:nvPicPr>
        <p:blipFill>
          <a:blip r:embed="rId5"/>
          <a:stretch>
            <a:fillRect/>
          </a:stretch>
        </p:blipFill>
        <p:spPr>
          <a:xfrm>
            <a:off x="2368296" y="1979676"/>
            <a:ext cx="137160" cy="137160"/>
          </a:xfrm>
          <a:prstGeom prst="rect">
            <a:avLst/>
          </a:prstGeom>
        </p:spPr>
      </p:pic>
      <p:sp>
        <p:nvSpPr>
          <p:cNvPr id="41" name="Text 34"/>
          <p:cNvSpPr txBox="1"/>
          <p:nvPr/>
        </p:nvSpPr>
        <p:spPr>
          <a:xfrm>
            <a:off x="2551176" y="1947672"/>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Sarvam-30B</a:t>
            </a:r>
            <a:endParaRPr lang="en-US" sz="750" dirty="0"/>
          </a:p>
        </p:txBody>
      </p:sp>
      <p:sp>
        <p:nvSpPr>
          <p:cNvPr id="42" name="Shape 35"/>
          <p:cNvSpPr/>
          <p:nvPr/>
        </p:nvSpPr>
        <p:spPr>
          <a:xfrm>
            <a:off x="274320" y="2185416"/>
            <a:ext cx="969264" cy="201168"/>
          </a:xfrm>
          <a:prstGeom prst="roundRect">
            <a:avLst>
              <a:gd name="adj" fmla="val 18182"/>
            </a:avLst>
          </a:prstGeom>
          <a:solidFill>
            <a:srgbClr val="FFFFFF"/>
          </a:solidFill>
          <a:ln w="9525">
            <a:solidFill>
              <a:srgbClr val="D6DCE5"/>
            </a:solidFill>
            <a:prstDash val="solid"/>
          </a:ln>
        </p:spPr>
      </p:sp>
      <p:pic>
        <p:nvPicPr>
          <p:cNvPr id="43" name="Image 5" descr="preencoded.png">    </p:cNvPr>
          <p:cNvPicPr>
            <a:picLocks noChangeAspect="1"/>
          </p:cNvPicPr>
          <p:nvPr/>
        </p:nvPicPr>
        <p:blipFill>
          <a:blip r:embed="rId6"/>
          <a:stretch>
            <a:fillRect/>
          </a:stretch>
        </p:blipFill>
        <p:spPr>
          <a:xfrm>
            <a:off x="320040" y="2217420"/>
            <a:ext cx="137160" cy="137160"/>
          </a:xfrm>
          <a:prstGeom prst="rect">
            <a:avLst/>
          </a:prstGeom>
        </p:spPr>
      </p:pic>
      <p:sp>
        <p:nvSpPr>
          <p:cNvPr id="44" name="Text 36"/>
          <p:cNvSpPr txBox="1"/>
          <p:nvPr/>
        </p:nvSpPr>
        <p:spPr>
          <a:xfrm>
            <a:off x="502920" y="2185416"/>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Sarvam-105B</a:t>
            </a:r>
            <a:endParaRPr lang="en-US" sz="750" dirty="0"/>
          </a:p>
        </p:txBody>
      </p:sp>
      <p:sp>
        <p:nvSpPr>
          <p:cNvPr id="45" name="Shape 37"/>
          <p:cNvSpPr/>
          <p:nvPr/>
        </p:nvSpPr>
        <p:spPr>
          <a:xfrm>
            <a:off x="1298448" y="2185416"/>
            <a:ext cx="969264" cy="201168"/>
          </a:xfrm>
          <a:prstGeom prst="roundRect">
            <a:avLst>
              <a:gd name="adj" fmla="val 18182"/>
            </a:avLst>
          </a:prstGeom>
          <a:solidFill>
            <a:srgbClr val="FFFFFF"/>
          </a:solidFill>
          <a:ln w="9525">
            <a:solidFill>
              <a:srgbClr val="D6DCE5"/>
            </a:solidFill>
            <a:prstDash val="solid"/>
          </a:ln>
        </p:spPr>
      </p:sp>
      <p:sp>
        <p:nvSpPr>
          <p:cNvPr id="46" name="Shape 38"/>
          <p:cNvSpPr/>
          <p:nvPr/>
        </p:nvSpPr>
        <p:spPr>
          <a:xfrm>
            <a:off x="1344168" y="2217420"/>
            <a:ext cx="137160" cy="137160"/>
          </a:xfrm>
          <a:prstGeom prst="roundRect">
            <a:avLst>
              <a:gd name="adj" fmla="val 13333"/>
            </a:avLst>
          </a:prstGeom>
          <a:solidFill>
            <a:srgbClr val="1F4E79"/>
          </a:solidFill>
          <a:ln w="12700">
            <a:solidFill>
              <a:srgbClr val="1F4E79"/>
            </a:solidFill>
            <a:prstDash val="solid"/>
          </a:ln>
        </p:spPr>
      </p:sp>
      <p:sp>
        <p:nvSpPr>
          <p:cNvPr id="47" name="Text 39"/>
          <p:cNvSpPr txBox="1"/>
          <p:nvPr/>
        </p:nvSpPr>
        <p:spPr>
          <a:xfrm>
            <a:off x="1344168" y="2217420"/>
            <a:ext cx="137160" cy="137160"/>
          </a:xfrm>
          <a:prstGeom prst="rect">
            <a:avLst/>
          </a:prstGeom>
          <a:noFill/>
          <a:ln/>
        </p:spPr>
        <p:txBody>
          <a:bodyPr wrap="square" lIns="0" tIns="0" rIns="0" bIns="0" rtlCol="0" anchor="ctr"/>
          <a:lstStyle/>
          <a:p>
            <a:pPr algn="ctr" indent="0" marL="0">
              <a:buNone/>
            </a:pPr>
            <a:r>
              <a:rPr lang="en-US" sz="550" b="1" dirty="0">
                <a:solidFill>
                  <a:srgbClr val="FFFFFF"/>
                </a:solidFill>
                <a:latin typeface="Calibri" pitchFamily="34" charset="0"/>
                <a:ea typeface="Calibri" pitchFamily="34" charset="-122"/>
                <a:cs typeface="Calibri" pitchFamily="34" charset="-120"/>
              </a:rPr>
              <a:t>AI4B</a:t>
            </a:r>
            <a:endParaRPr lang="en-US" sz="550" dirty="0"/>
          </a:p>
        </p:txBody>
      </p:sp>
      <p:sp>
        <p:nvSpPr>
          <p:cNvPr id="48" name="Text 40"/>
          <p:cNvSpPr txBox="1"/>
          <p:nvPr/>
        </p:nvSpPr>
        <p:spPr>
          <a:xfrm>
            <a:off x="1527048" y="2185416"/>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IndicConformer</a:t>
            </a:r>
            <a:endParaRPr lang="en-US" sz="750" dirty="0"/>
          </a:p>
        </p:txBody>
      </p:sp>
      <p:sp>
        <p:nvSpPr>
          <p:cNvPr id="49" name="Shape 41"/>
          <p:cNvSpPr/>
          <p:nvPr/>
        </p:nvSpPr>
        <p:spPr>
          <a:xfrm>
            <a:off x="2322576" y="2185416"/>
            <a:ext cx="969264" cy="201168"/>
          </a:xfrm>
          <a:prstGeom prst="roundRect">
            <a:avLst>
              <a:gd name="adj" fmla="val 18182"/>
            </a:avLst>
          </a:prstGeom>
          <a:solidFill>
            <a:srgbClr val="FFFFFF"/>
          </a:solidFill>
          <a:ln w="9525">
            <a:solidFill>
              <a:srgbClr val="D6DCE5"/>
            </a:solidFill>
            <a:prstDash val="solid"/>
          </a:ln>
        </p:spPr>
      </p:sp>
      <p:pic>
        <p:nvPicPr>
          <p:cNvPr id="50" name="Image 6" descr="preencoded.png">    </p:cNvPr>
          <p:cNvPicPr>
            <a:picLocks noChangeAspect="1"/>
          </p:cNvPicPr>
          <p:nvPr/>
        </p:nvPicPr>
        <p:blipFill>
          <a:blip r:embed="rId7"/>
          <a:stretch>
            <a:fillRect/>
          </a:stretch>
        </p:blipFill>
        <p:spPr>
          <a:xfrm>
            <a:off x="2368296" y="2217420"/>
            <a:ext cx="137160" cy="137160"/>
          </a:xfrm>
          <a:prstGeom prst="rect">
            <a:avLst/>
          </a:prstGeom>
        </p:spPr>
      </p:pic>
      <p:sp>
        <p:nvSpPr>
          <p:cNvPr id="51" name="Text 42"/>
          <p:cNvSpPr txBox="1"/>
          <p:nvPr/>
        </p:nvSpPr>
        <p:spPr>
          <a:xfrm>
            <a:off x="2551176" y="2185416"/>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BGE-M3</a:t>
            </a:r>
            <a:endParaRPr lang="en-US" sz="750" dirty="0"/>
          </a:p>
        </p:txBody>
      </p:sp>
      <p:sp>
        <p:nvSpPr>
          <p:cNvPr id="52" name="Shape 43"/>
          <p:cNvSpPr/>
          <p:nvPr/>
        </p:nvSpPr>
        <p:spPr>
          <a:xfrm>
            <a:off x="274320" y="2423160"/>
            <a:ext cx="969264" cy="201168"/>
          </a:xfrm>
          <a:prstGeom prst="roundRect">
            <a:avLst>
              <a:gd name="adj" fmla="val 18182"/>
            </a:avLst>
          </a:prstGeom>
          <a:solidFill>
            <a:srgbClr val="FFFFFF"/>
          </a:solidFill>
          <a:ln w="9525">
            <a:solidFill>
              <a:srgbClr val="D6DCE5"/>
            </a:solidFill>
            <a:prstDash val="solid"/>
          </a:ln>
        </p:spPr>
      </p:sp>
      <p:sp>
        <p:nvSpPr>
          <p:cNvPr id="53" name="Shape 44"/>
          <p:cNvSpPr/>
          <p:nvPr/>
        </p:nvSpPr>
        <p:spPr>
          <a:xfrm>
            <a:off x="320040" y="2455164"/>
            <a:ext cx="137160" cy="137160"/>
          </a:xfrm>
          <a:prstGeom prst="roundRect">
            <a:avLst>
              <a:gd name="adj" fmla="val 13333"/>
            </a:avLst>
          </a:prstGeom>
          <a:solidFill>
            <a:srgbClr val="1F4E79"/>
          </a:solidFill>
          <a:ln w="12700">
            <a:solidFill>
              <a:srgbClr val="1F4E79"/>
            </a:solidFill>
            <a:prstDash val="solid"/>
          </a:ln>
        </p:spPr>
      </p:sp>
      <p:sp>
        <p:nvSpPr>
          <p:cNvPr id="54" name="Text 45"/>
          <p:cNvSpPr txBox="1"/>
          <p:nvPr/>
        </p:nvSpPr>
        <p:spPr>
          <a:xfrm>
            <a:off x="320040" y="2455164"/>
            <a:ext cx="137160" cy="137160"/>
          </a:xfrm>
          <a:prstGeom prst="rect">
            <a:avLst/>
          </a:prstGeom>
          <a:noFill/>
          <a:ln/>
        </p:spPr>
        <p:txBody>
          <a:bodyPr wrap="square" lIns="0" tIns="0" rIns="0" bIns="0" rtlCol="0" anchor="ctr"/>
          <a:lstStyle/>
          <a:p>
            <a:pPr algn="ctr" indent="0" marL="0">
              <a:buNone/>
            </a:pPr>
            <a:r>
              <a:rPr lang="en-US" sz="550" b="1" dirty="0">
                <a:solidFill>
                  <a:srgbClr val="FFFFFF"/>
                </a:solidFill>
                <a:latin typeface="Calibri" pitchFamily="34" charset="0"/>
                <a:ea typeface="Calibri" pitchFamily="34" charset="-122"/>
                <a:cs typeface="Calibri" pitchFamily="34" charset="-120"/>
              </a:rPr>
              <a:t>BH</a:t>
            </a:r>
            <a:endParaRPr lang="en-US" sz="550" dirty="0"/>
          </a:p>
        </p:txBody>
      </p:sp>
      <p:sp>
        <p:nvSpPr>
          <p:cNvPr id="55" name="Text 46"/>
          <p:cNvSpPr txBox="1"/>
          <p:nvPr/>
        </p:nvSpPr>
        <p:spPr>
          <a:xfrm>
            <a:off x="502920" y="2423160"/>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Bhashini (MeitY)</a:t>
            </a:r>
            <a:endParaRPr lang="en-US" sz="750" dirty="0"/>
          </a:p>
        </p:txBody>
      </p:sp>
      <p:sp>
        <p:nvSpPr>
          <p:cNvPr id="56" name="Shape 47"/>
          <p:cNvSpPr/>
          <p:nvPr/>
        </p:nvSpPr>
        <p:spPr>
          <a:xfrm>
            <a:off x="1298448" y="2423160"/>
            <a:ext cx="969264" cy="201168"/>
          </a:xfrm>
          <a:prstGeom prst="roundRect">
            <a:avLst>
              <a:gd name="adj" fmla="val 18182"/>
            </a:avLst>
          </a:prstGeom>
          <a:solidFill>
            <a:srgbClr val="FFFFFF"/>
          </a:solidFill>
          <a:ln w="9525">
            <a:solidFill>
              <a:srgbClr val="D6DCE5"/>
            </a:solidFill>
            <a:prstDash val="solid"/>
          </a:ln>
        </p:spPr>
      </p:sp>
      <p:sp>
        <p:nvSpPr>
          <p:cNvPr id="57" name="Shape 48"/>
          <p:cNvSpPr/>
          <p:nvPr/>
        </p:nvSpPr>
        <p:spPr>
          <a:xfrm>
            <a:off x="1344168" y="2455164"/>
            <a:ext cx="137160" cy="137160"/>
          </a:xfrm>
          <a:prstGeom prst="roundRect">
            <a:avLst>
              <a:gd name="adj" fmla="val 13333"/>
            </a:avLst>
          </a:prstGeom>
          <a:solidFill>
            <a:srgbClr val="1F4E79"/>
          </a:solidFill>
          <a:ln w="12700">
            <a:solidFill>
              <a:srgbClr val="1F4E79"/>
            </a:solidFill>
            <a:prstDash val="solid"/>
          </a:ln>
        </p:spPr>
      </p:sp>
      <p:sp>
        <p:nvSpPr>
          <p:cNvPr id="58" name="Text 49"/>
          <p:cNvSpPr txBox="1"/>
          <p:nvPr/>
        </p:nvSpPr>
        <p:spPr>
          <a:xfrm>
            <a:off x="1344168" y="2455164"/>
            <a:ext cx="137160" cy="137160"/>
          </a:xfrm>
          <a:prstGeom prst="rect">
            <a:avLst/>
          </a:prstGeom>
          <a:noFill/>
          <a:ln/>
        </p:spPr>
        <p:txBody>
          <a:bodyPr wrap="square" lIns="0" tIns="0" rIns="0" bIns="0" rtlCol="0" anchor="ctr"/>
          <a:lstStyle/>
          <a:p>
            <a:pPr algn="ctr" indent="0" marL="0">
              <a:buNone/>
            </a:pPr>
            <a:r>
              <a:rPr lang="en-US" sz="550" b="1" dirty="0">
                <a:solidFill>
                  <a:srgbClr val="FFFFFF"/>
                </a:solidFill>
                <a:latin typeface="Calibri" pitchFamily="34" charset="0"/>
                <a:ea typeface="Calibri" pitchFamily="34" charset="-122"/>
                <a:cs typeface="Calibri" pitchFamily="34" charset="-120"/>
              </a:rPr>
              <a:t>✓</a:t>
            </a:r>
            <a:endParaRPr lang="en-US" sz="550" dirty="0"/>
          </a:p>
        </p:txBody>
      </p:sp>
      <p:sp>
        <p:nvSpPr>
          <p:cNvPr id="59" name="Text 50"/>
          <p:cNvSpPr txBox="1"/>
          <p:nvPr/>
        </p:nvSpPr>
        <p:spPr>
          <a:xfrm>
            <a:off x="1527048" y="2423160"/>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SATYA (ours)</a:t>
            </a:r>
            <a:endParaRPr lang="en-US" sz="750" dirty="0"/>
          </a:p>
        </p:txBody>
      </p:sp>
      <p:sp>
        <p:nvSpPr>
          <p:cNvPr id="60" name="Shape 51"/>
          <p:cNvSpPr/>
          <p:nvPr/>
        </p:nvSpPr>
        <p:spPr>
          <a:xfrm>
            <a:off x="2322576" y="2423160"/>
            <a:ext cx="969264" cy="201168"/>
          </a:xfrm>
          <a:prstGeom prst="roundRect">
            <a:avLst>
              <a:gd name="adj" fmla="val 18182"/>
            </a:avLst>
          </a:prstGeom>
          <a:solidFill>
            <a:srgbClr val="FFFFFF"/>
          </a:solidFill>
          <a:ln w="9525">
            <a:solidFill>
              <a:srgbClr val="D6DCE5"/>
            </a:solidFill>
            <a:prstDash val="solid"/>
          </a:ln>
        </p:spPr>
      </p:sp>
      <p:sp>
        <p:nvSpPr>
          <p:cNvPr id="61" name="Shape 52"/>
          <p:cNvSpPr/>
          <p:nvPr/>
        </p:nvSpPr>
        <p:spPr>
          <a:xfrm>
            <a:off x="2368296" y="2455164"/>
            <a:ext cx="137160" cy="137160"/>
          </a:xfrm>
          <a:prstGeom prst="roundRect">
            <a:avLst>
              <a:gd name="adj" fmla="val 13333"/>
            </a:avLst>
          </a:prstGeom>
          <a:solidFill>
            <a:srgbClr val="1F4E79"/>
          </a:solidFill>
          <a:ln w="12700">
            <a:solidFill>
              <a:srgbClr val="1F4E79"/>
            </a:solidFill>
            <a:prstDash val="solid"/>
          </a:ln>
        </p:spPr>
      </p:sp>
      <p:sp>
        <p:nvSpPr>
          <p:cNvPr id="62" name="Text 53"/>
          <p:cNvSpPr txBox="1"/>
          <p:nvPr/>
        </p:nvSpPr>
        <p:spPr>
          <a:xfrm>
            <a:off x="2368296" y="2455164"/>
            <a:ext cx="137160" cy="137160"/>
          </a:xfrm>
          <a:prstGeom prst="rect">
            <a:avLst/>
          </a:prstGeom>
          <a:noFill/>
          <a:ln/>
        </p:spPr>
        <p:txBody>
          <a:bodyPr wrap="square" lIns="0" tIns="0" rIns="0" bIns="0" rtlCol="0" anchor="ctr"/>
          <a:lstStyle/>
          <a:p>
            <a:pPr algn="ctr" indent="0" marL="0">
              <a:buNone/>
            </a:pPr>
            <a:r>
              <a:rPr lang="en-US" sz="550" b="1" dirty="0">
                <a:solidFill>
                  <a:srgbClr val="FFFFFF"/>
                </a:solidFill>
                <a:latin typeface="Calibri" pitchFamily="34" charset="0"/>
                <a:ea typeface="Calibri" pitchFamily="34" charset="-122"/>
                <a:cs typeface="Calibri" pitchFamily="34" charset="-120"/>
              </a:rPr>
              <a:t>G</a:t>
            </a:r>
            <a:endParaRPr lang="en-US" sz="550" dirty="0"/>
          </a:p>
        </p:txBody>
      </p:sp>
      <p:sp>
        <p:nvSpPr>
          <p:cNvPr id="63" name="Text 54"/>
          <p:cNvSpPr txBox="1"/>
          <p:nvPr/>
        </p:nvSpPr>
        <p:spPr>
          <a:xfrm>
            <a:off x="2551176" y="2423160"/>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Gemini-3 (test)</a:t>
            </a:r>
            <a:endParaRPr lang="en-US" sz="750" dirty="0"/>
          </a:p>
        </p:txBody>
      </p:sp>
      <p:sp>
        <p:nvSpPr>
          <p:cNvPr id="64" name="Text 55"/>
          <p:cNvSpPr txBox="1"/>
          <p:nvPr/>
        </p:nvSpPr>
        <p:spPr>
          <a:xfrm>
            <a:off x="274320" y="2724912"/>
            <a:ext cx="3017520" cy="146304"/>
          </a:xfrm>
          <a:prstGeom prst="rect">
            <a:avLst/>
          </a:prstGeom>
          <a:noFill/>
          <a:ln/>
        </p:spPr>
        <p:txBody>
          <a:bodyPr wrap="square" lIns="0" tIns="0" rIns="0" bIns="0" rtlCol="0" anchor="t"/>
          <a:lstStyle/>
          <a:p>
            <a:pPr indent="0" marL="0">
              <a:buNone/>
            </a:pPr>
            <a:r>
              <a:rPr lang="en-US" sz="750" b="1" dirty="0">
                <a:solidFill>
                  <a:srgbClr val="5F6B7A"/>
                </a:solidFill>
                <a:latin typeface="Calibri" pitchFamily="34" charset="0"/>
                <a:ea typeface="Calibri" pitchFamily="34" charset="-122"/>
                <a:cs typeface="Calibri" pitchFamily="34" charset="-120"/>
              </a:rPr>
              <a:t>Backend &amp; data</a:t>
            </a:r>
            <a:endParaRPr lang="en-US" sz="750" dirty="0"/>
          </a:p>
        </p:txBody>
      </p:sp>
      <p:sp>
        <p:nvSpPr>
          <p:cNvPr id="65" name="Shape 56"/>
          <p:cNvSpPr/>
          <p:nvPr/>
        </p:nvSpPr>
        <p:spPr>
          <a:xfrm>
            <a:off x="274320" y="2880360"/>
            <a:ext cx="969264" cy="201168"/>
          </a:xfrm>
          <a:prstGeom prst="roundRect">
            <a:avLst>
              <a:gd name="adj" fmla="val 18182"/>
            </a:avLst>
          </a:prstGeom>
          <a:solidFill>
            <a:srgbClr val="FFFFFF"/>
          </a:solidFill>
          <a:ln w="9525">
            <a:solidFill>
              <a:srgbClr val="D6DCE5"/>
            </a:solidFill>
            <a:prstDash val="solid"/>
          </a:ln>
        </p:spPr>
      </p:sp>
      <p:pic>
        <p:nvPicPr>
          <p:cNvPr id="66" name="Image 7" descr="preencoded.png">    </p:cNvPr>
          <p:cNvPicPr>
            <a:picLocks noChangeAspect="1"/>
          </p:cNvPicPr>
          <p:nvPr/>
        </p:nvPicPr>
        <p:blipFill>
          <a:blip r:embed="rId8"/>
          <a:stretch>
            <a:fillRect/>
          </a:stretch>
        </p:blipFill>
        <p:spPr>
          <a:xfrm>
            <a:off x="320040" y="2912364"/>
            <a:ext cx="137160" cy="137160"/>
          </a:xfrm>
          <a:prstGeom prst="rect">
            <a:avLst/>
          </a:prstGeom>
        </p:spPr>
      </p:pic>
      <p:sp>
        <p:nvSpPr>
          <p:cNvPr id="67" name="Text 57"/>
          <p:cNvSpPr txBox="1"/>
          <p:nvPr/>
        </p:nvSpPr>
        <p:spPr>
          <a:xfrm>
            <a:off x="502920" y="2880360"/>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Python</a:t>
            </a:r>
            <a:endParaRPr lang="en-US" sz="750" dirty="0"/>
          </a:p>
        </p:txBody>
      </p:sp>
      <p:sp>
        <p:nvSpPr>
          <p:cNvPr id="68" name="Shape 58"/>
          <p:cNvSpPr/>
          <p:nvPr/>
        </p:nvSpPr>
        <p:spPr>
          <a:xfrm>
            <a:off x="1298448" y="2880360"/>
            <a:ext cx="969264" cy="201168"/>
          </a:xfrm>
          <a:prstGeom prst="roundRect">
            <a:avLst>
              <a:gd name="adj" fmla="val 18182"/>
            </a:avLst>
          </a:prstGeom>
          <a:solidFill>
            <a:srgbClr val="FFFFFF"/>
          </a:solidFill>
          <a:ln w="9525">
            <a:solidFill>
              <a:srgbClr val="D6DCE5"/>
            </a:solidFill>
            <a:prstDash val="solid"/>
          </a:ln>
        </p:spPr>
      </p:sp>
      <p:pic>
        <p:nvPicPr>
          <p:cNvPr id="69" name="Image 8" descr="preencoded.png">    </p:cNvPr>
          <p:cNvPicPr>
            <a:picLocks noChangeAspect="1"/>
          </p:cNvPicPr>
          <p:nvPr/>
        </p:nvPicPr>
        <p:blipFill>
          <a:blip r:embed="rId9"/>
          <a:stretch>
            <a:fillRect/>
          </a:stretch>
        </p:blipFill>
        <p:spPr>
          <a:xfrm>
            <a:off x="1344168" y="2912364"/>
            <a:ext cx="137160" cy="137160"/>
          </a:xfrm>
          <a:prstGeom prst="rect">
            <a:avLst/>
          </a:prstGeom>
        </p:spPr>
      </p:pic>
      <p:sp>
        <p:nvSpPr>
          <p:cNvPr id="70" name="Text 59"/>
          <p:cNvSpPr txBox="1"/>
          <p:nvPr/>
        </p:nvSpPr>
        <p:spPr>
          <a:xfrm>
            <a:off x="1527048" y="2880360"/>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FastAPI</a:t>
            </a:r>
            <a:endParaRPr lang="en-US" sz="750" dirty="0"/>
          </a:p>
        </p:txBody>
      </p:sp>
      <p:sp>
        <p:nvSpPr>
          <p:cNvPr id="71" name="Shape 60"/>
          <p:cNvSpPr/>
          <p:nvPr/>
        </p:nvSpPr>
        <p:spPr>
          <a:xfrm>
            <a:off x="2322576" y="2880360"/>
            <a:ext cx="969264" cy="201168"/>
          </a:xfrm>
          <a:prstGeom prst="roundRect">
            <a:avLst>
              <a:gd name="adj" fmla="val 18182"/>
            </a:avLst>
          </a:prstGeom>
          <a:solidFill>
            <a:srgbClr val="FFFFFF"/>
          </a:solidFill>
          <a:ln w="9525">
            <a:solidFill>
              <a:srgbClr val="D6DCE5"/>
            </a:solidFill>
            <a:prstDash val="solid"/>
          </a:ln>
        </p:spPr>
      </p:sp>
      <p:pic>
        <p:nvPicPr>
          <p:cNvPr id="72" name="Image 9" descr="preencoded.png">    </p:cNvPr>
          <p:cNvPicPr>
            <a:picLocks noChangeAspect="1"/>
          </p:cNvPicPr>
          <p:nvPr/>
        </p:nvPicPr>
        <p:blipFill>
          <a:blip r:embed="rId10"/>
          <a:stretch>
            <a:fillRect/>
          </a:stretch>
        </p:blipFill>
        <p:spPr>
          <a:xfrm>
            <a:off x="2368296" y="2912364"/>
            <a:ext cx="137160" cy="137160"/>
          </a:xfrm>
          <a:prstGeom prst="rect">
            <a:avLst/>
          </a:prstGeom>
        </p:spPr>
      </p:pic>
      <p:sp>
        <p:nvSpPr>
          <p:cNvPr id="73" name="Text 61"/>
          <p:cNvSpPr txBox="1"/>
          <p:nvPr/>
        </p:nvSpPr>
        <p:spPr>
          <a:xfrm>
            <a:off x="2551176" y="2880360"/>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Celery</a:t>
            </a:r>
            <a:endParaRPr lang="en-US" sz="750" dirty="0"/>
          </a:p>
        </p:txBody>
      </p:sp>
      <p:sp>
        <p:nvSpPr>
          <p:cNvPr id="74" name="Shape 62"/>
          <p:cNvSpPr/>
          <p:nvPr/>
        </p:nvSpPr>
        <p:spPr>
          <a:xfrm>
            <a:off x="274320" y="3118104"/>
            <a:ext cx="969264" cy="201168"/>
          </a:xfrm>
          <a:prstGeom prst="roundRect">
            <a:avLst>
              <a:gd name="adj" fmla="val 18182"/>
            </a:avLst>
          </a:prstGeom>
          <a:solidFill>
            <a:srgbClr val="FFFFFF"/>
          </a:solidFill>
          <a:ln w="9525">
            <a:solidFill>
              <a:srgbClr val="D6DCE5"/>
            </a:solidFill>
            <a:prstDash val="solid"/>
          </a:ln>
        </p:spPr>
      </p:sp>
      <p:pic>
        <p:nvPicPr>
          <p:cNvPr id="75" name="Image 10" descr="preencoded.png">    </p:cNvPr>
          <p:cNvPicPr>
            <a:picLocks noChangeAspect="1"/>
          </p:cNvPicPr>
          <p:nvPr/>
        </p:nvPicPr>
        <p:blipFill>
          <a:blip r:embed="rId11"/>
          <a:stretch>
            <a:fillRect/>
          </a:stretch>
        </p:blipFill>
        <p:spPr>
          <a:xfrm>
            <a:off x="320040" y="3150108"/>
            <a:ext cx="137160" cy="137160"/>
          </a:xfrm>
          <a:prstGeom prst="rect">
            <a:avLst/>
          </a:prstGeom>
        </p:spPr>
      </p:pic>
      <p:sp>
        <p:nvSpPr>
          <p:cNvPr id="76" name="Text 63"/>
          <p:cNvSpPr txBox="1"/>
          <p:nvPr/>
        </p:nvSpPr>
        <p:spPr>
          <a:xfrm>
            <a:off x="502920" y="3118104"/>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Redis</a:t>
            </a:r>
            <a:endParaRPr lang="en-US" sz="750" dirty="0"/>
          </a:p>
        </p:txBody>
      </p:sp>
      <p:sp>
        <p:nvSpPr>
          <p:cNvPr id="77" name="Shape 64"/>
          <p:cNvSpPr/>
          <p:nvPr/>
        </p:nvSpPr>
        <p:spPr>
          <a:xfrm>
            <a:off x="1298448" y="3118104"/>
            <a:ext cx="969264" cy="201168"/>
          </a:xfrm>
          <a:prstGeom prst="roundRect">
            <a:avLst>
              <a:gd name="adj" fmla="val 18182"/>
            </a:avLst>
          </a:prstGeom>
          <a:solidFill>
            <a:srgbClr val="FFFFFF"/>
          </a:solidFill>
          <a:ln w="9525">
            <a:solidFill>
              <a:srgbClr val="D6DCE5"/>
            </a:solidFill>
            <a:prstDash val="solid"/>
          </a:ln>
        </p:spPr>
      </p:sp>
      <p:pic>
        <p:nvPicPr>
          <p:cNvPr id="78" name="Image 11" descr="preencoded.png">    </p:cNvPr>
          <p:cNvPicPr>
            <a:picLocks noChangeAspect="1"/>
          </p:cNvPicPr>
          <p:nvPr/>
        </p:nvPicPr>
        <p:blipFill>
          <a:blip r:embed="rId12"/>
          <a:stretch>
            <a:fillRect/>
          </a:stretch>
        </p:blipFill>
        <p:spPr>
          <a:xfrm>
            <a:off x="1344168" y="3150108"/>
            <a:ext cx="137160" cy="137160"/>
          </a:xfrm>
          <a:prstGeom prst="rect">
            <a:avLst/>
          </a:prstGeom>
        </p:spPr>
      </p:pic>
      <p:sp>
        <p:nvSpPr>
          <p:cNvPr id="79" name="Text 65"/>
          <p:cNvSpPr txBox="1"/>
          <p:nvPr/>
        </p:nvSpPr>
        <p:spPr>
          <a:xfrm>
            <a:off x="1527048" y="3118104"/>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PostgreSQL</a:t>
            </a:r>
            <a:endParaRPr lang="en-US" sz="750" dirty="0"/>
          </a:p>
        </p:txBody>
      </p:sp>
      <p:sp>
        <p:nvSpPr>
          <p:cNvPr id="80" name="Shape 66"/>
          <p:cNvSpPr/>
          <p:nvPr/>
        </p:nvSpPr>
        <p:spPr>
          <a:xfrm>
            <a:off x="2322576" y="3118104"/>
            <a:ext cx="969264" cy="201168"/>
          </a:xfrm>
          <a:prstGeom prst="roundRect">
            <a:avLst>
              <a:gd name="adj" fmla="val 18182"/>
            </a:avLst>
          </a:prstGeom>
          <a:solidFill>
            <a:srgbClr val="FFFFFF"/>
          </a:solidFill>
          <a:ln w="9525">
            <a:solidFill>
              <a:srgbClr val="D6DCE5"/>
            </a:solidFill>
            <a:prstDash val="solid"/>
          </a:ln>
        </p:spPr>
      </p:sp>
      <p:sp>
        <p:nvSpPr>
          <p:cNvPr id="81" name="Shape 67"/>
          <p:cNvSpPr/>
          <p:nvPr/>
        </p:nvSpPr>
        <p:spPr>
          <a:xfrm>
            <a:off x="2368296" y="3150108"/>
            <a:ext cx="137160" cy="137160"/>
          </a:xfrm>
          <a:prstGeom prst="roundRect">
            <a:avLst>
              <a:gd name="adj" fmla="val 13333"/>
            </a:avLst>
          </a:prstGeom>
          <a:solidFill>
            <a:srgbClr val="1F4E79"/>
          </a:solidFill>
          <a:ln w="12700">
            <a:solidFill>
              <a:srgbClr val="1F4E79"/>
            </a:solidFill>
            <a:prstDash val="solid"/>
          </a:ln>
        </p:spPr>
      </p:sp>
      <p:sp>
        <p:nvSpPr>
          <p:cNvPr id="82" name="Text 68"/>
          <p:cNvSpPr txBox="1"/>
          <p:nvPr/>
        </p:nvSpPr>
        <p:spPr>
          <a:xfrm>
            <a:off x="2368296" y="3150108"/>
            <a:ext cx="137160" cy="137160"/>
          </a:xfrm>
          <a:prstGeom prst="rect">
            <a:avLst/>
          </a:prstGeom>
          <a:noFill/>
          <a:ln/>
        </p:spPr>
        <p:txBody>
          <a:bodyPr wrap="square" lIns="0" tIns="0" rIns="0" bIns="0" rtlCol="0" anchor="ctr"/>
          <a:lstStyle/>
          <a:p>
            <a:pPr algn="ctr" indent="0" marL="0">
              <a:buNone/>
            </a:pPr>
            <a:r>
              <a:rPr lang="en-US" sz="550" b="1" dirty="0">
                <a:solidFill>
                  <a:srgbClr val="FFFFFF"/>
                </a:solidFill>
                <a:latin typeface="Calibri" pitchFamily="34" charset="0"/>
                <a:ea typeface="Calibri" pitchFamily="34" charset="-122"/>
                <a:cs typeface="Calibri" pitchFamily="34" charset="-120"/>
              </a:rPr>
              <a:t>vec</a:t>
            </a:r>
            <a:endParaRPr lang="en-US" sz="550" dirty="0"/>
          </a:p>
        </p:txBody>
      </p:sp>
      <p:sp>
        <p:nvSpPr>
          <p:cNvPr id="83" name="Text 69"/>
          <p:cNvSpPr txBox="1"/>
          <p:nvPr/>
        </p:nvSpPr>
        <p:spPr>
          <a:xfrm>
            <a:off x="2551176" y="3118104"/>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pgvector</a:t>
            </a:r>
            <a:endParaRPr lang="en-US" sz="750" dirty="0"/>
          </a:p>
        </p:txBody>
      </p:sp>
      <p:sp>
        <p:nvSpPr>
          <p:cNvPr id="84" name="Shape 70"/>
          <p:cNvSpPr/>
          <p:nvPr/>
        </p:nvSpPr>
        <p:spPr>
          <a:xfrm>
            <a:off x="274320" y="3355848"/>
            <a:ext cx="969264" cy="201168"/>
          </a:xfrm>
          <a:prstGeom prst="roundRect">
            <a:avLst>
              <a:gd name="adj" fmla="val 18182"/>
            </a:avLst>
          </a:prstGeom>
          <a:solidFill>
            <a:srgbClr val="FFFFFF"/>
          </a:solidFill>
          <a:ln w="9525">
            <a:solidFill>
              <a:srgbClr val="D6DCE5"/>
            </a:solidFill>
            <a:prstDash val="solid"/>
          </a:ln>
        </p:spPr>
      </p:sp>
      <p:sp>
        <p:nvSpPr>
          <p:cNvPr id="85" name="Shape 71"/>
          <p:cNvSpPr/>
          <p:nvPr/>
        </p:nvSpPr>
        <p:spPr>
          <a:xfrm>
            <a:off x="320040" y="3387852"/>
            <a:ext cx="137160" cy="137160"/>
          </a:xfrm>
          <a:prstGeom prst="roundRect">
            <a:avLst>
              <a:gd name="adj" fmla="val 13333"/>
            </a:avLst>
          </a:prstGeom>
          <a:solidFill>
            <a:srgbClr val="1F4E79"/>
          </a:solidFill>
          <a:ln w="12700">
            <a:solidFill>
              <a:srgbClr val="1F4E79"/>
            </a:solidFill>
            <a:prstDash val="solid"/>
          </a:ln>
        </p:spPr>
      </p:sp>
      <p:sp>
        <p:nvSpPr>
          <p:cNvPr id="86" name="Text 72"/>
          <p:cNvSpPr txBox="1"/>
          <p:nvPr/>
        </p:nvSpPr>
        <p:spPr>
          <a:xfrm>
            <a:off x="320040" y="3387852"/>
            <a:ext cx="137160" cy="137160"/>
          </a:xfrm>
          <a:prstGeom prst="rect">
            <a:avLst/>
          </a:prstGeom>
          <a:noFill/>
          <a:ln/>
        </p:spPr>
        <p:txBody>
          <a:bodyPr wrap="square" lIns="0" tIns="0" rIns="0" bIns="0" rtlCol="0" anchor="ctr"/>
          <a:lstStyle/>
          <a:p>
            <a:pPr algn="ctr" indent="0" marL="0">
              <a:buNone/>
            </a:pPr>
            <a:r>
              <a:rPr lang="en-US" sz="550" b="1" dirty="0">
                <a:solidFill>
                  <a:srgbClr val="FFFFFF"/>
                </a:solidFill>
                <a:latin typeface="Calibri" pitchFamily="34" charset="0"/>
                <a:ea typeface="Calibri" pitchFamily="34" charset="-122"/>
                <a:cs typeface="Calibri" pitchFamily="34" charset="-120"/>
              </a:rPr>
              <a:t>GIS</a:t>
            </a:r>
            <a:endParaRPr lang="en-US" sz="550" dirty="0"/>
          </a:p>
        </p:txBody>
      </p:sp>
      <p:sp>
        <p:nvSpPr>
          <p:cNvPr id="87" name="Text 73"/>
          <p:cNvSpPr txBox="1"/>
          <p:nvPr/>
        </p:nvSpPr>
        <p:spPr>
          <a:xfrm>
            <a:off x="502920" y="3355848"/>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PostGIS</a:t>
            </a:r>
            <a:endParaRPr lang="en-US" sz="750" dirty="0"/>
          </a:p>
        </p:txBody>
      </p:sp>
      <p:sp>
        <p:nvSpPr>
          <p:cNvPr id="88" name="Shape 74"/>
          <p:cNvSpPr/>
          <p:nvPr/>
        </p:nvSpPr>
        <p:spPr>
          <a:xfrm>
            <a:off x="1298448" y="3355848"/>
            <a:ext cx="969264" cy="201168"/>
          </a:xfrm>
          <a:prstGeom prst="roundRect">
            <a:avLst>
              <a:gd name="adj" fmla="val 18182"/>
            </a:avLst>
          </a:prstGeom>
          <a:solidFill>
            <a:srgbClr val="FFFFFF"/>
          </a:solidFill>
          <a:ln w="9525">
            <a:solidFill>
              <a:srgbClr val="D6DCE5"/>
            </a:solidFill>
            <a:prstDash val="solid"/>
          </a:ln>
        </p:spPr>
      </p:sp>
      <p:sp>
        <p:nvSpPr>
          <p:cNvPr id="89" name="Shape 75"/>
          <p:cNvSpPr/>
          <p:nvPr/>
        </p:nvSpPr>
        <p:spPr>
          <a:xfrm>
            <a:off x="1344168" y="3387852"/>
            <a:ext cx="137160" cy="137160"/>
          </a:xfrm>
          <a:prstGeom prst="roundRect">
            <a:avLst>
              <a:gd name="adj" fmla="val 13333"/>
            </a:avLst>
          </a:prstGeom>
          <a:solidFill>
            <a:srgbClr val="1F4E79"/>
          </a:solidFill>
          <a:ln w="12700">
            <a:solidFill>
              <a:srgbClr val="1F4E79"/>
            </a:solidFill>
            <a:prstDash val="solid"/>
          </a:ln>
        </p:spPr>
      </p:sp>
      <p:sp>
        <p:nvSpPr>
          <p:cNvPr id="90" name="Text 76"/>
          <p:cNvSpPr txBox="1"/>
          <p:nvPr/>
        </p:nvSpPr>
        <p:spPr>
          <a:xfrm>
            <a:off x="1344168" y="3387852"/>
            <a:ext cx="137160" cy="137160"/>
          </a:xfrm>
          <a:prstGeom prst="rect">
            <a:avLst/>
          </a:prstGeom>
          <a:noFill/>
          <a:ln/>
        </p:spPr>
        <p:txBody>
          <a:bodyPr wrap="square" lIns="0" tIns="0" rIns="0" bIns="0" rtlCol="0" anchor="ctr"/>
          <a:lstStyle/>
          <a:p>
            <a:pPr algn="ctr" indent="0" marL="0">
              <a:buNone/>
            </a:pPr>
            <a:r>
              <a:rPr lang="en-US" sz="550" b="1" dirty="0">
                <a:solidFill>
                  <a:srgbClr val="FFFFFF"/>
                </a:solidFill>
                <a:latin typeface="Calibri" pitchFamily="34" charset="0"/>
                <a:ea typeface="Calibri" pitchFamily="34" charset="-122"/>
                <a:cs typeface="Calibri" pitchFamily="34" charset="-120"/>
              </a:rPr>
              <a:t>Py</a:t>
            </a:r>
            <a:endParaRPr lang="en-US" sz="550" dirty="0"/>
          </a:p>
        </p:txBody>
      </p:sp>
      <p:sp>
        <p:nvSpPr>
          <p:cNvPr id="91" name="Text 77"/>
          <p:cNvSpPr txBox="1"/>
          <p:nvPr/>
        </p:nvSpPr>
        <p:spPr>
          <a:xfrm>
            <a:off x="1527048" y="3355848"/>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Pydantic</a:t>
            </a:r>
            <a:endParaRPr lang="en-US" sz="750" dirty="0"/>
          </a:p>
        </p:txBody>
      </p:sp>
      <p:sp>
        <p:nvSpPr>
          <p:cNvPr id="92" name="Shape 78"/>
          <p:cNvSpPr/>
          <p:nvPr/>
        </p:nvSpPr>
        <p:spPr>
          <a:xfrm>
            <a:off x="2322576" y="3355848"/>
            <a:ext cx="969264" cy="201168"/>
          </a:xfrm>
          <a:prstGeom prst="roundRect">
            <a:avLst>
              <a:gd name="adj" fmla="val 18182"/>
            </a:avLst>
          </a:prstGeom>
          <a:solidFill>
            <a:srgbClr val="FFFFFF"/>
          </a:solidFill>
          <a:ln w="9525">
            <a:solidFill>
              <a:srgbClr val="D6DCE5"/>
            </a:solidFill>
            <a:prstDash val="solid"/>
          </a:ln>
        </p:spPr>
      </p:sp>
      <p:sp>
        <p:nvSpPr>
          <p:cNvPr id="93" name="Shape 79"/>
          <p:cNvSpPr/>
          <p:nvPr/>
        </p:nvSpPr>
        <p:spPr>
          <a:xfrm>
            <a:off x="2368296" y="3387852"/>
            <a:ext cx="137160" cy="137160"/>
          </a:xfrm>
          <a:prstGeom prst="roundRect">
            <a:avLst>
              <a:gd name="adj" fmla="val 13333"/>
            </a:avLst>
          </a:prstGeom>
          <a:solidFill>
            <a:srgbClr val="1F4E79"/>
          </a:solidFill>
          <a:ln w="12700">
            <a:solidFill>
              <a:srgbClr val="1F4E79"/>
            </a:solidFill>
            <a:prstDash val="solid"/>
          </a:ln>
        </p:spPr>
      </p:sp>
      <p:sp>
        <p:nvSpPr>
          <p:cNvPr id="94" name="Text 80"/>
          <p:cNvSpPr txBox="1"/>
          <p:nvPr/>
        </p:nvSpPr>
        <p:spPr>
          <a:xfrm>
            <a:off x="2368296" y="3387852"/>
            <a:ext cx="137160" cy="137160"/>
          </a:xfrm>
          <a:prstGeom prst="rect">
            <a:avLst/>
          </a:prstGeom>
          <a:noFill/>
          <a:ln/>
        </p:spPr>
        <p:txBody>
          <a:bodyPr wrap="square" lIns="0" tIns="0" rIns="0" bIns="0" rtlCol="0" anchor="ctr"/>
          <a:lstStyle/>
          <a:p>
            <a:pPr algn="ctr" indent="0" marL="0">
              <a:buNone/>
            </a:pPr>
            <a:r>
              <a:rPr lang="en-US" sz="550" b="1" dirty="0">
                <a:solidFill>
                  <a:srgbClr val="FFFFFF"/>
                </a:solidFill>
                <a:latin typeface="Calibri" pitchFamily="34" charset="0"/>
                <a:ea typeface="Calibri" pitchFamily="34" charset="-122"/>
                <a:cs typeface="Calibri" pitchFamily="34" charset="-120"/>
              </a:rPr>
              <a:t>JWT</a:t>
            </a:r>
            <a:endParaRPr lang="en-US" sz="550" dirty="0"/>
          </a:p>
        </p:txBody>
      </p:sp>
      <p:sp>
        <p:nvSpPr>
          <p:cNvPr id="95" name="Text 81"/>
          <p:cNvSpPr txBox="1"/>
          <p:nvPr/>
        </p:nvSpPr>
        <p:spPr>
          <a:xfrm>
            <a:off x="2551176" y="3355848"/>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JWT + audit log</a:t>
            </a:r>
            <a:endParaRPr lang="en-US" sz="750" dirty="0"/>
          </a:p>
        </p:txBody>
      </p:sp>
      <p:sp>
        <p:nvSpPr>
          <p:cNvPr id="96" name="Text 82"/>
          <p:cNvSpPr txBox="1"/>
          <p:nvPr/>
        </p:nvSpPr>
        <p:spPr>
          <a:xfrm>
            <a:off x="274320" y="3657600"/>
            <a:ext cx="3017520" cy="146304"/>
          </a:xfrm>
          <a:prstGeom prst="rect">
            <a:avLst/>
          </a:prstGeom>
          <a:noFill/>
          <a:ln/>
        </p:spPr>
        <p:txBody>
          <a:bodyPr wrap="square" lIns="0" tIns="0" rIns="0" bIns="0" rtlCol="0" anchor="t"/>
          <a:lstStyle/>
          <a:p>
            <a:pPr indent="0" marL="0">
              <a:buNone/>
            </a:pPr>
            <a:r>
              <a:rPr lang="en-US" sz="750" b="1" dirty="0">
                <a:solidFill>
                  <a:srgbClr val="5F6B7A"/>
                </a:solidFill>
                <a:latin typeface="Calibri" pitchFamily="34" charset="0"/>
                <a:ea typeface="Calibri" pitchFamily="34" charset="-122"/>
                <a:cs typeface="Calibri" pitchFamily="34" charset="-120"/>
              </a:rPr>
              <a:t>Apps, hosting &amp; government data</a:t>
            </a:r>
            <a:endParaRPr lang="en-US" sz="750" dirty="0"/>
          </a:p>
        </p:txBody>
      </p:sp>
      <p:sp>
        <p:nvSpPr>
          <p:cNvPr id="97" name="Shape 83"/>
          <p:cNvSpPr/>
          <p:nvPr/>
        </p:nvSpPr>
        <p:spPr>
          <a:xfrm>
            <a:off x="274320" y="3813048"/>
            <a:ext cx="969264" cy="201168"/>
          </a:xfrm>
          <a:prstGeom prst="roundRect">
            <a:avLst>
              <a:gd name="adj" fmla="val 18182"/>
            </a:avLst>
          </a:prstGeom>
          <a:solidFill>
            <a:srgbClr val="FFFFFF"/>
          </a:solidFill>
          <a:ln w="9525">
            <a:solidFill>
              <a:srgbClr val="D6DCE5"/>
            </a:solidFill>
            <a:prstDash val="solid"/>
          </a:ln>
        </p:spPr>
      </p:sp>
      <p:pic>
        <p:nvPicPr>
          <p:cNvPr id="98" name="Image 12" descr="preencoded.png">    </p:cNvPr>
          <p:cNvPicPr>
            <a:picLocks noChangeAspect="1"/>
          </p:cNvPicPr>
          <p:nvPr/>
        </p:nvPicPr>
        <p:blipFill>
          <a:blip r:embed="rId13"/>
          <a:stretch>
            <a:fillRect/>
          </a:stretch>
        </p:blipFill>
        <p:spPr>
          <a:xfrm>
            <a:off x="320040" y="3845052"/>
            <a:ext cx="137160" cy="137160"/>
          </a:xfrm>
          <a:prstGeom prst="rect">
            <a:avLst/>
          </a:prstGeom>
        </p:spPr>
      </p:pic>
      <p:sp>
        <p:nvSpPr>
          <p:cNvPr id="99" name="Text 84"/>
          <p:cNvSpPr txBox="1"/>
          <p:nvPr/>
        </p:nvSpPr>
        <p:spPr>
          <a:xfrm>
            <a:off x="502920" y="3813048"/>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React</a:t>
            </a:r>
            <a:endParaRPr lang="en-US" sz="750" dirty="0"/>
          </a:p>
        </p:txBody>
      </p:sp>
      <p:sp>
        <p:nvSpPr>
          <p:cNvPr id="100" name="Shape 85"/>
          <p:cNvSpPr/>
          <p:nvPr/>
        </p:nvSpPr>
        <p:spPr>
          <a:xfrm>
            <a:off x="1298448" y="3813048"/>
            <a:ext cx="969264" cy="201168"/>
          </a:xfrm>
          <a:prstGeom prst="roundRect">
            <a:avLst>
              <a:gd name="adj" fmla="val 18182"/>
            </a:avLst>
          </a:prstGeom>
          <a:solidFill>
            <a:srgbClr val="FFFFFF"/>
          </a:solidFill>
          <a:ln w="9525">
            <a:solidFill>
              <a:srgbClr val="D6DCE5"/>
            </a:solidFill>
            <a:prstDash val="solid"/>
          </a:ln>
        </p:spPr>
      </p:sp>
      <p:pic>
        <p:nvPicPr>
          <p:cNvPr id="101" name="Image 13" descr="preencoded.png">    </p:cNvPr>
          <p:cNvPicPr>
            <a:picLocks noChangeAspect="1"/>
          </p:cNvPicPr>
          <p:nvPr/>
        </p:nvPicPr>
        <p:blipFill>
          <a:blip r:embed="rId14"/>
          <a:stretch>
            <a:fillRect/>
          </a:stretch>
        </p:blipFill>
        <p:spPr>
          <a:xfrm>
            <a:off x="1344168" y="3845052"/>
            <a:ext cx="137160" cy="137160"/>
          </a:xfrm>
          <a:prstGeom prst="rect">
            <a:avLst/>
          </a:prstGeom>
        </p:spPr>
      </p:pic>
      <p:sp>
        <p:nvSpPr>
          <p:cNvPr id="102" name="Text 86"/>
          <p:cNvSpPr txBox="1"/>
          <p:nvPr/>
        </p:nvSpPr>
        <p:spPr>
          <a:xfrm>
            <a:off x="1527048" y="3813048"/>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Leaflet maps</a:t>
            </a:r>
            <a:endParaRPr lang="en-US" sz="750" dirty="0"/>
          </a:p>
        </p:txBody>
      </p:sp>
      <p:sp>
        <p:nvSpPr>
          <p:cNvPr id="103" name="Shape 87"/>
          <p:cNvSpPr/>
          <p:nvPr/>
        </p:nvSpPr>
        <p:spPr>
          <a:xfrm>
            <a:off x="2322576" y="3813048"/>
            <a:ext cx="969264" cy="201168"/>
          </a:xfrm>
          <a:prstGeom prst="roundRect">
            <a:avLst>
              <a:gd name="adj" fmla="val 18182"/>
            </a:avLst>
          </a:prstGeom>
          <a:solidFill>
            <a:srgbClr val="FFFFFF"/>
          </a:solidFill>
          <a:ln w="9525">
            <a:solidFill>
              <a:srgbClr val="D6DCE5"/>
            </a:solidFill>
            <a:prstDash val="solid"/>
          </a:ln>
        </p:spPr>
      </p:sp>
      <p:pic>
        <p:nvPicPr>
          <p:cNvPr id="104" name="Image 14" descr="preencoded.png">    </p:cNvPr>
          <p:cNvPicPr>
            <a:picLocks noChangeAspect="1"/>
          </p:cNvPicPr>
          <p:nvPr/>
        </p:nvPicPr>
        <p:blipFill>
          <a:blip r:embed="rId15"/>
          <a:stretch>
            <a:fillRect/>
          </a:stretch>
        </p:blipFill>
        <p:spPr>
          <a:xfrm>
            <a:off x="2368296" y="3845052"/>
            <a:ext cx="137160" cy="137160"/>
          </a:xfrm>
          <a:prstGeom prst="rect">
            <a:avLst/>
          </a:prstGeom>
        </p:spPr>
      </p:pic>
      <p:sp>
        <p:nvSpPr>
          <p:cNvPr id="105" name="Text 88"/>
          <p:cNvSpPr txBox="1"/>
          <p:nvPr/>
        </p:nvSpPr>
        <p:spPr>
          <a:xfrm>
            <a:off x="2551176" y="3813048"/>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Docker</a:t>
            </a:r>
            <a:endParaRPr lang="en-US" sz="750" dirty="0"/>
          </a:p>
        </p:txBody>
      </p:sp>
      <p:sp>
        <p:nvSpPr>
          <p:cNvPr id="106" name="Shape 89"/>
          <p:cNvSpPr/>
          <p:nvPr/>
        </p:nvSpPr>
        <p:spPr>
          <a:xfrm>
            <a:off x="274320" y="4050792"/>
            <a:ext cx="969264" cy="201168"/>
          </a:xfrm>
          <a:prstGeom prst="roundRect">
            <a:avLst>
              <a:gd name="adj" fmla="val 18182"/>
            </a:avLst>
          </a:prstGeom>
          <a:solidFill>
            <a:srgbClr val="FFFFFF"/>
          </a:solidFill>
          <a:ln w="9525">
            <a:solidFill>
              <a:srgbClr val="D6DCE5"/>
            </a:solidFill>
            <a:prstDash val="solid"/>
          </a:ln>
        </p:spPr>
      </p:sp>
      <p:sp>
        <p:nvSpPr>
          <p:cNvPr id="107" name="Shape 90"/>
          <p:cNvSpPr/>
          <p:nvPr/>
        </p:nvSpPr>
        <p:spPr>
          <a:xfrm>
            <a:off x="320040" y="4082796"/>
            <a:ext cx="137160" cy="137160"/>
          </a:xfrm>
          <a:prstGeom prst="roundRect">
            <a:avLst>
              <a:gd name="adj" fmla="val 13333"/>
            </a:avLst>
          </a:prstGeom>
          <a:solidFill>
            <a:srgbClr val="1F4E79"/>
          </a:solidFill>
          <a:ln w="12700">
            <a:solidFill>
              <a:srgbClr val="1F4E79"/>
            </a:solidFill>
            <a:prstDash val="solid"/>
          </a:ln>
        </p:spPr>
      </p:sp>
      <p:sp>
        <p:nvSpPr>
          <p:cNvPr id="108" name="Text 91"/>
          <p:cNvSpPr txBox="1"/>
          <p:nvPr/>
        </p:nvSpPr>
        <p:spPr>
          <a:xfrm>
            <a:off x="320040" y="4082796"/>
            <a:ext cx="137160" cy="137160"/>
          </a:xfrm>
          <a:prstGeom prst="rect">
            <a:avLst/>
          </a:prstGeom>
          <a:noFill/>
          <a:ln/>
        </p:spPr>
        <p:txBody>
          <a:bodyPr wrap="square" lIns="0" tIns="0" rIns="0" bIns="0" rtlCol="0" anchor="ctr"/>
          <a:lstStyle/>
          <a:p>
            <a:pPr algn="ctr" indent="0" marL="0">
              <a:buNone/>
            </a:pPr>
            <a:r>
              <a:rPr lang="en-US" sz="550" b="1" dirty="0">
                <a:solidFill>
                  <a:srgbClr val="FFFFFF"/>
                </a:solidFill>
                <a:latin typeface="Calibri" pitchFamily="34" charset="0"/>
                <a:ea typeface="Calibri" pitchFamily="34" charset="-122"/>
                <a:cs typeface="Calibri" pitchFamily="34" charset="-120"/>
              </a:rPr>
              <a:t>MR</a:t>
            </a:r>
            <a:endParaRPr lang="en-US" sz="550" dirty="0"/>
          </a:p>
        </p:txBody>
      </p:sp>
      <p:sp>
        <p:nvSpPr>
          <p:cNvPr id="109" name="Text 92"/>
          <p:cNvSpPr txBox="1"/>
          <p:nvPr/>
        </p:nvSpPr>
        <p:spPr>
          <a:xfrm>
            <a:off x="502920" y="4050792"/>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MeghRaj cloud*</a:t>
            </a:r>
            <a:endParaRPr lang="en-US" sz="750" dirty="0"/>
          </a:p>
        </p:txBody>
      </p:sp>
      <p:sp>
        <p:nvSpPr>
          <p:cNvPr id="110" name="Shape 93"/>
          <p:cNvSpPr/>
          <p:nvPr/>
        </p:nvSpPr>
        <p:spPr>
          <a:xfrm>
            <a:off x="1298448" y="4050792"/>
            <a:ext cx="969264" cy="201168"/>
          </a:xfrm>
          <a:prstGeom prst="roundRect">
            <a:avLst>
              <a:gd name="adj" fmla="val 18182"/>
            </a:avLst>
          </a:prstGeom>
          <a:solidFill>
            <a:srgbClr val="FFFFFF"/>
          </a:solidFill>
          <a:ln w="9525">
            <a:solidFill>
              <a:srgbClr val="D6DCE5"/>
            </a:solidFill>
            <a:prstDash val="solid"/>
          </a:ln>
        </p:spPr>
      </p:sp>
      <p:sp>
        <p:nvSpPr>
          <p:cNvPr id="111" name="Shape 94"/>
          <p:cNvSpPr/>
          <p:nvPr/>
        </p:nvSpPr>
        <p:spPr>
          <a:xfrm>
            <a:off x="1344168" y="4082796"/>
            <a:ext cx="137160" cy="137160"/>
          </a:xfrm>
          <a:prstGeom prst="roundRect">
            <a:avLst>
              <a:gd name="adj" fmla="val 13333"/>
            </a:avLst>
          </a:prstGeom>
          <a:solidFill>
            <a:srgbClr val="1F4E79"/>
          </a:solidFill>
          <a:ln w="12700">
            <a:solidFill>
              <a:srgbClr val="1F4E79"/>
            </a:solidFill>
            <a:prstDash val="solid"/>
          </a:ln>
        </p:spPr>
      </p:sp>
      <p:sp>
        <p:nvSpPr>
          <p:cNvPr id="112" name="Text 95"/>
          <p:cNvSpPr txBox="1"/>
          <p:nvPr/>
        </p:nvSpPr>
        <p:spPr>
          <a:xfrm>
            <a:off x="1344168" y="4082796"/>
            <a:ext cx="137160" cy="137160"/>
          </a:xfrm>
          <a:prstGeom prst="rect">
            <a:avLst/>
          </a:prstGeom>
          <a:noFill/>
          <a:ln/>
        </p:spPr>
        <p:txBody>
          <a:bodyPr wrap="square" lIns="0" tIns="0" rIns="0" bIns="0" rtlCol="0" anchor="ctr"/>
          <a:lstStyle/>
          <a:p>
            <a:pPr algn="ctr" indent="0" marL="0">
              <a:buNone/>
            </a:pPr>
            <a:r>
              <a:rPr lang="en-US" sz="550" b="1" dirty="0">
                <a:solidFill>
                  <a:srgbClr val="FFFFFF"/>
                </a:solidFill>
                <a:latin typeface="Calibri" pitchFamily="34" charset="0"/>
                <a:ea typeface="Calibri" pitchFamily="34" charset="-122"/>
                <a:cs typeface="Calibri" pitchFamily="34" charset="-120"/>
              </a:rPr>
              <a:t>NCO</a:t>
            </a:r>
            <a:endParaRPr lang="en-US" sz="550" dirty="0"/>
          </a:p>
        </p:txBody>
      </p:sp>
      <p:sp>
        <p:nvSpPr>
          <p:cNvPr id="113" name="Text 96"/>
          <p:cNvSpPr txBox="1"/>
          <p:nvPr/>
        </p:nvSpPr>
        <p:spPr>
          <a:xfrm>
            <a:off x="1527048" y="4050792"/>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NCO-2015</a:t>
            </a:r>
            <a:endParaRPr lang="en-US" sz="750" dirty="0"/>
          </a:p>
        </p:txBody>
      </p:sp>
      <p:sp>
        <p:nvSpPr>
          <p:cNvPr id="114" name="Shape 97"/>
          <p:cNvSpPr/>
          <p:nvPr/>
        </p:nvSpPr>
        <p:spPr>
          <a:xfrm>
            <a:off x="2322576" y="4050792"/>
            <a:ext cx="969264" cy="201168"/>
          </a:xfrm>
          <a:prstGeom prst="roundRect">
            <a:avLst>
              <a:gd name="adj" fmla="val 18182"/>
            </a:avLst>
          </a:prstGeom>
          <a:solidFill>
            <a:srgbClr val="FFFFFF"/>
          </a:solidFill>
          <a:ln w="9525">
            <a:solidFill>
              <a:srgbClr val="D6DCE5"/>
            </a:solidFill>
            <a:prstDash val="solid"/>
          </a:ln>
        </p:spPr>
      </p:sp>
      <p:sp>
        <p:nvSpPr>
          <p:cNvPr id="115" name="Shape 98"/>
          <p:cNvSpPr/>
          <p:nvPr/>
        </p:nvSpPr>
        <p:spPr>
          <a:xfrm>
            <a:off x="2368296" y="4082796"/>
            <a:ext cx="137160" cy="137160"/>
          </a:xfrm>
          <a:prstGeom prst="roundRect">
            <a:avLst>
              <a:gd name="adj" fmla="val 13333"/>
            </a:avLst>
          </a:prstGeom>
          <a:solidFill>
            <a:srgbClr val="1F4E79"/>
          </a:solidFill>
          <a:ln w="12700">
            <a:solidFill>
              <a:srgbClr val="1F4E79"/>
            </a:solidFill>
            <a:prstDash val="solid"/>
          </a:ln>
        </p:spPr>
      </p:sp>
      <p:sp>
        <p:nvSpPr>
          <p:cNvPr id="116" name="Text 99"/>
          <p:cNvSpPr txBox="1"/>
          <p:nvPr/>
        </p:nvSpPr>
        <p:spPr>
          <a:xfrm>
            <a:off x="2368296" y="4082796"/>
            <a:ext cx="137160" cy="137160"/>
          </a:xfrm>
          <a:prstGeom prst="rect">
            <a:avLst/>
          </a:prstGeom>
          <a:noFill/>
          <a:ln/>
        </p:spPr>
        <p:txBody>
          <a:bodyPr wrap="square" lIns="0" tIns="0" rIns="0" bIns="0" rtlCol="0" anchor="ctr"/>
          <a:lstStyle/>
          <a:p>
            <a:pPr algn="ctr" indent="0" marL="0">
              <a:buNone/>
            </a:pPr>
            <a:r>
              <a:rPr lang="en-US" sz="550" b="1" dirty="0">
                <a:solidFill>
                  <a:srgbClr val="FFFFFF"/>
                </a:solidFill>
                <a:latin typeface="Calibri" pitchFamily="34" charset="0"/>
                <a:ea typeface="Calibri" pitchFamily="34" charset="-122"/>
                <a:cs typeface="Calibri" pitchFamily="34" charset="-120"/>
              </a:rPr>
              <a:t>NQR</a:t>
            </a:r>
            <a:endParaRPr lang="en-US" sz="550" dirty="0"/>
          </a:p>
        </p:txBody>
      </p:sp>
      <p:sp>
        <p:nvSpPr>
          <p:cNvPr id="117" name="Text 100"/>
          <p:cNvSpPr txBox="1"/>
          <p:nvPr/>
        </p:nvSpPr>
        <p:spPr>
          <a:xfrm>
            <a:off x="2551176" y="4050792"/>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NQR / NCVET</a:t>
            </a:r>
            <a:endParaRPr lang="en-US" sz="750" dirty="0"/>
          </a:p>
        </p:txBody>
      </p:sp>
      <p:sp>
        <p:nvSpPr>
          <p:cNvPr id="118" name="Shape 101"/>
          <p:cNvSpPr/>
          <p:nvPr/>
        </p:nvSpPr>
        <p:spPr>
          <a:xfrm>
            <a:off x="274320" y="4288536"/>
            <a:ext cx="969264" cy="201168"/>
          </a:xfrm>
          <a:prstGeom prst="roundRect">
            <a:avLst>
              <a:gd name="adj" fmla="val 18182"/>
            </a:avLst>
          </a:prstGeom>
          <a:solidFill>
            <a:srgbClr val="FFFFFF"/>
          </a:solidFill>
          <a:ln w="9525">
            <a:solidFill>
              <a:srgbClr val="D6DCE5"/>
            </a:solidFill>
            <a:prstDash val="solid"/>
          </a:ln>
        </p:spPr>
      </p:sp>
      <p:sp>
        <p:nvSpPr>
          <p:cNvPr id="119" name="Shape 102"/>
          <p:cNvSpPr/>
          <p:nvPr/>
        </p:nvSpPr>
        <p:spPr>
          <a:xfrm>
            <a:off x="320040" y="4320540"/>
            <a:ext cx="137160" cy="137160"/>
          </a:xfrm>
          <a:prstGeom prst="roundRect">
            <a:avLst>
              <a:gd name="adj" fmla="val 13333"/>
            </a:avLst>
          </a:prstGeom>
          <a:solidFill>
            <a:srgbClr val="1F4E79"/>
          </a:solidFill>
          <a:ln w="12700">
            <a:solidFill>
              <a:srgbClr val="1F4E79"/>
            </a:solidFill>
            <a:prstDash val="solid"/>
          </a:ln>
        </p:spPr>
      </p:sp>
      <p:sp>
        <p:nvSpPr>
          <p:cNvPr id="120" name="Text 103"/>
          <p:cNvSpPr txBox="1"/>
          <p:nvPr/>
        </p:nvSpPr>
        <p:spPr>
          <a:xfrm>
            <a:off x="320040" y="4320540"/>
            <a:ext cx="137160" cy="137160"/>
          </a:xfrm>
          <a:prstGeom prst="rect">
            <a:avLst/>
          </a:prstGeom>
          <a:noFill/>
          <a:ln/>
        </p:spPr>
        <p:txBody>
          <a:bodyPr wrap="square" lIns="0" tIns="0" rIns="0" bIns="0" rtlCol="0" anchor="ctr"/>
          <a:lstStyle/>
          <a:p>
            <a:pPr algn="ctr" indent="0" marL="0">
              <a:buNone/>
            </a:pPr>
            <a:r>
              <a:rPr lang="en-US" sz="550" b="1" dirty="0">
                <a:solidFill>
                  <a:srgbClr val="FFFFFF"/>
                </a:solidFill>
                <a:latin typeface="Calibri" pitchFamily="34" charset="0"/>
                <a:ea typeface="Calibri" pitchFamily="34" charset="-122"/>
                <a:cs typeface="Calibri" pitchFamily="34" charset="-120"/>
              </a:rPr>
              <a:t>DL</a:t>
            </a:r>
            <a:endParaRPr lang="en-US" sz="550" dirty="0"/>
          </a:p>
        </p:txBody>
      </p:sp>
      <p:sp>
        <p:nvSpPr>
          <p:cNvPr id="121" name="Text 104"/>
          <p:cNvSpPr txBox="1"/>
          <p:nvPr/>
        </p:nvSpPr>
        <p:spPr>
          <a:xfrm>
            <a:off x="502920" y="4288536"/>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DigiLocker*</a:t>
            </a:r>
            <a:endParaRPr lang="en-US" sz="750" dirty="0"/>
          </a:p>
        </p:txBody>
      </p:sp>
      <p:sp>
        <p:nvSpPr>
          <p:cNvPr id="122" name="Shape 105"/>
          <p:cNvSpPr/>
          <p:nvPr/>
        </p:nvSpPr>
        <p:spPr>
          <a:xfrm>
            <a:off x="1298448" y="4288536"/>
            <a:ext cx="969264" cy="201168"/>
          </a:xfrm>
          <a:prstGeom prst="roundRect">
            <a:avLst>
              <a:gd name="adj" fmla="val 18182"/>
            </a:avLst>
          </a:prstGeom>
          <a:solidFill>
            <a:srgbClr val="FFFFFF"/>
          </a:solidFill>
          <a:ln w="9525">
            <a:solidFill>
              <a:srgbClr val="D6DCE5"/>
            </a:solidFill>
            <a:prstDash val="solid"/>
          </a:ln>
        </p:spPr>
      </p:sp>
      <p:sp>
        <p:nvSpPr>
          <p:cNvPr id="123" name="Shape 106"/>
          <p:cNvSpPr/>
          <p:nvPr/>
        </p:nvSpPr>
        <p:spPr>
          <a:xfrm>
            <a:off x="1344168" y="4320540"/>
            <a:ext cx="137160" cy="137160"/>
          </a:xfrm>
          <a:prstGeom prst="roundRect">
            <a:avLst>
              <a:gd name="adj" fmla="val 13333"/>
            </a:avLst>
          </a:prstGeom>
          <a:solidFill>
            <a:srgbClr val="1F4E79"/>
          </a:solidFill>
          <a:ln w="12700">
            <a:solidFill>
              <a:srgbClr val="1F4E79"/>
            </a:solidFill>
            <a:prstDash val="solid"/>
          </a:ln>
        </p:spPr>
      </p:sp>
      <p:sp>
        <p:nvSpPr>
          <p:cNvPr id="124" name="Text 107"/>
          <p:cNvSpPr txBox="1"/>
          <p:nvPr/>
        </p:nvSpPr>
        <p:spPr>
          <a:xfrm>
            <a:off x="1344168" y="4320540"/>
            <a:ext cx="137160" cy="137160"/>
          </a:xfrm>
          <a:prstGeom prst="rect">
            <a:avLst/>
          </a:prstGeom>
          <a:noFill/>
          <a:ln/>
        </p:spPr>
        <p:txBody>
          <a:bodyPr wrap="square" lIns="0" tIns="0" rIns="0" bIns="0" rtlCol="0" anchor="ctr"/>
          <a:lstStyle/>
          <a:p>
            <a:pPr algn="ctr" indent="0" marL="0">
              <a:buNone/>
            </a:pPr>
            <a:r>
              <a:rPr lang="en-US" sz="550" b="1" dirty="0">
                <a:solidFill>
                  <a:srgbClr val="FFFFFF"/>
                </a:solidFill>
                <a:latin typeface="Calibri" pitchFamily="34" charset="0"/>
                <a:ea typeface="Calibri" pitchFamily="34" charset="-122"/>
                <a:cs typeface="Calibri" pitchFamily="34" charset="-120"/>
              </a:rPr>
              <a:t>AJ</a:t>
            </a:r>
            <a:endParaRPr lang="en-US" sz="550" dirty="0"/>
          </a:p>
        </p:txBody>
      </p:sp>
      <p:sp>
        <p:nvSpPr>
          <p:cNvPr id="125" name="Text 108"/>
          <p:cNvSpPr txBox="1"/>
          <p:nvPr/>
        </p:nvSpPr>
        <p:spPr>
          <a:xfrm>
            <a:off x="1527048" y="4288536"/>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AJAY app*</a:t>
            </a:r>
            <a:endParaRPr lang="en-US" sz="750" dirty="0"/>
          </a:p>
        </p:txBody>
      </p:sp>
      <p:sp>
        <p:nvSpPr>
          <p:cNvPr id="126" name="Shape 109"/>
          <p:cNvSpPr/>
          <p:nvPr/>
        </p:nvSpPr>
        <p:spPr>
          <a:xfrm>
            <a:off x="2322576" y="4288536"/>
            <a:ext cx="969264" cy="201168"/>
          </a:xfrm>
          <a:prstGeom prst="roundRect">
            <a:avLst>
              <a:gd name="adj" fmla="val 18182"/>
            </a:avLst>
          </a:prstGeom>
          <a:solidFill>
            <a:srgbClr val="FFFFFF"/>
          </a:solidFill>
          <a:ln w="9525">
            <a:solidFill>
              <a:srgbClr val="D6DCE5"/>
            </a:solidFill>
            <a:prstDash val="solid"/>
          </a:ln>
        </p:spPr>
      </p:sp>
      <p:sp>
        <p:nvSpPr>
          <p:cNvPr id="127" name="Shape 110"/>
          <p:cNvSpPr/>
          <p:nvPr/>
        </p:nvSpPr>
        <p:spPr>
          <a:xfrm>
            <a:off x="2368296" y="4320540"/>
            <a:ext cx="137160" cy="137160"/>
          </a:xfrm>
          <a:prstGeom prst="roundRect">
            <a:avLst>
              <a:gd name="adj" fmla="val 13333"/>
            </a:avLst>
          </a:prstGeom>
          <a:solidFill>
            <a:srgbClr val="1F4E79"/>
          </a:solidFill>
          <a:ln w="12700">
            <a:solidFill>
              <a:srgbClr val="1F4E79"/>
            </a:solidFill>
            <a:prstDash val="solid"/>
          </a:ln>
        </p:spPr>
      </p:sp>
      <p:sp>
        <p:nvSpPr>
          <p:cNvPr id="128" name="Text 111"/>
          <p:cNvSpPr txBox="1"/>
          <p:nvPr/>
        </p:nvSpPr>
        <p:spPr>
          <a:xfrm>
            <a:off x="2368296" y="4320540"/>
            <a:ext cx="137160" cy="137160"/>
          </a:xfrm>
          <a:prstGeom prst="rect">
            <a:avLst/>
          </a:prstGeom>
          <a:noFill/>
          <a:ln/>
        </p:spPr>
        <p:txBody>
          <a:bodyPr wrap="square" lIns="0" tIns="0" rIns="0" bIns="0" rtlCol="0" anchor="ctr"/>
          <a:lstStyle/>
          <a:p>
            <a:pPr algn="ctr" indent="0" marL="0">
              <a:buNone/>
            </a:pPr>
            <a:r>
              <a:rPr lang="en-US" sz="550" b="1" dirty="0">
                <a:solidFill>
                  <a:srgbClr val="FFFFFF"/>
                </a:solidFill>
                <a:latin typeface="Calibri" pitchFamily="34" charset="0"/>
                <a:ea typeface="Calibri" pitchFamily="34" charset="-122"/>
                <a:cs typeface="Calibri" pitchFamily="34" charset="-120"/>
              </a:rPr>
              <a:t>CSC</a:t>
            </a:r>
            <a:endParaRPr lang="en-US" sz="550" dirty="0"/>
          </a:p>
        </p:txBody>
      </p:sp>
      <p:sp>
        <p:nvSpPr>
          <p:cNvPr id="129" name="Text 112"/>
          <p:cNvSpPr txBox="1"/>
          <p:nvPr/>
        </p:nvSpPr>
        <p:spPr>
          <a:xfrm>
            <a:off x="2551176" y="4288536"/>
            <a:ext cx="722376" cy="201168"/>
          </a:xfrm>
          <a:prstGeom prst="rect">
            <a:avLst/>
          </a:prstGeom>
          <a:noFill/>
          <a:ln/>
        </p:spPr>
        <p:txBody>
          <a:bodyPr wrap="square" lIns="0" tIns="0" rIns="0" bIns="0" rtlCol="0" anchor="ctr"/>
          <a:lstStyle/>
          <a:p>
            <a:pPr indent="0" marL="0">
              <a:buNone/>
            </a:pPr>
            <a:r>
              <a:rPr lang="en-US" sz="750" b="1" dirty="0">
                <a:solidFill>
                  <a:srgbClr val="1F1F1F"/>
                </a:solidFill>
                <a:latin typeface="Calibri" pitchFamily="34" charset="0"/>
                <a:ea typeface="Calibri" pitchFamily="34" charset="-122"/>
                <a:cs typeface="Calibri" pitchFamily="34" charset="-120"/>
              </a:rPr>
              <a:t>CSC / e-KYC*</a:t>
            </a:r>
            <a:endParaRPr lang="en-US" sz="750" dirty="0"/>
          </a:p>
        </p:txBody>
      </p:sp>
      <p:sp>
        <p:nvSpPr>
          <p:cNvPr id="130" name="Text 113"/>
          <p:cNvSpPr txBox="1"/>
          <p:nvPr/>
        </p:nvSpPr>
        <p:spPr>
          <a:xfrm>
            <a:off x="274320" y="4645152"/>
            <a:ext cx="3108960" cy="182880"/>
          </a:xfrm>
          <a:prstGeom prst="rect">
            <a:avLst/>
          </a:prstGeom>
          <a:noFill/>
          <a:ln/>
        </p:spPr>
        <p:txBody>
          <a:bodyPr wrap="square" lIns="0" tIns="0" rIns="0" bIns="0" rtlCol="0" anchor="t"/>
          <a:lstStyle/>
          <a:p>
            <a:pPr indent="0" marL="0">
              <a:buNone/>
            </a:pPr>
            <a:r>
              <a:rPr lang="en-US" sz="650" i="1" dirty="0">
                <a:solidFill>
                  <a:srgbClr val="5F6B7A"/>
                </a:solidFill>
                <a:latin typeface="Calibri" pitchFamily="34" charset="0"/>
                <a:ea typeface="Calibri" pitchFamily="34" charset="-122"/>
                <a:cs typeface="Calibri" pitchFamily="34" charset="-120"/>
              </a:rPr>
              <a:t>* needs government permission (MoU). Logos: Devicon / Simple Icons; Sarvam mark from Sarvam AI.</a:t>
            </a:r>
            <a:endParaRPr lang="en-US" sz="650" dirty="0"/>
          </a:p>
        </p:txBody>
      </p:sp>
      <p:sp>
        <p:nvSpPr>
          <p:cNvPr id="131" name="Text 114"/>
          <p:cNvSpPr txBox="1"/>
          <p:nvPr/>
        </p:nvSpPr>
        <p:spPr>
          <a:xfrm>
            <a:off x="3520440" y="896112"/>
            <a:ext cx="5349240" cy="182880"/>
          </a:xfrm>
          <a:prstGeom prst="rect">
            <a:avLst/>
          </a:prstGeom>
          <a:noFill/>
          <a:ln/>
        </p:spPr>
        <p:txBody>
          <a:bodyPr wrap="square" lIns="0" tIns="0" rIns="0" bIns="0" rtlCol="0" anchor="t"/>
          <a:lstStyle/>
          <a:p>
            <a:pPr indent="0" marL="0">
              <a:buNone/>
            </a:pPr>
            <a:r>
              <a:rPr lang="en-US" sz="850" b="1" spc="100" kern="0" dirty="0">
                <a:solidFill>
                  <a:srgbClr val="1F4E79"/>
                </a:solidFill>
                <a:latin typeface="Calibri" pitchFamily="34" charset="0"/>
                <a:ea typeface="Calibri" pitchFamily="34" charset="-122"/>
                <a:cs typeface="Calibri" pitchFamily="34" charset="-120"/>
              </a:rPr>
              <a:t>HOW IT WORKS — DURING THE CALL (LIVE) AND AFTER THE CALL</a:t>
            </a:r>
            <a:endParaRPr lang="en-US" sz="850" dirty="0"/>
          </a:p>
        </p:txBody>
      </p:sp>
      <p:sp>
        <p:nvSpPr>
          <p:cNvPr id="132" name="Shape 115"/>
          <p:cNvSpPr/>
          <p:nvPr/>
        </p:nvSpPr>
        <p:spPr>
          <a:xfrm>
            <a:off x="3520440" y="1078992"/>
            <a:ext cx="5349240" cy="1572768"/>
          </a:xfrm>
          <a:prstGeom prst="roundRect">
            <a:avLst>
              <a:gd name="adj" fmla="val 3488"/>
            </a:avLst>
          </a:prstGeom>
          <a:solidFill>
            <a:srgbClr val="EEF3F9"/>
          </a:solidFill>
          <a:ln w="9525">
            <a:solidFill>
              <a:srgbClr val="EEF3F9"/>
            </a:solidFill>
            <a:prstDash val="solid"/>
          </a:ln>
        </p:spPr>
      </p:sp>
      <p:sp>
        <p:nvSpPr>
          <p:cNvPr id="133" name="Text 116"/>
          <p:cNvSpPr txBox="1"/>
          <p:nvPr/>
        </p:nvSpPr>
        <p:spPr>
          <a:xfrm>
            <a:off x="3611880" y="1115568"/>
            <a:ext cx="5166360" cy="164592"/>
          </a:xfrm>
          <a:prstGeom prst="rect">
            <a:avLst/>
          </a:prstGeom>
          <a:noFill/>
          <a:ln/>
        </p:spPr>
        <p:txBody>
          <a:bodyPr wrap="square" lIns="0" tIns="0" rIns="0" bIns="0" rtlCol="0" anchor="t"/>
          <a:lstStyle/>
          <a:p>
            <a:pPr indent="0" marL="0">
              <a:buNone/>
            </a:pPr>
            <a:r>
              <a:rPr lang="en-US" sz="750" b="1" dirty="0">
                <a:solidFill>
                  <a:srgbClr val="1F4E79"/>
                </a:solidFill>
                <a:latin typeface="Calibri" pitchFamily="34" charset="0"/>
                <a:ea typeface="Calibri" pitchFamily="34" charset="-122"/>
                <a:cs typeface="Calibri" pitchFamily="34" charset="-120"/>
              </a:rPr>
              <a:t>①  DURING THE CALL — every sentence the person says goes round this loop in ~1.5 s</a:t>
            </a:r>
            <a:endParaRPr lang="en-US" sz="750" dirty="0"/>
          </a:p>
        </p:txBody>
      </p:sp>
      <p:sp>
        <p:nvSpPr>
          <p:cNvPr id="134" name="Shape 117"/>
          <p:cNvSpPr/>
          <p:nvPr/>
        </p:nvSpPr>
        <p:spPr>
          <a:xfrm>
            <a:off x="3611880" y="1298448"/>
            <a:ext cx="694944" cy="694944"/>
          </a:xfrm>
          <a:prstGeom prst="roundRect">
            <a:avLst>
              <a:gd name="adj" fmla="val 5263"/>
            </a:avLst>
          </a:prstGeom>
          <a:solidFill>
            <a:srgbClr val="FFFFFF"/>
          </a:solidFill>
          <a:ln w="9525">
            <a:solidFill>
              <a:srgbClr val="D6DCE5"/>
            </a:solidFill>
            <a:prstDash val="solid"/>
          </a:ln>
        </p:spPr>
      </p:sp>
      <p:pic>
        <p:nvPicPr>
          <p:cNvPr id="135" name="Image 15" descr="preencoded.png">    </p:cNvPr>
          <p:cNvPicPr>
            <a:picLocks noChangeAspect="1"/>
          </p:cNvPicPr>
          <p:nvPr/>
        </p:nvPicPr>
        <p:blipFill>
          <a:blip r:embed="rId16"/>
          <a:stretch>
            <a:fillRect/>
          </a:stretch>
        </p:blipFill>
        <p:spPr>
          <a:xfrm>
            <a:off x="3849624" y="1344168"/>
            <a:ext cx="219456" cy="219456"/>
          </a:xfrm>
          <a:prstGeom prst="rect">
            <a:avLst/>
          </a:prstGeom>
        </p:spPr>
      </p:pic>
      <p:sp>
        <p:nvSpPr>
          <p:cNvPr id="136" name="Text 118"/>
          <p:cNvSpPr txBox="1"/>
          <p:nvPr/>
        </p:nvSpPr>
        <p:spPr>
          <a:xfrm>
            <a:off x="3639312" y="1572768"/>
            <a:ext cx="640080" cy="128016"/>
          </a:xfrm>
          <a:prstGeom prst="rect">
            <a:avLst/>
          </a:prstGeom>
          <a:noFill/>
          <a:ln/>
        </p:spPr>
        <p:txBody>
          <a:bodyPr wrap="square" lIns="0" tIns="0" rIns="0" bIns="0" rtlCol="0" anchor="t"/>
          <a:lstStyle/>
          <a:p>
            <a:pPr algn="ctr" indent="0" marL="0">
              <a:buNone/>
            </a:pPr>
            <a:r>
              <a:rPr lang="en-US" sz="700" b="1" dirty="0">
                <a:solidFill>
                  <a:srgbClr val="1F4E79"/>
                </a:solidFill>
                <a:latin typeface="Calibri" pitchFamily="34" charset="0"/>
                <a:ea typeface="Calibri" pitchFamily="34" charset="-122"/>
                <a:cs typeface="Calibri" pitchFamily="34" charset="-120"/>
              </a:rPr>
              <a:t>Family phone</a:t>
            </a:r>
            <a:endParaRPr lang="en-US" sz="700" dirty="0"/>
          </a:p>
        </p:txBody>
      </p:sp>
      <p:sp>
        <p:nvSpPr>
          <p:cNvPr id="137" name="Text 119"/>
          <p:cNvSpPr txBox="1"/>
          <p:nvPr/>
        </p:nvSpPr>
        <p:spPr>
          <a:xfrm>
            <a:off x="3639312" y="1700784"/>
            <a:ext cx="640080" cy="274320"/>
          </a:xfrm>
          <a:prstGeom prst="rect">
            <a:avLst/>
          </a:prstGeom>
          <a:noFill/>
          <a:ln/>
        </p:spPr>
        <p:txBody>
          <a:bodyPr wrap="square" lIns="0" tIns="0" rIns="0" bIns="0" rtlCol="0" anchor="t"/>
          <a:lstStyle/>
          <a:p>
            <a:pPr algn="ctr" indent="0" marL="0">
              <a:buNone/>
            </a:pPr>
            <a:r>
              <a:rPr lang="en-US" sz="600" dirty="0">
                <a:solidFill>
                  <a:srgbClr val="1F1F1F"/>
                </a:solidFill>
                <a:latin typeface="Calibri" pitchFamily="34" charset="0"/>
                <a:ea typeface="Calibri" pitchFamily="34" charset="-122"/>
                <a:cs typeface="Calibri" pitchFamily="34" charset="-120"/>
              </a:rPr>
              <a:t>any phone, keypad + voice, no internet</a:t>
            </a:r>
            <a:endParaRPr lang="en-US" sz="600" dirty="0"/>
          </a:p>
        </p:txBody>
      </p:sp>
      <p:sp>
        <p:nvSpPr>
          <p:cNvPr id="138" name="Text 120"/>
          <p:cNvSpPr txBox="1"/>
          <p:nvPr/>
        </p:nvSpPr>
        <p:spPr>
          <a:xfrm>
            <a:off x="4297680" y="1371600"/>
            <a:ext cx="68580" cy="182880"/>
          </a:xfrm>
          <a:prstGeom prst="rect">
            <a:avLst/>
          </a:prstGeom>
          <a:noFill/>
          <a:ln/>
        </p:spPr>
        <p:txBody>
          <a:bodyPr wrap="square" lIns="0" tIns="0" rIns="0" bIns="0" rtlCol="0" anchor="ctr"/>
          <a:lstStyle/>
          <a:p>
            <a:pPr algn="ctr" indent="0" marL="0">
              <a:buNone/>
            </a:pPr>
            <a:r>
              <a:rPr lang="en-US" sz="1100" b="1" dirty="0">
                <a:solidFill>
                  <a:srgbClr val="18864B"/>
                </a:solidFill>
                <a:latin typeface="Calibri" pitchFamily="34" charset="0"/>
                <a:ea typeface="Calibri" pitchFamily="34" charset="-122"/>
                <a:cs typeface="Calibri" pitchFamily="34" charset="-120"/>
              </a:rPr>
              <a:t>›</a:t>
            </a:r>
            <a:endParaRPr lang="en-US" sz="1100" dirty="0"/>
          </a:p>
        </p:txBody>
      </p:sp>
      <p:sp>
        <p:nvSpPr>
          <p:cNvPr id="139" name="Shape 121"/>
          <p:cNvSpPr/>
          <p:nvPr/>
        </p:nvSpPr>
        <p:spPr>
          <a:xfrm>
            <a:off x="4357116" y="1298448"/>
            <a:ext cx="694944" cy="694944"/>
          </a:xfrm>
          <a:prstGeom prst="roundRect">
            <a:avLst>
              <a:gd name="adj" fmla="val 5263"/>
            </a:avLst>
          </a:prstGeom>
          <a:solidFill>
            <a:srgbClr val="FFFFFF"/>
          </a:solidFill>
          <a:ln w="9525">
            <a:solidFill>
              <a:srgbClr val="D6DCE5"/>
            </a:solidFill>
            <a:prstDash val="solid"/>
          </a:ln>
        </p:spPr>
      </p:sp>
      <p:sp>
        <p:nvSpPr>
          <p:cNvPr id="140" name="Shape 122"/>
          <p:cNvSpPr/>
          <p:nvPr/>
        </p:nvSpPr>
        <p:spPr>
          <a:xfrm>
            <a:off x="4594860" y="1344168"/>
            <a:ext cx="219456" cy="219456"/>
          </a:xfrm>
          <a:prstGeom prst="roundRect">
            <a:avLst>
              <a:gd name="adj" fmla="val 12500"/>
            </a:avLst>
          </a:prstGeom>
          <a:solidFill>
            <a:srgbClr val="1F4E79"/>
          </a:solidFill>
          <a:ln w="12700">
            <a:solidFill>
              <a:srgbClr val="1F4E79"/>
            </a:solidFill>
            <a:prstDash val="solid"/>
          </a:ln>
        </p:spPr>
      </p:sp>
      <p:sp>
        <p:nvSpPr>
          <p:cNvPr id="141" name="Text 123"/>
          <p:cNvSpPr txBox="1"/>
          <p:nvPr/>
        </p:nvSpPr>
        <p:spPr>
          <a:xfrm>
            <a:off x="4594860" y="1344168"/>
            <a:ext cx="219456" cy="219456"/>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Ex</a:t>
            </a:r>
            <a:endParaRPr lang="en-US" sz="650" dirty="0"/>
          </a:p>
        </p:txBody>
      </p:sp>
      <p:sp>
        <p:nvSpPr>
          <p:cNvPr id="142" name="Text 124"/>
          <p:cNvSpPr txBox="1"/>
          <p:nvPr/>
        </p:nvSpPr>
        <p:spPr>
          <a:xfrm>
            <a:off x="4384548" y="1572768"/>
            <a:ext cx="640080" cy="128016"/>
          </a:xfrm>
          <a:prstGeom prst="rect">
            <a:avLst/>
          </a:prstGeom>
          <a:noFill/>
          <a:ln/>
        </p:spPr>
        <p:txBody>
          <a:bodyPr wrap="square" lIns="0" tIns="0" rIns="0" bIns="0" rtlCol="0" anchor="t"/>
          <a:lstStyle/>
          <a:p>
            <a:pPr algn="ctr" indent="0" marL="0">
              <a:buNone/>
            </a:pPr>
            <a:r>
              <a:rPr lang="en-US" sz="700" b="1" dirty="0">
                <a:solidFill>
                  <a:srgbClr val="1F4E79"/>
                </a:solidFill>
                <a:latin typeface="Calibri" pitchFamily="34" charset="0"/>
                <a:ea typeface="Calibri" pitchFamily="34" charset="-122"/>
                <a:cs typeface="Calibri" pitchFamily="34" charset="-120"/>
              </a:rPr>
              <a:t>Exotel</a:t>
            </a:r>
            <a:endParaRPr lang="en-US" sz="700" dirty="0"/>
          </a:p>
        </p:txBody>
      </p:sp>
      <p:sp>
        <p:nvSpPr>
          <p:cNvPr id="143" name="Text 125"/>
          <p:cNvSpPr txBox="1"/>
          <p:nvPr/>
        </p:nvSpPr>
        <p:spPr>
          <a:xfrm>
            <a:off x="4384548" y="1700784"/>
            <a:ext cx="640080" cy="274320"/>
          </a:xfrm>
          <a:prstGeom prst="rect">
            <a:avLst/>
          </a:prstGeom>
          <a:noFill/>
          <a:ln/>
        </p:spPr>
        <p:txBody>
          <a:bodyPr wrap="square" lIns="0" tIns="0" rIns="0" bIns="0" rtlCol="0" anchor="t"/>
          <a:lstStyle/>
          <a:p>
            <a:pPr algn="ctr" indent="0" marL="0">
              <a:buNone/>
            </a:pPr>
            <a:r>
              <a:rPr lang="en-US" sz="600" dirty="0">
                <a:solidFill>
                  <a:srgbClr val="1F1F1F"/>
                </a:solidFill>
                <a:latin typeface="Calibri" pitchFamily="34" charset="0"/>
                <a:ea typeface="Calibri" pitchFamily="34" charset="-122"/>
                <a:cs typeface="Calibri" pitchFamily="34" charset="-120"/>
              </a:rPr>
              <a:t>phone line, call-back, keypad (DTMF), SMS</a:t>
            </a:r>
            <a:endParaRPr lang="en-US" sz="600" dirty="0"/>
          </a:p>
        </p:txBody>
      </p:sp>
      <p:sp>
        <p:nvSpPr>
          <p:cNvPr id="144" name="Text 126"/>
          <p:cNvSpPr txBox="1"/>
          <p:nvPr/>
        </p:nvSpPr>
        <p:spPr>
          <a:xfrm>
            <a:off x="5042916" y="1371600"/>
            <a:ext cx="68580" cy="182880"/>
          </a:xfrm>
          <a:prstGeom prst="rect">
            <a:avLst/>
          </a:prstGeom>
          <a:noFill/>
          <a:ln/>
        </p:spPr>
        <p:txBody>
          <a:bodyPr wrap="square" lIns="0" tIns="0" rIns="0" bIns="0" rtlCol="0" anchor="ctr"/>
          <a:lstStyle/>
          <a:p>
            <a:pPr algn="ctr" indent="0" marL="0">
              <a:buNone/>
            </a:pPr>
            <a:r>
              <a:rPr lang="en-US" sz="1100" b="1" dirty="0">
                <a:solidFill>
                  <a:srgbClr val="18864B"/>
                </a:solidFill>
                <a:latin typeface="Calibri" pitchFamily="34" charset="0"/>
                <a:ea typeface="Calibri" pitchFamily="34" charset="-122"/>
                <a:cs typeface="Calibri" pitchFamily="34" charset="-120"/>
              </a:rPr>
              <a:t>›</a:t>
            </a:r>
            <a:endParaRPr lang="en-US" sz="1100" dirty="0"/>
          </a:p>
        </p:txBody>
      </p:sp>
      <p:sp>
        <p:nvSpPr>
          <p:cNvPr id="145" name="Shape 127"/>
          <p:cNvSpPr/>
          <p:nvPr/>
        </p:nvSpPr>
        <p:spPr>
          <a:xfrm>
            <a:off x="5102352" y="1298448"/>
            <a:ext cx="694944" cy="694944"/>
          </a:xfrm>
          <a:prstGeom prst="roundRect">
            <a:avLst>
              <a:gd name="adj" fmla="val 5263"/>
            </a:avLst>
          </a:prstGeom>
          <a:solidFill>
            <a:srgbClr val="FFFFFF"/>
          </a:solidFill>
          <a:ln w="9525">
            <a:solidFill>
              <a:srgbClr val="D6DCE5"/>
            </a:solidFill>
            <a:prstDash val="solid"/>
          </a:ln>
        </p:spPr>
      </p:sp>
      <p:sp>
        <p:nvSpPr>
          <p:cNvPr id="146" name="Shape 128"/>
          <p:cNvSpPr/>
          <p:nvPr/>
        </p:nvSpPr>
        <p:spPr>
          <a:xfrm>
            <a:off x="5340096" y="1344168"/>
            <a:ext cx="219456" cy="219456"/>
          </a:xfrm>
          <a:prstGeom prst="roundRect">
            <a:avLst>
              <a:gd name="adj" fmla="val 12500"/>
            </a:avLst>
          </a:prstGeom>
          <a:solidFill>
            <a:srgbClr val="1F4E79"/>
          </a:solidFill>
          <a:ln w="12700">
            <a:solidFill>
              <a:srgbClr val="1F4E79"/>
            </a:solidFill>
            <a:prstDash val="solid"/>
          </a:ln>
        </p:spPr>
      </p:sp>
      <p:sp>
        <p:nvSpPr>
          <p:cNvPr id="147" name="Text 129"/>
          <p:cNvSpPr txBox="1"/>
          <p:nvPr/>
        </p:nvSpPr>
        <p:spPr>
          <a:xfrm>
            <a:off x="5340096" y="1344168"/>
            <a:ext cx="219456" cy="219456"/>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Pc</a:t>
            </a:r>
            <a:endParaRPr lang="en-US" sz="650" dirty="0"/>
          </a:p>
        </p:txBody>
      </p:sp>
      <p:sp>
        <p:nvSpPr>
          <p:cNvPr id="148" name="Text 130"/>
          <p:cNvSpPr txBox="1"/>
          <p:nvPr/>
        </p:nvSpPr>
        <p:spPr>
          <a:xfrm>
            <a:off x="5129784" y="1572768"/>
            <a:ext cx="640080" cy="128016"/>
          </a:xfrm>
          <a:prstGeom prst="rect">
            <a:avLst/>
          </a:prstGeom>
          <a:noFill/>
          <a:ln/>
        </p:spPr>
        <p:txBody>
          <a:bodyPr wrap="square" lIns="0" tIns="0" rIns="0" bIns="0" rtlCol="0" anchor="t"/>
          <a:lstStyle/>
          <a:p>
            <a:pPr algn="ctr" indent="0" marL="0">
              <a:buNone/>
            </a:pPr>
            <a:r>
              <a:rPr lang="en-US" sz="700" b="1" dirty="0">
                <a:solidFill>
                  <a:srgbClr val="1F4E79"/>
                </a:solidFill>
                <a:latin typeface="Calibri" pitchFamily="34" charset="0"/>
                <a:ea typeface="Calibri" pitchFamily="34" charset="-122"/>
                <a:cs typeface="Calibri" pitchFamily="34" charset="-120"/>
              </a:rPr>
              <a:t>Pipecat</a:t>
            </a:r>
            <a:endParaRPr lang="en-US" sz="700" dirty="0"/>
          </a:p>
        </p:txBody>
      </p:sp>
      <p:sp>
        <p:nvSpPr>
          <p:cNvPr id="149" name="Text 131"/>
          <p:cNvSpPr txBox="1"/>
          <p:nvPr/>
        </p:nvSpPr>
        <p:spPr>
          <a:xfrm>
            <a:off x="5129784" y="1700784"/>
            <a:ext cx="640080" cy="274320"/>
          </a:xfrm>
          <a:prstGeom prst="rect">
            <a:avLst/>
          </a:prstGeom>
          <a:noFill/>
          <a:ln/>
        </p:spPr>
        <p:txBody>
          <a:bodyPr wrap="square" lIns="0" tIns="0" rIns="0" bIns="0" rtlCol="0" anchor="t"/>
          <a:lstStyle/>
          <a:p>
            <a:pPr algn="ctr" indent="0" marL="0">
              <a:buNone/>
            </a:pPr>
            <a:r>
              <a:rPr lang="en-US" sz="600" dirty="0">
                <a:solidFill>
                  <a:srgbClr val="1F1F1F"/>
                </a:solidFill>
                <a:latin typeface="Calibri" pitchFamily="34" charset="0"/>
                <a:ea typeface="Calibri" pitchFamily="34" charset="-122"/>
                <a:cs typeface="Calibri" pitchFamily="34" charset="-120"/>
              </a:rPr>
              <a:t>runs the live call; lets him interrupt</a:t>
            </a:r>
            <a:endParaRPr lang="en-US" sz="600" dirty="0"/>
          </a:p>
        </p:txBody>
      </p:sp>
      <p:sp>
        <p:nvSpPr>
          <p:cNvPr id="150" name="Text 132"/>
          <p:cNvSpPr txBox="1"/>
          <p:nvPr/>
        </p:nvSpPr>
        <p:spPr>
          <a:xfrm>
            <a:off x="5788152" y="1371600"/>
            <a:ext cx="68580" cy="182880"/>
          </a:xfrm>
          <a:prstGeom prst="rect">
            <a:avLst/>
          </a:prstGeom>
          <a:noFill/>
          <a:ln/>
        </p:spPr>
        <p:txBody>
          <a:bodyPr wrap="square" lIns="0" tIns="0" rIns="0" bIns="0" rtlCol="0" anchor="ctr"/>
          <a:lstStyle/>
          <a:p>
            <a:pPr algn="ctr" indent="0" marL="0">
              <a:buNone/>
            </a:pPr>
            <a:r>
              <a:rPr lang="en-US" sz="1100" b="1" dirty="0">
                <a:solidFill>
                  <a:srgbClr val="18864B"/>
                </a:solidFill>
                <a:latin typeface="Calibri" pitchFamily="34" charset="0"/>
                <a:ea typeface="Calibri" pitchFamily="34" charset="-122"/>
                <a:cs typeface="Calibri" pitchFamily="34" charset="-120"/>
              </a:rPr>
              <a:t>›</a:t>
            </a:r>
            <a:endParaRPr lang="en-US" sz="1100" dirty="0"/>
          </a:p>
        </p:txBody>
      </p:sp>
      <p:sp>
        <p:nvSpPr>
          <p:cNvPr id="151" name="Shape 133"/>
          <p:cNvSpPr/>
          <p:nvPr/>
        </p:nvSpPr>
        <p:spPr>
          <a:xfrm>
            <a:off x="5847588" y="1298448"/>
            <a:ext cx="694944" cy="694944"/>
          </a:xfrm>
          <a:prstGeom prst="roundRect">
            <a:avLst>
              <a:gd name="adj" fmla="val 5263"/>
            </a:avLst>
          </a:prstGeom>
          <a:solidFill>
            <a:srgbClr val="FFFFFF"/>
          </a:solidFill>
          <a:ln w="9525">
            <a:solidFill>
              <a:srgbClr val="D6DCE5"/>
            </a:solidFill>
            <a:prstDash val="solid"/>
          </a:ln>
        </p:spPr>
      </p:sp>
      <p:pic>
        <p:nvPicPr>
          <p:cNvPr id="152" name="Image 16" descr="preencoded.png">    </p:cNvPr>
          <p:cNvPicPr>
            <a:picLocks noChangeAspect="1"/>
          </p:cNvPicPr>
          <p:nvPr/>
        </p:nvPicPr>
        <p:blipFill>
          <a:blip r:embed="rId17"/>
          <a:stretch>
            <a:fillRect/>
          </a:stretch>
        </p:blipFill>
        <p:spPr>
          <a:xfrm>
            <a:off x="6085332" y="1344168"/>
            <a:ext cx="219456" cy="219456"/>
          </a:xfrm>
          <a:prstGeom prst="rect">
            <a:avLst/>
          </a:prstGeom>
        </p:spPr>
      </p:pic>
      <p:sp>
        <p:nvSpPr>
          <p:cNvPr id="153" name="Text 134"/>
          <p:cNvSpPr txBox="1"/>
          <p:nvPr/>
        </p:nvSpPr>
        <p:spPr>
          <a:xfrm>
            <a:off x="5875020" y="1572768"/>
            <a:ext cx="640080" cy="128016"/>
          </a:xfrm>
          <a:prstGeom prst="rect">
            <a:avLst/>
          </a:prstGeom>
          <a:noFill/>
          <a:ln/>
        </p:spPr>
        <p:txBody>
          <a:bodyPr wrap="square" lIns="0" tIns="0" rIns="0" bIns="0" rtlCol="0" anchor="t"/>
          <a:lstStyle/>
          <a:p>
            <a:pPr algn="ctr" indent="0" marL="0">
              <a:buNone/>
            </a:pPr>
            <a:r>
              <a:rPr lang="en-US" sz="700" b="1" dirty="0">
                <a:solidFill>
                  <a:srgbClr val="1F4E79"/>
                </a:solidFill>
                <a:latin typeface="Calibri" pitchFamily="34" charset="0"/>
                <a:ea typeface="Calibri" pitchFamily="34" charset="-122"/>
                <a:cs typeface="Calibri" pitchFamily="34" charset="-120"/>
              </a:rPr>
              <a:t>Saaras v3</a:t>
            </a:r>
            <a:endParaRPr lang="en-US" sz="700" dirty="0"/>
          </a:p>
        </p:txBody>
      </p:sp>
      <p:sp>
        <p:nvSpPr>
          <p:cNvPr id="154" name="Text 135"/>
          <p:cNvSpPr txBox="1"/>
          <p:nvPr/>
        </p:nvSpPr>
        <p:spPr>
          <a:xfrm>
            <a:off x="5875020" y="1700784"/>
            <a:ext cx="640080" cy="274320"/>
          </a:xfrm>
          <a:prstGeom prst="rect">
            <a:avLst/>
          </a:prstGeom>
          <a:noFill/>
          <a:ln/>
        </p:spPr>
        <p:txBody>
          <a:bodyPr wrap="square" lIns="0" tIns="0" rIns="0" bIns="0" rtlCol="0" anchor="t"/>
          <a:lstStyle/>
          <a:p>
            <a:pPr algn="ctr" indent="0" marL="0">
              <a:buNone/>
            </a:pPr>
            <a:r>
              <a:rPr lang="en-US" sz="600" dirty="0">
                <a:solidFill>
                  <a:srgbClr val="1F1F1F"/>
                </a:solidFill>
                <a:latin typeface="Calibri" pitchFamily="34" charset="0"/>
                <a:ea typeface="Calibri" pitchFamily="34" charset="-122"/>
                <a:cs typeface="Calibri" pitchFamily="34" charset="-120"/>
              </a:rPr>
              <a:t>speech → text (or IndicConformer, free)</a:t>
            </a:r>
            <a:endParaRPr lang="en-US" sz="600" dirty="0"/>
          </a:p>
        </p:txBody>
      </p:sp>
      <p:sp>
        <p:nvSpPr>
          <p:cNvPr id="155" name="Text 136"/>
          <p:cNvSpPr txBox="1"/>
          <p:nvPr/>
        </p:nvSpPr>
        <p:spPr>
          <a:xfrm>
            <a:off x="6533388" y="1371600"/>
            <a:ext cx="68580" cy="182880"/>
          </a:xfrm>
          <a:prstGeom prst="rect">
            <a:avLst/>
          </a:prstGeom>
          <a:noFill/>
          <a:ln/>
        </p:spPr>
        <p:txBody>
          <a:bodyPr wrap="square" lIns="0" tIns="0" rIns="0" bIns="0" rtlCol="0" anchor="ctr"/>
          <a:lstStyle/>
          <a:p>
            <a:pPr algn="ctr" indent="0" marL="0">
              <a:buNone/>
            </a:pPr>
            <a:r>
              <a:rPr lang="en-US" sz="1100" b="1" dirty="0">
                <a:solidFill>
                  <a:srgbClr val="18864B"/>
                </a:solidFill>
                <a:latin typeface="Calibri" pitchFamily="34" charset="0"/>
                <a:ea typeface="Calibri" pitchFamily="34" charset="-122"/>
                <a:cs typeface="Calibri" pitchFamily="34" charset="-120"/>
              </a:rPr>
              <a:t>›</a:t>
            </a:r>
            <a:endParaRPr lang="en-US" sz="1100" dirty="0"/>
          </a:p>
        </p:txBody>
      </p:sp>
      <p:sp>
        <p:nvSpPr>
          <p:cNvPr id="156" name="Shape 137"/>
          <p:cNvSpPr/>
          <p:nvPr/>
        </p:nvSpPr>
        <p:spPr>
          <a:xfrm>
            <a:off x="6592824" y="1298448"/>
            <a:ext cx="694944" cy="694944"/>
          </a:xfrm>
          <a:prstGeom prst="roundRect">
            <a:avLst>
              <a:gd name="adj" fmla="val 5263"/>
            </a:avLst>
          </a:prstGeom>
          <a:solidFill>
            <a:srgbClr val="FFFFFF"/>
          </a:solidFill>
          <a:ln w="9525">
            <a:solidFill>
              <a:srgbClr val="D6DCE5"/>
            </a:solidFill>
            <a:prstDash val="solid"/>
          </a:ln>
        </p:spPr>
      </p:sp>
      <p:pic>
        <p:nvPicPr>
          <p:cNvPr id="157" name="Image 17" descr="preencoded.png">    </p:cNvPr>
          <p:cNvPicPr>
            <a:picLocks noChangeAspect="1"/>
          </p:cNvPicPr>
          <p:nvPr/>
        </p:nvPicPr>
        <p:blipFill>
          <a:blip r:embed="rId18"/>
          <a:stretch>
            <a:fillRect/>
          </a:stretch>
        </p:blipFill>
        <p:spPr>
          <a:xfrm>
            <a:off x="6830568" y="1344168"/>
            <a:ext cx="219456" cy="219456"/>
          </a:xfrm>
          <a:prstGeom prst="rect">
            <a:avLst/>
          </a:prstGeom>
        </p:spPr>
      </p:pic>
      <p:sp>
        <p:nvSpPr>
          <p:cNvPr id="158" name="Text 138"/>
          <p:cNvSpPr txBox="1"/>
          <p:nvPr/>
        </p:nvSpPr>
        <p:spPr>
          <a:xfrm>
            <a:off x="6620256" y="1572768"/>
            <a:ext cx="640080" cy="128016"/>
          </a:xfrm>
          <a:prstGeom prst="rect">
            <a:avLst/>
          </a:prstGeom>
          <a:noFill/>
          <a:ln/>
        </p:spPr>
        <p:txBody>
          <a:bodyPr wrap="square" lIns="0" tIns="0" rIns="0" bIns="0" rtlCol="0" anchor="t"/>
          <a:lstStyle/>
          <a:p>
            <a:pPr algn="ctr" indent="0" marL="0">
              <a:buNone/>
            </a:pPr>
            <a:r>
              <a:rPr lang="en-US" sz="700" b="1" dirty="0">
                <a:solidFill>
                  <a:srgbClr val="1F4E79"/>
                </a:solidFill>
                <a:latin typeface="Calibri" pitchFamily="34" charset="0"/>
                <a:ea typeface="Calibri" pitchFamily="34" charset="-122"/>
                <a:cs typeface="Calibri" pitchFamily="34" charset="-120"/>
              </a:rPr>
              <a:t>Sarvam-30B</a:t>
            </a:r>
            <a:endParaRPr lang="en-US" sz="700" dirty="0"/>
          </a:p>
        </p:txBody>
      </p:sp>
      <p:sp>
        <p:nvSpPr>
          <p:cNvPr id="159" name="Text 139"/>
          <p:cNvSpPr txBox="1"/>
          <p:nvPr/>
        </p:nvSpPr>
        <p:spPr>
          <a:xfrm>
            <a:off x="6620256" y="1700784"/>
            <a:ext cx="640080" cy="274320"/>
          </a:xfrm>
          <a:prstGeom prst="rect">
            <a:avLst/>
          </a:prstGeom>
          <a:noFill/>
          <a:ln/>
        </p:spPr>
        <p:txBody>
          <a:bodyPr wrap="square" lIns="0" tIns="0" rIns="0" bIns="0" rtlCol="0" anchor="t"/>
          <a:lstStyle/>
          <a:p>
            <a:pPr algn="ctr" indent="0" marL="0">
              <a:buNone/>
            </a:pPr>
            <a:r>
              <a:rPr lang="en-US" sz="600" dirty="0">
                <a:solidFill>
                  <a:srgbClr val="1F1F1F"/>
                </a:solidFill>
                <a:latin typeface="Calibri" pitchFamily="34" charset="0"/>
                <a:ea typeface="Calibri" pitchFamily="34" charset="-122"/>
                <a:cs typeface="Calibri" pitchFamily="34" charset="-120"/>
              </a:rPr>
              <a:t>understands; fills profile; picks next question</a:t>
            </a:r>
            <a:endParaRPr lang="en-US" sz="600" dirty="0"/>
          </a:p>
        </p:txBody>
      </p:sp>
      <p:sp>
        <p:nvSpPr>
          <p:cNvPr id="160" name="Text 140"/>
          <p:cNvSpPr txBox="1"/>
          <p:nvPr/>
        </p:nvSpPr>
        <p:spPr>
          <a:xfrm>
            <a:off x="7278624" y="1371600"/>
            <a:ext cx="68580" cy="182880"/>
          </a:xfrm>
          <a:prstGeom prst="rect">
            <a:avLst/>
          </a:prstGeom>
          <a:noFill/>
          <a:ln/>
        </p:spPr>
        <p:txBody>
          <a:bodyPr wrap="square" lIns="0" tIns="0" rIns="0" bIns="0" rtlCol="0" anchor="ctr"/>
          <a:lstStyle/>
          <a:p>
            <a:pPr algn="ctr" indent="0" marL="0">
              <a:buNone/>
            </a:pPr>
            <a:r>
              <a:rPr lang="en-US" sz="1100" b="1" dirty="0">
                <a:solidFill>
                  <a:srgbClr val="18864B"/>
                </a:solidFill>
                <a:latin typeface="Calibri" pitchFamily="34" charset="0"/>
                <a:ea typeface="Calibri" pitchFamily="34" charset="-122"/>
                <a:cs typeface="Calibri" pitchFamily="34" charset="-120"/>
              </a:rPr>
              <a:t>›</a:t>
            </a:r>
            <a:endParaRPr lang="en-US" sz="1100" dirty="0"/>
          </a:p>
        </p:txBody>
      </p:sp>
      <p:sp>
        <p:nvSpPr>
          <p:cNvPr id="161" name="Shape 141"/>
          <p:cNvSpPr/>
          <p:nvPr/>
        </p:nvSpPr>
        <p:spPr>
          <a:xfrm>
            <a:off x="7338060" y="1298448"/>
            <a:ext cx="694944" cy="694944"/>
          </a:xfrm>
          <a:prstGeom prst="roundRect">
            <a:avLst>
              <a:gd name="adj" fmla="val 5263"/>
            </a:avLst>
          </a:prstGeom>
          <a:solidFill>
            <a:srgbClr val="FFFFFF"/>
          </a:solidFill>
          <a:ln w="9525">
            <a:solidFill>
              <a:srgbClr val="D6DCE5"/>
            </a:solidFill>
            <a:prstDash val="solid"/>
          </a:ln>
        </p:spPr>
      </p:sp>
      <p:pic>
        <p:nvPicPr>
          <p:cNvPr id="162" name="Image 18" descr="preencoded.png">    </p:cNvPr>
          <p:cNvPicPr>
            <a:picLocks noChangeAspect="1"/>
          </p:cNvPicPr>
          <p:nvPr/>
        </p:nvPicPr>
        <p:blipFill>
          <a:blip r:embed="rId19"/>
          <a:stretch>
            <a:fillRect/>
          </a:stretch>
        </p:blipFill>
        <p:spPr>
          <a:xfrm>
            <a:off x="7575804" y="1344168"/>
            <a:ext cx="219456" cy="219456"/>
          </a:xfrm>
          <a:prstGeom prst="rect">
            <a:avLst/>
          </a:prstGeom>
        </p:spPr>
      </p:pic>
      <p:sp>
        <p:nvSpPr>
          <p:cNvPr id="163" name="Text 142"/>
          <p:cNvSpPr txBox="1"/>
          <p:nvPr/>
        </p:nvSpPr>
        <p:spPr>
          <a:xfrm>
            <a:off x="7365492" y="1572768"/>
            <a:ext cx="640080" cy="128016"/>
          </a:xfrm>
          <a:prstGeom prst="rect">
            <a:avLst/>
          </a:prstGeom>
          <a:noFill/>
          <a:ln/>
        </p:spPr>
        <p:txBody>
          <a:bodyPr wrap="square" lIns="0" tIns="0" rIns="0" bIns="0" rtlCol="0" anchor="t"/>
          <a:lstStyle/>
          <a:p>
            <a:pPr algn="ctr" indent="0" marL="0">
              <a:buNone/>
            </a:pPr>
            <a:r>
              <a:rPr lang="en-US" sz="700" b="1" dirty="0">
                <a:solidFill>
                  <a:srgbClr val="1F4E79"/>
                </a:solidFill>
                <a:latin typeface="Calibri" pitchFamily="34" charset="0"/>
                <a:ea typeface="Calibri" pitchFamily="34" charset="-122"/>
                <a:cs typeface="Calibri" pitchFamily="34" charset="-120"/>
              </a:rPr>
              <a:t>SATYA check</a:t>
            </a:r>
            <a:endParaRPr lang="en-US" sz="700" dirty="0"/>
          </a:p>
        </p:txBody>
      </p:sp>
      <p:sp>
        <p:nvSpPr>
          <p:cNvPr id="164" name="Text 143"/>
          <p:cNvSpPr txBox="1"/>
          <p:nvPr/>
        </p:nvSpPr>
        <p:spPr>
          <a:xfrm>
            <a:off x="7365492" y="1700784"/>
            <a:ext cx="640080" cy="274320"/>
          </a:xfrm>
          <a:prstGeom prst="rect">
            <a:avLst/>
          </a:prstGeom>
          <a:noFill/>
          <a:ln/>
        </p:spPr>
        <p:txBody>
          <a:bodyPr wrap="square" lIns="0" tIns="0" rIns="0" bIns="0" rtlCol="0" anchor="t"/>
          <a:lstStyle/>
          <a:p>
            <a:pPr algn="ctr" indent="0" marL="0">
              <a:buNone/>
            </a:pPr>
            <a:r>
              <a:rPr lang="en-US" sz="600" dirty="0">
                <a:solidFill>
                  <a:srgbClr val="1F1F1F"/>
                </a:solidFill>
                <a:latin typeface="Calibri" pitchFamily="34" charset="0"/>
                <a:ea typeface="Calibri" pitchFamily="34" charset="-122"/>
                <a:cs typeface="Calibri" pitchFamily="34" charset="-120"/>
              </a:rPr>
              <a:t>validator: each fact must match a DB row</a:t>
            </a:r>
            <a:endParaRPr lang="en-US" sz="600" dirty="0"/>
          </a:p>
        </p:txBody>
      </p:sp>
      <p:sp>
        <p:nvSpPr>
          <p:cNvPr id="165" name="Text 144"/>
          <p:cNvSpPr txBox="1"/>
          <p:nvPr/>
        </p:nvSpPr>
        <p:spPr>
          <a:xfrm>
            <a:off x="8023860" y="1371600"/>
            <a:ext cx="68580" cy="182880"/>
          </a:xfrm>
          <a:prstGeom prst="rect">
            <a:avLst/>
          </a:prstGeom>
          <a:noFill/>
          <a:ln/>
        </p:spPr>
        <p:txBody>
          <a:bodyPr wrap="square" lIns="0" tIns="0" rIns="0" bIns="0" rtlCol="0" anchor="ctr"/>
          <a:lstStyle/>
          <a:p>
            <a:pPr algn="ctr" indent="0" marL="0">
              <a:buNone/>
            </a:pPr>
            <a:r>
              <a:rPr lang="en-US" sz="1100" b="1" dirty="0">
                <a:solidFill>
                  <a:srgbClr val="18864B"/>
                </a:solidFill>
                <a:latin typeface="Calibri" pitchFamily="34" charset="0"/>
                <a:ea typeface="Calibri" pitchFamily="34" charset="-122"/>
                <a:cs typeface="Calibri" pitchFamily="34" charset="-120"/>
              </a:rPr>
              <a:t>›</a:t>
            </a:r>
            <a:endParaRPr lang="en-US" sz="1100" dirty="0"/>
          </a:p>
        </p:txBody>
      </p:sp>
      <p:sp>
        <p:nvSpPr>
          <p:cNvPr id="166" name="Shape 145"/>
          <p:cNvSpPr/>
          <p:nvPr/>
        </p:nvSpPr>
        <p:spPr>
          <a:xfrm>
            <a:off x="8083296" y="1298448"/>
            <a:ext cx="694944" cy="694944"/>
          </a:xfrm>
          <a:prstGeom prst="roundRect">
            <a:avLst>
              <a:gd name="adj" fmla="val 5263"/>
            </a:avLst>
          </a:prstGeom>
          <a:solidFill>
            <a:srgbClr val="FFFFFF"/>
          </a:solidFill>
          <a:ln w="9525">
            <a:solidFill>
              <a:srgbClr val="D6DCE5"/>
            </a:solidFill>
            <a:prstDash val="solid"/>
          </a:ln>
        </p:spPr>
      </p:sp>
      <p:pic>
        <p:nvPicPr>
          <p:cNvPr id="167" name="Image 19" descr="preencoded.png">    </p:cNvPr>
          <p:cNvPicPr>
            <a:picLocks noChangeAspect="1"/>
          </p:cNvPicPr>
          <p:nvPr/>
        </p:nvPicPr>
        <p:blipFill>
          <a:blip r:embed="rId20"/>
          <a:stretch>
            <a:fillRect/>
          </a:stretch>
        </p:blipFill>
        <p:spPr>
          <a:xfrm>
            <a:off x="8321040" y="1344168"/>
            <a:ext cx="219456" cy="219456"/>
          </a:xfrm>
          <a:prstGeom prst="rect">
            <a:avLst/>
          </a:prstGeom>
        </p:spPr>
      </p:pic>
      <p:sp>
        <p:nvSpPr>
          <p:cNvPr id="168" name="Text 146"/>
          <p:cNvSpPr txBox="1"/>
          <p:nvPr/>
        </p:nvSpPr>
        <p:spPr>
          <a:xfrm>
            <a:off x="8110728" y="1572768"/>
            <a:ext cx="640080" cy="128016"/>
          </a:xfrm>
          <a:prstGeom prst="rect">
            <a:avLst/>
          </a:prstGeom>
          <a:noFill/>
          <a:ln/>
        </p:spPr>
        <p:txBody>
          <a:bodyPr wrap="square" lIns="0" tIns="0" rIns="0" bIns="0" rtlCol="0" anchor="t"/>
          <a:lstStyle/>
          <a:p>
            <a:pPr algn="ctr" indent="0" marL="0">
              <a:buNone/>
            </a:pPr>
            <a:r>
              <a:rPr lang="en-US" sz="700" b="1" dirty="0">
                <a:solidFill>
                  <a:srgbClr val="1F4E79"/>
                </a:solidFill>
                <a:latin typeface="Calibri" pitchFamily="34" charset="0"/>
                <a:ea typeface="Calibri" pitchFamily="34" charset="-122"/>
                <a:cs typeface="Calibri" pitchFamily="34" charset="-120"/>
              </a:rPr>
              <a:t>Bulbul v3</a:t>
            </a:r>
            <a:endParaRPr lang="en-US" sz="700" dirty="0"/>
          </a:p>
        </p:txBody>
      </p:sp>
      <p:sp>
        <p:nvSpPr>
          <p:cNvPr id="169" name="Text 147"/>
          <p:cNvSpPr txBox="1"/>
          <p:nvPr/>
        </p:nvSpPr>
        <p:spPr>
          <a:xfrm>
            <a:off x="8110728" y="1700784"/>
            <a:ext cx="640080" cy="274320"/>
          </a:xfrm>
          <a:prstGeom prst="rect">
            <a:avLst/>
          </a:prstGeom>
          <a:noFill/>
          <a:ln/>
        </p:spPr>
        <p:txBody>
          <a:bodyPr wrap="square" lIns="0" tIns="0" rIns="0" bIns="0" rtlCol="0" anchor="t"/>
          <a:lstStyle/>
          <a:p>
            <a:pPr algn="ctr" indent="0" marL="0">
              <a:buNone/>
            </a:pPr>
            <a:r>
              <a:rPr lang="en-US" sz="600" dirty="0">
                <a:solidFill>
                  <a:srgbClr val="1F1F1F"/>
                </a:solidFill>
                <a:latin typeface="Calibri" pitchFamily="34" charset="0"/>
                <a:ea typeface="Calibri" pitchFamily="34" charset="-122"/>
                <a:cs typeface="Calibri" pitchFamily="34" charset="-120"/>
              </a:rPr>
              <a:t>text → speech in his language; reply back</a:t>
            </a:r>
            <a:endParaRPr lang="en-US" sz="600" dirty="0"/>
          </a:p>
        </p:txBody>
      </p:sp>
      <p:sp>
        <p:nvSpPr>
          <p:cNvPr id="170" name="Shape 148"/>
          <p:cNvSpPr/>
          <p:nvPr/>
        </p:nvSpPr>
        <p:spPr>
          <a:xfrm>
            <a:off x="3611880" y="2039112"/>
            <a:ext cx="2011680" cy="576072"/>
          </a:xfrm>
          <a:prstGeom prst="roundRect">
            <a:avLst>
              <a:gd name="adj" fmla="val 6349"/>
            </a:avLst>
          </a:prstGeom>
          <a:solidFill>
            <a:srgbClr val="FFFFFF"/>
          </a:solidFill>
          <a:ln w="9525">
            <a:solidFill>
              <a:srgbClr val="D6DCE5"/>
            </a:solidFill>
            <a:prstDash val="solid"/>
          </a:ln>
        </p:spPr>
      </p:sp>
      <p:sp>
        <p:nvSpPr>
          <p:cNvPr id="171" name="Text 149"/>
          <p:cNvSpPr txBox="1"/>
          <p:nvPr/>
        </p:nvSpPr>
        <p:spPr>
          <a:xfrm>
            <a:off x="3666744" y="2066544"/>
            <a:ext cx="1901952" cy="530352"/>
          </a:xfrm>
          <a:prstGeom prst="rect">
            <a:avLst/>
          </a:prstGeom>
          <a:noFill/>
          <a:ln/>
        </p:spPr>
        <p:txBody>
          <a:bodyPr wrap="square" lIns="0" tIns="0" rIns="0" bIns="0" rtlCol="0" anchor="t"/>
          <a:lstStyle/>
          <a:p>
            <a:pPr indent="0" marL="0">
              <a:buNone/>
            </a:pPr>
            <a:r>
              <a:rPr lang="en-US" sz="610" b="1" dirty="0">
                <a:solidFill>
                  <a:srgbClr val="1F4E79"/>
                </a:solidFill>
                <a:latin typeface="Calibri" pitchFamily="34" charset="0"/>
                <a:ea typeface="Calibri" pitchFamily="34" charset="-122"/>
                <a:cs typeface="Calibri" pitchFamily="34" charset="-120"/>
              </a:rPr>
              <a:t>Knowledge base (PostgreSQL + pgvector + PostGIS): </a:t>
            </a:r>
            <a:r>
              <a:rPr lang="en-US" sz="610" dirty="0">
                <a:solidFill>
                  <a:srgbClr val="1F1F1F"/>
                </a:solidFill>
                <a:latin typeface="Calibri" pitchFamily="34" charset="0"/>
                <a:ea typeface="Calibri" pitchFamily="34" charset="-122"/>
                <a:cs typeface="Calibri" pitchFamily="34" charset="-120"/>
              </a:rPr>
              <a:t>scheme rules (dated, versioned), NQR courses, NCO-2015 occupations, training centres, local jobs — the ONLY source of facts. No internet search; the AI never answers from memory.</a:t>
            </a:r>
            <a:endParaRPr lang="en-US" sz="610" dirty="0"/>
          </a:p>
        </p:txBody>
      </p:sp>
      <p:sp>
        <p:nvSpPr>
          <p:cNvPr id="172" name="Shape 150"/>
          <p:cNvSpPr/>
          <p:nvPr/>
        </p:nvSpPr>
        <p:spPr>
          <a:xfrm>
            <a:off x="5715000" y="2039112"/>
            <a:ext cx="3063240" cy="576072"/>
          </a:xfrm>
          <a:prstGeom prst="roundRect">
            <a:avLst>
              <a:gd name="adj" fmla="val 6349"/>
            </a:avLst>
          </a:prstGeom>
          <a:solidFill>
            <a:srgbClr val="FFFFFF"/>
          </a:solidFill>
          <a:ln w="9525">
            <a:solidFill>
              <a:srgbClr val="D6DCE5"/>
            </a:solidFill>
            <a:prstDash val="solid"/>
          </a:ln>
        </p:spPr>
      </p:sp>
      <p:sp>
        <p:nvSpPr>
          <p:cNvPr id="173" name="Text 151"/>
          <p:cNvSpPr txBox="1"/>
          <p:nvPr/>
        </p:nvSpPr>
        <p:spPr>
          <a:xfrm>
            <a:off x="5769864" y="2066544"/>
            <a:ext cx="2953512" cy="530352"/>
          </a:xfrm>
          <a:prstGeom prst="rect">
            <a:avLst/>
          </a:prstGeom>
          <a:noFill/>
          <a:ln/>
        </p:spPr>
        <p:txBody>
          <a:bodyPr wrap="square" lIns="0" tIns="0" rIns="0" bIns="0" rtlCol="0" anchor="t"/>
          <a:lstStyle/>
          <a:p>
            <a:pPr indent="0" marL="0">
              <a:buNone/>
            </a:pPr>
            <a:r>
              <a:rPr lang="en-US" sz="610" b="1" dirty="0">
                <a:solidFill>
                  <a:srgbClr val="1F4E79"/>
                </a:solidFill>
                <a:latin typeface="Calibri" pitchFamily="34" charset="0"/>
                <a:ea typeface="Calibri" pitchFamily="34" charset="-122"/>
                <a:cs typeface="Calibri" pitchFamily="34" charset="-120"/>
              </a:rPr>
              <a:t>Smart router — cheapest first, better only when needed: </a:t>
            </a:r>
            <a:r>
              <a:rPr lang="en-US" sz="610" dirty="0">
                <a:solidFill>
                  <a:srgbClr val="1F1F1F"/>
                </a:solidFill>
                <a:latin typeface="Calibri" pitchFamily="34" charset="0"/>
                <a:ea typeface="Calibri" pitchFamily="34" charset="-122"/>
                <a:cs typeface="Calibri" pitchFamily="34" charset="-120"/>
              </a:rPr>
              <a:t>Speech: IndicConformer (free) → Saaras v3 (₹0.50/min) for hard dialects or low confidence. Brain: Sarvam-30B (default) → Sarvam-105B (₹29 / ₹73 per 1M tokens) if a slot is unsure twice, SATYA rejects, or the caller is unhappy; still unhappy → a human counsellor calls back. Voice: pre-recorded prompts (free); Bulbul v3 (₹3 / 1,000 chars) only for new sentences.</a:t>
            </a:r>
            <a:endParaRPr lang="en-US" sz="610" dirty="0"/>
          </a:p>
        </p:txBody>
      </p:sp>
      <p:sp>
        <p:nvSpPr>
          <p:cNvPr id="174" name="Shape 152"/>
          <p:cNvSpPr/>
          <p:nvPr/>
        </p:nvSpPr>
        <p:spPr>
          <a:xfrm>
            <a:off x="3520440" y="2724912"/>
            <a:ext cx="5349240" cy="877824"/>
          </a:xfrm>
          <a:prstGeom prst="roundRect">
            <a:avLst>
              <a:gd name="adj" fmla="val 6250"/>
            </a:avLst>
          </a:prstGeom>
          <a:solidFill>
            <a:srgbClr val="E8F5EC"/>
          </a:solidFill>
          <a:ln w="9525">
            <a:solidFill>
              <a:srgbClr val="E8F5EC"/>
            </a:solidFill>
            <a:prstDash val="solid"/>
          </a:ln>
        </p:spPr>
      </p:sp>
      <p:sp>
        <p:nvSpPr>
          <p:cNvPr id="175" name="Text 153"/>
          <p:cNvSpPr txBox="1"/>
          <p:nvPr/>
        </p:nvSpPr>
        <p:spPr>
          <a:xfrm>
            <a:off x="3611880" y="2761488"/>
            <a:ext cx="5166360" cy="164592"/>
          </a:xfrm>
          <a:prstGeom prst="rect">
            <a:avLst/>
          </a:prstGeom>
          <a:noFill/>
          <a:ln/>
        </p:spPr>
        <p:txBody>
          <a:bodyPr wrap="square" lIns="0" tIns="0" rIns="0" bIns="0" rtlCol="0" anchor="t"/>
          <a:lstStyle/>
          <a:p>
            <a:pPr indent="0" marL="0">
              <a:buNone/>
            </a:pPr>
            <a:r>
              <a:rPr lang="en-US" sz="750" b="1" dirty="0">
                <a:solidFill>
                  <a:srgbClr val="18864B"/>
                </a:solidFill>
                <a:latin typeface="Calibri" pitchFamily="34" charset="0"/>
                <a:ea typeface="Calibri" pitchFamily="34" charset="-122"/>
                <a:cs typeface="Calibri" pitchFamily="34" charset="-120"/>
              </a:rPr>
              <a:t>②  AFTER THE CALL — the confirmed profile becomes a case that people act on</a:t>
            </a:r>
            <a:endParaRPr lang="en-US" sz="750" dirty="0"/>
          </a:p>
        </p:txBody>
      </p:sp>
      <p:sp>
        <p:nvSpPr>
          <p:cNvPr id="176" name="Shape 154"/>
          <p:cNvSpPr/>
          <p:nvPr/>
        </p:nvSpPr>
        <p:spPr>
          <a:xfrm>
            <a:off x="3611880" y="2944368"/>
            <a:ext cx="813816" cy="603504"/>
          </a:xfrm>
          <a:prstGeom prst="roundRect">
            <a:avLst>
              <a:gd name="adj" fmla="val 6061"/>
            </a:avLst>
          </a:prstGeom>
          <a:solidFill>
            <a:srgbClr val="FFFFFF"/>
          </a:solidFill>
          <a:ln w="9525">
            <a:solidFill>
              <a:srgbClr val="D6DCE5"/>
            </a:solidFill>
            <a:prstDash val="solid"/>
          </a:ln>
        </p:spPr>
      </p:sp>
      <p:pic>
        <p:nvPicPr>
          <p:cNvPr id="177" name="Image 20" descr="preencoded.png">    </p:cNvPr>
          <p:cNvPicPr>
            <a:picLocks noChangeAspect="1"/>
          </p:cNvPicPr>
          <p:nvPr/>
        </p:nvPicPr>
        <p:blipFill>
          <a:blip r:embed="rId21"/>
          <a:stretch>
            <a:fillRect/>
          </a:stretch>
        </p:blipFill>
        <p:spPr>
          <a:xfrm>
            <a:off x="3909060" y="2990088"/>
            <a:ext cx="219456" cy="219456"/>
          </a:xfrm>
          <a:prstGeom prst="rect">
            <a:avLst/>
          </a:prstGeom>
        </p:spPr>
      </p:pic>
      <p:sp>
        <p:nvSpPr>
          <p:cNvPr id="178" name="Text 155"/>
          <p:cNvSpPr txBox="1"/>
          <p:nvPr/>
        </p:nvSpPr>
        <p:spPr>
          <a:xfrm>
            <a:off x="3639312" y="3218688"/>
            <a:ext cx="758952" cy="128016"/>
          </a:xfrm>
          <a:prstGeom prst="rect">
            <a:avLst/>
          </a:prstGeom>
          <a:noFill/>
          <a:ln/>
        </p:spPr>
        <p:txBody>
          <a:bodyPr wrap="square" lIns="0" tIns="0" rIns="0" bIns="0" rtlCol="0" anchor="t"/>
          <a:lstStyle/>
          <a:p>
            <a:pPr algn="ctr" indent="0" marL="0">
              <a:buNone/>
            </a:pPr>
            <a:r>
              <a:rPr lang="en-US" sz="700" b="1" dirty="0">
                <a:solidFill>
                  <a:srgbClr val="1F4E79"/>
                </a:solidFill>
                <a:latin typeface="Calibri" pitchFamily="34" charset="0"/>
                <a:ea typeface="Calibri" pitchFamily="34" charset="-122"/>
                <a:cs typeface="Calibri" pitchFamily="34" charset="-120"/>
              </a:rPr>
              <a:t>FastAPI</a:t>
            </a:r>
            <a:endParaRPr lang="en-US" sz="700" dirty="0"/>
          </a:p>
        </p:txBody>
      </p:sp>
      <p:sp>
        <p:nvSpPr>
          <p:cNvPr id="179" name="Text 156"/>
          <p:cNvSpPr txBox="1"/>
          <p:nvPr/>
        </p:nvSpPr>
        <p:spPr>
          <a:xfrm>
            <a:off x="3639312" y="3346704"/>
            <a:ext cx="758952" cy="201168"/>
          </a:xfrm>
          <a:prstGeom prst="rect">
            <a:avLst/>
          </a:prstGeom>
          <a:noFill/>
          <a:ln/>
        </p:spPr>
        <p:txBody>
          <a:bodyPr wrap="square" lIns="0" tIns="0" rIns="0" bIns="0" rtlCol="0" anchor="t"/>
          <a:lstStyle/>
          <a:p>
            <a:pPr algn="ctr" indent="0" marL="0">
              <a:buNone/>
            </a:pPr>
            <a:r>
              <a:rPr lang="en-US" sz="600" dirty="0">
                <a:solidFill>
                  <a:srgbClr val="1F1F1F"/>
                </a:solidFill>
                <a:latin typeface="Calibri" pitchFamily="34" charset="0"/>
                <a:ea typeface="Calibri" pitchFamily="34" charset="-122"/>
                <a:cs typeface="Calibri" pitchFamily="34" charset="-120"/>
              </a:rPr>
              <a:t>creates the case; rules engine</a:t>
            </a:r>
            <a:endParaRPr lang="en-US" sz="600" dirty="0"/>
          </a:p>
        </p:txBody>
      </p:sp>
      <p:sp>
        <p:nvSpPr>
          <p:cNvPr id="180" name="Text 157"/>
          <p:cNvSpPr txBox="1"/>
          <p:nvPr/>
        </p:nvSpPr>
        <p:spPr>
          <a:xfrm>
            <a:off x="4416552" y="3017520"/>
            <a:ext cx="74981" cy="182880"/>
          </a:xfrm>
          <a:prstGeom prst="rect">
            <a:avLst/>
          </a:prstGeom>
          <a:noFill/>
          <a:ln/>
        </p:spPr>
        <p:txBody>
          <a:bodyPr wrap="square" lIns="0" tIns="0" rIns="0" bIns="0" rtlCol="0" anchor="ctr"/>
          <a:lstStyle/>
          <a:p>
            <a:pPr algn="ctr" indent="0" marL="0">
              <a:buNone/>
            </a:pPr>
            <a:r>
              <a:rPr lang="en-US" sz="1100" b="1" dirty="0">
                <a:solidFill>
                  <a:srgbClr val="18864B"/>
                </a:solidFill>
                <a:latin typeface="Calibri" pitchFamily="34" charset="0"/>
                <a:ea typeface="Calibri" pitchFamily="34" charset="-122"/>
                <a:cs typeface="Calibri" pitchFamily="34" charset="-120"/>
              </a:rPr>
              <a:t>›</a:t>
            </a:r>
            <a:endParaRPr lang="en-US" sz="1100" dirty="0"/>
          </a:p>
        </p:txBody>
      </p:sp>
      <p:sp>
        <p:nvSpPr>
          <p:cNvPr id="181" name="Shape 158"/>
          <p:cNvSpPr/>
          <p:nvPr/>
        </p:nvSpPr>
        <p:spPr>
          <a:xfrm>
            <a:off x="4482389" y="2944368"/>
            <a:ext cx="813816" cy="603504"/>
          </a:xfrm>
          <a:prstGeom prst="roundRect">
            <a:avLst>
              <a:gd name="adj" fmla="val 6061"/>
            </a:avLst>
          </a:prstGeom>
          <a:solidFill>
            <a:srgbClr val="FFFFFF"/>
          </a:solidFill>
          <a:ln w="9525">
            <a:solidFill>
              <a:srgbClr val="D6DCE5"/>
            </a:solidFill>
            <a:prstDash val="solid"/>
          </a:ln>
        </p:spPr>
      </p:sp>
      <p:pic>
        <p:nvPicPr>
          <p:cNvPr id="182" name="Image 21" descr="preencoded.png">    </p:cNvPr>
          <p:cNvPicPr>
            <a:picLocks noChangeAspect="1"/>
          </p:cNvPicPr>
          <p:nvPr/>
        </p:nvPicPr>
        <p:blipFill>
          <a:blip r:embed="rId22"/>
          <a:stretch>
            <a:fillRect/>
          </a:stretch>
        </p:blipFill>
        <p:spPr>
          <a:xfrm>
            <a:off x="4779569" y="2990088"/>
            <a:ext cx="219456" cy="219456"/>
          </a:xfrm>
          <a:prstGeom prst="rect">
            <a:avLst/>
          </a:prstGeom>
        </p:spPr>
      </p:pic>
      <p:sp>
        <p:nvSpPr>
          <p:cNvPr id="183" name="Text 159"/>
          <p:cNvSpPr txBox="1"/>
          <p:nvPr/>
        </p:nvSpPr>
        <p:spPr>
          <a:xfrm>
            <a:off x="4509821" y="3218688"/>
            <a:ext cx="758952" cy="128016"/>
          </a:xfrm>
          <a:prstGeom prst="rect">
            <a:avLst/>
          </a:prstGeom>
          <a:noFill/>
          <a:ln/>
        </p:spPr>
        <p:txBody>
          <a:bodyPr wrap="square" lIns="0" tIns="0" rIns="0" bIns="0" rtlCol="0" anchor="t"/>
          <a:lstStyle/>
          <a:p>
            <a:pPr algn="ctr" indent="0" marL="0">
              <a:buNone/>
            </a:pPr>
            <a:r>
              <a:rPr lang="en-US" sz="700" b="1" dirty="0">
                <a:solidFill>
                  <a:srgbClr val="1F4E79"/>
                </a:solidFill>
                <a:latin typeface="Calibri" pitchFamily="34" charset="0"/>
                <a:ea typeface="Calibri" pitchFamily="34" charset="-122"/>
                <a:cs typeface="Calibri" pitchFamily="34" charset="-120"/>
              </a:rPr>
              <a:t>PostgreSQL</a:t>
            </a:r>
            <a:endParaRPr lang="en-US" sz="700" dirty="0"/>
          </a:p>
        </p:txBody>
      </p:sp>
      <p:sp>
        <p:nvSpPr>
          <p:cNvPr id="184" name="Text 160"/>
          <p:cNvSpPr txBox="1"/>
          <p:nvPr/>
        </p:nvSpPr>
        <p:spPr>
          <a:xfrm>
            <a:off x="4509821" y="3346704"/>
            <a:ext cx="758952" cy="201168"/>
          </a:xfrm>
          <a:prstGeom prst="rect">
            <a:avLst/>
          </a:prstGeom>
          <a:noFill/>
          <a:ln/>
        </p:spPr>
        <p:txBody>
          <a:bodyPr wrap="square" lIns="0" tIns="0" rIns="0" bIns="0" rtlCol="0" anchor="t"/>
          <a:lstStyle/>
          <a:p>
            <a:pPr algn="ctr" indent="0" marL="0">
              <a:buNone/>
            </a:pPr>
            <a:r>
              <a:rPr lang="en-US" sz="600" dirty="0">
                <a:solidFill>
                  <a:srgbClr val="1F1F1F"/>
                </a:solidFill>
                <a:latin typeface="Calibri" pitchFamily="34" charset="0"/>
                <a:ea typeface="Calibri" pitchFamily="34" charset="-122"/>
                <a:cs typeface="Calibri" pitchFamily="34" charset="-120"/>
              </a:rPr>
              <a:t>profile + case stored as tables</a:t>
            </a:r>
            <a:endParaRPr lang="en-US" sz="600" dirty="0"/>
          </a:p>
        </p:txBody>
      </p:sp>
      <p:sp>
        <p:nvSpPr>
          <p:cNvPr id="185" name="Text 161"/>
          <p:cNvSpPr txBox="1"/>
          <p:nvPr/>
        </p:nvSpPr>
        <p:spPr>
          <a:xfrm>
            <a:off x="5287061" y="3017520"/>
            <a:ext cx="74981" cy="182880"/>
          </a:xfrm>
          <a:prstGeom prst="rect">
            <a:avLst/>
          </a:prstGeom>
          <a:noFill/>
          <a:ln/>
        </p:spPr>
        <p:txBody>
          <a:bodyPr wrap="square" lIns="0" tIns="0" rIns="0" bIns="0" rtlCol="0" anchor="ctr"/>
          <a:lstStyle/>
          <a:p>
            <a:pPr algn="ctr" indent="0" marL="0">
              <a:buNone/>
            </a:pPr>
            <a:r>
              <a:rPr lang="en-US" sz="1100" b="1" dirty="0">
                <a:solidFill>
                  <a:srgbClr val="18864B"/>
                </a:solidFill>
                <a:latin typeface="Calibri" pitchFamily="34" charset="0"/>
                <a:ea typeface="Calibri" pitchFamily="34" charset="-122"/>
                <a:cs typeface="Calibri" pitchFamily="34" charset="-120"/>
              </a:rPr>
              <a:t>›</a:t>
            </a:r>
            <a:endParaRPr lang="en-US" sz="1100" dirty="0"/>
          </a:p>
        </p:txBody>
      </p:sp>
      <p:sp>
        <p:nvSpPr>
          <p:cNvPr id="186" name="Shape 162"/>
          <p:cNvSpPr/>
          <p:nvPr/>
        </p:nvSpPr>
        <p:spPr>
          <a:xfrm>
            <a:off x="5352898" y="2944368"/>
            <a:ext cx="813816" cy="603504"/>
          </a:xfrm>
          <a:prstGeom prst="roundRect">
            <a:avLst>
              <a:gd name="adj" fmla="val 6061"/>
            </a:avLst>
          </a:prstGeom>
          <a:solidFill>
            <a:srgbClr val="FFFFFF"/>
          </a:solidFill>
          <a:ln w="9525">
            <a:solidFill>
              <a:srgbClr val="D6DCE5"/>
            </a:solidFill>
            <a:prstDash val="solid"/>
          </a:ln>
        </p:spPr>
      </p:sp>
      <p:sp>
        <p:nvSpPr>
          <p:cNvPr id="187" name="Shape 163"/>
          <p:cNvSpPr/>
          <p:nvPr/>
        </p:nvSpPr>
        <p:spPr>
          <a:xfrm>
            <a:off x="5650078" y="2990088"/>
            <a:ext cx="219456" cy="219456"/>
          </a:xfrm>
          <a:prstGeom prst="roundRect">
            <a:avLst>
              <a:gd name="adj" fmla="val 12500"/>
            </a:avLst>
          </a:prstGeom>
          <a:solidFill>
            <a:srgbClr val="1F4E79"/>
          </a:solidFill>
          <a:ln w="12700">
            <a:solidFill>
              <a:srgbClr val="1F4E79"/>
            </a:solidFill>
            <a:prstDash val="solid"/>
          </a:ln>
        </p:spPr>
      </p:sp>
      <p:sp>
        <p:nvSpPr>
          <p:cNvPr id="188" name="Text 164"/>
          <p:cNvSpPr txBox="1"/>
          <p:nvPr/>
        </p:nvSpPr>
        <p:spPr>
          <a:xfrm>
            <a:off x="5650078" y="2990088"/>
            <a:ext cx="219456" cy="219456"/>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CSC</a:t>
            </a:r>
            <a:endParaRPr lang="en-US" sz="650" dirty="0"/>
          </a:p>
        </p:txBody>
      </p:sp>
      <p:sp>
        <p:nvSpPr>
          <p:cNvPr id="189" name="Text 165"/>
          <p:cNvSpPr txBox="1"/>
          <p:nvPr/>
        </p:nvSpPr>
        <p:spPr>
          <a:xfrm>
            <a:off x="5380330" y="3218688"/>
            <a:ext cx="758952" cy="128016"/>
          </a:xfrm>
          <a:prstGeom prst="rect">
            <a:avLst/>
          </a:prstGeom>
          <a:noFill/>
          <a:ln/>
        </p:spPr>
        <p:txBody>
          <a:bodyPr wrap="square" lIns="0" tIns="0" rIns="0" bIns="0" rtlCol="0" anchor="t"/>
          <a:lstStyle/>
          <a:p>
            <a:pPr algn="ctr" indent="0" marL="0">
              <a:buNone/>
            </a:pPr>
            <a:r>
              <a:rPr lang="en-US" sz="700" b="1" dirty="0">
                <a:solidFill>
                  <a:srgbClr val="1F4E79"/>
                </a:solidFill>
                <a:latin typeface="Calibri" pitchFamily="34" charset="0"/>
                <a:ea typeface="Calibri" pitchFamily="34" charset="-122"/>
                <a:cs typeface="Calibri" pitchFamily="34" charset="-120"/>
              </a:rPr>
              <a:t>CSC centre</a:t>
            </a:r>
            <a:endParaRPr lang="en-US" sz="700" dirty="0"/>
          </a:p>
        </p:txBody>
      </p:sp>
      <p:sp>
        <p:nvSpPr>
          <p:cNvPr id="190" name="Text 166"/>
          <p:cNvSpPr txBox="1"/>
          <p:nvPr/>
        </p:nvSpPr>
        <p:spPr>
          <a:xfrm>
            <a:off x="5380330" y="3346704"/>
            <a:ext cx="758952" cy="201168"/>
          </a:xfrm>
          <a:prstGeom prst="rect">
            <a:avLst/>
          </a:prstGeom>
          <a:noFill/>
          <a:ln/>
        </p:spPr>
        <p:txBody>
          <a:bodyPr wrap="square" lIns="0" tIns="0" rIns="0" bIns="0" rtlCol="0" anchor="t"/>
          <a:lstStyle/>
          <a:p>
            <a:pPr algn="ctr" indent="0" marL="0">
              <a:buNone/>
            </a:pPr>
            <a:r>
              <a:rPr lang="en-US" sz="600" dirty="0">
                <a:solidFill>
                  <a:srgbClr val="1F1F1F"/>
                </a:solidFill>
                <a:latin typeface="Calibri" pitchFamily="34" charset="0"/>
                <a:ea typeface="Calibri" pitchFamily="34" charset="-122"/>
                <a:cs typeface="Calibri" pitchFamily="34" charset="-120"/>
              </a:rPr>
              <a:t>documents + Aadhaar e-KYC*</a:t>
            </a:r>
            <a:endParaRPr lang="en-US" sz="600" dirty="0"/>
          </a:p>
        </p:txBody>
      </p:sp>
      <p:sp>
        <p:nvSpPr>
          <p:cNvPr id="191" name="Text 167"/>
          <p:cNvSpPr txBox="1"/>
          <p:nvPr/>
        </p:nvSpPr>
        <p:spPr>
          <a:xfrm>
            <a:off x="6157570" y="3017520"/>
            <a:ext cx="74981" cy="182880"/>
          </a:xfrm>
          <a:prstGeom prst="rect">
            <a:avLst/>
          </a:prstGeom>
          <a:noFill/>
          <a:ln/>
        </p:spPr>
        <p:txBody>
          <a:bodyPr wrap="square" lIns="0" tIns="0" rIns="0" bIns="0" rtlCol="0" anchor="ctr"/>
          <a:lstStyle/>
          <a:p>
            <a:pPr algn="ctr" indent="0" marL="0">
              <a:buNone/>
            </a:pPr>
            <a:r>
              <a:rPr lang="en-US" sz="1100" b="1" dirty="0">
                <a:solidFill>
                  <a:srgbClr val="18864B"/>
                </a:solidFill>
                <a:latin typeface="Calibri" pitchFamily="34" charset="0"/>
                <a:ea typeface="Calibri" pitchFamily="34" charset="-122"/>
                <a:cs typeface="Calibri" pitchFamily="34" charset="-120"/>
              </a:rPr>
              <a:t>›</a:t>
            </a:r>
            <a:endParaRPr lang="en-US" sz="1100" dirty="0"/>
          </a:p>
        </p:txBody>
      </p:sp>
      <p:sp>
        <p:nvSpPr>
          <p:cNvPr id="192" name="Shape 168"/>
          <p:cNvSpPr/>
          <p:nvPr/>
        </p:nvSpPr>
        <p:spPr>
          <a:xfrm>
            <a:off x="6223406" y="2944368"/>
            <a:ext cx="813816" cy="603504"/>
          </a:xfrm>
          <a:prstGeom prst="roundRect">
            <a:avLst>
              <a:gd name="adj" fmla="val 6061"/>
            </a:avLst>
          </a:prstGeom>
          <a:solidFill>
            <a:srgbClr val="FFFFFF"/>
          </a:solidFill>
          <a:ln w="9525">
            <a:solidFill>
              <a:srgbClr val="D6DCE5"/>
            </a:solidFill>
            <a:prstDash val="solid"/>
          </a:ln>
        </p:spPr>
      </p:sp>
      <p:sp>
        <p:nvSpPr>
          <p:cNvPr id="193" name="Shape 169"/>
          <p:cNvSpPr/>
          <p:nvPr/>
        </p:nvSpPr>
        <p:spPr>
          <a:xfrm>
            <a:off x="6520586" y="2990088"/>
            <a:ext cx="219456" cy="219456"/>
          </a:xfrm>
          <a:prstGeom prst="roundRect">
            <a:avLst>
              <a:gd name="adj" fmla="val 12500"/>
            </a:avLst>
          </a:prstGeom>
          <a:solidFill>
            <a:srgbClr val="1F4E79"/>
          </a:solidFill>
          <a:ln w="12700">
            <a:solidFill>
              <a:srgbClr val="1F4E79"/>
            </a:solidFill>
            <a:prstDash val="solid"/>
          </a:ln>
        </p:spPr>
      </p:sp>
      <p:sp>
        <p:nvSpPr>
          <p:cNvPr id="194" name="Text 170"/>
          <p:cNvSpPr txBox="1"/>
          <p:nvPr/>
        </p:nvSpPr>
        <p:spPr>
          <a:xfrm>
            <a:off x="6520586" y="2990088"/>
            <a:ext cx="219456" cy="219456"/>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AJ</a:t>
            </a:r>
            <a:endParaRPr lang="en-US" sz="650" dirty="0"/>
          </a:p>
        </p:txBody>
      </p:sp>
      <p:sp>
        <p:nvSpPr>
          <p:cNvPr id="195" name="Text 171"/>
          <p:cNvSpPr txBox="1"/>
          <p:nvPr/>
        </p:nvSpPr>
        <p:spPr>
          <a:xfrm>
            <a:off x="6250838" y="3218688"/>
            <a:ext cx="758952" cy="128016"/>
          </a:xfrm>
          <a:prstGeom prst="rect">
            <a:avLst/>
          </a:prstGeom>
          <a:noFill/>
          <a:ln/>
        </p:spPr>
        <p:txBody>
          <a:bodyPr wrap="square" lIns="0" tIns="0" rIns="0" bIns="0" rtlCol="0" anchor="t"/>
          <a:lstStyle/>
          <a:p>
            <a:pPr algn="ctr" indent="0" marL="0">
              <a:buNone/>
            </a:pPr>
            <a:r>
              <a:rPr lang="en-US" sz="700" b="1" dirty="0">
                <a:solidFill>
                  <a:srgbClr val="1F4E79"/>
                </a:solidFill>
                <a:latin typeface="Calibri" pitchFamily="34" charset="0"/>
                <a:ea typeface="Calibri" pitchFamily="34" charset="-122"/>
                <a:cs typeface="Calibri" pitchFamily="34" charset="-120"/>
              </a:rPr>
              <a:t>AJAY app*</a:t>
            </a:r>
            <a:endParaRPr lang="en-US" sz="700" dirty="0"/>
          </a:p>
        </p:txBody>
      </p:sp>
      <p:sp>
        <p:nvSpPr>
          <p:cNvPr id="196" name="Text 172"/>
          <p:cNvSpPr txBox="1"/>
          <p:nvPr/>
        </p:nvSpPr>
        <p:spPr>
          <a:xfrm>
            <a:off x="6250838" y="3346704"/>
            <a:ext cx="758952" cy="201168"/>
          </a:xfrm>
          <a:prstGeom prst="rect">
            <a:avLst/>
          </a:prstGeom>
          <a:noFill/>
          <a:ln/>
        </p:spPr>
        <p:txBody>
          <a:bodyPr wrap="square" lIns="0" tIns="0" rIns="0" bIns="0" rtlCol="0" anchor="t"/>
          <a:lstStyle/>
          <a:p>
            <a:pPr algn="ctr" indent="0" marL="0">
              <a:buNone/>
            </a:pPr>
            <a:r>
              <a:rPr lang="en-US" sz="600" dirty="0">
                <a:solidFill>
                  <a:srgbClr val="1F1F1F"/>
                </a:solidFill>
                <a:latin typeface="Calibri" pitchFamily="34" charset="0"/>
                <a:ea typeface="Calibri" pitchFamily="34" charset="-122"/>
                <a:cs typeface="Calibri" pitchFamily="34" charset="-120"/>
              </a:rPr>
              <a:t>officer approves or returns</a:t>
            </a:r>
            <a:endParaRPr lang="en-US" sz="600" dirty="0"/>
          </a:p>
        </p:txBody>
      </p:sp>
      <p:sp>
        <p:nvSpPr>
          <p:cNvPr id="197" name="Text 173"/>
          <p:cNvSpPr txBox="1"/>
          <p:nvPr/>
        </p:nvSpPr>
        <p:spPr>
          <a:xfrm>
            <a:off x="7028078" y="3017520"/>
            <a:ext cx="74981" cy="182880"/>
          </a:xfrm>
          <a:prstGeom prst="rect">
            <a:avLst/>
          </a:prstGeom>
          <a:noFill/>
          <a:ln/>
        </p:spPr>
        <p:txBody>
          <a:bodyPr wrap="square" lIns="0" tIns="0" rIns="0" bIns="0" rtlCol="0" anchor="ctr"/>
          <a:lstStyle/>
          <a:p>
            <a:pPr algn="ctr" indent="0" marL="0">
              <a:buNone/>
            </a:pPr>
            <a:r>
              <a:rPr lang="en-US" sz="1100" b="1" dirty="0">
                <a:solidFill>
                  <a:srgbClr val="18864B"/>
                </a:solidFill>
                <a:latin typeface="Calibri" pitchFamily="34" charset="0"/>
                <a:ea typeface="Calibri" pitchFamily="34" charset="-122"/>
                <a:cs typeface="Calibri" pitchFamily="34" charset="-120"/>
              </a:rPr>
              <a:t>›</a:t>
            </a:r>
            <a:endParaRPr lang="en-US" sz="1100" dirty="0"/>
          </a:p>
        </p:txBody>
      </p:sp>
      <p:sp>
        <p:nvSpPr>
          <p:cNvPr id="198" name="Shape 174"/>
          <p:cNvSpPr/>
          <p:nvPr/>
        </p:nvSpPr>
        <p:spPr>
          <a:xfrm>
            <a:off x="7093915" y="2944368"/>
            <a:ext cx="813816" cy="603504"/>
          </a:xfrm>
          <a:prstGeom prst="roundRect">
            <a:avLst>
              <a:gd name="adj" fmla="val 6061"/>
            </a:avLst>
          </a:prstGeom>
          <a:solidFill>
            <a:srgbClr val="FFFFFF"/>
          </a:solidFill>
          <a:ln w="9525">
            <a:solidFill>
              <a:srgbClr val="D6DCE5"/>
            </a:solidFill>
            <a:prstDash val="solid"/>
          </a:ln>
        </p:spPr>
      </p:sp>
      <p:pic>
        <p:nvPicPr>
          <p:cNvPr id="199" name="Image 22" descr="preencoded.png">    </p:cNvPr>
          <p:cNvPicPr>
            <a:picLocks noChangeAspect="1"/>
          </p:cNvPicPr>
          <p:nvPr/>
        </p:nvPicPr>
        <p:blipFill>
          <a:blip r:embed="rId23"/>
          <a:stretch>
            <a:fillRect/>
          </a:stretch>
        </p:blipFill>
        <p:spPr>
          <a:xfrm>
            <a:off x="7391095" y="2990088"/>
            <a:ext cx="219456" cy="219456"/>
          </a:xfrm>
          <a:prstGeom prst="rect">
            <a:avLst/>
          </a:prstGeom>
        </p:spPr>
      </p:pic>
      <p:sp>
        <p:nvSpPr>
          <p:cNvPr id="200" name="Text 175"/>
          <p:cNvSpPr txBox="1"/>
          <p:nvPr/>
        </p:nvSpPr>
        <p:spPr>
          <a:xfrm>
            <a:off x="7121347" y="3218688"/>
            <a:ext cx="758952" cy="128016"/>
          </a:xfrm>
          <a:prstGeom prst="rect">
            <a:avLst/>
          </a:prstGeom>
          <a:noFill/>
          <a:ln/>
        </p:spPr>
        <p:txBody>
          <a:bodyPr wrap="square" lIns="0" tIns="0" rIns="0" bIns="0" rtlCol="0" anchor="t"/>
          <a:lstStyle/>
          <a:p>
            <a:pPr algn="ctr" indent="0" marL="0">
              <a:buNone/>
            </a:pPr>
            <a:r>
              <a:rPr lang="en-US" sz="700" b="1" dirty="0">
                <a:solidFill>
                  <a:srgbClr val="1F4E79"/>
                </a:solidFill>
                <a:latin typeface="Calibri" pitchFamily="34" charset="0"/>
                <a:ea typeface="Calibri" pitchFamily="34" charset="-122"/>
                <a:cs typeface="Calibri" pitchFamily="34" charset="-120"/>
              </a:rPr>
              <a:t>Celery + Redis</a:t>
            </a:r>
            <a:endParaRPr lang="en-US" sz="700" dirty="0"/>
          </a:p>
        </p:txBody>
      </p:sp>
      <p:sp>
        <p:nvSpPr>
          <p:cNvPr id="201" name="Text 176"/>
          <p:cNvSpPr txBox="1"/>
          <p:nvPr/>
        </p:nvSpPr>
        <p:spPr>
          <a:xfrm>
            <a:off x="7121347" y="3346704"/>
            <a:ext cx="758952" cy="201168"/>
          </a:xfrm>
          <a:prstGeom prst="rect">
            <a:avLst/>
          </a:prstGeom>
          <a:noFill/>
          <a:ln/>
        </p:spPr>
        <p:txBody>
          <a:bodyPr wrap="square" lIns="0" tIns="0" rIns="0" bIns="0" rtlCol="0" anchor="t"/>
          <a:lstStyle/>
          <a:p>
            <a:pPr algn="ctr" indent="0" marL="0">
              <a:buNone/>
            </a:pPr>
            <a:r>
              <a:rPr lang="en-US" sz="600" dirty="0">
                <a:solidFill>
                  <a:srgbClr val="1F1F1F"/>
                </a:solidFill>
                <a:latin typeface="Calibri" pitchFamily="34" charset="0"/>
                <a:ea typeface="Calibri" pitchFamily="34" charset="-122"/>
                <a:cs typeface="Calibri" pitchFamily="34" charset="-120"/>
              </a:rPr>
              <a:t>calls at 1, 3, 6 months; retries</a:t>
            </a:r>
            <a:endParaRPr lang="en-US" sz="600" dirty="0"/>
          </a:p>
        </p:txBody>
      </p:sp>
      <p:sp>
        <p:nvSpPr>
          <p:cNvPr id="202" name="Text 177"/>
          <p:cNvSpPr txBox="1"/>
          <p:nvPr/>
        </p:nvSpPr>
        <p:spPr>
          <a:xfrm>
            <a:off x="7898587" y="3017520"/>
            <a:ext cx="74981" cy="182880"/>
          </a:xfrm>
          <a:prstGeom prst="rect">
            <a:avLst/>
          </a:prstGeom>
          <a:noFill/>
          <a:ln/>
        </p:spPr>
        <p:txBody>
          <a:bodyPr wrap="square" lIns="0" tIns="0" rIns="0" bIns="0" rtlCol="0" anchor="ctr"/>
          <a:lstStyle/>
          <a:p>
            <a:pPr algn="ctr" indent="0" marL="0">
              <a:buNone/>
            </a:pPr>
            <a:r>
              <a:rPr lang="en-US" sz="1100" b="1" dirty="0">
                <a:solidFill>
                  <a:srgbClr val="18864B"/>
                </a:solidFill>
                <a:latin typeface="Calibri" pitchFamily="34" charset="0"/>
                <a:ea typeface="Calibri" pitchFamily="34" charset="-122"/>
                <a:cs typeface="Calibri" pitchFamily="34" charset="-120"/>
              </a:rPr>
              <a:t>›</a:t>
            </a:r>
            <a:endParaRPr lang="en-US" sz="1100" dirty="0"/>
          </a:p>
        </p:txBody>
      </p:sp>
      <p:sp>
        <p:nvSpPr>
          <p:cNvPr id="203" name="Shape 178"/>
          <p:cNvSpPr/>
          <p:nvPr/>
        </p:nvSpPr>
        <p:spPr>
          <a:xfrm>
            <a:off x="7964424" y="2944368"/>
            <a:ext cx="813816" cy="603504"/>
          </a:xfrm>
          <a:prstGeom prst="roundRect">
            <a:avLst>
              <a:gd name="adj" fmla="val 6061"/>
            </a:avLst>
          </a:prstGeom>
          <a:solidFill>
            <a:srgbClr val="FFFFFF"/>
          </a:solidFill>
          <a:ln w="9525">
            <a:solidFill>
              <a:srgbClr val="D6DCE5"/>
            </a:solidFill>
            <a:prstDash val="solid"/>
          </a:ln>
        </p:spPr>
      </p:sp>
      <p:pic>
        <p:nvPicPr>
          <p:cNvPr id="204" name="Image 23" descr="preencoded.png">    </p:cNvPr>
          <p:cNvPicPr>
            <a:picLocks noChangeAspect="1"/>
          </p:cNvPicPr>
          <p:nvPr/>
        </p:nvPicPr>
        <p:blipFill>
          <a:blip r:embed="rId24"/>
          <a:stretch>
            <a:fillRect/>
          </a:stretch>
        </p:blipFill>
        <p:spPr>
          <a:xfrm>
            <a:off x="8261604" y="2990088"/>
            <a:ext cx="219456" cy="219456"/>
          </a:xfrm>
          <a:prstGeom prst="rect">
            <a:avLst/>
          </a:prstGeom>
        </p:spPr>
      </p:pic>
      <p:sp>
        <p:nvSpPr>
          <p:cNvPr id="205" name="Text 179"/>
          <p:cNvSpPr txBox="1"/>
          <p:nvPr/>
        </p:nvSpPr>
        <p:spPr>
          <a:xfrm>
            <a:off x="7991856" y="3218688"/>
            <a:ext cx="758952" cy="128016"/>
          </a:xfrm>
          <a:prstGeom prst="rect">
            <a:avLst/>
          </a:prstGeom>
          <a:noFill/>
          <a:ln/>
        </p:spPr>
        <p:txBody>
          <a:bodyPr wrap="square" lIns="0" tIns="0" rIns="0" bIns="0" rtlCol="0" anchor="t"/>
          <a:lstStyle/>
          <a:p>
            <a:pPr algn="ctr" indent="0" marL="0">
              <a:buNone/>
            </a:pPr>
            <a:r>
              <a:rPr lang="en-US" sz="700" b="1" dirty="0">
                <a:solidFill>
                  <a:srgbClr val="1F4E79"/>
                </a:solidFill>
                <a:latin typeface="Calibri" pitchFamily="34" charset="0"/>
                <a:ea typeface="Calibri" pitchFamily="34" charset="-122"/>
                <a:cs typeface="Calibri" pitchFamily="34" charset="-120"/>
              </a:rPr>
              <a:t>React dashboard</a:t>
            </a:r>
            <a:endParaRPr lang="en-US" sz="700" dirty="0"/>
          </a:p>
        </p:txBody>
      </p:sp>
      <p:sp>
        <p:nvSpPr>
          <p:cNvPr id="206" name="Text 180"/>
          <p:cNvSpPr txBox="1"/>
          <p:nvPr/>
        </p:nvSpPr>
        <p:spPr>
          <a:xfrm>
            <a:off x="7991856" y="3346704"/>
            <a:ext cx="758952" cy="201168"/>
          </a:xfrm>
          <a:prstGeom prst="rect">
            <a:avLst/>
          </a:prstGeom>
          <a:noFill/>
          <a:ln/>
        </p:spPr>
        <p:txBody>
          <a:bodyPr wrap="square" lIns="0" tIns="0" rIns="0" bIns="0" rtlCol="0" anchor="t"/>
          <a:lstStyle/>
          <a:p>
            <a:pPr algn="ctr" indent="0" marL="0">
              <a:buNone/>
            </a:pPr>
            <a:r>
              <a:rPr lang="en-US" sz="600" dirty="0">
                <a:solidFill>
                  <a:srgbClr val="1F1F1F"/>
                </a:solidFill>
                <a:latin typeface="Calibri" pitchFamily="34" charset="0"/>
                <a:ea typeface="Calibri" pitchFamily="34" charset="-122"/>
                <a:cs typeface="Calibri" pitchFamily="34" charset="-120"/>
              </a:rPr>
              <a:t>demand map by block; project drafts</a:t>
            </a:r>
            <a:endParaRPr lang="en-US" sz="600" dirty="0"/>
          </a:p>
        </p:txBody>
      </p:sp>
      <p:sp>
        <p:nvSpPr>
          <p:cNvPr id="207" name="Shape 181"/>
          <p:cNvSpPr/>
          <p:nvPr/>
        </p:nvSpPr>
        <p:spPr>
          <a:xfrm>
            <a:off x="3520440" y="3675888"/>
            <a:ext cx="2633472" cy="859536"/>
          </a:xfrm>
          <a:prstGeom prst="roundRect">
            <a:avLst>
              <a:gd name="adj" fmla="val 6383"/>
            </a:avLst>
          </a:prstGeom>
          <a:solidFill>
            <a:srgbClr val="F5F6F8"/>
          </a:solidFill>
          <a:ln w="9525">
            <a:solidFill>
              <a:srgbClr val="F5F6F8"/>
            </a:solidFill>
            <a:prstDash val="solid"/>
          </a:ln>
        </p:spPr>
      </p:sp>
      <p:pic>
        <p:nvPicPr>
          <p:cNvPr id="208" name="Image 24" descr="preencoded.png">    </p:cNvPr>
          <p:cNvPicPr>
            <a:picLocks noChangeAspect="1"/>
          </p:cNvPicPr>
          <p:nvPr/>
        </p:nvPicPr>
        <p:blipFill>
          <a:blip r:embed="rId25"/>
          <a:stretch>
            <a:fillRect/>
          </a:stretch>
        </p:blipFill>
        <p:spPr>
          <a:xfrm>
            <a:off x="3593592" y="3712464"/>
            <a:ext cx="164592" cy="164592"/>
          </a:xfrm>
          <a:prstGeom prst="rect">
            <a:avLst/>
          </a:prstGeom>
        </p:spPr>
      </p:pic>
      <p:sp>
        <p:nvSpPr>
          <p:cNvPr id="209" name="Text 182"/>
          <p:cNvSpPr txBox="1"/>
          <p:nvPr/>
        </p:nvSpPr>
        <p:spPr>
          <a:xfrm>
            <a:off x="3794760" y="3703320"/>
            <a:ext cx="2331720" cy="164592"/>
          </a:xfrm>
          <a:prstGeom prst="rect">
            <a:avLst/>
          </a:prstGeom>
          <a:noFill/>
          <a:ln/>
        </p:spPr>
        <p:txBody>
          <a:bodyPr wrap="square" lIns="0" tIns="0" rIns="0" bIns="0" rtlCol="0" anchor="ctr"/>
          <a:lstStyle/>
          <a:p>
            <a:pPr indent="0" marL="0">
              <a:buNone/>
            </a:pPr>
            <a:r>
              <a:rPr lang="en-US" sz="700" b="1" dirty="0">
                <a:solidFill>
                  <a:srgbClr val="1F4E79"/>
                </a:solidFill>
                <a:latin typeface="Calibri" pitchFamily="34" charset="0"/>
                <a:ea typeface="Calibri" pitchFamily="34" charset="-122"/>
                <a:cs typeface="Calibri" pitchFamily="34" charset="-120"/>
              </a:rPr>
              <a:t>WHAT IS STORED — PostgreSQL tables (no Aadhaar number)</a:t>
            </a:r>
            <a:endParaRPr lang="en-US" sz="700" dirty="0"/>
          </a:p>
        </p:txBody>
      </p:sp>
      <p:sp>
        <p:nvSpPr>
          <p:cNvPr id="210" name="Text 183"/>
          <p:cNvSpPr txBox="1"/>
          <p:nvPr/>
        </p:nvSpPr>
        <p:spPr>
          <a:xfrm>
            <a:off x="3593592" y="3886200"/>
            <a:ext cx="2487168" cy="621792"/>
          </a:xfrm>
          <a:prstGeom prst="rect">
            <a:avLst/>
          </a:prstGeom>
          <a:noFill/>
          <a:ln/>
        </p:spPr>
        <p:txBody>
          <a:bodyPr wrap="square" lIns="0" tIns="0" rIns="0" bIns="0" rtlCol="0" anchor="t"/>
          <a:lstStyle/>
          <a:p>
            <a:pPr indent="0" marL="0">
              <a:buNone/>
            </a:pPr>
            <a:r>
              <a:rPr lang="en-US" sz="630" b="1" dirty="0">
                <a:solidFill>
                  <a:srgbClr val="1F1F1F"/>
                </a:solidFill>
                <a:latin typeface="Calibri" pitchFamily="34" charset="0"/>
                <a:ea typeface="Calibri" pitchFamily="34" charset="-122"/>
                <a:cs typeface="Calibri" pitchFamily="34" charset="-120"/>
              </a:rPr>
              <a:t>families · profiles · skills · options · cases · documents · followups · consent_log · audit_log</a:t>
            </a:r>
            <a:r>
              <a:rPr lang="en-US" sz="630" dirty="0">
                <a:solidFill>
                  <a:srgbClr val="1F1F1F"/>
                </a:solidFill>
                <a:latin typeface="Calibri" pitchFamily="34" charset="0"/>
                <a:ea typeface="Calibri" pitchFamily="34" charset="-122"/>
                <a:cs typeface="Calibri" pitchFamily="34" charset="-120"/>
              </a:rPr>
              <a:t>  +  knowledge tables: schemes, rules, courses (NQR), occupations (NCO), training_centres, jobs.
</a:t>
            </a:r>
            <a:r>
              <a:rPr lang="en-US" sz="630" b="1" dirty="0">
                <a:solidFill>
                  <a:srgbClr val="1F4E79"/>
                </a:solidFill>
                <a:latin typeface="Calibri" pitchFamily="34" charset="0"/>
                <a:ea typeface="Calibri" pitchFamily="34" charset="-122"/>
                <a:cs typeface="Calibri" pitchFamily="34" charset="-120"/>
              </a:rPr>
              <a:t>Example row → </a:t>
            </a:r>
            <a:r>
              <a:rPr lang="en-US" sz="630" dirty="0">
                <a:solidFill>
                  <a:srgbClr val="1F1F1F"/>
                </a:solidFill>
                <a:latin typeface="Calibri" pitchFamily="34" charset="0"/>
                <a:ea typeface="Calibri" pitchFamily="34" charset="-122"/>
                <a:cs typeface="Calibri" pitchFamily="34" charset="-120"/>
              </a:rPr>
              <a:t>Ramesh | 34 | bike repair (NCO 7231) | engine, tyre, oil service | 10 km | own business | Case #A1042.
</a:t>
            </a:r>
            <a:r>
              <a:rPr lang="en-US" sz="630" dirty="0">
                <a:solidFill>
                  <a:srgbClr val="1F1F1F"/>
                </a:solidFill>
                <a:latin typeface="Calibri" pitchFamily="34" charset="0"/>
                <a:ea typeface="Calibri" pitchFamily="34" charset="-122"/>
                <a:cs typeface="Calibri" pitchFamily="34" charset="-120"/>
              </a:rPr>
              <a:t>Raw audio deleted after confirmation; consent logged (DPDP Rules 2025); every edit in the audit log.</a:t>
            </a:r>
            <a:endParaRPr lang="en-US" sz="630" dirty="0"/>
          </a:p>
        </p:txBody>
      </p:sp>
      <p:sp>
        <p:nvSpPr>
          <p:cNvPr id="211" name="Shape 184"/>
          <p:cNvSpPr/>
          <p:nvPr/>
        </p:nvSpPr>
        <p:spPr>
          <a:xfrm>
            <a:off x="6236208" y="3675888"/>
            <a:ext cx="2633472" cy="859536"/>
          </a:xfrm>
          <a:prstGeom prst="roundRect">
            <a:avLst>
              <a:gd name="adj" fmla="val 6383"/>
            </a:avLst>
          </a:prstGeom>
          <a:solidFill>
            <a:srgbClr val="F5F6F8"/>
          </a:solidFill>
          <a:ln w="9525">
            <a:solidFill>
              <a:srgbClr val="F5F6F8"/>
            </a:solidFill>
            <a:prstDash val="solid"/>
          </a:ln>
        </p:spPr>
      </p:sp>
      <p:pic>
        <p:nvPicPr>
          <p:cNvPr id="212" name="Image 25" descr="preencoded.png">    </p:cNvPr>
          <p:cNvPicPr>
            <a:picLocks noChangeAspect="1"/>
          </p:cNvPicPr>
          <p:nvPr/>
        </p:nvPicPr>
        <p:blipFill>
          <a:blip r:embed="rId26"/>
          <a:stretch>
            <a:fillRect/>
          </a:stretch>
        </p:blipFill>
        <p:spPr>
          <a:xfrm>
            <a:off x="6309360" y="3712464"/>
            <a:ext cx="164592" cy="164592"/>
          </a:xfrm>
          <a:prstGeom prst="rect">
            <a:avLst/>
          </a:prstGeom>
        </p:spPr>
      </p:pic>
      <p:sp>
        <p:nvSpPr>
          <p:cNvPr id="213" name="Text 185"/>
          <p:cNvSpPr txBox="1"/>
          <p:nvPr/>
        </p:nvSpPr>
        <p:spPr>
          <a:xfrm>
            <a:off x="6510528" y="3703320"/>
            <a:ext cx="2331720" cy="164592"/>
          </a:xfrm>
          <a:prstGeom prst="rect">
            <a:avLst/>
          </a:prstGeom>
          <a:noFill/>
          <a:ln/>
        </p:spPr>
        <p:txBody>
          <a:bodyPr wrap="square" lIns="0" tIns="0" rIns="0" bIns="0" rtlCol="0" anchor="ctr"/>
          <a:lstStyle/>
          <a:p>
            <a:pPr indent="0" marL="0">
              <a:buNone/>
            </a:pPr>
            <a:r>
              <a:rPr lang="en-US" sz="700" b="1" dirty="0">
                <a:solidFill>
                  <a:srgbClr val="1F4E79"/>
                </a:solidFill>
                <a:latin typeface="Calibri" pitchFamily="34" charset="0"/>
                <a:ea typeface="Calibri" pitchFamily="34" charset="-122"/>
                <a:cs typeface="Calibri" pitchFamily="34" charset="-120"/>
              </a:rPr>
              <a:t>WEB PORTAL (React) — same database, no call needed</a:t>
            </a:r>
            <a:endParaRPr lang="en-US" sz="700" dirty="0"/>
          </a:p>
        </p:txBody>
      </p:sp>
      <p:sp>
        <p:nvSpPr>
          <p:cNvPr id="214" name="Text 186"/>
          <p:cNvSpPr txBox="1"/>
          <p:nvPr/>
        </p:nvSpPr>
        <p:spPr>
          <a:xfrm>
            <a:off x="6309360" y="3886200"/>
            <a:ext cx="2487168" cy="621792"/>
          </a:xfrm>
          <a:prstGeom prst="rect">
            <a:avLst/>
          </a:prstGeom>
          <a:noFill/>
          <a:ln/>
        </p:spPr>
        <p:txBody>
          <a:bodyPr wrap="square" lIns="0" tIns="0" rIns="0" bIns="0" rtlCol="0" anchor="t"/>
          <a:lstStyle/>
          <a:p>
            <a:pPr indent="0" marL="0">
              <a:buNone/>
            </a:pPr>
            <a:r>
              <a:rPr lang="en-US" sz="630" b="1" dirty="0">
                <a:solidFill>
                  <a:srgbClr val="1F1F1F"/>
                </a:solidFill>
                <a:latin typeface="Calibri" pitchFamily="34" charset="0"/>
                <a:ea typeface="Calibri" pitchFamily="34" charset="-122"/>
                <a:cs typeface="Calibri" pitchFamily="34" charset="-120"/>
              </a:rPr>
              <a:t>Login: mobile number + OTP (JWT, role-based access). </a:t>
            </a:r>
            <a:r>
              <a:rPr lang="en-US" sz="630" dirty="0">
                <a:solidFill>
                  <a:srgbClr val="1F1F1F"/>
                </a:solidFill>
                <a:latin typeface="Calibri" pitchFamily="34" charset="0"/>
                <a:ea typeface="Calibri" pitchFamily="34" charset="-122"/>
                <a:cs typeface="Calibri" pitchFamily="34" charset="-120"/>
              </a:rPr>
              <a:t>Beneficiary: see and edit his profile, options and case status — or do the whole process on the web instead of a call. </a:t>
            </a:r>
            <a:r>
              <a:rPr lang="en-US" sz="630" dirty="0">
                <a:solidFill>
                  <a:srgbClr val="1F1F1F"/>
                </a:solidFill>
                <a:latin typeface="Calibri" pitchFamily="34" charset="0"/>
                <a:ea typeface="Calibri" pitchFamily="34" charset="-122"/>
                <a:cs typeface="Calibri" pitchFamily="34" charset="-120"/>
              </a:rPr>
              <a:t>CSC operator: correct stored data, upload documents. </a:t>
            </a:r>
            <a:r>
              <a:rPr lang="en-US" sz="630" dirty="0">
                <a:solidFill>
                  <a:srgbClr val="1F1F1F"/>
                </a:solidFill>
                <a:latin typeface="Calibri" pitchFamily="34" charset="0"/>
                <a:ea typeface="Calibri" pitchFamily="34" charset="-122"/>
                <a:cs typeface="Calibri" pitchFamily="34" charset="-120"/>
              </a:rPr>
              <a:t>Officer: approve / return cases, demand map. </a:t>
            </a:r>
            <a:r>
              <a:rPr lang="en-US" sz="630" dirty="0">
                <a:solidFill>
                  <a:srgbClr val="1F1F1F"/>
                </a:solidFill>
                <a:latin typeface="Calibri" pitchFamily="34" charset="0"/>
                <a:ea typeface="Calibri" pitchFamily="34" charset="-122"/>
                <a:cs typeface="Calibri" pitchFamily="34" charset="-120"/>
              </a:rPr>
              <a:t>Always available; every change is written to the same tables and the audit log.</a:t>
            </a:r>
            <a:endParaRPr lang="en-US" sz="630" dirty="0"/>
          </a:p>
        </p:txBody>
      </p:sp>
      <p:sp>
        <p:nvSpPr>
          <p:cNvPr id="215" name="Shape 187"/>
          <p:cNvSpPr/>
          <p:nvPr/>
        </p:nvSpPr>
        <p:spPr>
          <a:xfrm>
            <a:off x="3520440" y="4590288"/>
            <a:ext cx="5349240" cy="237744"/>
          </a:xfrm>
          <a:prstGeom prst="roundRect">
            <a:avLst>
              <a:gd name="adj" fmla="val 19231"/>
            </a:avLst>
          </a:prstGeom>
          <a:solidFill>
            <a:srgbClr val="1F4E79"/>
          </a:solidFill>
          <a:ln w="12700">
            <a:solidFill>
              <a:srgbClr val="1F4E79"/>
            </a:solidFill>
            <a:prstDash val="solid"/>
          </a:ln>
        </p:spPr>
      </p:sp>
      <p:sp>
        <p:nvSpPr>
          <p:cNvPr id="216" name="Text 188"/>
          <p:cNvSpPr txBox="1"/>
          <p:nvPr/>
        </p:nvSpPr>
        <p:spPr>
          <a:xfrm>
            <a:off x="3520440" y="4590288"/>
            <a:ext cx="5349240"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AI understands   →   verified data decides   →   SATYA validator checks   →   humans approve</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56032" y="164592"/>
            <a:ext cx="960120" cy="548640"/>
          </a:xfrm>
          <a:prstGeom prst="ellipse">
            <a:avLst/>
          </a:prstGeom>
          <a:solidFill>
            <a:srgbClr val="FFFFFF"/>
          </a:solidFill>
          <a:ln w="15875">
            <a:solidFill>
              <a:srgbClr val="1F4E79"/>
            </a:solidFill>
            <a:prstDash val="solid"/>
          </a:ln>
        </p:spPr>
      </p:sp>
      <p:sp>
        <p:nvSpPr>
          <p:cNvPr id="3" name="Text 1"/>
          <p:cNvSpPr txBox="1"/>
          <p:nvPr/>
        </p:nvSpPr>
        <p:spPr>
          <a:xfrm>
            <a:off x="256032" y="164592"/>
            <a:ext cx="960120" cy="548640"/>
          </a:xfrm>
          <a:prstGeom prst="rect">
            <a:avLst/>
          </a:prstGeom>
          <a:noFill/>
          <a:ln/>
        </p:spPr>
        <p:txBody>
          <a:bodyPr wrap="square" lIns="0" tIns="0" rIns="0" bIns="0" rtlCol="0" anchor="ctr"/>
          <a:lstStyle/>
          <a:p>
            <a:pPr algn="ctr" indent="0" marL="0">
              <a:buNone/>
            </a:pPr>
            <a:r>
              <a:rPr lang="en-US" sz="1100" b="1" dirty="0">
                <a:solidFill>
                  <a:srgbClr val="1F4E79"/>
                </a:solidFill>
                <a:latin typeface="Calibri" pitchFamily="34" charset="0"/>
                <a:ea typeface="Calibri" pitchFamily="34" charset="-122"/>
                <a:cs typeface="Calibri" pitchFamily="34" charset="-120"/>
              </a:rPr>
              <a:t>Cognify</a:t>
            </a:r>
            <a:endParaRPr lang="en-US" sz="1100" dirty="0"/>
          </a:p>
        </p:txBody>
      </p:sp>
      <p:sp>
        <p:nvSpPr>
          <p:cNvPr id="4" name="Text 2"/>
          <p:cNvSpPr txBox="1"/>
          <p:nvPr/>
        </p:nvSpPr>
        <p:spPr>
          <a:xfrm>
            <a:off x="1371600" y="182880"/>
            <a:ext cx="5852160" cy="457200"/>
          </a:xfrm>
          <a:prstGeom prst="rect">
            <a:avLst/>
          </a:prstGeom>
          <a:noFill/>
          <a:ln/>
        </p:spPr>
        <p:txBody>
          <a:bodyPr wrap="square" lIns="0" tIns="0" rIns="0" bIns="0" rtlCol="0" anchor="ctr"/>
          <a:lstStyle/>
          <a:p>
            <a:pPr algn="ctr" indent="0" marL="0">
              <a:buNone/>
            </a:pPr>
            <a:r>
              <a:rPr lang="en-US" sz="2400" b="1" dirty="0">
                <a:solidFill>
                  <a:srgbClr val="1F1F1F"/>
                </a:solidFill>
                <a:latin typeface="Times New Roman" pitchFamily="34" charset="0"/>
                <a:ea typeface="Times New Roman" pitchFamily="34" charset="-122"/>
                <a:cs typeface="Times New Roman" pitchFamily="34" charset="-120"/>
              </a:rPr>
              <a:t>FEASIBILITY AND VIABILITY</a:t>
            </a:r>
            <a:endParaRPr lang="en-US" sz="2400" dirty="0"/>
          </a:p>
        </p:txBody>
      </p:sp>
      <p:pic>
        <p:nvPicPr>
          <p:cNvPr id="5" name="Image 0" descr="preencoded.png">    </p:cNvPr>
          <p:cNvPicPr>
            <a:picLocks noChangeAspect="1"/>
          </p:cNvPicPr>
          <p:nvPr/>
        </p:nvPicPr>
        <p:blipFill>
          <a:blip r:embed="rId1"/>
          <a:stretch>
            <a:fillRect/>
          </a:stretch>
        </p:blipFill>
        <p:spPr>
          <a:xfrm>
            <a:off x="7223760" y="73152"/>
            <a:ext cx="1691640" cy="795528"/>
          </a:xfrm>
          <a:prstGeom prst="rect">
            <a:avLst/>
          </a:prstGeom>
        </p:spPr>
      </p:pic>
      <p:sp>
        <p:nvSpPr>
          <p:cNvPr id="6" name="Text 3"/>
          <p:cNvSpPr txBox="1"/>
          <p:nvPr/>
        </p:nvSpPr>
        <p:spPr>
          <a:xfrm>
            <a:off x="8503920" y="4864608"/>
            <a:ext cx="365760" cy="182880"/>
          </a:xfrm>
          <a:prstGeom prst="rect">
            <a:avLst/>
          </a:prstGeom>
          <a:noFill/>
          <a:ln/>
        </p:spPr>
        <p:txBody>
          <a:bodyPr wrap="square" lIns="0" tIns="0" rIns="0" bIns="0" rtlCol="0" anchor="t"/>
          <a:lstStyle/>
          <a:p>
            <a:pPr algn="r" indent="0" marL="0">
              <a:buNone/>
            </a:pPr>
            <a:r>
              <a:rPr lang="en-US" sz="1000" b="1" dirty="0">
                <a:solidFill>
                  <a:srgbClr val="1F4E79"/>
                </a:solidFill>
                <a:latin typeface="Calibri" pitchFamily="34" charset="0"/>
                <a:ea typeface="Calibri" pitchFamily="34" charset="-122"/>
                <a:cs typeface="Calibri" pitchFamily="34" charset="-120"/>
              </a:rPr>
              <a:t>4</a:t>
            </a:r>
            <a:endParaRPr lang="en-US" sz="1000" dirty="0"/>
          </a:p>
        </p:txBody>
      </p:sp>
      <p:sp>
        <p:nvSpPr>
          <p:cNvPr id="7" name="Shape 4"/>
          <p:cNvSpPr/>
          <p:nvPr/>
        </p:nvSpPr>
        <p:spPr>
          <a:xfrm>
            <a:off x="274320" y="896112"/>
            <a:ext cx="8595360" cy="274320"/>
          </a:xfrm>
          <a:prstGeom prst="roundRect">
            <a:avLst>
              <a:gd name="adj" fmla="val 20000"/>
            </a:avLst>
          </a:prstGeom>
          <a:solidFill>
            <a:srgbClr val="EEF3F9"/>
          </a:solidFill>
          <a:ln w="9525">
            <a:solidFill>
              <a:srgbClr val="EEF3F9"/>
            </a:solidFill>
            <a:prstDash val="solid"/>
          </a:ln>
        </p:spPr>
      </p:sp>
      <p:sp>
        <p:nvSpPr>
          <p:cNvPr id="8" name="Text 5"/>
          <p:cNvSpPr txBox="1"/>
          <p:nvPr/>
        </p:nvSpPr>
        <p:spPr>
          <a:xfrm>
            <a:off x="384048" y="896112"/>
            <a:ext cx="8412480" cy="274320"/>
          </a:xfrm>
          <a:prstGeom prst="rect">
            <a:avLst/>
          </a:prstGeom>
          <a:noFill/>
          <a:ln/>
        </p:spPr>
        <p:txBody>
          <a:bodyPr wrap="square" lIns="0" tIns="0" rIns="0" bIns="0" rtlCol="0" anchor="ctr"/>
          <a:lstStyle/>
          <a:p>
            <a:pPr indent="0" marL="0">
              <a:buNone/>
            </a:pPr>
            <a:r>
              <a:rPr lang="en-US" sz="850" b="1" dirty="0">
                <a:solidFill>
                  <a:srgbClr val="1F4E79"/>
                </a:solidFill>
                <a:latin typeface="Calibri" pitchFamily="34" charset="0"/>
                <a:ea typeface="Calibri" pitchFamily="34" charset="-122"/>
                <a:cs typeface="Calibri" pitchFamily="34" charset="-120"/>
              </a:rPr>
              <a:t>Can it really be built and run?  </a:t>
            </a:r>
            <a:r>
              <a:rPr lang="en-US" sz="850" dirty="0">
                <a:solidFill>
                  <a:srgbClr val="1F1F1F"/>
                </a:solidFill>
                <a:latin typeface="Calibri" pitchFamily="34" charset="0"/>
                <a:ea typeface="Calibri" pitchFamily="34" charset="-122"/>
                <a:cs typeface="Calibri" pitchFamily="34" charset="-120"/>
              </a:rPr>
              <a:t>Yes — every part of SkillCall already works somewhere in India today, every model is available by API now, and one completed profile costs about ₹37–83.</a:t>
            </a:r>
            <a:endParaRPr lang="en-US" sz="850" dirty="0"/>
          </a:p>
        </p:txBody>
      </p:sp>
      <p:sp>
        <p:nvSpPr>
          <p:cNvPr id="9" name="Text 6"/>
          <p:cNvSpPr txBox="1"/>
          <p:nvPr/>
        </p:nvSpPr>
        <p:spPr>
          <a:xfrm>
            <a:off x="274320" y="1243584"/>
            <a:ext cx="4206240" cy="182880"/>
          </a:xfrm>
          <a:prstGeom prst="rect">
            <a:avLst/>
          </a:prstGeom>
          <a:noFill/>
          <a:ln/>
        </p:spPr>
        <p:txBody>
          <a:bodyPr wrap="square" lIns="0" tIns="0" rIns="0" bIns="0" rtlCol="0" anchor="t"/>
          <a:lstStyle/>
          <a:p>
            <a:pPr indent="0" marL="0">
              <a:buNone/>
            </a:pPr>
            <a:r>
              <a:rPr lang="en-US" sz="850" b="1" spc="100" kern="0" dirty="0">
                <a:solidFill>
                  <a:srgbClr val="18864B"/>
                </a:solidFill>
                <a:latin typeface="Calibri" pitchFamily="34" charset="0"/>
                <a:ea typeface="Calibri" pitchFamily="34" charset="-122"/>
                <a:cs typeface="Calibri" pitchFamily="34" charset="-120"/>
              </a:rPr>
              <a:t>FEASIBILITY — PROOF THAT EACH PIECE ALREADY WORKS</a:t>
            </a:r>
            <a:endParaRPr lang="en-US" sz="850" dirty="0"/>
          </a:p>
        </p:txBody>
      </p:sp>
      <p:sp>
        <p:nvSpPr>
          <p:cNvPr id="10" name="Shape 7"/>
          <p:cNvSpPr/>
          <p:nvPr/>
        </p:nvSpPr>
        <p:spPr>
          <a:xfrm>
            <a:off x="274320" y="1408176"/>
            <a:ext cx="2057400" cy="731520"/>
          </a:xfrm>
          <a:prstGeom prst="roundRect">
            <a:avLst>
              <a:gd name="adj" fmla="val 7500"/>
            </a:avLst>
          </a:prstGeom>
          <a:solidFill>
            <a:srgbClr val="FFFFFF"/>
          </a:solidFill>
          <a:ln w="9525">
            <a:solidFill>
              <a:srgbClr val="D6DCE5"/>
            </a:solidFill>
            <a:prstDash val="solid"/>
          </a:ln>
        </p:spPr>
      </p:sp>
      <p:sp>
        <p:nvSpPr>
          <p:cNvPr id="11" name="Text 8"/>
          <p:cNvSpPr txBox="1"/>
          <p:nvPr/>
        </p:nvSpPr>
        <p:spPr>
          <a:xfrm>
            <a:off x="365760" y="1435608"/>
            <a:ext cx="1874520" cy="228600"/>
          </a:xfrm>
          <a:prstGeom prst="rect">
            <a:avLst/>
          </a:prstGeom>
          <a:noFill/>
          <a:ln/>
        </p:spPr>
        <p:txBody>
          <a:bodyPr wrap="square" lIns="0" tIns="0" rIns="0" bIns="0" rtlCol="0" anchor="ctr"/>
          <a:lstStyle/>
          <a:p>
            <a:pPr indent="0" marL="0">
              <a:buNone/>
            </a:pPr>
            <a:r>
              <a:rPr lang="en-US" sz="1200" b="1" dirty="0">
                <a:solidFill>
                  <a:srgbClr val="18864B"/>
                </a:solidFill>
                <a:latin typeface="Calibri" pitchFamily="34" charset="0"/>
                <a:ea typeface="Calibri" pitchFamily="34" charset="-122"/>
                <a:cs typeface="Calibri" pitchFamily="34" charset="-120"/>
              </a:rPr>
              <a:t>10 languages</a:t>
            </a:r>
            <a:endParaRPr lang="en-US" sz="1200" dirty="0"/>
          </a:p>
        </p:txBody>
      </p:sp>
      <p:sp>
        <p:nvSpPr>
          <p:cNvPr id="12" name="Text 9"/>
          <p:cNvSpPr txBox="1"/>
          <p:nvPr/>
        </p:nvSpPr>
        <p:spPr>
          <a:xfrm>
            <a:off x="365760" y="1673352"/>
            <a:ext cx="1874520" cy="329184"/>
          </a:xfrm>
          <a:prstGeom prst="rect">
            <a:avLst/>
          </a:prstGeom>
          <a:noFill/>
          <a:ln/>
        </p:spPr>
        <p:txBody>
          <a:bodyPr wrap="square" lIns="0" tIns="0" rIns="0" bIns="0" rtlCol="0" anchor="t"/>
          <a:lstStyle/>
          <a:p>
            <a:pPr indent="0" marL="0">
              <a:buNone/>
            </a:pPr>
            <a:r>
              <a:rPr lang="en-US" sz="690" dirty="0">
                <a:solidFill>
                  <a:srgbClr val="1F1F1F"/>
                </a:solidFill>
                <a:latin typeface="Calibri" pitchFamily="34" charset="0"/>
                <a:ea typeface="Calibri" pitchFamily="34" charset="-122"/>
                <a:cs typeface="Calibri" pitchFamily="34" charset="-120"/>
              </a:rPr>
              <a:t>UIDAI already runs Sarvam's voice AI for Aadhaar — on-premise, air-gapped.</a:t>
            </a:r>
            <a:endParaRPr lang="en-US" sz="690" dirty="0"/>
          </a:p>
        </p:txBody>
      </p:sp>
      <p:sp>
        <p:nvSpPr>
          <p:cNvPr id="13" name="Text 10"/>
          <p:cNvSpPr txBox="1"/>
          <p:nvPr/>
        </p:nvSpPr>
        <p:spPr>
          <a:xfrm>
            <a:off x="365760" y="1993392"/>
            <a:ext cx="1874520" cy="118872"/>
          </a:xfrm>
          <a:prstGeom prst="rect">
            <a:avLst/>
          </a:prstGeom>
          <a:noFill/>
          <a:ln/>
        </p:spPr>
        <p:txBody>
          <a:bodyPr wrap="square" lIns="0" tIns="0" rIns="0" bIns="0" rtlCol="0" anchor="t"/>
          <a:lstStyle/>
          <a:p>
            <a:pPr indent="0" marL="0">
              <a:buNone/>
            </a:pPr>
            <a:r>
              <a:rPr lang="en-US" sz="620" i="1" dirty="0">
                <a:solidFill>
                  <a:srgbClr val="5F6B7A"/>
                </a:solidFill>
                <a:latin typeface="Calibri" pitchFamily="34" charset="0"/>
                <a:ea typeface="Calibri" pitchFamily="34" charset="-122"/>
                <a:cs typeface="Calibri" pitchFamily="34" charset="-120"/>
              </a:rPr>
              <a:t>PIB / MeitY, 2025</a:t>
            </a:r>
            <a:endParaRPr lang="en-US" sz="620" dirty="0"/>
          </a:p>
        </p:txBody>
      </p:sp>
      <p:sp>
        <p:nvSpPr>
          <p:cNvPr id="14" name="Shape 11"/>
          <p:cNvSpPr/>
          <p:nvPr/>
        </p:nvSpPr>
        <p:spPr>
          <a:xfrm>
            <a:off x="2446020" y="1408176"/>
            <a:ext cx="2057400" cy="731520"/>
          </a:xfrm>
          <a:prstGeom prst="roundRect">
            <a:avLst>
              <a:gd name="adj" fmla="val 7500"/>
            </a:avLst>
          </a:prstGeom>
          <a:solidFill>
            <a:srgbClr val="FFFFFF"/>
          </a:solidFill>
          <a:ln w="9525">
            <a:solidFill>
              <a:srgbClr val="D6DCE5"/>
            </a:solidFill>
            <a:prstDash val="solid"/>
          </a:ln>
        </p:spPr>
      </p:sp>
      <p:sp>
        <p:nvSpPr>
          <p:cNvPr id="15" name="Text 12"/>
          <p:cNvSpPr txBox="1"/>
          <p:nvPr/>
        </p:nvSpPr>
        <p:spPr>
          <a:xfrm>
            <a:off x="2537460" y="1435608"/>
            <a:ext cx="1874520" cy="228600"/>
          </a:xfrm>
          <a:prstGeom prst="rect">
            <a:avLst/>
          </a:prstGeom>
          <a:noFill/>
          <a:ln/>
        </p:spPr>
        <p:txBody>
          <a:bodyPr wrap="square" lIns="0" tIns="0" rIns="0" bIns="0" rtlCol="0" anchor="ctr"/>
          <a:lstStyle/>
          <a:p>
            <a:pPr indent="0" marL="0">
              <a:buNone/>
            </a:pPr>
            <a:r>
              <a:rPr lang="en-US" sz="1200" b="1" dirty="0">
                <a:solidFill>
                  <a:srgbClr val="18864B"/>
                </a:solidFill>
                <a:latin typeface="Calibri" pitchFamily="34" charset="0"/>
                <a:ea typeface="Calibri" pitchFamily="34" charset="-122"/>
                <a:cs typeface="Calibri" pitchFamily="34" charset="-120"/>
              </a:rPr>
              <a:t>1.2 million calls / day</a:t>
            </a:r>
            <a:endParaRPr lang="en-US" sz="1200" dirty="0"/>
          </a:p>
        </p:txBody>
      </p:sp>
      <p:sp>
        <p:nvSpPr>
          <p:cNvPr id="16" name="Text 13"/>
          <p:cNvSpPr txBox="1"/>
          <p:nvPr/>
        </p:nvSpPr>
        <p:spPr>
          <a:xfrm>
            <a:off x="2537460" y="1673352"/>
            <a:ext cx="1874520" cy="329184"/>
          </a:xfrm>
          <a:prstGeom prst="rect">
            <a:avLst/>
          </a:prstGeom>
          <a:noFill/>
          <a:ln/>
        </p:spPr>
        <p:txBody>
          <a:bodyPr wrap="square" lIns="0" tIns="0" rIns="0" bIns="0" rtlCol="0" anchor="t"/>
          <a:lstStyle/>
          <a:p>
            <a:pPr indent="0" marL="0">
              <a:buNone/>
            </a:pPr>
            <a:r>
              <a:rPr lang="en-US" sz="690" dirty="0">
                <a:solidFill>
                  <a:srgbClr val="1F1F1F"/>
                </a:solidFill>
                <a:latin typeface="Calibri" pitchFamily="34" charset="0"/>
                <a:ea typeface="Calibri" pitchFamily="34" charset="-122"/>
                <a:cs typeface="Calibri" pitchFamily="34" charset="-120"/>
              </a:rPr>
              <a:t>Kilkari (MoHFW) automated health calls: 50% answered on the 1st try, 76% by the 3rd, 99.5% by the 9th.</a:t>
            </a:r>
            <a:endParaRPr lang="en-US" sz="690" dirty="0"/>
          </a:p>
        </p:txBody>
      </p:sp>
      <p:sp>
        <p:nvSpPr>
          <p:cNvPr id="17" name="Text 14"/>
          <p:cNvSpPr txBox="1"/>
          <p:nvPr/>
        </p:nvSpPr>
        <p:spPr>
          <a:xfrm>
            <a:off x="2537460" y="1993392"/>
            <a:ext cx="1874520" cy="118872"/>
          </a:xfrm>
          <a:prstGeom prst="rect">
            <a:avLst/>
          </a:prstGeom>
          <a:noFill/>
          <a:ln/>
        </p:spPr>
        <p:txBody>
          <a:bodyPr wrap="square" lIns="0" tIns="0" rIns="0" bIns="0" rtlCol="0" anchor="t"/>
          <a:lstStyle/>
          <a:p>
            <a:pPr indent="0" marL="0">
              <a:buNone/>
            </a:pPr>
            <a:r>
              <a:rPr lang="en-US" sz="620" i="1" dirty="0">
                <a:solidFill>
                  <a:srgbClr val="5F6B7A"/>
                </a:solidFill>
                <a:latin typeface="Calibri" pitchFamily="34" charset="0"/>
                <a:ea typeface="Calibri" pitchFamily="34" charset="-122"/>
                <a:cs typeface="Calibri" pitchFamily="34" charset="-120"/>
              </a:rPr>
              <a:t>BMJ Global Health, 2021</a:t>
            </a:r>
            <a:endParaRPr lang="en-US" sz="620" dirty="0"/>
          </a:p>
        </p:txBody>
      </p:sp>
      <p:sp>
        <p:nvSpPr>
          <p:cNvPr id="18" name="Shape 15"/>
          <p:cNvSpPr/>
          <p:nvPr/>
        </p:nvSpPr>
        <p:spPr>
          <a:xfrm>
            <a:off x="4617720" y="1408176"/>
            <a:ext cx="2057400" cy="731520"/>
          </a:xfrm>
          <a:prstGeom prst="roundRect">
            <a:avLst>
              <a:gd name="adj" fmla="val 7500"/>
            </a:avLst>
          </a:prstGeom>
          <a:solidFill>
            <a:srgbClr val="FFFFFF"/>
          </a:solidFill>
          <a:ln w="9525">
            <a:solidFill>
              <a:srgbClr val="D6DCE5"/>
            </a:solidFill>
            <a:prstDash val="solid"/>
          </a:ln>
        </p:spPr>
      </p:sp>
      <p:sp>
        <p:nvSpPr>
          <p:cNvPr id="19" name="Text 16"/>
          <p:cNvSpPr txBox="1"/>
          <p:nvPr/>
        </p:nvSpPr>
        <p:spPr>
          <a:xfrm>
            <a:off x="4709160" y="1435608"/>
            <a:ext cx="1874520" cy="228600"/>
          </a:xfrm>
          <a:prstGeom prst="rect">
            <a:avLst/>
          </a:prstGeom>
          <a:noFill/>
          <a:ln/>
        </p:spPr>
        <p:txBody>
          <a:bodyPr wrap="square" lIns="0" tIns="0" rIns="0" bIns="0" rtlCol="0" anchor="ctr"/>
          <a:lstStyle/>
          <a:p>
            <a:pPr indent="0" marL="0">
              <a:buNone/>
            </a:pPr>
            <a:r>
              <a:rPr lang="en-US" sz="1200" b="1" dirty="0">
                <a:solidFill>
                  <a:srgbClr val="18864B"/>
                </a:solidFill>
                <a:latin typeface="Calibri" pitchFamily="34" charset="0"/>
                <a:ea typeface="Calibri" pitchFamily="34" charset="-122"/>
                <a:cs typeface="Calibri" pitchFamily="34" charset="-120"/>
              </a:rPr>
              <a:t>≤ 20% word error</a:t>
            </a:r>
            <a:endParaRPr lang="en-US" sz="1200" dirty="0"/>
          </a:p>
        </p:txBody>
      </p:sp>
      <p:sp>
        <p:nvSpPr>
          <p:cNvPr id="20" name="Text 17"/>
          <p:cNvSpPr txBox="1"/>
          <p:nvPr/>
        </p:nvSpPr>
        <p:spPr>
          <a:xfrm>
            <a:off x="4709160" y="1673352"/>
            <a:ext cx="1874520" cy="329184"/>
          </a:xfrm>
          <a:prstGeom prst="rect">
            <a:avLst/>
          </a:prstGeom>
          <a:noFill/>
          <a:ln/>
        </p:spPr>
        <p:txBody>
          <a:bodyPr wrap="square" lIns="0" tIns="0" rIns="0" bIns="0" rtlCol="0" anchor="t"/>
          <a:lstStyle/>
          <a:p>
            <a:pPr indent="0" marL="0">
              <a:buNone/>
            </a:pPr>
            <a:r>
              <a:rPr lang="en-US" sz="690" dirty="0">
                <a:solidFill>
                  <a:srgbClr val="1F1F1F"/>
                </a:solidFill>
                <a:latin typeface="Calibri" pitchFamily="34" charset="0"/>
                <a:ea typeface="Calibri" pitchFamily="34" charset="-122"/>
                <a:cs typeface="Calibri" pitchFamily="34" charset="-120"/>
              </a:rPr>
              <a:t>Sarvam-Audio and IndicConformer are top tier on real Indian phone calls: 36,691 speakers, 15 languages, 536 hours.</a:t>
            </a:r>
            <a:endParaRPr lang="en-US" sz="690" dirty="0"/>
          </a:p>
        </p:txBody>
      </p:sp>
      <p:sp>
        <p:nvSpPr>
          <p:cNvPr id="21" name="Text 18"/>
          <p:cNvSpPr txBox="1"/>
          <p:nvPr/>
        </p:nvSpPr>
        <p:spPr>
          <a:xfrm>
            <a:off x="4709160" y="1993392"/>
            <a:ext cx="1874520" cy="118872"/>
          </a:xfrm>
          <a:prstGeom prst="rect">
            <a:avLst/>
          </a:prstGeom>
          <a:noFill/>
          <a:ln/>
        </p:spPr>
        <p:txBody>
          <a:bodyPr wrap="square" lIns="0" tIns="0" rIns="0" bIns="0" rtlCol="0" anchor="t"/>
          <a:lstStyle/>
          <a:p>
            <a:pPr indent="0" marL="0">
              <a:buNone/>
            </a:pPr>
            <a:r>
              <a:rPr lang="en-US" sz="620" i="1" dirty="0">
                <a:solidFill>
                  <a:srgbClr val="5F6B7A"/>
                </a:solidFill>
                <a:latin typeface="Calibri" pitchFamily="34" charset="0"/>
                <a:ea typeface="Calibri" pitchFamily="34" charset="-122"/>
                <a:cs typeface="Calibri" pitchFamily="34" charset="-120"/>
              </a:rPr>
              <a:t>Voice of India benchmark, 2026</a:t>
            </a:r>
            <a:endParaRPr lang="en-US" sz="620" dirty="0"/>
          </a:p>
        </p:txBody>
      </p:sp>
      <p:sp>
        <p:nvSpPr>
          <p:cNvPr id="22" name="Shape 19"/>
          <p:cNvSpPr/>
          <p:nvPr/>
        </p:nvSpPr>
        <p:spPr>
          <a:xfrm>
            <a:off x="6789420" y="1408176"/>
            <a:ext cx="2057400" cy="731520"/>
          </a:xfrm>
          <a:prstGeom prst="roundRect">
            <a:avLst>
              <a:gd name="adj" fmla="val 7500"/>
            </a:avLst>
          </a:prstGeom>
          <a:solidFill>
            <a:srgbClr val="FFFFFF"/>
          </a:solidFill>
          <a:ln w="9525">
            <a:solidFill>
              <a:srgbClr val="D6DCE5"/>
            </a:solidFill>
            <a:prstDash val="solid"/>
          </a:ln>
        </p:spPr>
      </p:sp>
      <p:sp>
        <p:nvSpPr>
          <p:cNvPr id="23" name="Text 20"/>
          <p:cNvSpPr txBox="1"/>
          <p:nvPr/>
        </p:nvSpPr>
        <p:spPr>
          <a:xfrm>
            <a:off x="6880860" y="1435608"/>
            <a:ext cx="1874520" cy="228600"/>
          </a:xfrm>
          <a:prstGeom prst="rect">
            <a:avLst/>
          </a:prstGeom>
          <a:noFill/>
          <a:ln/>
        </p:spPr>
        <p:txBody>
          <a:bodyPr wrap="square" lIns="0" tIns="0" rIns="0" bIns="0" rtlCol="0" anchor="ctr"/>
          <a:lstStyle/>
          <a:p>
            <a:pPr indent="0" marL="0">
              <a:buNone/>
            </a:pPr>
            <a:r>
              <a:rPr lang="en-US" sz="1200" b="1" dirty="0">
                <a:solidFill>
                  <a:srgbClr val="18864B"/>
                </a:solidFill>
                <a:latin typeface="Calibri" pitchFamily="34" charset="0"/>
                <a:ea typeface="Calibri" pitchFamily="34" charset="-122"/>
                <a:cs typeface="Calibri" pitchFamily="34" charset="-120"/>
              </a:rPr>
              <a:t>Prototype-ready now</a:t>
            </a:r>
            <a:endParaRPr lang="en-US" sz="1200" dirty="0"/>
          </a:p>
        </p:txBody>
      </p:sp>
      <p:sp>
        <p:nvSpPr>
          <p:cNvPr id="24" name="Text 21"/>
          <p:cNvSpPr txBox="1"/>
          <p:nvPr/>
        </p:nvSpPr>
        <p:spPr>
          <a:xfrm>
            <a:off x="6880860" y="1673352"/>
            <a:ext cx="1874520" cy="329184"/>
          </a:xfrm>
          <a:prstGeom prst="rect">
            <a:avLst/>
          </a:prstGeom>
          <a:noFill/>
          <a:ln/>
        </p:spPr>
        <p:txBody>
          <a:bodyPr wrap="square" lIns="0" tIns="0" rIns="0" bIns="0" rtlCol="0" anchor="t"/>
          <a:lstStyle/>
          <a:p>
            <a:pPr indent="0" marL="0">
              <a:buNone/>
            </a:pPr>
            <a:r>
              <a:rPr lang="en-US" sz="690" dirty="0">
                <a:solidFill>
                  <a:srgbClr val="1F1F1F"/>
                </a:solidFill>
                <a:latin typeface="Calibri" pitchFamily="34" charset="0"/>
                <a:ea typeface="Calibri" pitchFamily="34" charset="-122"/>
                <a:cs typeface="Calibri" pitchFamily="34" charset="-120"/>
              </a:rPr>
              <a:t>Sarvam APIs, Pipecat, Exotel trial, PostgreSQL, React — all usable today. AJAY app / DigiLocker links are mocked until an MoU.</a:t>
            </a:r>
            <a:endParaRPr lang="en-US" sz="690" dirty="0"/>
          </a:p>
        </p:txBody>
      </p:sp>
      <p:sp>
        <p:nvSpPr>
          <p:cNvPr id="25" name="Text 22"/>
          <p:cNvSpPr txBox="1"/>
          <p:nvPr/>
        </p:nvSpPr>
        <p:spPr>
          <a:xfrm>
            <a:off x="6880860" y="1993392"/>
            <a:ext cx="1874520" cy="118872"/>
          </a:xfrm>
          <a:prstGeom prst="rect">
            <a:avLst/>
          </a:prstGeom>
          <a:noFill/>
          <a:ln/>
        </p:spPr>
        <p:txBody>
          <a:bodyPr wrap="square" lIns="0" tIns="0" rIns="0" bIns="0" rtlCol="0" anchor="t"/>
          <a:lstStyle/>
          <a:p>
            <a:pPr indent="0" marL="0">
              <a:buNone/>
            </a:pPr>
            <a:r>
              <a:rPr lang="en-US" sz="620" i="1" dirty="0">
                <a:solidFill>
                  <a:srgbClr val="5F6B7A"/>
                </a:solidFill>
                <a:latin typeface="Calibri" pitchFamily="34" charset="0"/>
                <a:ea typeface="Calibri" pitchFamily="34" charset="-122"/>
                <a:cs typeface="Calibri" pitchFamily="34" charset="-120"/>
              </a:rPr>
              <a:t>our prototype plan</a:t>
            </a:r>
            <a:endParaRPr lang="en-US" sz="620" dirty="0"/>
          </a:p>
        </p:txBody>
      </p:sp>
      <p:sp>
        <p:nvSpPr>
          <p:cNvPr id="26" name="Text 23"/>
          <p:cNvSpPr txBox="1"/>
          <p:nvPr/>
        </p:nvSpPr>
        <p:spPr>
          <a:xfrm>
            <a:off x="274320" y="2194560"/>
            <a:ext cx="4297680" cy="182880"/>
          </a:xfrm>
          <a:prstGeom prst="rect">
            <a:avLst/>
          </a:prstGeom>
          <a:noFill/>
          <a:ln/>
        </p:spPr>
        <p:txBody>
          <a:bodyPr wrap="square" lIns="0" tIns="0" rIns="0" bIns="0" rtlCol="0" anchor="t"/>
          <a:lstStyle/>
          <a:p>
            <a:pPr indent="0" marL="0">
              <a:buNone/>
            </a:pPr>
            <a:r>
              <a:rPr lang="en-US" sz="850" b="1" spc="100" kern="0" dirty="0">
                <a:solidFill>
                  <a:srgbClr val="1F4E79"/>
                </a:solidFill>
                <a:latin typeface="Calibri" pitchFamily="34" charset="0"/>
                <a:ea typeface="Calibri" pitchFamily="34" charset="-122"/>
                <a:cs typeface="Calibri" pitchFamily="34" charset="-120"/>
              </a:rPr>
              <a:t>COST PER COMPLETED PROFILE — VENDOR PRICES, OUR FUNNEL</a:t>
            </a:r>
            <a:endParaRPr lang="en-US" sz="8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274320" y="2377440"/>
          <a:ext cx="4343400" cy="914400"/>
        </p:xfrm>
        <a:graphic>
          <a:graphicData uri="http://schemas.openxmlformats.org/drawingml/2006/table">
            <a:tbl>
              <a:tblPr/>
              <a:tblGrid>
                <a:gridCol w="1097280"/>
                <a:gridCol w="2514600"/>
                <a:gridCol w="365760"/>
                <a:gridCol w="365760"/>
              </a:tblGrid>
              <a:tr h="118872">
                <a:tc>
                  <a:txBody>
                    <a:bodyPr/>
                    <a:lstStyle/>
                    <a:p>
                      <a:pPr algn="l" indent="0" marL="0">
                        <a:buNone/>
                      </a:pPr>
                      <a:r>
                        <a:rPr lang="en-US" sz="650" b="1" dirty="0">
                          <a:solidFill>
                            <a:srgbClr val="FFFFFF"/>
                          </a:solidFill>
                          <a:latin typeface="Calibri" pitchFamily="34" charset="0"/>
                          <a:ea typeface="Calibri" pitchFamily="34" charset="-122"/>
                          <a:cs typeface="Calibri" pitchFamily="34" charset="-120"/>
                        </a:rPr>
                        <a:t>Item</a:t>
                      </a:r>
                      <a:endParaRPr lang="en-US" sz="65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1F4E79"/>
                    </a:solidFill>
                  </a:tcPr>
                </a:tc>
                <a:tc>
                  <a:txBody>
                    <a:bodyPr/>
                    <a:lstStyle/>
                    <a:p>
                      <a:pPr algn="l" indent="0" marL="0">
                        <a:buNone/>
                      </a:pPr>
                      <a:r>
                        <a:rPr lang="en-US" sz="650" b="1" dirty="0">
                          <a:solidFill>
                            <a:srgbClr val="FFFFFF"/>
                          </a:solidFill>
                          <a:latin typeface="Calibri" pitchFamily="34" charset="0"/>
                          <a:ea typeface="Calibri" pitchFamily="34" charset="-122"/>
                          <a:cs typeface="Calibri" pitchFamily="34" charset="-120"/>
                        </a:rPr>
                        <a:t>How it is computed</a:t>
                      </a:r>
                      <a:endParaRPr lang="en-US" sz="65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1F4E79"/>
                    </a:solidFill>
                  </a:tcPr>
                </a:tc>
                <a:tc>
                  <a:txBody>
                    <a:bodyPr/>
                    <a:lstStyle/>
                    <a:p>
                      <a:pPr algn="r" indent="0" marL="0">
                        <a:buNone/>
                      </a:pPr>
                      <a:r>
                        <a:rPr lang="en-US" sz="650" b="1" dirty="0">
                          <a:solidFill>
                            <a:srgbClr val="FFFFFF"/>
                          </a:solidFill>
                          <a:latin typeface="Calibri" pitchFamily="34" charset="0"/>
                          <a:ea typeface="Calibri" pitchFamily="34" charset="-122"/>
                          <a:cs typeface="Calibri" pitchFamily="34" charset="-120"/>
                        </a:rPr>
                        <a:t>Low</a:t>
                      </a:r>
                      <a:endParaRPr lang="en-US" sz="65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1F4E79"/>
                    </a:solidFill>
                  </a:tcPr>
                </a:tc>
                <a:tc>
                  <a:txBody>
                    <a:bodyPr/>
                    <a:lstStyle/>
                    <a:p>
                      <a:pPr algn="r" indent="0" marL="0">
                        <a:buNone/>
                      </a:pPr>
                      <a:r>
                        <a:rPr lang="en-US" sz="650" b="1" dirty="0">
                          <a:solidFill>
                            <a:srgbClr val="FFFFFF"/>
                          </a:solidFill>
                          <a:latin typeface="Calibri" pitchFamily="34" charset="0"/>
                          <a:ea typeface="Calibri" pitchFamily="34" charset="-122"/>
                          <a:cs typeface="Calibri" pitchFamily="34" charset="-120"/>
                        </a:rPr>
                        <a:t>High</a:t>
                      </a:r>
                      <a:endParaRPr lang="en-US" sz="65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1F4E79"/>
                    </a:solidFill>
                  </a:tcPr>
                </a:tc>
              </a:tr>
              <a:tr h="201168">
                <a:tc>
                  <a:txBody>
                    <a:bodyPr/>
                    <a:lstStyle/>
                    <a:p>
                      <a:pPr algn="l" indent="0" marL="0">
                        <a:buNone/>
                      </a:pPr>
                      <a:r>
                        <a:rPr lang="en-US" sz="600" b="1" dirty="0">
                          <a:solidFill>
                            <a:srgbClr val="1F1F1F"/>
                          </a:solidFill>
                          <a:latin typeface="Calibri" pitchFamily="34" charset="0"/>
                          <a:ea typeface="Calibri" pitchFamily="34" charset="-122"/>
                          <a:cs typeface="Calibri" pitchFamily="34" charset="-120"/>
                        </a:rPr>
                        <a:t>Telephony (Exotel / Plivo)</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FFFFF"/>
                    </a:solidFill>
                  </a:tcPr>
                </a:tc>
                <a:tc>
                  <a:txBody>
                    <a:bodyPr/>
                    <a:lstStyle/>
                    <a:p>
                      <a:pPr algn="l" indent="0" marL="0">
                        <a:buNone/>
                      </a:pPr>
                      <a:r>
                        <a:rPr lang="en-US" sz="600" dirty="0">
                          <a:solidFill>
                            <a:srgbClr val="1F1F1F"/>
                          </a:solidFill>
                          <a:latin typeface="Calibri" pitchFamily="34" charset="0"/>
                          <a:ea typeface="Calibri" pitchFamily="34" charset="-122"/>
                          <a:cs typeface="Calibri" pitchFamily="34" charset="-120"/>
                        </a:rPr>
                        <a:t>₹0.80–1.80 / min × 18 min (10 interview + 4 follow-ups × 2) + 10% for 30-s pulses; incomplete callers spread over completed ones</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FFFFF"/>
                    </a:solidFill>
                  </a:tcPr>
                </a:tc>
                <a:tc>
                  <a:txBody>
                    <a:bodyPr/>
                    <a:lstStyle/>
                    <a:p>
                      <a:pPr algn="r" indent="0" marL="0">
                        <a:buNone/>
                      </a:pPr>
                      <a:r>
                        <a:rPr lang="en-US" sz="600" dirty="0">
                          <a:solidFill>
                            <a:srgbClr val="1F1F1F"/>
                          </a:solidFill>
                          <a:latin typeface="Calibri" pitchFamily="34" charset="0"/>
                          <a:ea typeface="Calibri" pitchFamily="34" charset="-122"/>
                          <a:cs typeface="Calibri" pitchFamily="34" charset="-120"/>
                        </a:rPr>
                        <a:t>₹16.5</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FFFFF"/>
                    </a:solidFill>
                  </a:tcPr>
                </a:tc>
                <a:tc>
                  <a:txBody>
                    <a:bodyPr/>
                    <a:lstStyle/>
                    <a:p>
                      <a:pPr algn="r" indent="0" marL="0">
                        <a:buNone/>
                      </a:pPr>
                      <a:r>
                        <a:rPr lang="en-US" sz="600" dirty="0">
                          <a:solidFill>
                            <a:srgbClr val="1F1F1F"/>
                          </a:solidFill>
                          <a:latin typeface="Calibri" pitchFamily="34" charset="0"/>
                          <a:ea typeface="Calibri" pitchFamily="34" charset="-122"/>
                          <a:cs typeface="Calibri" pitchFamily="34" charset="-120"/>
                        </a:rPr>
                        <a:t>₹37.6</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FFFFF"/>
                    </a:solidFill>
                  </a:tcPr>
                </a:tc>
              </a:tr>
              <a:tr h="118872">
                <a:tc>
                  <a:txBody>
                    <a:bodyPr/>
                    <a:lstStyle/>
                    <a:p>
                      <a:pPr algn="l" indent="0" marL="0">
                        <a:buNone/>
                      </a:pPr>
                      <a:r>
                        <a:rPr lang="en-US" sz="600" b="1" dirty="0">
                          <a:solidFill>
                            <a:srgbClr val="1F1F1F"/>
                          </a:solidFill>
                          <a:latin typeface="Calibri" pitchFamily="34" charset="0"/>
                          <a:ea typeface="Calibri" pitchFamily="34" charset="-122"/>
                          <a:cs typeface="Calibri" pitchFamily="34" charset="-120"/>
                        </a:rPr>
                        <a:t>Speech → text (Saaras v3)</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5F6F8"/>
                    </a:solidFill>
                  </a:tcPr>
                </a:tc>
                <a:tc>
                  <a:txBody>
                    <a:bodyPr/>
                    <a:lstStyle/>
                    <a:p>
                      <a:pPr algn="l" indent="0" marL="0">
                        <a:buNone/>
                      </a:pPr>
                      <a:r>
                        <a:rPr lang="en-US" sz="600" dirty="0">
                          <a:solidFill>
                            <a:srgbClr val="1F1F1F"/>
                          </a:solidFill>
                          <a:latin typeface="Calibri" pitchFamily="34" charset="0"/>
                          <a:ea typeface="Calibri" pitchFamily="34" charset="-122"/>
                          <a:cs typeface="Calibri" pitchFamily="34" charset="-120"/>
                        </a:rPr>
                        <a:t>₹30 per hour of audio = ₹0.50 per minute</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5F6F8"/>
                    </a:solidFill>
                  </a:tcPr>
                </a:tc>
                <a:tc>
                  <a:txBody>
                    <a:bodyPr/>
                    <a:lstStyle/>
                    <a:p>
                      <a:pPr algn="r" indent="0" marL="0">
                        <a:buNone/>
                      </a:pPr>
                      <a:r>
                        <a:rPr lang="en-US" sz="600" dirty="0">
                          <a:solidFill>
                            <a:srgbClr val="1F1F1F"/>
                          </a:solidFill>
                          <a:latin typeface="Calibri" pitchFamily="34" charset="0"/>
                          <a:ea typeface="Calibri" pitchFamily="34" charset="-122"/>
                          <a:cs typeface="Calibri" pitchFamily="34" charset="-120"/>
                        </a:rPr>
                        <a:t>₹9.4</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5F6F8"/>
                    </a:solidFill>
                  </a:tcPr>
                </a:tc>
                <a:tc>
                  <a:txBody>
                    <a:bodyPr/>
                    <a:lstStyle/>
                    <a:p>
                      <a:pPr algn="r" indent="0" marL="0">
                        <a:buNone/>
                      </a:pPr>
                      <a:r>
                        <a:rPr lang="en-US" sz="600" dirty="0">
                          <a:solidFill>
                            <a:srgbClr val="1F1F1F"/>
                          </a:solidFill>
                          <a:latin typeface="Calibri" pitchFamily="34" charset="0"/>
                          <a:ea typeface="Calibri" pitchFamily="34" charset="-122"/>
                          <a:cs typeface="Calibri" pitchFamily="34" charset="-120"/>
                        </a:rPr>
                        <a:t>₹9.5</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5F6F8"/>
                    </a:solidFill>
                  </a:tcPr>
                </a:tc>
              </a:tr>
              <a:tr h="201168">
                <a:tc>
                  <a:txBody>
                    <a:bodyPr/>
                    <a:lstStyle/>
                    <a:p>
                      <a:pPr algn="l" indent="0" marL="0">
                        <a:buNone/>
                      </a:pPr>
                      <a:r>
                        <a:rPr lang="en-US" sz="600" b="1" dirty="0">
                          <a:solidFill>
                            <a:srgbClr val="1F1F1F"/>
                          </a:solidFill>
                          <a:latin typeface="Calibri" pitchFamily="34" charset="0"/>
                          <a:ea typeface="Calibri" pitchFamily="34" charset="-122"/>
                          <a:cs typeface="Calibri" pitchFamily="34" charset="-120"/>
                        </a:rPr>
                        <a:t>Text → speech (Bulbul v3)</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FFFFF"/>
                    </a:solidFill>
                  </a:tcPr>
                </a:tc>
                <a:tc>
                  <a:txBody>
                    <a:bodyPr/>
                    <a:lstStyle/>
                    <a:p>
                      <a:pPr algn="l" indent="0" marL="0">
                        <a:buNone/>
                      </a:pPr>
                      <a:r>
                        <a:rPr lang="en-US" sz="600" dirty="0">
                          <a:solidFill>
                            <a:srgbClr val="1F1F1F"/>
                          </a:solidFill>
                          <a:latin typeface="Calibri" pitchFamily="34" charset="0"/>
                          <a:ea typeface="Calibri" pitchFamily="34" charset="-122"/>
                          <a:cs typeface="Calibri" pitchFamily="34" charset="-120"/>
                        </a:rPr>
                        <a:t>₹3 per 1,000 characters × 800–2,000 dynamic characters; fixed prompts are pre-recorded once (free)</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FFFFF"/>
                    </a:solidFill>
                  </a:tcPr>
                </a:tc>
                <a:tc>
                  <a:txBody>
                    <a:bodyPr/>
                    <a:lstStyle/>
                    <a:p>
                      <a:pPr algn="r" indent="0" marL="0">
                        <a:buNone/>
                      </a:pPr>
                      <a:r>
                        <a:rPr lang="en-US" sz="600" dirty="0">
                          <a:solidFill>
                            <a:srgbClr val="1F1F1F"/>
                          </a:solidFill>
                          <a:latin typeface="Calibri" pitchFamily="34" charset="0"/>
                          <a:ea typeface="Calibri" pitchFamily="34" charset="-122"/>
                          <a:cs typeface="Calibri" pitchFamily="34" charset="-120"/>
                        </a:rPr>
                        <a:t>₹2.4</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FFFFF"/>
                    </a:solidFill>
                  </a:tcPr>
                </a:tc>
                <a:tc>
                  <a:txBody>
                    <a:bodyPr/>
                    <a:lstStyle/>
                    <a:p>
                      <a:pPr algn="r" indent="0" marL="0">
                        <a:buNone/>
                      </a:pPr>
                      <a:r>
                        <a:rPr lang="en-US" sz="600" dirty="0">
                          <a:solidFill>
                            <a:srgbClr val="1F1F1F"/>
                          </a:solidFill>
                          <a:latin typeface="Calibri" pitchFamily="34" charset="0"/>
                          <a:ea typeface="Calibri" pitchFamily="34" charset="-122"/>
                          <a:cs typeface="Calibri" pitchFamily="34" charset="-120"/>
                        </a:rPr>
                        <a:t>₹6.0</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FFFFF"/>
                    </a:solidFill>
                  </a:tcPr>
                </a:tc>
              </a:tr>
              <a:tr h="201168">
                <a:tc>
                  <a:txBody>
                    <a:bodyPr/>
                    <a:lstStyle/>
                    <a:p>
                      <a:pPr algn="l" indent="0" marL="0">
                        <a:buNone/>
                      </a:pPr>
                      <a:r>
                        <a:rPr lang="en-US" sz="600" b="1" dirty="0">
                          <a:solidFill>
                            <a:srgbClr val="1F1F1F"/>
                          </a:solidFill>
                          <a:latin typeface="Calibri" pitchFamily="34" charset="0"/>
                          <a:ea typeface="Calibri" pitchFamily="34" charset="-122"/>
                          <a:cs typeface="Calibri" pitchFamily="34" charset="-120"/>
                        </a:rPr>
                        <a:t>LLM (Sarvam-30B / 105B)</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5F6F8"/>
                    </a:solidFill>
                  </a:tcPr>
                </a:tc>
                <a:tc>
                  <a:txBody>
                    <a:bodyPr/>
                    <a:lstStyle/>
                    <a:p>
                      <a:pPr algn="l" indent="0" marL="0">
                        <a:buNone/>
                      </a:pPr>
                      <a:r>
                        <a:rPr lang="en-US" sz="600" dirty="0">
                          <a:solidFill>
                            <a:srgbClr val="1F1F1F"/>
                          </a:solidFill>
                          <a:latin typeface="Calibri" pitchFamily="34" charset="0"/>
                          <a:ea typeface="Calibri" pitchFamily="34" charset="-122"/>
                          <a:cs typeface="Calibri" pitchFamily="34" charset="-120"/>
                        </a:rPr>
                        <a:t>105B price as upper limit: ₹29.28 / 1M input, ₹73.20 / 1M output tokens; 40–90K in + 3–6K out per profile</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5F6F8"/>
                    </a:solidFill>
                  </a:tcPr>
                </a:tc>
                <a:tc>
                  <a:txBody>
                    <a:bodyPr/>
                    <a:lstStyle/>
                    <a:p>
                      <a:pPr algn="r" indent="0" marL="0">
                        <a:buNone/>
                      </a:pPr>
                      <a:r>
                        <a:rPr lang="en-US" sz="600" dirty="0">
                          <a:solidFill>
                            <a:srgbClr val="1F1F1F"/>
                          </a:solidFill>
                          <a:latin typeface="Calibri" pitchFamily="34" charset="0"/>
                          <a:ea typeface="Calibri" pitchFamily="34" charset="-122"/>
                          <a:cs typeface="Calibri" pitchFamily="34" charset="-120"/>
                        </a:rPr>
                        <a:t>₹1.4</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5F6F8"/>
                    </a:solidFill>
                  </a:tcPr>
                </a:tc>
                <a:tc>
                  <a:txBody>
                    <a:bodyPr/>
                    <a:lstStyle/>
                    <a:p>
                      <a:pPr algn="r" indent="0" marL="0">
                        <a:buNone/>
                      </a:pPr>
                      <a:r>
                        <a:rPr lang="en-US" sz="600" dirty="0">
                          <a:solidFill>
                            <a:srgbClr val="1F1F1F"/>
                          </a:solidFill>
                          <a:latin typeface="Calibri" pitchFamily="34" charset="0"/>
                          <a:ea typeface="Calibri" pitchFamily="34" charset="-122"/>
                          <a:cs typeface="Calibri" pitchFamily="34" charset="-120"/>
                        </a:rPr>
                        <a:t>₹3.1</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5F6F8"/>
                    </a:solidFill>
                  </a:tcPr>
                </a:tc>
              </a:tr>
              <a:tr h="118872">
                <a:tc>
                  <a:txBody>
                    <a:bodyPr/>
                    <a:lstStyle/>
                    <a:p>
                      <a:pPr algn="l" indent="0" marL="0">
                        <a:buNone/>
                      </a:pPr>
                      <a:r>
                        <a:rPr lang="en-US" sz="600" b="1" dirty="0">
                          <a:solidFill>
                            <a:srgbClr val="1F1F1F"/>
                          </a:solidFill>
                          <a:latin typeface="Calibri" pitchFamily="34" charset="0"/>
                          <a:ea typeface="Calibri" pitchFamily="34" charset="-122"/>
                          <a:cs typeface="Calibri" pitchFamily="34" charset="-120"/>
                        </a:rPr>
                        <a:t>SMS (DLT)</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FFFFF"/>
                    </a:solidFill>
                  </a:tcPr>
                </a:tc>
                <a:tc>
                  <a:txBody>
                    <a:bodyPr/>
                    <a:lstStyle/>
                    <a:p>
                      <a:pPr algn="l" indent="0" marL="0">
                        <a:buNone/>
                      </a:pPr>
                      <a:r>
                        <a:rPr lang="en-US" sz="600" dirty="0">
                          <a:solidFill>
                            <a:srgbClr val="1F1F1F"/>
                          </a:solidFill>
                          <a:latin typeface="Calibri" pitchFamily="34" charset="0"/>
                          <a:ea typeface="Calibri" pitchFamily="34" charset="-122"/>
                          <a:cs typeface="Calibri" pitchFamily="34" charset="-120"/>
                        </a:rPr>
                        <a:t>4–6 messages × ₹0.15–0.25</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FFFFF"/>
                    </a:solidFill>
                  </a:tcPr>
                </a:tc>
                <a:tc>
                  <a:txBody>
                    <a:bodyPr/>
                    <a:lstStyle/>
                    <a:p>
                      <a:pPr algn="r" indent="0" marL="0">
                        <a:buNone/>
                      </a:pPr>
                      <a:r>
                        <a:rPr lang="en-US" sz="600" dirty="0">
                          <a:solidFill>
                            <a:srgbClr val="1F1F1F"/>
                          </a:solidFill>
                          <a:latin typeface="Calibri" pitchFamily="34" charset="0"/>
                          <a:ea typeface="Calibri" pitchFamily="34" charset="-122"/>
                          <a:cs typeface="Calibri" pitchFamily="34" charset="-120"/>
                        </a:rPr>
                        <a:t>₹0.6</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FFFFF"/>
                    </a:solidFill>
                  </a:tcPr>
                </a:tc>
                <a:tc>
                  <a:txBody>
                    <a:bodyPr/>
                    <a:lstStyle/>
                    <a:p>
                      <a:pPr algn="r" indent="0" marL="0">
                        <a:buNone/>
                      </a:pPr>
                      <a:r>
                        <a:rPr lang="en-US" sz="600" dirty="0">
                          <a:solidFill>
                            <a:srgbClr val="1F1F1F"/>
                          </a:solidFill>
                          <a:latin typeface="Calibri" pitchFamily="34" charset="0"/>
                          <a:ea typeface="Calibri" pitchFamily="34" charset="-122"/>
                          <a:cs typeface="Calibri" pitchFamily="34" charset="-120"/>
                        </a:rPr>
                        <a:t>₹1.5</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FFFFF"/>
                    </a:solidFill>
                  </a:tcPr>
                </a:tc>
              </a:tr>
              <a:tr h="118872">
                <a:tc>
                  <a:txBody>
                    <a:bodyPr/>
                    <a:lstStyle/>
                    <a:p>
                      <a:pPr algn="l" indent="0" marL="0">
                        <a:buNone/>
                      </a:pPr>
                      <a:r>
                        <a:rPr lang="en-US" sz="600" b="1" dirty="0">
                          <a:solidFill>
                            <a:srgbClr val="1F1F1F"/>
                          </a:solidFill>
                          <a:latin typeface="Calibri" pitchFamily="34" charset="0"/>
                          <a:ea typeface="Calibri" pitchFamily="34" charset="-122"/>
                          <a:cs typeface="Calibri" pitchFamily="34" charset="-120"/>
                        </a:rPr>
                        <a:t>Human call-back</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5F6F8"/>
                    </a:solidFill>
                  </a:tcPr>
                </a:tc>
                <a:tc>
                  <a:txBody>
                    <a:bodyPr/>
                    <a:lstStyle/>
                    <a:p>
                      <a:pPr algn="l" indent="0" marL="0">
                        <a:buNone/>
                      </a:pPr>
                      <a:r>
                        <a:rPr lang="en-US" sz="600" dirty="0">
                          <a:solidFill>
                            <a:srgbClr val="1F1F1F"/>
                          </a:solidFill>
                          <a:latin typeface="Calibri" pitchFamily="34" charset="0"/>
                          <a:ea typeface="Calibri" pitchFamily="34" charset="-122"/>
                          <a:cs typeface="Calibri" pitchFamily="34" charset="-120"/>
                        </a:rPr>
                        <a:t>counsellor ₹25,000 / month ≈ ₹3.2 / min; 10–20% of profiles × 5–6 min</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5F6F8"/>
                    </a:solidFill>
                  </a:tcPr>
                </a:tc>
                <a:tc>
                  <a:txBody>
                    <a:bodyPr/>
                    <a:lstStyle/>
                    <a:p>
                      <a:pPr algn="r" indent="0" marL="0">
                        <a:buNone/>
                      </a:pPr>
                      <a:r>
                        <a:rPr lang="en-US" sz="600" dirty="0">
                          <a:solidFill>
                            <a:srgbClr val="1F1F1F"/>
                          </a:solidFill>
                          <a:latin typeface="Calibri" pitchFamily="34" charset="0"/>
                          <a:ea typeface="Calibri" pitchFamily="34" charset="-122"/>
                          <a:cs typeface="Calibri" pitchFamily="34" charset="-120"/>
                        </a:rPr>
                        <a:t>₹2.0</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5F6F8"/>
                    </a:solidFill>
                  </a:tcPr>
                </a:tc>
                <a:tc>
                  <a:txBody>
                    <a:bodyPr/>
                    <a:lstStyle/>
                    <a:p>
                      <a:pPr algn="r" indent="0" marL="0">
                        <a:buNone/>
                      </a:pPr>
                      <a:r>
                        <a:rPr lang="en-US" sz="600" dirty="0">
                          <a:solidFill>
                            <a:srgbClr val="1F1F1F"/>
                          </a:solidFill>
                          <a:latin typeface="Calibri" pitchFamily="34" charset="0"/>
                          <a:ea typeface="Calibri" pitchFamily="34" charset="-122"/>
                          <a:cs typeface="Calibri" pitchFamily="34" charset="-120"/>
                        </a:rPr>
                        <a:t>₹6.0</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5F6F8"/>
                    </a:solidFill>
                  </a:tcPr>
                </a:tc>
              </a:tr>
              <a:tr h="118872">
                <a:tc>
                  <a:txBody>
                    <a:bodyPr/>
                    <a:lstStyle/>
                    <a:p>
                      <a:pPr algn="l" indent="0" marL="0">
                        <a:buNone/>
                      </a:pPr>
                      <a:r>
                        <a:rPr lang="en-US" sz="600" b="1" dirty="0">
                          <a:solidFill>
                            <a:srgbClr val="1F1F1F"/>
                          </a:solidFill>
                          <a:latin typeface="Calibri" pitchFamily="34" charset="0"/>
                          <a:ea typeface="Calibri" pitchFamily="34" charset="-122"/>
                          <a:cs typeface="Calibri" pitchFamily="34" charset="-120"/>
                        </a:rPr>
                        <a:t>CSC / helper fee</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FFFFF"/>
                    </a:solidFill>
                  </a:tcPr>
                </a:tc>
                <a:tc>
                  <a:txBody>
                    <a:bodyPr/>
                    <a:lstStyle/>
                    <a:p>
                      <a:pPr algn="l" indent="0" marL="0">
                        <a:buNone/>
                      </a:pPr>
                      <a:r>
                        <a:rPr lang="en-US" sz="600" dirty="0">
                          <a:solidFill>
                            <a:srgbClr val="1F1F1F"/>
                          </a:solidFill>
                          <a:latin typeface="Calibri" pitchFamily="34" charset="0"/>
                          <a:ea typeface="Calibri" pitchFamily="34" charset="-122"/>
                          <a:cs typeface="Calibri" pitchFamily="34" charset="-120"/>
                        </a:rPr>
                        <a:t>₹20–40 per assisted profile; 20–40% need help</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FFFFF"/>
                    </a:solidFill>
                  </a:tcPr>
                </a:tc>
                <a:tc>
                  <a:txBody>
                    <a:bodyPr/>
                    <a:lstStyle/>
                    <a:p>
                      <a:pPr algn="r" indent="0" marL="0">
                        <a:buNone/>
                      </a:pPr>
                      <a:r>
                        <a:rPr lang="en-US" sz="600" dirty="0">
                          <a:solidFill>
                            <a:srgbClr val="1F1F1F"/>
                          </a:solidFill>
                          <a:latin typeface="Calibri" pitchFamily="34" charset="0"/>
                          <a:ea typeface="Calibri" pitchFamily="34" charset="-122"/>
                          <a:cs typeface="Calibri" pitchFamily="34" charset="-120"/>
                        </a:rPr>
                        <a:t>₹4.0</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FFFFF"/>
                    </a:solidFill>
                  </a:tcPr>
                </a:tc>
                <a:tc>
                  <a:txBody>
                    <a:bodyPr/>
                    <a:lstStyle/>
                    <a:p>
                      <a:pPr algn="r" indent="0" marL="0">
                        <a:buNone/>
                      </a:pPr>
                      <a:r>
                        <a:rPr lang="en-US" sz="600" dirty="0">
                          <a:solidFill>
                            <a:srgbClr val="1F1F1F"/>
                          </a:solidFill>
                          <a:latin typeface="Calibri" pitchFamily="34" charset="0"/>
                          <a:ea typeface="Calibri" pitchFamily="34" charset="-122"/>
                          <a:cs typeface="Calibri" pitchFamily="34" charset="-120"/>
                        </a:rPr>
                        <a:t>₹16.0</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FFFFF"/>
                    </a:solidFill>
                  </a:tcPr>
                </a:tc>
              </a:tr>
              <a:tr h="118872">
                <a:tc>
                  <a:txBody>
                    <a:bodyPr/>
                    <a:lstStyle/>
                    <a:p>
                      <a:pPr algn="l" indent="0" marL="0">
                        <a:buNone/>
                      </a:pPr>
                      <a:r>
                        <a:rPr lang="en-US" sz="600" b="1" dirty="0">
                          <a:solidFill>
                            <a:srgbClr val="1F1F1F"/>
                          </a:solidFill>
                          <a:latin typeface="Calibri" pitchFamily="34" charset="0"/>
                          <a:ea typeface="Calibri" pitchFamily="34" charset="-122"/>
                          <a:cs typeface="Calibri" pitchFamily="34" charset="-120"/>
                        </a:rPr>
                        <a:t>Hosting, numbers</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5F6F8"/>
                    </a:solidFill>
                  </a:tcPr>
                </a:tc>
                <a:tc>
                  <a:txBody>
                    <a:bodyPr/>
                    <a:lstStyle/>
                    <a:p>
                      <a:pPr algn="l" indent="0" marL="0">
                        <a:buNone/>
                      </a:pPr>
                      <a:r>
                        <a:rPr lang="en-US" sz="600" dirty="0">
                          <a:solidFill>
                            <a:srgbClr val="1F1F1F"/>
                          </a:solidFill>
                          <a:latin typeface="Calibri" pitchFamily="34" charset="0"/>
                          <a:ea typeface="Calibri" pitchFamily="34" charset="-122"/>
                          <a:cs typeface="Calibri" pitchFamily="34" charset="-120"/>
                        </a:rPr>
                        <a:t>servers, database, helpline number — spread per profile</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5F6F8"/>
                    </a:solidFill>
                  </a:tcPr>
                </a:tc>
                <a:tc>
                  <a:txBody>
                    <a:bodyPr/>
                    <a:lstStyle/>
                    <a:p>
                      <a:pPr algn="r" indent="0" marL="0">
                        <a:buNone/>
                      </a:pPr>
                      <a:r>
                        <a:rPr lang="en-US" sz="600" dirty="0">
                          <a:solidFill>
                            <a:srgbClr val="1F1F1F"/>
                          </a:solidFill>
                          <a:latin typeface="Calibri" pitchFamily="34" charset="0"/>
                          <a:ea typeface="Calibri" pitchFamily="34" charset="-122"/>
                          <a:cs typeface="Calibri" pitchFamily="34" charset="-120"/>
                        </a:rPr>
                        <a:t>₹1.0</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5F6F8"/>
                    </a:solidFill>
                  </a:tcPr>
                </a:tc>
                <a:tc>
                  <a:txBody>
                    <a:bodyPr/>
                    <a:lstStyle/>
                    <a:p>
                      <a:pPr algn="r" indent="0" marL="0">
                        <a:buNone/>
                      </a:pPr>
                      <a:r>
                        <a:rPr lang="en-US" sz="600" dirty="0">
                          <a:solidFill>
                            <a:srgbClr val="1F1F1F"/>
                          </a:solidFill>
                          <a:latin typeface="Calibri" pitchFamily="34" charset="0"/>
                          <a:ea typeface="Calibri" pitchFamily="34" charset="-122"/>
                          <a:cs typeface="Calibri" pitchFamily="34" charset="-120"/>
                        </a:rPr>
                        <a:t>₹3.0</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F5F6F8"/>
                    </a:solidFill>
                  </a:tcPr>
                </a:tc>
              </a:tr>
              <a:tr h="201168">
                <a:tc>
                  <a:txBody>
                    <a:bodyPr/>
                    <a:lstStyle/>
                    <a:p>
                      <a:pPr algn="l" indent="0" marL="0">
                        <a:buNone/>
                      </a:pPr>
                      <a:r>
                        <a:rPr lang="en-US" sz="600" b="1" dirty="0">
                          <a:solidFill>
                            <a:srgbClr val="18864B"/>
                          </a:solidFill>
                          <a:latin typeface="Calibri" pitchFamily="34" charset="0"/>
                          <a:ea typeface="Calibri" pitchFamily="34" charset="-122"/>
                          <a:cs typeface="Calibri" pitchFamily="34" charset="-120"/>
                        </a:rPr>
                        <a:t>TOTAL per completed profile</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E8F5EC"/>
                    </a:solidFill>
                  </a:tcPr>
                </a:tc>
                <a:tc>
                  <a:txBody>
                    <a:bodyPr/>
                    <a:lstStyle/>
                    <a:p>
                      <a:pPr algn="l" indent="0" marL="0">
                        <a:buNone/>
                      </a:pPr>
                      <a:r>
                        <a:rPr lang="en-US" sz="600" b="1" dirty="0">
                          <a:solidFill>
                            <a:srgbClr val="18864B"/>
                          </a:solidFill>
                          <a:latin typeface="Calibri" pitchFamily="34" charset="0"/>
                          <a:ea typeface="Calibri" pitchFamily="34" charset="-122"/>
                          <a:cs typeface="Calibri" pitchFamily="34" charset="-120"/>
                        </a:rPr>
                        <a:t>funnel: 1,000 missed calls → 76% answered × 80% finish interview × 85% finish options = 517 profiles</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E8F5EC"/>
                    </a:solidFill>
                  </a:tcPr>
                </a:tc>
                <a:tc>
                  <a:txBody>
                    <a:bodyPr/>
                    <a:lstStyle/>
                    <a:p>
                      <a:pPr algn="r" indent="0" marL="0">
                        <a:buNone/>
                      </a:pPr>
                      <a:r>
                        <a:rPr lang="en-US" sz="600" b="1" dirty="0">
                          <a:solidFill>
                            <a:srgbClr val="18864B"/>
                          </a:solidFill>
                          <a:latin typeface="Calibri" pitchFamily="34" charset="0"/>
                          <a:ea typeface="Calibri" pitchFamily="34" charset="-122"/>
                          <a:cs typeface="Calibri" pitchFamily="34" charset="-120"/>
                        </a:rPr>
                        <a:t>≈ ₹37</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E8F5EC"/>
                    </a:solidFill>
                  </a:tcPr>
                </a:tc>
                <a:tc>
                  <a:txBody>
                    <a:bodyPr/>
                    <a:lstStyle/>
                    <a:p>
                      <a:pPr algn="r" indent="0" marL="0">
                        <a:buNone/>
                      </a:pPr>
                      <a:r>
                        <a:rPr lang="en-US" sz="600" b="1" dirty="0">
                          <a:solidFill>
                            <a:srgbClr val="18864B"/>
                          </a:solidFill>
                          <a:latin typeface="Calibri" pitchFamily="34" charset="0"/>
                          <a:ea typeface="Calibri" pitchFamily="34" charset="-122"/>
                          <a:cs typeface="Calibri" pitchFamily="34" charset="-120"/>
                        </a:rPr>
                        <a:t>≈ ₹83</a:t>
                      </a:r>
                      <a:endParaRPr lang="en-US" sz="600" dirty="0">
                        <a:latin typeface="Calibri" charset="0"/>
                        <a:ea typeface="Calibri" charset="0"/>
                        <a:cs typeface="Calibri" charset="0"/>
                      </a:endParaRPr>
                    </a:p>
                  </a:txBody>
                  <a:tcPr marL="38100" marR="38100" marT="12700" marB="12700" anchor="ctr">
                    <a:lnL w="6350" cap="flat" cmpd="sng" algn="ctr">
                      <a:solidFill>
                        <a:srgbClr val="D6DCE5"/>
                      </a:solidFill>
                      <a:prstDash val="solid"/>
                      <a:round/>
                      <a:headEnd type="none" w="med" len="med"/>
                      <a:tailEnd type="none" w="med" len="med"/>
                    </a:lnL>
                    <a:lnR w="6350" cap="flat" cmpd="sng" algn="ctr">
                      <a:solidFill>
                        <a:srgbClr val="D6DCE5"/>
                      </a:solidFill>
                      <a:prstDash val="solid"/>
                      <a:round/>
                      <a:headEnd type="none" w="med" len="med"/>
                      <a:tailEnd type="none" w="med" len="med"/>
                    </a:lnR>
                    <a:lnT w="6350" cap="flat" cmpd="sng" algn="ctr">
                      <a:solidFill>
                        <a:srgbClr val="D6DCE5"/>
                      </a:solidFill>
                      <a:prstDash val="solid"/>
                      <a:round/>
                      <a:headEnd type="none" w="med" len="med"/>
                      <a:tailEnd type="none" w="med" len="med"/>
                    </a:lnT>
                    <a:lnB w="6350" cap="flat" cmpd="sng" algn="ctr">
                      <a:solidFill>
                        <a:srgbClr val="D6DCE5"/>
                      </a:solidFill>
                      <a:prstDash val="solid"/>
                      <a:round/>
                      <a:headEnd type="none" w="med" len="med"/>
                      <a:tailEnd type="none" w="med" len="med"/>
                    </a:lnB>
                    <a:solidFill>
                      <a:srgbClr val="E8F5EC"/>
                    </a:solidFill>
                  </a:tcPr>
                </a:tc>
              </a:tr>
            </a:tbl>
          </a:graphicData>
        </a:graphic>
      </p:graphicFrame>
      <p:sp>
        <p:nvSpPr>
          <p:cNvPr id="28" name="Text 24"/>
          <p:cNvSpPr txBox="1"/>
          <p:nvPr/>
        </p:nvSpPr>
        <p:spPr>
          <a:xfrm>
            <a:off x="4800600" y="2194560"/>
            <a:ext cx="4069080" cy="182880"/>
          </a:xfrm>
          <a:prstGeom prst="rect">
            <a:avLst/>
          </a:prstGeom>
          <a:noFill/>
          <a:ln/>
        </p:spPr>
        <p:txBody>
          <a:bodyPr wrap="square" lIns="0" tIns="0" rIns="0" bIns="0" rtlCol="0" anchor="t"/>
          <a:lstStyle/>
          <a:p>
            <a:pPr indent="0" marL="0">
              <a:buNone/>
            </a:pPr>
            <a:r>
              <a:rPr lang="en-US" sz="850" b="1" spc="100" kern="0" dirty="0">
                <a:solidFill>
                  <a:srgbClr val="1F4E79"/>
                </a:solidFill>
                <a:latin typeface="Calibri" pitchFamily="34" charset="0"/>
                <a:ea typeface="Calibri" pitchFamily="34" charset="-122"/>
                <a:cs typeface="Calibri" pitchFamily="34" charset="-120"/>
              </a:rPr>
              <a:t>VIABILITY — MONEY, PEOPLE, COMPUTE</a:t>
            </a:r>
            <a:endParaRPr lang="en-US" sz="850" dirty="0"/>
          </a:p>
        </p:txBody>
      </p:sp>
      <p:sp>
        <p:nvSpPr>
          <p:cNvPr id="29" name="Shape 25"/>
          <p:cNvSpPr/>
          <p:nvPr/>
        </p:nvSpPr>
        <p:spPr>
          <a:xfrm>
            <a:off x="4800600" y="2377440"/>
            <a:ext cx="4069080" cy="1517904"/>
          </a:xfrm>
          <a:prstGeom prst="roundRect">
            <a:avLst>
              <a:gd name="adj" fmla="val 3614"/>
            </a:avLst>
          </a:prstGeom>
          <a:solidFill>
            <a:srgbClr val="E8F5EC"/>
          </a:solidFill>
          <a:ln w="9525">
            <a:solidFill>
              <a:srgbClr val="E8F5EC"/>
            </a:solidFill>
            <a:prstDash val="solid"/>
          </a:ln>
        </p:spPr>
      </p:sp>
      <p:sp>
        <p:nvSpPr>
          <p:cNvPr id="30" name="Text 26"/>
          <p:cNvSpPr txBox="1"/>
          <p:nvPr/>
        </p:nvSpPr>
        <p:spPr>
          <a:xfrm>
            <a:off x="4892040" y="2404872"/>
            <a:ext cx="3904488" cy="365760"/>
          </a:xfrm>
          <a:prstGeom prst="rect">
            <a:avLst/>
          </a:prstGeom>
          <a:noFill/>
          <a:ln/>
        </p:spPr>
        <p:txBody>
          <a:bodyPr wrap="square" lIns="0" tIns="0" rIns="0" bIns="0" rtlCol="0" anchor="ctr"/>
          <a:lstStyle/>
          <a:p>
            <a:pPr indent="0" marL="0">
              <a:buNone/>
            </a:pPr>
            <a:r>
              <a:rPr lang="en-US" sz="680" b="1" dirty="0">
                <a:solidFill>
                  <a:srgbClr val="1F4E79"/>
                </a:solidFill>
                <a:latin typeface="Calibri" pitchFamily="34" charset="0"/>
                <a:ea typeface="Calibri" pitchFamily="34" charset="-122"/>
                <a:cs typeface="Calibri" pitchFamily="34" charset="-120"/>
              </a:rPr>
              <a:t>₹0.9–1.7 crore a year for one state (1 lakh profiles)</a:t>
            </a:r>
            <a:r>
              <a:rPr lang="en-US" sz="680" dirty="0">
                <a:solidFill>
                  <a:srgbClr val="1F1F1F"/>
                </a:solidFill>
                <a:latin typeface="Calibri" pitchFamily="34" charset="0"/>
                <a:ea typeface="Calibri" pitchFamily="34" charset="-122"/>
                <a:cs typeface="Calibri" pitchFamily="34" charset="-120"/>
              </a:rPr>
              <a:t> = usage ₹37–83 lakh + team of 4–6 ₹40–60 lakh + hosting ₹6–20 lakh + audits/content ₹5–10 lakh. That is 0.04–0.08% of PM-AJAY's ₹2,140 crore budget (2026-27 BE), inside the ≤5% admin / MIS line (~₹107 crore).</a:t>
            </a:r>
            <a:endParaRPr lang="en-US" sz="680" dirty="0"/>
          </a:p>
        </p:txBody>
      </p:sp>
      <p:sp>
        <p:nvSpPr>
          <p:cNvPr id="31" name="Text 27"/>
          <p:cNvSpPr txBox="1"/>
          <p:nvPr/>
        </p:nvSpPr>
        <p:spPr>
          <a:xfrm>
            <a:off x="4892040" y="2779776"/>
            <a:ext cx="3904488" cy="365760"/>
          </a:xfrm>
          <a:prstGeom prst="rect">
            <a:avLst/>
          </a:prstGeom>
          <a:noFill/>
          <a:ln/>
        </p:spPr>
        <p:txBody>
          <a:bodyPr wrap="square" lIns="0" tIns="0" rIns="0" bIns="0" rtlCol="0" anchor="ctr"/>
          <a:lstStyle/>
          <a:p>
            <a:pPr indent="0" marL="0">
              <a:buNone/>
            </a:pPr>
            <a:r>
              <a:rPr lang="en-US" sz="680" b="1" dirty="0">
                <a:solidFill>
                  <a:srgbClr val="1F4E79"/>
                </a:solidFill>
                <a:latin typeface="Calibri" pitchFamily="34" charset="0"/>
                <a:ea typeface="Calibri" pitchFamily="34" charset="-122"/>
                <a:cs typeface="Calibri" pitchFamily="34" charset="-120"/>
              </a:rPr>
              <a:t>Pilot: 1 block, ~1,000 families, 6 months = ₹9.4–13 lakh</a:t>
            </a:r>
            <a:r>
              <a:rPr lang="en-US" sz="680" dirty="0">
                <a:solidFill>
                  <a:srgbClr val="1F1F1F"/>
                </a:solidFill>
                <a:latin typeface="Calibri" pitchFamily="34" charset="0"/>
                <a:ea typeface="Calibri" pitchFamily="34" charset="-122"/>
                <a:cs typeface="Calibri" pitchFamily="34" charset="-120"/>
              </a:rPr>
              <a:t> — one-time ₹5.5–8 lakh (2 developers × 3 months, content, security audit, field tests) + running ₹3.9–4.9 lakh. SIH prototype itself: ₹5,000–15,000.</a:t>
            </a:r>
            <a:endParaRPr lang="en-US" sz="680" dirty="0"/>
          </a:p>
        </p:txBody>
      </p:sp>
      <p:sp>
        <p:nvSpPr>
          <p:cNvPr id="32" name="Text 28"/>
          <p:cNvSpPr txBox="1"/>
          <p:nvPr/>
        </p:nvSpPr>
        <p:spPr>
          <a:xfrm>
            <a:off x="4892040" y="3154680"/>
            <a:ext cx="3904488" cy="365760"/>
          </a:xfrm>
          <a:prstGeom prst="rect">
            <a:avLst/>
          </a:prstGeom>
          <a:noFill/>
          <a:ln/>
        </p:spPr>
        <p:txBody>
          <a:bodyPr wrap="square" lIns="0" tIns="0" rIns="0" bIns="0" rtlCol="0" anchor="ctr"/>
          <a:lstStyle/>
          <a:p>
            <a:pPr indent="0" marL="0">
              <a:buNone/>
            </a:pPr>
            <a:r>
              <a:rPr lang="en-US" sz="680" b="1" dirty="0">
                <a:solidFill>
                  <a:srgbClr val="1F4E79"/>
                </a:solidFill>
                <a:latin typeface="Calibri" pitchFamily="34" charset="0"/>
                <a:ea typeface="Calibri" pitchFamily="34" charset="-122"/>
                <a:cs typeface="Calibri" pitchFamily="34" charset="-120"/>
              </a:rPr>
              <a:t>People already on the ground</a:t>
            </a:r>
            <a:r>
              <a:rPr lang="en-US" sz="680" dirty="0">
                <a:solidFill>
                  <a:srgbClr val="1F1F1F"/>
                </a:solidFill>
                <a:latin typeface="Calibri" pitchFamily="34" charset="0"/>
                <a:ea typeface="Calibri" pitchFamily="34" charset="-122"/>
                <a:cs typeface="Calibri" pitchFamily="34" charset="-120"/>
              </a:rPr>
              <a:t> — 6.5 lakh+ CSCs (≈ one per gram panchayat), 90.9 lakh SHGs; PM-AJAY portal + AJAY app launched 26 May 2026 — SkillCall hands ready cases into it, it does not replace it.</a:t>
            </a:r>
            <a:endParaRPr lang="en-US" sz="680" dirty="0"/>
          </a:p>
        </p:txBody>
      </p:sp>
      <p:sp>
        <p:nvSpPr>
          <p:cNvPr id="33" name="Text 29"/>
          <p:cNvSpPr txBox="1"/>
          <p:nvPr/>
        </p:nvSpPr>
        <p:spPr>
          <a:xfrm>
            <a:off x="4892040" y="3529584"/>
            <a:ext cx="3904488" cy="365760"/>
          </a:xfrm>
          <a:prstGeom prst="rect">
            <a:avLst/>
          </a:prstGeom>
          <a:noFill/>
          <a:ln/>
        </p:spPr>
        <p:txBody>
          <a:bodyPr wrap="square" lIns="0" tIns="0" rIns="0" bIns="0" rtlCol="0" anchor="ctr"/>
          <a:lstStyle/>
          <a:p>
            <a:pPr indent="0" marL="0">
              <a:buNone/>
            </a:pPr>
            <a:r>
              <a:rPr lang="en-US" sz="680" b="1" dirty="0">
                <a:solidFill>
                  <a:srgbClr val="1F4E79"/>
                </a:solidFill>
                <a:latin typeface="Calibri" pitchFamily="34" charset="0"/>
                <a:ea typeface="Calibri" pitchFamily="34" charset="-122"/>
                <a:cs typeface="Calibri" pitchFamily="34" charset="-120"/>
              </a:rPr>
              <a:t>Compute: APIs at pilot, self-host at state scale</a:t>
            </a:r>
            <a:r>
              <a:rPr lang="en-US" sz="680" dirty="0">
                <a:solidFill>
                  <a:srgbClr val="1F1F1F"/>
                </a:solidFill>
                <a:latin typeface="Calibri" pitchFamily="34" charset="0"/>
                <a:ea typeface="Calibri" pitchFamily="34" charset="-122"/>
                <a:cs typeface="Calibri" pitchFamily="34" charset="-120"/>
              </a:rPr>
              <a:t> — a GPU costs ₹5.7–8.1 lakh / year (IndiaAI ₹65–92 / hr) and saves ~₹6.5 per profile → break-even at 0.9–1.25 lakh profiles / year. Sarvam models are open-source (Apache 2.0) and can run on MeghRaj government cloud.</a:t>
            </a:r>
            <a:endParaRPr lang="en-US" sz="680" dirty="0"/>
          </a:p>
        </p:txBody>
      </p:sp>
      <p:sp>
        <p:nvSpPr>
          <p:cNvPr id="34" name="Text 30"/>
          <p:cNvSpPr txBox="1"/>
          <p:nvPr/>
        </p:nvSpPr>
        <p:spPr>
          <a:xfrm>
            <a:off x="274320" y="4005072"/>
            <a:ext cx="8595360" cy="182880"/>
          </a:xfrm>
          <a:prstGeom prst="rect">
            <a:avLst/>
          </a:prstGeom>
          <a:noFill/>
          <a:ln/>
        </p:spPr>
        <p:txBody>
          <a:bodyPr wrap="square" lIns="0" tIns="0" rIns="0" bIns="0" rtlCol="0" anchor="t"/>
          <a:lstStyle/>
          <a:p>
            <a:pPr indent="0" marL="0">
              <a:buNone/>
            </a:pPr>
            <a:r>
              <a:rPr lang="en-US" sz="850" b="1" spc="100" kern="0" dirty="0">
                <a:solidFill>
                  <a:srgbClr val="E8710A"/>
                </a:solidFill>
                <a:latin typeface="Calibri" pitchFamily="34" charset="0"/>
                <a:ea typeface="Calibri" pitchFamily="34" charset="-122"/>
                <a:cs typeface="Calibri" pitchFamily="34" charset="-120"/>
              </a:rPr>
              <a:t>RISKS → HOW WE HANDLE THEM</a:t>
            </a:r>
            <a:endParaRPr lang="en-US" sz="850" dirty="0"/>
          </a:p>
        </p:txBody>
      </p:sp>
      <p:sp>
        <p:nvSpPr>
          <p:cNvPr id="35" name="Shape 31"/>
          <p:cNvSpPr/>
          <p:nvPr/>
        </p:nvSpPr>
        <p:spPr>
          <a:xfrm>
            <a:off x="274320" y="4187952"/>
            <a:ext cx="4206240" cy="201168"/>
          </a:xfrm>
          <a:prstGeom prst="roundRect">
            <a:avLst>
              <a:gd name="adj" fmla="val 27273"/>
            </a:avLst>
          </a:prstGeom>
          <a:solidFill>
            <a:srgbClr val="F5F6F8"/>
          </a:solidFill>
          <a:ln w="9525">
            <a:solidFill>
              <a:srgbClr val="F5F6F8"/>
            </a:solidFill>
            <a:prstDash val="solid"/>
          </a:ln>
        </p:spPr>
      </p:sp>
      <p:sp>
        <p:nvSpPr>
          <p:cNvPr id="36" name="Text 32"/>
          <p:cNvSpPr txBox="1"/>
          <p:nvPr/>
        </p:nvSpPr>
        <p:spPr>
          <a:xfrm>
            <a:off x="338328" y="4187952"/>
            <a:ext cx="4078224" cy="201168"/>
          </a:xfrm>
          <a:prstGeom prst="rect">
            <a:avLst/>
          </a:prstGeom>
          <a:noFill/>
          <a:ln/>
        </p:spPr>
        <p:txBody>
          <a:bodyPr wrap="square" lIns="0" tIns="0" rIns="0" bIns="0" rtlCol="0" anchor="ctr"/>
          <a:lstStyle/>
          <a:p>
            <a:pPr indent="0" marL="0">
              <a:buNone/>
            </a:pPr>
            <a:r>
              <a:rPr lang="en-US" sz="640" b="1" dirty="0">
                <a:solidFill>
                  <a:srgbClr val="E8710A"/>
                </a:solidFill>
                <a:latin typeface="Calibri" pitchFamily="34" charset="0"/>
                <a:ea typeface="Calibri" pitchFamily="34" charset="-122"/>
                <a:cs typeface="Calibri" pitchFamily="34" charset="-120"/>
              </a:rPr>
              <a:t>Village dialects are hard (Bhojpuri / Maithili error 4–5× Hindi)  →  </a:t>
            </a:r>
            <a:r>
              <a:rPr lang="en-US" sz="640" dirty="0">
                <a:solidFill>
                  <a:srgbClr val="1F1F1F"/>
                </a:solidFill>
                <a:latin typeface="Calibri" pitchFamily="34" charset="0"/>
                <a:ea typeface="Calibri" pitchFamily="34" charset="-122"/>
                <a:cs typeface="Calibri" pitchFamily="34" charset="-120"/>
              </a:rPr>
              <a:t>exact facts by keypad; every answer read back; Saaras / 105B for hard dialects; human call-back last</a:t>
            </a:r>
            <a:endParaRPr lang="en-US" sz="640" dirty="0"/>
          </a:p>
        </p:txBody>
      </p:sp>
      <p:sp>
        <p:nvSpPr>
          <p:cNvPr id="37" name="Shape 33"/>
          <p:cNvSpPr/>
          <p:nvPr/>
        </p:nvSpPr>
        <p:spPr>
          <a:xfrm>
            <a:off x="4663440" y="4187952"/>
            <a:ext cx="4206240" cy="201168"/>
          </a:xfrm>
          <a:prstGeom prst="roundRect">
            <a:avLst>
              <a:gd name="adj" fmla="val 27273"/>
            </a:avLst>
          </a:prstGeom>
          <a:solidFill>
            <a:srgbClr val="F5F6F8"/>
          </a:solidFill>
          <a:ln w="9525">
            <a:solidFill>
              <a:srgbClr val="F5F6F8"/>
            </a:solidFill>
            <a:prstDash val="solid"/>
          </a:ln>
        </p:spPr>
      </p:sp>
      <p:sp>
        <p:nvSpPr>
          <p:cNvPr id="38" name="Text 34"/>
          <p:cNvSpPr txBox="1"/>
          <p:nvPr/>
        </p:nvSpPr>
        <p:spPr>
          <a:xfrm>
            <a:off x="4727448" y="4187952"/>
            <a:ext cx="4078224" cy="201168"/>
          </a:xfrm>
          <a:prstGeom prst="rect">
            <a:avLst/>
          </a:prstGeom>
          <a:noFill/>
          <a:ln/>
        </p:spPr>
        <p:txBody>
          <a:bodyPr wrap="square" lIns="0" tIns="0" rIns="0" bIns="0" rtlCol="0" anchor="ctr"/>
          <a:lstStyle/>
          <a:p>
            <a:pPr indent="0" marL="0">
              <a:buNone/>
            </a:pPr>
            <a:r>
              <a:rPr lang="en-US" sz="640" b="1" dirty="0">
                <a:solidFill>
                  <a:srgbClr val="E8710A"/>
                </a:solidFill>
                <a:latin typeface="Calibri" pitchFamily="34" charset="0"/>
                <a:ea typeface="Calibri" pitchFamily="34" charset="-122"/>
                <a:cs typeface="Calibri" pitchFamily="34" charset="-120"/>
              </a:rPr>
              <a:t>AI could say something wrong  →  </a:t>
            </a:r>
            <a:r>
              <a:rPr lang="en-US" sz="640" dirty="0">
                <a:solidFill>
                  <a:srgbClr val="1F1F1F"/>
                </a:solidFill>
                <a:latin typeface="Calibri" pitchFamily="34" charset="0"/>
                <a:ea typeface="Calibri" pitchFamily="34" charset="-122"/>
                <a:cs typeface="Calibri" pitchFamily="34" charset="-120"/>
              </a:rPr>
              <a:t>SATYA validator: nothing is spoken unless it matches verified government data; test set of 100 tricky questions → never invent</a:t>
            </a:r>
            <a:endParaRPr lang="en-US" sz="640" dirty="0"/>
          </a:p>
        </p:txBody>
      </p:sp>
      <p:sp>
        <p:nvSpPr>
          <p:cNvPr id="39" name="Shape 35"/>
          <p:cNvSpPr/>
          <p:nvPr/>
        </p:nvSpPr>
        <p:spPr>
          <a:xfrm>
            <a:off x="274320" y="4407408"/>
            <a:ext cx="4206240" cy="201168"/>
          </a:xfrm>
          <a:prstGeom prst="roundRect">
            <a:avLst>
              <a:gd name="adj" fmla="val 27273"/>
            </a:avLst>
          </a:prstGeom>
          <a:solidFill>
            <a:srgbClr val="F5F6F8"/>
          </a:solidFill>
          <a:ln w="9525">
            <a:solidFill>
              <a:srgbClr val="F5F6F8"/>
            </a:solidFill>
            <a:prstDash val="solid"/>
          </a:ln>
        </p:spPr>
      </p:sp>
      <p:sp>
        <p:nvSpPr>
          <p:cNvPr id="40" name="Text 36"/>
          <p:cNvSpPr txBox="1"/>
          <p:nvPr/>
        </p:nvSpPr>
        <p:spPr>
          <a:xfrm>
            <a:off x="338328" y="4407408"/>
            <a:ext cx="4078224" cy="201168"/>
          </a:xfrm>
          <a:prstGeom prst="rect">
            <a:avLst/>
          </a:prstGeom>
          <a:noFill/>
          <a:ln/>
        </p:spPr>
        <p:txBody>
          <a:bodyPr wrap="square" lIns="0" tIns="0" rIns="0" bIns="0" rtlCol="0" anchor="ctr"/>
          <a:lstStyle/>
          <a:p>
            <a:pPr indent="0" marL="0">
              <a:buNone/>
            </a:pPr>
            <a:r>
              <a:rPr lang="en-US" sz="640" b="1" dirty="0">
                <a:solidFill>
                  <a:srgbClr val="E8710A"/>
                </a:solidFill>
                <a:latin typeface="Calibri" pitchFamily="34" charset="0"/>
                <a:ea typeface="Calibri" pitchFamily="34" charset="-122"/>
                <a:cs typeface="Calibri" pitchFamily="34" charset="-120"/>
              </a:rPr>
              <a:t>People ignore unknown numbers (manual blocks up 208%)  →  </a:t>
            </a:r>
            <a:r>
              <a:rPr lang="en-US" sz="640" dirty="0">
                <a:solidFill>
                  <a:srgbClr val="1F1F1F"/>
                </a:solidFill>
                <a:latin typeface="Calibri" pitchFamily="34" charset="0"/>
                <a:ea typeface="Calibri" pitchFamily="34" charset="-122"/>
                <a:cs typeface="Calibri" pitchFamily="34" charset="-120"/>
              </a:rPr>
              <a:t>they call first; call-back comes from an official 1600 number that apps may not tag or block (TRAI, Jul 2026)</a:t>
            </a:r>
            <a:endParaRPr lang="en-US" sz="640" dirty="0"/>
          </a:p>
        </p:txBody>
      </p:sp>
      <p:sp>
        <p:nvSpPr>
          <p:cNvPr id="41" name="Shape 37"/>
          <p:cNvSpPr/>
          <p:nvPr/>
        </p:nvSpPr>
        <p:spPr>
          <a:xfrm>
            <a:off x="4663440" y="4407408"/>
            <a:ext cx="4206240" cy="201168"/>
          </a:xfrm>
          <a:prstGeom prst="roundRect">
            <a:avLst>
              <a:gd name="adj" fmla="val 27273"/>
            </a:avLst>
          </a:prstGeom>
          <a:solidFill>
            <a:srgbClr val="F5F6F8"/>
          </a:solidFill>
          <a:ln w="9525">
            <a:solidFill>
              <a:srgbClr val="F5F6F8"/>
            </a:solidFill>
            <a:prstDash val="solid"/>
          </a:ln>
        </p:spPr>
      </p:sp>
      <p:sp>
        <p:nvSpPr>
          <p:cNvPr id="42" name="Text 38"/>
          <p:cNvSpPr txBox="1"/>
          <p:nvPr/>
        </p:nvSpPr>
        <p:spPr>
          <a:xfrm>
            <a:off x="4727448" y="4407408"/>
            <a:ext cx="4078224" cy="201168"/>
          </a:xfrm>
          <a:prstGeom prst="rect">
            <a:avLst/>
          </a:prstGeom>
          <a:noFill/>
          <a:ln/>
        </p:spPr>
        <p:txBody>
          <a:bodyPr wrap="square" lIns="0" tIns="0" rIns="0" bIns="0" rtlCol="0" anchor="ctr"/>
          <a:lstStyle/>
          <a:p>
            <a:pPr indent="0" marL="0">
              <a:buNone/>
            </a:pPr>
            <a:r>
              <a:rPr lang="en-US" sz="640" b="1" dirty="0">
                <a:solidFill>
                  <a:srgbClr val="E8710A"/>
                </a:solidFill>
                <a:latin typeface="Calibri" pitchFamily="34" charset="0"/>
                <a:ea typeface="Calibri" pitchFamily="34" charset="-122"/>
                <a:cs typeface="Calibri" pitchFamily="34" charset="-120"/>
              </a:rPr>
              <a:t>36% of women have no phone of their own  →  </a:t>
            </a:r>
            <a:r>
              <a:rPr lang="en-US" sz="640" dirty="0">
                <a:solidFill>
                  <a:srgbClr val="1F1F1F"/>
                </a:solidFill>
                <a:latin typeface="Calibri" pitchFamily="34" charset="0"/>
                <a:ea typeface="Calibri" pitchFamily="34" charset="-122"/>
                <a:cs typeface="Calibri" pitchFamily="34" charset="-120"/>
              </a:rPr>
              <a:t>register with help at the nearest CSC or on the web portal; add travel, safety and hostel details for women</a:t>
            </a:r>
            <a:endParaRPr lang="en-US" sz="640" dirty="0"/>
          </a:p>
        </p:txBody>
      </p:sp>
      <p:sp>
        <p:nvSpPr>
          <p:cNvPr id="43" name="Shape 39"/>
          <p:cNvSpPr/>
          <p:nvPr/>
        </p:nvSpPr>
        <p:spPr>
          <a:xfrm>
            <a:off x="274320" y="4626864"/>
            <a:ext cx="4206240" cy="201168"/>
          </a:xfrm>
          <a:prstGeom prst="roundRect">
            <a:avLst>
              <a:gd name="adj" fmla="val 27273"/>
            </a:avLst>
          </a:prstGeom>
          <a:solidFill>
            <a:srgbClr val="F5F6F8"/>
          </a:solidFill>
          <a:ln w="9525">
            <a:solidFill>
              <a:srgbClr val="F5F6F8"/>
            </a:solidFill>
            <a:prstDash val="solid"/>
          </a:ln>
        </p:spPr>
      </p:sp>
      <p:sp>
        <p:nvSpPr>
          <p:cNvPr id="44" name="Text 40"/>
          <p:cNvSpPr txBox="1"/>
          <p:nvPr/>
        </p:nvSpPr>
        <p:spPr>
          <a:xfrm>
            <a:off x="338328" y="4626864"/>
            <a:ext cx="4078224" cy="201168"/>
          </a:xfrm>
          <a:prstGeom prst="rect">
            <a:avLst/>
          </a:prstGeom>
          <a:noFill/>
          <a:ln/>
        </p:spPr>
        <p:txBody>
          <a:bodyPr wrap="square" lIns="0" tIns="0" rIns="0" bIns="0" rtlCol="0" anchor="ctr"/>
          <a:lstStyle/>
          <a:p>
            <a:pPr indent="0" marL="0">
              <a:buNone/>
            </a:pPr>
            <a:r>
              <a:rPr lang="en-US" sz="640" b="1" dirty="0">
                <a:solidFill>
                  <a:srgbClr val="E8710A"/>
                </a:solidFill>
                <a:latin typeface="Calibri" pitchFamily="34" charset="0"/>
                <a:ea typeface="Calibri" pitchFamily="34" charset="-122"/>
                <a:cs typeface="Calibri" pitchFamily="34" charset="-120"/>
              </a:rPr>
              <a:t>Government links need permission  →  </a:t>
            </a:r>
            <a:r>
              <a:rPr lang="en-US" sz="640" dirty="0">
                <a:solidFill>
                  <a:srgbClr val="1F1F1F"/>
                </a:solidFill>
                <a:latin typeface="Calibri" pitchFamily="34" charset="0"/>
                <a:ea typeface="Calibri" pitchFamily="34" charset="-122"/>
                <a:cs typeface="Calibri" pitchFamily="34" charset="-120"/>
              </a:rPr>
              <a:t>works standalone today; AJAY app, DigiLocker, EPFO / ESIC plug in once the MoU is signed</a:t>
            </a:r>
            <a:endParaRPr lang="en-US" sz="640" dirty="0"/>
          </a:p>
        </p:txBody>
      </p:sp>
      <p:sp>
        <p:nvSpPr>
          <p:cNvPr id="45" name="Shape 41"/>
          <p:cNvSpPr/>
          <p:nvPr/>
        </p:nvSpPr>
        <p:spPr>
          <a:xfrm>
            <a:off x="4663440" y="4626864"/>
            <a:ext cx="4206240" cy="201168"/>
          </a:xfrm>
          <a:prstGeom prst="roundRect">
            <a:avLst>
              <a:gd name="adj" fmla="val 27273"/>
            </a:avLst>
          </a:prstGeom>
          <a:solidFill>
            <a:srgbClr val="F5F6F8"/>
          </a:solidFill>
          <a:ln w="9525">
            <a:solidFill>
              <a:srgbClr val="F5F6F8"/>
            </a:solidFill>
            <a:prstDash val="solid"/>
          </a:ln>
        </p:spPr>
      </p:sp>
      <p:sp>
        <p:nvSpPr>
          <p:cNvPr id="46" name="Text 42"/>
          <p:cNvSpPr txBox="1"/>
          <p:nvPr/>
        </p:nvSpPr>
        <p:spPr>
          <a:xfrm>
            <a:off x="4727448" y="4626864"/>
            <a:ext cx="4078224" cy="201168"/>
          </a:xfrm>
          <a:prstGeom prst="rect">
            <a:avLst/>
          </a:prstGeom>
          <a:noFill/>
          <a:ln/>
        </p:spPr>
        <p:txBody>
          <a:bodyPr wrap="square" lIns="0" tIns="0" rIns="0" bIns="0" rtlCol="0" anchor="ctr"/>
          <a:lstStyle/>
          <a:p>
            <a:pPr indent="0" marL="0">
              <a:buNone/>
            </a:pPr>
            <a:r>
              <a:rPr lang="en-US" sz="640" b="1" dirty="0">
                <a:solidFill>
                  <a:srgbClr val="E8710A"/>
                </a:solidFill>
                <a:latin typeface="Calibri" pitchFamily="34" charset="0"/>
                <a:ea typeface="Calibri" pitchFamily="34" charset="-122"/>
                <a:cs typeface="Calibri" pitchFamily="34" charset="-120"/>
              </a:rPr>
              <a:t>Local job data goes stale  →  </a:t>
            </a:r>
            <a:r>
              <a:rPr lang="en-US" sz="640" dirty="0">
                <a:solidFill>
                  <a:srgbClr val="1F1F1F"/>
                </a:solidFill>
                <a:latin typeface="Calibri" pitchFamily="34" charset="0"/>
                <a:ea typeface="Calibri" pitchFamily="34" charset="-122"/>
                <a:cs typeface="Calibri" pitchFamily="34" charset="-120"/>
              </a:rPr>
              <a:t>every record carries source + date; older than 90 days is marked "unverified" and not promised</a:t>
            </a:r>
            <a:endParaRPr lang="en-US" sz="6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56032" y="164592"/>
            <a:ext cx="960120" cy="548640"/>
          </a:xfrm>
          <a:prstGeom prst="ellipse">
            <a:avLst/>
          </a:prstGeom>
          <a:solidFill>
            <a:srgbClr val="FFFFFF"/>
          </a:solidFill>
          <a:ln w="15875">
            <a:solidFill>
              <a:srgbClr val="1F4E79"/>
            </a:solidFill>
            <a:prstDash val="solid"/>
          </a:ln>
        </p:spPr>
      </p:sp>
      <p:sp>
        <p:nvSpPr>
          <p:cNvPr id="3" name="Text 1"/>
          <p:cNvSpPr txBox="1"/>
          <p:nvPr/>
        </p:nvSpPr>
        <p:spPr>
          <a:xfrm>
            <a:off x="256032" y="164592"/>
            <a:ext cx="960120" cy="548640"/>
          </a:xfrm>
          <a:prstGeom prst="rect">
            <a:avLst/>
          </a:prstGeom>
          <a:noFill/>
          <a:ln/>
        </p:spPr>
        <p:txBody>
          <a:bodyPr wrap="square" lIns="0" tIns="0" rIns="0" bIns="0" rtlCol="0" anchor="ctr"/>
          <a:lstStyle/>
          <a:p>
            <a:pPr algn="ctr" indent="0" marL="0">
              <a:buNone/>
            </a:pPr>
            <a:r>
              <a:rPr lang="en-US" sz="1100" b="1" dirty="0">
                <a:solidFill>
                  <a:srgbClr val="1F4E79"/>
                </a:solidFill>
                <a:latin typeface="Calibri" pitchFamily="34" charset="0"/>
                <a:ea typeface="Calibri" pitchFamily="34" charset="-122"/>
                <a:cs typeface="Calibri" pitchFamily="34" charset="-120"/>
              </a:rPr>
              <a:t>Cognify</a:t>
            </a:r>
            <a:endParaRPr lang="en-US" sz="1100" dirty="0"/>
          </a:p>
        </p:txBody>
      </p:sp>
      <p:sp>
        <p:nvSpPr>
          <p:cNvPr id="4" name="Text 2"/>
          <p:cNvSpPr txBox="1"/>
          <p:nvPr/>
        </p:nvSpPr>
        <p:spPr>
          <a:xfrm>
            <a:off x="1371600" y="182880"/>
            <a:ext cx="5852160" cy="457200"/>
          </a:xfrm>
          <a:prstGeom prst="rect">
            <a:avLst/>
          </a:prstGeom>
          <a:noFill/>
          <a:ln/>
        </p:spPr>
        <p:txBody>
          <a:bodyPr wrap="square" lIns="0" tIns="0" rIns="0" bIns="0" rtlCol="0" anchor="ctr"/>
          <a:lstStyle/>
          <a:p>
            <a:pPr algn="ctr" indent="0" marL="0">
              <a:buNone/>
            </a:pPr>
            <a:r>
              <a:rPr lang="en-US" sz="2400" b="1" dirty="0">
                <a:solidFill>
                  <a:srgbClr val="1F1F1F"/>
                </a:solidFill>
                <a:latin typeface="Times New Roman" pitchFamily="34" charset="0"/>
                <a:ea typeface="Times New Roman" pitchFamily="34" charset="-122"/>
                <a:cs typeface="Times New Roman" pitchFamily="34" charset="-120"/>
              </a:rPr>
              <a:t>IMPACT AND BENEFITS</a:t>
            </a:r>
            <a:endParaRPr lang="en-US" sz="2400" dirty="0"/>
          </a:p>
        </p:txBody>
      </p:sp>
      <p:pic>
        <p:nvPicPr>
          <p:cNvPr id="5" name="Image 0" descr="preencoded.png">    </p:cNvPr>
          <p:cNvPicPr>
            <a:picLocks noChangeAspect="1"/>
          </p:cNvPicPr>
          <p:nvPr/>
        </p:nvPicPr>
        <p:blipFill>
          <a:blip r:embed="rId1"/>
          <a:stretch>
            <a:fillRect/>
          </a:stretch>
        </p:blipFill>
        <p:spPr>
          <a:xfrm>
            <a:off x="7223760" y="73152"/>
            <a:ext cx="1691640" cy="795528"/>
          </a:xfrm>
          <a:prstGeom prst="rect">
            <a:avLst/>
          </a:prstGeom>
        </p:spPr>
      </p:pic>
      <p:sp>
        <p:nvSpPr>
          <p:cNvPr id="6" name="Text 3"/>
          <p:cNvSpPr txBox="1"/>
          <p:nvPr/>
        </p:nvSpPr>
        <p:spPr>
          <a:xfrm>
            <a:off x="8503920" y="4864608"/>
            <a:ext cx="365760" cy="182880"/>
          </a:xfrm>
          <a:prstGeom prst="rect">
            <a:avLst/>
          </a:prstGeom>
          <a:noFill/>
          <a:ln/>
        </p:spPr>
        <p:txBody>
          <a:bodyPr wrap="square" lIns="0" tIns="0" rIns="0" bIns="0" rtlCol="0" anchor="t"/>
          <a:lstStyle/>
          <a:p>
            <a:pPr algn="r" indent="0" marL="0">
              <a:buNone/>
            </a:pPr>
            <a:r>
              <a:rPr lang="en-US" sz="1000" b="1" dirty="0">
                <a:solidFill>
                  <a:srgbClr val="1F4E79"/>
                </a:solidFill>
                <a:latin typeface="Calibri" pitchFamily="34" charset="0"/>
                <a:ea typeface="Calibri" pitchFamily="34" charset="-122"/>
                <a:cs typeface="Calibri" pitchFamily="34" charset="-120"/>
              </a:rPr>
              <a:t>5</a:t>
            </a:r>
            <a:endParaRPr lang="en-US" sz="1000" dirty="0"/>
          </a:p>
        </p:txBody>
      </p:sp>
      <p:sp>
        <p:nvSpPr>
          <p:cNvPr id="7" name="Shape 4"/>
          <p:cNvSpPr/>
          <p:nvPr/>
        </p:nvSpPr>
        <p:spPr>
          <a:xfrm>
            <a:off x="274320" y="896112"/>
            <a:ext cx="8595360" cy="274320"/>
          </a:xfrm>
          <a:prstGeom prst="roundRect">
            <a:avLst>
              <a:gd name="adj" fmla="val 20000"/>
            </a:avLst>
          </a:prstGeom>
          <a:solidFill>
            <a:srgbClr val="EEF3F9"/>
          </a:solidFill>
          <a:ln w="9525">
            <a:solidFill>
              <a:srgbClr val="EEF3F9"/>
            </a:solidFill>
            <a:prstDash val="solid"/>
          </a:ln>
        </p:spPr>
      </p:sp>
      <p:sp>
        <p:nvSpPr>
          <p:cNvPr id="8" name="Text 5"/>
          <p:cNvSpPr txBox="1"/>
          <p:nvPr/>
        </p:nvSpPr>
        <p:spPr>
          <a:xfrm>
            <a:off x="384048" y="896112"/>
            <a:ext cx="8412480" cy="274320"/>
          </a:xfrm>
          <a:prstGeom prst="rect">
            <a:avLst/>
          </a:prstGeom>
          <a:noFill/>
          <a:ln/>
        </p:spPr>
        <p:txBody>
          <a:bodyPr wrap="square" lIns="0" tIns="0" rIns="0" bIns="0" rtlCol="0" anchor="ctr"/>
          <a:lstStyle/>
          <a:p>
            <a:pPr indent="0" marL="0">
              <a:buNone/>
            </a:pPr>
            <a:r>
              <a:rPr lang="en-US" sz="850" b="1" dirty="0">
                <a:solidFill>
                  <a:srgbClr val="1F4E79"/>
                </a:solidFill>
                <a:latin typeface="Calibri" pitchFamily="34" charset="0"/>
                <a:ea typeface="Calibri" pitchFamily="34" charset="-122"/>
                <a:cs typeface="Calibri" pitchFamily="34" charset="-120"/>
              </a:rPr>
              <a:t>Who gains?  </a:t>
            </a:r>
            <a:r>
              <a:rPr lang="en-US" sz="850" dirty="0">
                <a:solidFill>
                  <a:srgbClr val="1F1F1F"/>
                </a:solidFill>
                <a:latin typeface="Calibri" pitchFamily="34" charset="0"/>
                <a:ea typeface="Calibri" pitchFamily="34" charset="-122"/>
                <a:cs typeface="Calibri" pitchFamily="34" charset="-120"/>
              </a:rPr>
              <a:t>Poor SC families, CSC operators, the district officers who run PM-AJAY, and the Ministry that funds it. Every number below shows its working or its source.</a:t>
            </a:r>
            <a:endParaRPr lang="en-US" sz="850" dirty="0"/>
          </a:p>
        </p:txBody>
      </p:sp>
      <p:sp>
        <p:nvSpPr>
          <p:cNvPr id="9" name="Text 6"/>
          <p:cNvSpPr txBox="1"/>
          <p:nvPr/>
        </p:nvSpPr>
        <p:spPr>
          <a:xfrm>
            <a:off x="274320" y="1243584"/>
            <a:ext cx="3657600" cy="182880"/>
          </a:xfrm>
          <a:prstGeom prst="rect">
            <a:avLst/>
          </a:prstGeom>
          <a:noFill/>
          <a:ln/>
        </p:spPr>
        <p:txBody>
          <a:bodyPr wrap="square" lIns="0" tIns="0" rIns="0" bIns="0" rtlCol="0" anchor="t"/>
          <a:lstStyle/>
          <a:p>
            <a:pPr indent="0" marL="0">
              <a:buNone/>
            </a:pPr>
            <a:r>
              <a:rPr lang="en-US" sz="850" b="1" spc="100" kern="0" dirty="0">
                <a:solidFill>
                  <a:srgbClr val="18864B"/>
                </a:solidFill>
                <a:latin typeface="Calibri" pitchFamily="34" charset="0"/>
                <a:ea typeface="Calibri" pitchFamily="34" charset="-122"/>
                <a:cs typeface="Calibri" pitchFamily="34" charset="-120"/>
              </a:rPr>
              <a:t>IMPACT IN NUMBERS</a:t>
            </a:r>
            <a:endParaRPr lang="en-US" sz="850" dirty="0"/>
          </a:p>
        </p:txBody>
      </p:sp>
      <p:sp>
        <p:nvSpPr>
          <p:cNvPr id="10" name="Shape 7"/>
          <p:cNvSpPr/>
          <p:nvPr/>
        </p:nvSpPr>
        <p:spPr>
          <a:xfrm>
            <a:off x="274320" y="1444752"/>
            <a:ext cx="2057400" cy="1115568"/>
          </a:xfrm>
          <a:prstGeom prst="roundRect">
            <a:avLst>
              <a:gd name="adj" fmla="val 4918"/>
            </a:avLst>
          </a:prstGeom>
          <a:solidFill>
            <a:srgbClr val="FFFFFF"/>
          </a:solidFill>
          <a:ln w="9525">
            <a:solidFill>
              <a:srgbClr val="D6DCE5"/>
            </a:solidFill>
            <a:prstDash val="solid"/>
          </a:ln>
        </p:spPr>
      </p:sp>
      <p:sp>
        <p:nvSpPr>
          <p:cNvPr id="11" name="Text 8"/>
          <p:cNvSpPr txBox="1"/>
          <p:nvPr/>
        </p:nvSpPr>
        <p:spPr>
          <a:xfrm>
            <a:off x="365760" y="1481328"/>
            <a:ext cx="1874520" cy="256032"/>
          </a:xfrm>
          <a:prstGeom prst="rect">
            <a:avLst/>
          </a:prstGeom>
          <a:noFill/>
          <a:ln/>
        </p:spPr>
        <p:txBody>
          <a:bodyPr wrap="square" lIns="0" tIns="0" rIns="0" bIns="0" rtlCol="0" anchor="ctr"/>
          <a:lstStyle/>
          <a:p>
            <a:pPr indent="0" marL="0">
              <a:buNone/>
            </a:pPr>
            <a:r>
              <a:rPr lang="en-US" sz="1400" b="1" dirty="0">
                <a:solidFill>
                  <a:srgbClr val="18864B"/>
                </a:solidFill>
                <a:latin typeface="Calibri" pitchFamily="34" charset="0"/>
                <a:ea typeface="Calibri" pitchFamily="34" charset="-122"/>
                <a:cs typeface="Calibri" pitchFamily="34" charset="-120"/>
              </a:rPr>
              <a:t>41% → 70%</a:t>
            </a:r>
            <a:endParaRPr lang="en-US" sz="1400" dirty="0"/>
          </a:p>
        </p:txBody>
      </p:sp>
      <p:sp>
        <p:nvSpPr>
          <p:cNvPr id="12" name="Text 9"/>
          <p:cNvSpPr txBox="1"/>
          <p:nvPr/>
        </p:nvSpPr>
        <p:spPr>
          <a:xfrm>
            <a:off x="365760" y="1746504"/>
            <a:ext cx="1874520" cy="640080"/>
          </a:xfrm>
          <a:prstGeom prst="rect">
            <a:avLst/>
          </a:prstGeom>
          <a:noFill/>
          <a:ln/>
        </p:spPr>
        <p:txBody>
          <a:bodyPr wrap="square" lIns="0" tIns="0" rIns="0" bIns="0" rtlCol="0" anchor="t"/>
          <a:lstStyle/>
          <a:p>
            <a:pPr indent="0" marL="0">
              <a:buNone/>
            </a:pPr>
            <a:r>
              <a:rPr lang="en-US" sz="690" dirty="0">
                <a:solidFill>
                  <a:srgbClr val="1F1F1F"/>
                </a:solidFill>
                <a:latin typeface="Calibri" pitchFamily="34" charset="0"/>
                <a:ea typeface="Calibri" pitchFamily="34" charset="-122"/>
                <a:cs typeface="Calibri" pitchFamily="34" charset="-120"/>
              </a:rPr>
              <a:t>Today 41% of trained people get a job (CAG 2025: 23.18 of 56.14 lakh). The MSDE norm is 70% within 3 months. Gap = 29 points. Per 1,000 trainees even 50% means 90 more people working.</a:t>
            </a:r>
            <a:endParaRPr lang="en-US" sz="690" dirty="0"/>
          </a:p>
        </p:txBody>
      </p:sp>
      <p:sp>
        <p:nvSpPr>
          <p:cNvPr id="13" name="Text 10"/>
          <p:cNvSpPr txBox="1"/>
          <p:nvPr/>
        </p:nvSpPr>
        <p:spPr>
          <a:xfrm>
            <a:off x="365760" y="2395728"/>
            <a:ext cx="1874520" cy="128016"/>
          </a:xfrm>
          <a:prstGeom prst="rect">
            <a:avLst/>
          </a:prstGeom>
          <a:noFill/>
          <a:ln/>
        </p:spPr>
        <p:txBody>
          <a:bodyPr wrap="square" lIns="0" tIns="0" rIns="0" bIns="0" rtlCol="0" anchor="t"/>
          <a:lstStyle/>
          <a:p>
            <a:pPr indent="0" marL="0">
              <a:buNone/>
            </a:pPr>
            <a:r>
              <a:rPr lang="en-US" sz="620" i="1" dirty="0">
                <a:solidFill>
                  <a:srgbClr val="5F6B7A"/>
                </a:solidFill>
                <a:latin typeface="Calibri" pitchFamily="34" charset="0"/>
                <a:ea typeface="Calibri" pitchFamily="34" charset="-122"/>
                <a:cs typeface="Calibri" pitchFamily="34" charset="-120"/>
              </a:rPr>
              <a:t>CAG 2025 · MSDE Common Norms</a:t>
            </a:r>
            <a:endParaRPr lang="en-US" sz="620" dirty="0"/>
          </a:p>
        </p:txBody>
      </p:sp>
      <p:sp>
        <p:nvSpPr>
          <p:cNvPr id="14" name="Shape 11"/>
          <p:cNvSpPr/>
          <p:nvPr/>
        </p:nvSpPr>
        <p:spPr>
          <a:xfrm>
            <a:off x="2446020" y="1444752"/>
            <a:ext cx="2057400" cy="1115568"/>
          </a:xfrm>
          <a:prstGeom prst="roundRect">
            <a:avLst>
              <a:gd name="adj" fmla="val 4918"/>
            </a:avLst>
          </a:prstGeom>
          <a:solidFill>
            <a:srgbClr val="FFFFFF"/>
          </a:solidFill>
          <a:ln w="9525">
            <a:solidFill>
              <a:srgbClr val="D6DCE5"/>
            </a:solidFill>
            <a:prstDash val="solid"/>
          </a:ln>
        </p:spPr>
      </p:sp>
      <p:sp>
        <p:nvSpPr>
          <p:cNvPr id="15" name="Text 12"/>
          <p:cNvSpPr txBox="1"/>
          <p:nvPr/>
        </p:nvSpPr>
        <p:spPr>
          <a:xfrm>
            <a:off x="2537460" y="1481328"/>
            <a:ext cx="1874520" cy="256032"/>
          </a:xfrm>
          <a:prstGeom prst="rect">
            <a:avLst/>
          </a:prstGeom>
          <a:noFill/>
          <a:ln/>
        </p:spPr>
        <p:txBody>
          <a:bodyPr wrap="square" lIns="0" tIns="0" rIns="0" bIns="0" rtlCol="0" anchor="ctr"/>
          <a:lstStyle/>
          <a:p>
            <a:pPr indent="0" marL="0">
              <a:buNone/>
            </a:pPr>
            <a:r>
              <a:rPr lang="en-US" sz="1400" b="1" dirty="0">
                <a:solidFill>
                  <a:srgbClr val="18864B"/>
                </a:solidFill>
                <a:latin typeface="Calibri" pitchFamily="34" charset="0"/>
                <a:ea typeface="Calibri" pitchFamily="34" charset="-122"/>
                <a:cs typeface="Calibri" pitchFamily="34" charset="-120"/>
              </a:rPr>
              <a:t>+11 points retention</a:t>
            </a:r>
            <a:endParaRPr lang="en-US" sz="1400" dirty="0"/>
          </a:p>
        </p:txBody>
      </p:sp>
      <p:sp>
        <p:nvSpPr>
          <p:cNvPr id="16" name="Text 13"/>
          <p:cNvSpPr txBox="1"/>
          <p:nvPr/>
        </p:nvSpPr>
        <p:spPr>
          <a:xfrm>
            <a:off x="2537460" y="1746504"/>
            <a:ext cx="1874520" cy="640080"/>
          </a:xfrm>
          <a:prstGeom prst="rect">
            <a:avLst/>
          </a:prstGeom>
          <a:noFill/>
          <a:ln/>
        </p:spPr>
        <p:txBody>
          <a:bodyPr wrap="square" lIns="0" tIns="0" rIns="0" bIns="0" rtlCol="0" anchor="t"/>
          <a:lstStyle/>
          <a:p>
            <a:pPr indent="0" marL="0">
              <a:buNone/>
            </a:pPr>
            <a:r>
              <a:rPr lang="en-US" sz="690" dirty="0">
                <a:solidFill>
                  <a:srgbClr val="1F1F1F"/>
                </a:solidFill>
                <a:latin typeface="Calibri" pitchFamily="34" charset="0"/>
                <a:ea typeface="Calibri" pitchFamily="34" charset="-122"/>
                <a:cs typeface="Calibri" pitchFamily="34" charset="-120"/>
              </a:rPr>
              <a:t>Trainees given two honest job-information sessions were 11 points (18%) more likely to stay in the placed job. SkillCall gives that honest information on the call, before he chooses.</a:t>
            </a:r>
            <a:endParaRPr lang="en-US" sz="690" dirty="0"/>
          </a:p>
        </p:txBody>
      </p:sp>
      <p:sp>
        <p:nvSpPr>
          <p:cNvPr id="17" name="Text 14"/>
          <p:cNvSpPr txBox="1"/>
          <p:nvPr/>
        </p:nvSpPr>
        <p:spPr>
          <a:xfrm>
            <a:off x="2537460" y="2395728"/>
            <a:ext cx="1874520" cy="128016"/>
          </a:xfrm>
          <a:prstGeom prst="rect">
            <a:avLst/>
          </a:prstGeom>
          <a:noFill/>
          <a:ln/>
        </p:spPr>
        <p:txBody>
          <a:bodyPr wrap="square" lIns="0" tIns="0" rIns="0" bIns="0" rtlCol="0" anchor="t"/>
          <a:lstStyle/>
          <a:p>
            <a:pPr indent="0" marL="0">
              <a:buNone/>
            </a:pPr>
            <a:r>
              <a:rPr lang="en-US" sz="620" i="1" dirty="0">
                <a:solidFill>
                  <a:srgbClr val="5F6B7A"/>
                </a:solidFill>
                <a:latin typeface="Calibri" pitchFamily="34" charset="0"/>
                <a:ea typeface="Calibri" pitchFamily="34" charset="-122"/>
                <a:cs typeface="Calibri" pitchFamily="34" charset="-120"/>
              </a:rPr>
              <a:t>Chakravorty et al., J. Dev. Econ. 2024</a:t>
            </a:r>
            <a:endParaRPr lang="en-US" sz="620" dirty="0"/>
          </a:p>
        </p:txBody>
      </p:sp>
      <p:sp>
        <p:nvSpPr>
          <p:cNvPr id="18" name="Shape 15"/>
          <p:cNvSpPr/>
          <p:nvPr/>
        </p:nvSpPr>
        <p:spPr>
          <a:xfrm>
            <a:off x="4617720" y="1444752"/>
            <a:ext cx="2057400" cy="1115568"/>
          </a:xfrm>
          <a:prstGeom prst="roundRect">
            <a:avLst>
              <a:gd name="adj" fmla="val 4918"/>
            </a:avLst>
          </a:prstGeom>
          <a:solidFill>
            <a:srgbClr val="FFFFFF"/>
          </a:solidFill>
          <a:ln w="9525">
            <a:solidFill>
              <a:srgbClr val="D6DCE5"/>
            </a:solidFill>
            <a:prstDash val="solid"/>
          </a:ln>
        </p:spPr>
      </p:sp>
      <p:sp>
        <p:nvSpPr>
          <p:cNvPr id="19" name="Text 16"/>
          <p:cNvSpPr txBox="1"/>
          <p:nvPr/>
        </p:nvSpPr>
        <p:spPr>
          <a:xfrm>
            <a:off x="4709160" y="1481328"/>
            <a:ext cx="1874520" cy="256032"/>
          </a:xfrm>
          <a:prstGeom prst="rect">
            <a:avLst/>
          </a:prstGeom>
          <a:noFill/>
          <a:ln/>
        </p:spPr>
        <p:txBody>
          <a:bodyPr wrap="square" lIns="0" tIns="0" rIns="0" bIns="0" rtlCol="0" anchor="ctr"/>
          <a:lstStyle/>
          <a:p>
            <a:pPr indent="0" marL="0">
              <a:buNone/>
            </a:pPr>
            <a:r>
              <a:rPr lang="en-US" sz="1400" b="1" dirty="0">
                <a:solidFill>
                  <a:srgbClr val="18864B"/>
                </a:solidFill>
                <a:latin typeface="Calibri" pitchFamily="34" charset="0"/>
                <a:ea typeface="Calibri" pitchFamily="34" charset="-122"/>
                <a:cs typeface="Calibri" pitchFamily="34" charset="-120"/>
              </a:rPr>
              <a:t>~24 staff-years / year</a:t>
            </a:r>
            <a:endParaRPr lang="en-US" sz="1400" dirty="0"/>
          </a:p>
        </p:txBody>
      </p:sp>
      <p:sp>
        <p:nvSpPr>
          <p:cNvPr id="20" name="Text 17"/>
          <p:cNvSpPr txBox="1"/>
          <p:nvPr/>
        </p:nvSpPr>
        <p:spPr>
          <a:xfrm>
            <a:off x="4709160" y="1746504"/>
            <a:ext cx="1874520" cy="640080"/>
          </a:xfrm>
          <a:prstGeom prst="rect">
            <a:avLst/>
          </a:prstGeom>
          <a:noFill/>
          <a:ln/>
        </p:spPr>
        <p:txBody>
          <a:bodyPr wrap="square" lIns="0" tIns="0" rIns="0" bIns="0" rtlCol="0" anchor="t"/>
          <a:lstStyle/>
          <a:p>
            <a:pPr indent="0" marL="0">
              <a:buNone/>
            </a:pPr>
            <a:r>
              <a:rPr lang="en-US" sz="690" dirty="0">
                <a:solidFill>
                  <a:srgbClr val="1F1F1F"/>
                </a:solidFill>
                <a:latin typeface="Calibri" pitchFamily="34" charset="0"/>
                <a:ea typeface="Calibri" pitchFamily="34" charset="-122"/>
                <a:cs typeface="Calibri" pitchFamily="34" charset="-120"/>
              </a:rPr>
              <a:t>40-min survey + form + data entry → 10-min review (30 min saved) + 4 manual follow-up calls (20 min) = 50 min × 50,000 GIA beneficiaries = 41,700 h = 5,200 days ÷ 220 = 24 staff-years.</a:t>
            </a:r>
            <a:endParaRPr lang="en-US" sz="690" dirty="0"/>
          </a:p>
        </p:txBody>
      </p:sp>
      <p:sp>
        <p:nvSpPr>
          <p:cNvPr id="21" name="Text 18"/>
          <p:cNvSpPr txBox="1"/>
          <p:nvPr/>
        </p:nvSpPr>
        <p:spPr>
          <a:xfrm>
            <a:off x="4709160" y="2395728"/>
            <a:ext cx="1874520" cy="128016"/>
          </a:xfrm>
          <a:prstGeom prst="rect">
            <a:avLst/>
          </a:prstGeom>
          <a:noFill/>
          <a:ln/>
        </p:spPr>
        <p:txBody>
          <a:bodyPr wrap="square" lIns="0" tIns="0" rIns="0" bIns="0" rtlCol="0" anchor="t"/>
          <a:lstStyle/>
          <a:p>
            <a:pPr indent="0" marL="0">
              <a:buNone/>
            </a:pPr>
            <a:r>
              <a:rPr lang="en-US" sz="620" i="1" dirty="0">
                <a:solidFill>
                  <a:srgbClr val="5F6B7A"/>
                </a:solidFill>
                <a:latin typeface="Calibri" pitchFamily="34" charset="0"/>
                <a:ea typeface="Calibri" pitchFamily="34" charset="-122"/>
                <a:cs typeface="Calibri" pitchFamily="34" charset="-120"/>
              </a:rPr>
              <a:t>estimate · 2,01,006 GIA beneficiaries in 2021–25</a:t>
            </a:r>
            <a:endParaRPr lang="en-US" sz="620" dirty="0"/>
          </a:p>
        </p:txBody>
      </p:sp>
      <p:sp>
        <p:nvSpPr>
          <p:cNvPr id="22" name="Shape 19"/>
          <p:cNvSpPr/>
          <p:nvPr/>
        </p:nvSpPr>
        <p:spPr>
          <a:xfrm>
            <a:off x="6789420" y="1444752"/>
            <a:ext cx="2057400" cy="1115568"/>
          </a:xfrm>
          <a:prstGeom prst="roundRect">
            <a:avLst>
              <a:gd name="adj" fmla="val 4918"/>
            </a:avLst>
          </a:prstGeom>
          <a:solidFill>
            <a:srgbClr val="FFFFFF"/>
          </a:solidFill>
          <a:ln w="9525">
            <a:solidFill>
              <a:srgbClr val="D6DCE5"/>
            </a:solidFill>
            <a:prstDash val="solid"/>
          </a:ln>
        </p:spPr>
      </p:sp>
      <p:sp>
        <p:nvSpPr>
          <p:cNvPr id="23" name="Text 20"/>
          <p:cNvSpPr txBox="1"/>
          <p:nvPr/>
        </p:nvSpPr>
        <p:spPr>
          <a:xfrm>
            <a:off x="6880860" y="1481328"/>
            <a:ext cx="1874520" cy="256032"/>
          </a:xfrm>
          <a:prstGeom prst="rect">
            <a:avLst/>
          </a:prstGeom>
          <a:noFill/>
          <a:ln/>
        </p:spPr>
        <p:txBody>
          <a:bodyPr wrap="square" lIns="0" tIns="0" rIns="0" bIns="0" rtlCol="0" anchor="ctr"/>
          <a:lstStyle/>
          <a:p>
            <a:pPr indent="0" marL="0">
              <a:buNone/>
            </a:pPr>
            <a:r>
              <a:rPr lang="en-US" sz="1400" b="1" dirty="0">
                <a:solidFill>
                  <a:srgbClr val="18864B"/>
                </a:solidFill>
                <a:latin typeface="Calibri" pitchFamily="34" charset="0"/>
                <a:ea typeface="Calibri" pitchFamily="34" charset="-122"/>
                <a:cs typeface="Calibri" pitchFamily="34" charset="-120"/>
              </a:rPr>
              <a:t>₹12.5 crore / year</a:t>
            </a:r>
            <a:endParaRPr lang="en-US" sz="1400" dirty="0"/>
          </a:p>
        </p:txBody>
      </p:sp>
      <p:sp>
        <p:nvSpPr>
          <p:cNvPr id="24" name="Text 21"/>
          <p:cNvSpPr txBox="1"/>
          <p:nvPr/>
        </p:nvSpPr>
        <p:spPr>
          <a:xfrm>
            <a:off x="6880860" y="1746504"/>
            <a:ext cx="1874520" cy="640080"/>
          </a:xfrm>
          <a:prstGeom prst="rect">
            <a:avLst/>
          </a:prstGeom>
          <a:noFill/>
          <a:ln/>
        </p:spPr>
        <p:txBody>
          <a:bodyPr wrap="square" lIns="0" tIns="0" rIns="0" bIns="0" rtlCol="0" anchor="t"/>
          <a:lstStyle/>
          <a:p>
            <a:pPr indent="0" marL="0">
              <a:buNone/>
            </a:pPr>
            <a:r>
              <a:rPr lang="en-US" sz="690" dirty="0">
                <a:solidFill>
                  <a:srgbClr val="1F1F1F"/>
                </a:solidFill>
                <a:latin typeface="Calibri" pitchFamily="34" charset="0"/>
                <a:ea typeface="Calibri" pitchFamily="34" charset="-122"/>
                <a:cs typeface="Calibri" pitchFamily="34" charset="-120"/>
              </a:rPr>
              <a:t>If only 5% of ~50,000 GIA cases avoid a wrong match: 2,500 × ₹50,000 asset support = ₹12.5 crore better used — 15–34× SkillCall's usage cost for 1 lakh profiles (₹0.37–0.83 crore).</a:t>
            </a:r>
            <a:endParaRPr lang="en-US" sz="690" dirty="0"/>
          </a:p>
        </p:txBody>
      </p:sp>
      <p:sp>
        <p:nvSpPr>
          <p:cNvPr id="25" name="Text 22"/>
          <p:cNvSpPr txBox="1"/>
          <p:nvPr/>
        </p:nvSpPr>
        <p:spPr>
          <a:xfrm>
            <a:off x="6880860" y="2395728"/>
            <a:ext cx="1874520" cy="128016"/>
          </a:xfrm>
          <a:prstGeom prst="rect">
            <a:avLst/>
          </a:prstGeom>
          <a:noFill/>
          <a:ln/>
        </p:spPr>
        <p:txBody>
          <a:bodyPr wrap="square" lIns="0" tIns="0" rIns="0" bIns="0" rtlCol="0" anchor="t"/>
          <a:lstStyle/>
          <a:p>
            <a:pPr indent="0" marL="0">
              <a:buNone/>
            </a:pPr>
            <a:r>
              <a:rPr lang="en-US" sz="620" i="1" dirty="0">
                <a:solidFill>
                  <a:srgbClr val="5F6B7A"/>
                </a:solidFill>
                <a:latin typeface="Calibri" pitchFamily="34" charset="0"/>
                <a:ea typeface="Calibri" pitchFamily="34" charset="-122"/>
                <a:cs typeface="Calibri" pitchFamily="34" charset="-120"/>
              </a:rPr>
              <a:t>estimate</a:t>
            </a:r>
            <a:endParaRPr lang="en-US" sz="620" dirty="0"/>
          </a:p>
        </p:txBody>
      </p:sp>
      <p:sp>
        <p:nvSpPr>
          <p:cNvPr id="26" name="Text 23"/>
          <p:cNvSpPr txBox="1"/>
          <p:nvPr/>
        </p:nvSpPr>
        <p:spPr>
          <a:xfrm>
            <a:off x="274320" y="2651760"/>
            <a:ext cx="3657600" cy="182880"/>
          </a:xfrm>
          <a:prstGeom prst="rect">
            <a:avLst/>
          </a:prstGeom>
          <a:noFill/>
          <a:ln/>
        </p:spPr>
        <p:txBody>
          <a:bodyPr wrap="square" lIns="0" tIns="0" rIns="0" bIns="0" rtlCol="0" anchor="t"/>
          <a:lstStyle/>
          <a:p>
            <a:pPr indent="0" marL="0">
              <a:buNone/>
            </a:pPr>
            <a:r>
              <a:rPr lang="en-US" sz="850" b="1" spc="100" kern="0" dirty="0">
                <a:solidFill>
                  <a:srgbClr val="1F4E79"/>
                </a:solidFill>
                <a:latin typeface="Calibri" pitchFamily="34" charset="0"/>
                <a:ea typeface="Calibri" pitchFamily="34" charset="-122"/>
                <a:cs typeface="Calibri" pitchFamily="34" charset="-120"/>
              </a:rPr>
              <a:t>WHAT EACH PERSON GETS</a:t>
            </a:r>
            <a:endParaRPr lang="en-US" sz="850" dirty="0"/>
          </a:p>
        </p:txBody>
      </p:sp>
      <p:sp>
        <p:nvSpPr>
          <p:cNvPr id="27" name="Shape 24"/>
          <p:cNvSpPr/>
          <p:nvPr/>
        </p:nvSpPr>
        <p:spPr>
          <a:xfrm>
            <a:off x="274320" y="2852928"/>
            <a:ext cx="2057400" cy="914400"/>
          </a:xfrm>
          <a:prstGeom prst="roundRect">
            <a:avLst>
              <a:gd name="adj" fmla="val 6000"/>
            </a:avLst>
          </a:prstGeom>
          <a:solidFill>
            <a:srgbClr val="F5F6F8"/>
          </a:solidFill>
          <a:ln w="9525">
            <a:solidFill>
              <a:srgbClr val="F5F6F8"/>
            </a:solidFill>
            <a:prstDash val="solid"/>
          </a:ln>
        </p:spPr>
      </p:sp>
      <p:pic>
        <p:nvPicPr>
          <p:cNvPr id="28" name="Image 1" descr="preencoded.png">    </p:cNvPr>
          <p:cNvPicPr>
            <a:picLocks noChangeAspect="1"/>
          </p:cNvPicPr>
          <p:nvPr/>
        </p:nvPicPr>
        <p:blipFill>
          <a:blip r:embed="rId2"/>
          <a:stretch>
            <a:fillRect/>
          </a:stretch>
        </p:blipFill>
        <p:spPr>
          <a:xfrm>
            <a:off x="347472" y="2898648"/>
            <a:ext cx="201168" cy="201168"/>
          </a:xfrm>
          <a:prstGeom prst="rect">
            <a:avLst/>
          </a:prstGeom>
        </p:spPr>
      </p:pic>
      <p:sp>
        <p:nvSpPr>
          <p:cNvPr id="29" name="Text 25"/>
          <p:cNvSpPr txBox="1"/>
          <p:nvPr/>
        </p:nvSpPr>
        <p:spPr>
          <a:xfrm>
            <a:off x="621792" y="2880360"/>
            <a:ext cx="1691640" cy="219456"/>
          </a:xfrm>
          <a:prstGeom prst="rect">
            <a:avLst/>
          </a:prstGeom>
          <a:noFill/>
          <a:ln/>
        </p:spPr>
        <p:txBody>
          <a:bodyPr wrap="square" lIns="0" tIns="0" rIns="0" bIns="0" rtlCol="0" anchor="ctr"/>
          <a:lstStyle/>
          <a:p>
            <a:pPr indent="0" marL="0">
              <a:buNone/>
            </a:pPr>
            <a:r>
              <a:rPr lang="en-US" sz="800" b="1" dirty="0">
                <a:solidFill>
                  <a:srgbClr val="1F4E79"/>
                </a:solidFill>
                <a:latin typeface="Calibri" pitchFamily="34" charset="0"/>
                <a:ea typeface="Calibri" pitchFamily="34" charset="-122"/>
                <a:cs typeface="Calibri" pitchFamily="34" charset="-120"/>
              </a:rPr>
              <a:t>Beneficiary (SC family)</a:t>
            </a:r>
            <a:endParaRPr lang="en-US" sz="800" dirty="0"/>
          </a:p>
        </p:txBody>
      </p:sp>
      <p:sp>
        <p:nvSpPr>
          <p:cNvPr id="30" name="Text 26"/>
          <p:cNvSpPr txBox="1"/>
          <p:nvPr/>
        </p:nvSpPr>
        <p:spPr>
          <a:xfrm>
            <a:off x="347472" y="3127248"/>
            <a:ext cx="1920240" cy="621792"/>
          </a:xfrm>
          <a:prstGeom prst="rect">
            <a:avLst/>
          </a:prstGeom>
          <a:noFill/>
          <a:ln/>
        </p:spPr>
        <p:txBody>
          <a:bodyPr wrap="square" lIns="0" tIns="0" rIns="0" bIns="0" rtlCol="0" anchor="t"/>
          <a:lstStyle/>
          <a:p>
            <a:pPr indent="0" marL="0">
              <a:buNone/>
            </a:pPr>
            <a:r>
              <a:rPr lang="en-US" sz="660" dirty="0">
                <a:solidFill>
                  <a:srgbClr val="1F1F1F"/>
                </a:solidFill>
                <a:latin typeface="Calibri" pitchFamily="34" charset="0"/>
                <a:ea typeface="Calibri" pitchFamily="34" charset="-122"/>
                <a:cs typeface="Calibri" pitchFamily="34" charset="-120"/>
              </a:rPr>
              <a:t>free call in own language on any phone · 1–4 honest options with place, time, benefit · list of documents and how to get a missing one · SMS Case ID · follow-up till he earns · web login (mobile + OTP) to see or edit anything</a:t>
            </a:r>
            <a:endParaRPr lang="en-US" sz="660" dirty="0"/>
          </a:p>
        </p:txBody>
      </p:sp>
      <p:sp>
        <p:nvSpPr>
          <p:cNvPr id="31" name="Shape 27"/>
          <p:cNvSpPr/>
          <p:nvPr/>
        </p:nvSpPr>
        <p:spPr>
          <a:xfrm>
            <a:off x="2446020" y="2852928"/>
            <a:ext cx="2057400" cy="914400"/>
          </a:xfrm>
          <a:prstGeom prst="roundRect">
            <a:avLst>
              <a:gd name="adj" fmla="val 6000"/>
            </a:avLst>
          </a:prstGeom>
          <a:solidFill>
            <a:srgbClr val="F5F6F8"/>
          </a:solidFill>
          <a:ln w="9525">
            <a:solidFill>
              <a:srgbClr val="F5F6F8"/>
            </a:solidFill>
            <a:prstDash val="solid"/>
          </a:ln>
        </p:spPr>
      </p:sp>
      <p:pic>
        <p:nvPicPr>
          <p:cNvPr id="32" name="Image 2" descr="preencoded.png">    </p:cNvPr>
          <p:cNvPicPr>
            <a:picLocks noChangeAspect="1"/>
          </p:cNvPicPr>
          <p:nvPr/>
        </p:nvPicPr>
        <p:blipFill>
          <a:blip r:embed="rId3"/>
          <a:stretch>
            <a:fillRect/>
          </a:stretch>
        </p:blipFill>
        <p:spPr>
          <a:xfrm>
            <a:off x="2519172" y="2898648"/>
            <a:ext cx="201168" cy="201168"/>
          </a:xfrm>
          <a:prstGeom prst="rect">
            <a:avLst/>
          </a:prstGeom>
        </p:spPr>
      </p:pic>
      <p:sp>
        <p:nvSpPr>
          <p:cNvPr id="33" name="Text 28"/>
          <p:cNvSpPr txBox="1"/>
          <p:nvPr/>
        </p:nvSpPr>
        <p:spPr>
          <a:xfrm>
            <a:off x="2793492" y="2880360"/>
            <a:ext cx="1691640" cy="219456"/>
          </a:xfrm>
          <a:prstGeom prst="rect">
            <a:avLst/>
          </a:prstGeom>
          <a:noFill/>
          <a:ln/>
        </p:spPr>
        <p:txBody>
          <a:bodyPr wrap="square" lIns="0" tIns="0" rIns="0" bIns="0" rtlCol="0" anchor="ctr"/>
          <a:lstStyle/>
          <a:p>
            <a:pPr indent="0" marL="0">
              <a:buNone/>
            </a:pPr>
            <a:r>
              <a:rPr lang="en-US" sz="800" b="1" dirty="0">
                <a:solidFill>
                  <a:srgbClr val="1F4E79"/>
                </a:solidFill>
                <a:latin typeface="Calibri" pitchFamily="34" charset="0"/>
                <a:ea typeface="Calibri" pitchFamily="34" charset="-122"/>
                <a:cs typeface="Calibri" pitchFamily="34" charset="-120"/>
              </a:rPr>
              <a:t>CSC operator (VLE)</a:t>
            </a:r>
            <a:endParaRPr lang="en-US" sz="800" dirty="0"/>
          </a:p>
        </p:txBody>
      </p:sp>
      <p:sp>
        <p:nvSpPr>
          <p:cNvPr id="34" name="Text 29"/>
          <p:cNvSpPr txBox="1"/>
          <p:nvPr/>
        </p:nvSpPr>
        <p:spPr>
          <a:xfrm>
            <a:off x="2519172" y="3127248"/>
            <a:ext cx="1920240" cy="621792"/>
          </a:xfrm>
          <a:prstGeom prst="rect">
            <a:avLst/>
          </a:prstGeom>
          <a:noFill/>
          <a:ln/>
        </p:spPr>
        <p:txBody>
          <a:bodyPr wrap="square" lIns="0" tIns="0" rIns="0" bIns="0" rtlCol="0" anchor="t"/>
          <a:lstStyle/>
          <a:p>
            <a:pPr indent="0" marL="0">
              <a:buNone/>
            </a:pPr>
            <a:r>
              <a:rPr lang="en-US" sz="660" dirty="0">
                <a:solidFill>
                  <a:srgbClr val="1F1F1F"/>
                </a:solidFill>
                <a:latin typeface="Calibri" pitchFamily="34" charset="0"/>
                <a:ea typeface="Calibri" pitchFamily="34" charset="-122"/>
                <a:cs typeface="Calibri" pitchFamily="34" charset="-120"/>
              </a:rPr>
              <a:t>the case arrives pre-filled as a table · only documents + Aadhaar e-KYC to do · can correct stored data on the portal · ₹20–40 fee per assisted profile</a:t>
            </a:r>
            <a:endParaRPr lang="en-US" sz="660" dirty="0"/>
          </a:p>
        </p:txBody>
      </p:sp>
      <p:sp>
        <p:nvSpPr>
          <p:cNvPr id="35" name="Shape 30"/>
          <p:cNvSpPr/>
          <p:nvPr/>
        </p:nvSpPr>
        <p:spPr>
          <a:xfrm>
            <a:off x="4617720" y="2852928"/>
            <a:ext cx="2057400" cy="914400"/>
          </a:xfrm>
          <a:prstGeom prst="roundRect">
            <a:avLst>
              <a:gd name="adj" fmla="val 6000"/>
            </a:avLst>
          </a:prstGeom>
          <a:solidFill>
            <a:srgbClr val="F5F6F8"/>
          </a:solidFill>
          <a:ln w="9525">
            <a:solidFill>
              <a:srgbClr val="F5F6F8"/>
            </a:solidFill>
            <a:prstDash val="solid"/>
          </a:ln>
        </p:spPr>
      </p:sp>
      <p:pic>
        <p:nvPicPr>
          <p:cNvPr id="36" name="Image 3" descr="preencoded.png">    </p:cNvPr>
          <p:cNvPicPr>
            <a:picLocks noChangeAspect="1"/>
          </p:cNvPicPr>
          <p:nvPr/>
        </p:nvPicPr>
        <p:blipFill>
          <a:blip r:embed="rId4"/>
          <a:stretch>
            <a:fillRect/>
          </a:stretch>
        </p:blipFill>
        <p:spPr>
          <a:xfrm>
            <a:off x="4690872" y="2898648"/>
            <a:ext cx="201168" cy="201168"/>
          </a:xfrm>
          <a:prstGeom prst="rect">
            <a:avLst/>
          </a:prstGeom>
        </p:spPr>
      </p:pic>
      <p:sp>
        <p:nvSpPr>
          <p:cNvPr id="37" name="Text 31"/>
          <p:cNvSpPr txBox="1"/>
          <p:nvPr/>
        </p:nvSpPr>
        <p:spPr>
          <a:xfrm>
            <a:off x="4965192" y="2880360"/>
            <a:ext cx="1691640" cy="219456"/>
          </a:xfrm>
          <a:prstGeom prst="rect">
            <a:avLst/>
          </a:prstGeom>
          <a:noFill/>
          <a:ln/>
        </p:spPr>
        <p:txBody>
          <a:bodyPr wrap="square" lIns="0" tIns="0" rIns="0" bIns="0" rtlCol="0" anchor="ctr"/>
          <a:lstStyle/>
          <a:p>
            <a:pPr indent="0" marL="0">
              <a:buNone/>
            </a:pPr>
            <a:r>
              <a:rPr lang="en-US" sz="800" b="1" dirty="0">
                <a:solidFill>
                  <a:srgbClr val="1F4E79"/>
                </a:solidFill>
                <a:latin typeface="Calibri" pitchFamily="34" charset="0"/>
                <a:ea typeface="Calibri" pitchFamily="34" charset="-122"/>
                <a:cs typeface="Calibri" pitchFamily="34" charset="-120"/>
              </a:rPr>
              <a:t>District officer</a:t>
            </a:r>
            <a:endParaRPr lang="en-US" sz="800" dirty="0"/>
          </a:p>
        </p:txBody>
      </p:sp>
      <p:sp>
        <p:nvSpPr>
          <p:cNvPr id="38" name="Text 32"/>
          <p:cNvSpPr txBox="1"/>
          <p:nvPr/>
        </p:nvSpPr>
        <p:spPr>
          <a:xfrm>
            <a:off x="4690872" y="3127248"/>
            <a:ext cx="1920240" cy="621792"/>
          </a:xfrm>
          <a:prstGeom prst="rect">
            <a:avLst/>
          </a:prstGeom>
          <a:noFill/>
          <a:ln/>
        </p:spPr>
        <p:txBody>
          <a:bodyPr wrap="square" lIns="0" tIns="0" rIns="0" bIns="0" rtlCol="0" anchor="t"/>
          <a:lstStyle/>
          <a:p>
            <a:pPr indent="0" marL="0">
              <a:buNone/>
            </a:pPr>
            <a:r>
              <a:rPr lang="en-US" sz="660" dirty="0">
                <a:solidFill>
                  <a:srgbClr val="1F1F1F"/>
                </a:solidFill>
                <a:latin typeface="Calibri" pitchFamily="34" charset="0"/>
                <a:ea typeface="Calibri" pitchFamily="34" charset="-122"/>
                <a:cs typeface="Calibri" pitchFamily="34" charset="-120"/>
              </a:rPr>
              <a:t>ready, checked cases in the AJAY app · approve or return in minutes instead of a 40-min survey · demand map by block + draft projects for the Annual Action Plan</a:t>
            </a:r>
            <a:endParaRPr lang="en-US" sz="660" dirty="0"/>
          </a:p>
        </p:txBody>
      </p:sp>
      <p:sp>
        <p:nvSpPr>
          <p:cNvPr id="39" name="Shape 33"/>
          <p:cNvSpPr/>
          <p:nvPr/>
        </p:nvSpPr>
        <p:spPr>
          <a:xfrm>
            <a:off x="6789420" y="2852928"/>
            <a:ext cx="2057400" cy="914400"/>
          </a:xfrm>
          <a:prstGeom prst="roundRect">
            <a:avLst>
              <a:gd name="adj" fmla="val 6000"/>
            </a:avLst>
          </a:prstGeom>
          <a:solidFill>
            <a:srgbClr val="F5F6F8"/>
          </a:solidFill>
          <a:ln w="9525">
            <a:solidFill>
              <a:srgbClr val="F5F6F8"/>
            </a:solidFill>
            <a:prstDash val="solid"/>
          </a:ln>
        </p:spPr>
      </p:sp>
      <p:pic>
        <p:nvPicPr>
          <p:cNvPr id="40" name="Image 4" descr="preencoded.png">    </p:cNvPr>
          <p:cNvPicPr>
            <a:picLocks noChangeAspect="1"/>
          </p:cNvPicPr>
          <p:nvPr/>
        </p:nvPicPr>
        <p:blipFill>
          <a:blip r:embed="rId5"/>
          <a:stretch>
            <a:fillRect/>
          </a:stretch>
        </p:blipFill>
        <p:spPr>
          <a:xfrm>
            <a:off x="6862572" y="2898648"/>
            <a:ext cx="201168" cy="201168"/>
          </a:xfrm>
          <a:prstGeom prst="rect">
            <a:avLst/>
          </a:prstGeom>
        </p:spPr>
      </p:pic>
      <p:sp>
        <p:nvSpPr>
          <p:cNvPr id="41" name="Text 34"/>
          <p:cNvSpPr txBox="1"/>
          <p:nvPr/>
        </p:nvSpPr>
        <p:spPr>
          <a:xfrm>
            <a:off x="7136892" y="2880360"/>
            <a:ext cx="1691640" cy="219456"/>
          </a:xfrm>
          <a:prstGeom prst="rect">
            <a:avLst/>
          </a:prstGeom>
          <a:noFill/>
          <a:ln/>
        </p:spPr>
        <p:txBody>
          <a:bodyPr wrap="square" lIns="0" tIns="0" rIns="0" bIns="0" rtlCol="0" anchor="ctr"/>
          <a:lstStyle/>
          <a:p>
            <a:pPr indent="0" marL="0">
              <a:buNone/>
            </a:pPr>
            <a:r>
              <a:rPr lang="en-US" sz="800" b="1" dirty="0">
                <a:solidFill>
                  <a:srgbClr val="1F4E79"/>
                </a:solidFill>
                <a:latin typeface="Calibri" pitchFamily="34" charset="0"/>
                <a:ea typeface="Calibri" pitchFamily="34" charset="-122"/>
                <a:cs typeface="Calibri" pitchFamily="34" charset="-120"/>
              </a:rPr>
              <a:t>Ministry / State corporation</a:t>
            </a:r>
            <a:endParaRPr lang="en-US" sz="800" dirty="0"/>
          </a:p>
        </p:txBody>
      </p:sp>
      <p:sp>
        <p:nvSpPr>
          <p:cNvPr id="42" name="Text 35"/>
          <p:cNvSpPr txBox="1"/>
          <p:nvPr/>
        </p:nvSpPr>
        <p:spPr>
          <a:xfrm>
            <a:off x="6862572" y="3127248"/>
            <a:ext cx="1920240" cy="621792"/>
          </a:xfrm>
          <a:prstGeom prst="rect">
            <a:avLst/>
          </a:prstGeom>
          <a:noFill/>
          <a:ln/>
        </p:spPr>
        <p:txBody>
          <a:bodyPr wrap="square" lIns="0" tIns="0" rIns="0" bIns="0" rtlCol="0" anchor="t"/>
          <a:lstStyle/>
          <a:p>
            <a:pPr indent="0" marL="0">
              <a:buNone/>
            </a:pPr>
            <a:r>
              <a:rPr lang="en-US" sz="660" dirty="0">
                <a:solidFill>
                  <a:srgbClr val="1F1F1F"/>
                </a:solidFill>
                <a:latin typeface="Calibri" pitchFamily="34" charset="0"/>
                <a:ea typeface="Calibri" pitchFamily="34" charset="-122"/>
                <a:cs typeface="Calibri" pitchFamily="34" charset="-120"/>
              </a:rPr>
              <a:t>one record from call to job · outcomes labelled CONFIRMED (employer, EPFO*) or SELF-REPORTED · duplicates, OTP and bank IFSC checked at entry (CAG found &gt;94% invalid bank fields in PMKVY)</a:t>
            </a:r>
            <a:endParaRPr lang="en-US" sz="660" dirty="0"/>
          </a:p>
        </p:txBody>
      </p:sp>
      <p:sp>
        <p:nvSpPr>
          <p:cNvPr id="43" name="Text 36"/>
          <p:cNvSpPr txBox="1"/>
          <p:nvPr/>
        </p:nvSpPr>
        <p:spPr>
          <a:xfrm>
            <a:off x="274320" y="3858768"/>
            <a:ext cx="3657600" cy="182880"/>
          </a:xfrm>
          <a:prstGeom prst="rect">
            <a:avLst/>
          </a:prstGeom>
          <a:noFill/>
          <a:ln/>
        </p:spPr>
        <p:txBody>
          <a:bodyPr wrap="square" lIns="0" tIns="0" rIns="0" bIns="0" rtlCol="0" anchor="t"/>
          <a:lstStyle/>
          <a:p>
            <a:pPr indent="0" marL="0">
              <a:buNone/>
            </a:pPr>
            <a:r>
              <a:rPr lang="en-US" sz="850" b="1" spc="100" kern="0" dirty="0">
                <a:solidFill>
                  <a:srgbClr val="1F4E79"/>
                </a:solidFill>
                <a:latin typeface="Calibri" pitchFamily="34" charset="0"/>
                <a:ea typeface="Calibri" pitchFamily="34" charset="-122"/>
                <a:cs typeface="Calibri" pitchFamily="34" charset="-120"/>
              </a:rPr>
              <a:t>BENEFITS</a:t>
            </a:r>
            <a:endParaRPr lang="en-US" sz="850" dirty="0"/>
          </a:p>
        </p:txBody>
      </p:sp>
      <p:sp>
        <p:nvSpPr>
          <p:cNvPr id="44" name="Shape 37"/>
          <p:cNvSpPr/>
          <p:nvPr/>
        </p:nvSpPr>
        <p:spPr>
          <a:xfrm>
            <a:off x="274320" y="4059936"/>
            <a:ext cx="2057400" cy="768096"/>
          </a:xfrm>
          <a:prstGeom prst="roundRect">
            <a:avLst>
              <a:gd name="adj" fmla="val 7143"/>
            </a:avLst>
          </a:prstGeom>
          <a:solidFill>
            <a:srgbClr val="FFFFFF"/>
          </a:solidFill>
          <a:ln w="9525">
            <a:solidFill>
              <a:srgbClr val="D6DCE5"/>
            </a:solidFill>
            <a:prstDash val="solid"/>
          </a:ln>
        </p:spPr>
      </p:sp>
      <p:pic>
        <p:nvPicPr>
          <p:cNvPr id="45" name="Image 5" descr="preencoded.png">    </p:cNvPr>
          <p:cNvPicPr>
            <a:picLocks noChangeAspect="1"/>
          </p:cNvPicPr>
          <p:nvPr/>
        </p:nvPicPr>
        <p:blipFill>
          <a:blip r:embed="rId6"/>
          <a:stretch>
            <a:fillRect/>
          </a:stretch>
        </p:blipFill>
        <p:spPr>
          <a:xfrm>
            <a:off x="347472" y="4096512"/>
            <a:ext cx="182880" cy="182880"/>
          </a:xfrm>
          <a:prstGeom prst="rect">
            <a:avLst/>
          </a:prstGeom>
        </p:spPr>
      </p:pic>
      <p:sp>
        <p:nvSpPr>
          <p:cNvPr id="46" name="Text 38"/>
          <p:cNvSpPr txBox="1"/>
          <p:nvPr/>
        </p:nvSpPr>
        <p:spPr>
          <a:xfrm>
            <a:off x="585216" y="4078224"/>
            <a:ext cx="1645920" cy="201168"/>
          </a:xfrm>
          <a:prstGeom prst="rect">
            <a:avLst/>
          </a:prstGeom>
          <a:noFill/>
          <a:ln/>
        </p:spPr>
        <p:txBody>
          <a:bodyPr wrap="square" lIns="0" tIns="0" rIns="0" bIns="0" rtlCol="0" anchor="ctr"/>
          <a:lstStyle/>
          <a:p>
            <a:pPr indent="0" marL="0">
              <a:buNone/>
            </a:pPr>
            <a:r>
              <a:rPr lang="en-US" sz="800" b="1" dirty="0">
                <a:solidFill>
                  <a:srgbClr val="1F4E79"/>
                </a:solidFill>
                <a:latin typeface="Calibri" pitchFamily="34" charset="0"/>
                <a:ea typeface="Calibri" pitchFamily="34" charset="-122"/>
                <a:cs typeface="Calibri" pitchFamily="34" charset="-120"/>
              </a:rPr>
              <a:t>Social</a:t>
            </a:r>
            <a:endParaRPr lang="en-US" sz="800" dirty="0"/>
          </a:p>
        </p:txBody>
      </p:sp>
      <p:sp>
        <p:nvSpPr>
          <p:cNvPr id="47" name="Text 39"/>
          <p:cNvSpPr txBox="1"/>
          <p:nvPr/>
        </p:nvSpPr>
        <p:spPr>
          <a:xfrm>
            <a:off x="365760" y="4288536"/>
            <a:ext cx="1901952" cy="530352"/>
          </a:xfrm>
          <a:prstGeom prst="rect">
            <a:avLst/>
          </a:prstGeom>
          <a:noFill/>
          <a:ln/>
        </p:spPr>
        <p:txBody>
          <a:bodyPr wrap="square" lIns="0" tIns="0" rIns="0" bIns="0" rtlCol="0" anchor="t"/>
          <a:lstStyle/>
          <a:p>
            <a:pPr marL="101600" indent="-101600">
              <a:spcAft>
                <a:spcPts val="100"/>
              </a:spcAft>
              <a:buSzPct val="100000"/>
              <a:buChar char="•"/>
            </a:pPr>
            <a:r>
              <a:rPr lang="en-US" sz="680" dirty="0">
                <a:solidFill>
                  <a:srgbClr val="1F1F1F"/>
                </a:solidFill>
                <a:latin typeface="Calibri" pitchFamily="34" charset="0"/>
                <a:ea typeface="Calibri" pitchFamily="34" charset="-122"/>
                <a:cs typeface="Calibri" pitchFamily="34" charset="-120"/>
              </a:rPr>
              <a:t>right course the first time</a:t>
            </a:r>
            <a:endParaRPr lang="en-US" sz="680" dirty="0"/>
          </a:p>
          <a:p>
            <a:pPr marL="101600" indent="-101600">
              <a:spcAft>
                <a:spcPts val="100"/>
              </a:spcAft>
              <a:buSzPct val="100000"/>
              <a:buChar char="•"/>
            </a:pPr>
            <a:r>
              <a:rPr lang="en-US" sz="680" dirty="0">
                <a:solidFill>
                  <a:srgbClr val="1F1F1F"/>
                </a:solidFill>
                <a:latin typeface="Calibri" pitchFamily="34" charset="0"/>
                <a:ea typeface="Calibri" pitchFamily="34" charset="-122"/>
                <a:cs typeface="Calibri" pitchFamily="34" charset="-120"/>
              </a:rPr>
              <a:t>free, in his own language, no reading needed</a:t>
            </a:r>
            <a:endParaRPr lang="en-US" sz="680" dirty="0"/>
          </a:p>
          <a:p>
            <a:pPr marL="101600" indent="-101600">
              <a:spcAft>
                <a:spcPts val="100"/>
              </a:spcAft>
              <a:buSzPct val="100000"/>
              <a:buChar char="•"/>
            </a:pPr>
            <a:r>
              <a:rPr lang="en-US" sz="680" dirty="0">
                <a:solidFill>
                  <a:srgbClr val="1F1F1F"/>
                </a:solidFill>
                <a:latin typeface="Calibri" pitchFamily="34" charset="0"/>
                <a:ea typeface="Calibri" pitchFamily="34" charset="-122"/>
                <a:cs typeface="Calibri" pitchFamily="34" charset="-120"/>
              </a:rPr>
              <a:t>women and non-readers included (CSC / web help)</a:t>
            </a:r>
            <a:endParaRPr lang="en-US" sz="680" dirty="0"/>
          </a:p>
        </p:txBody>
      </p:sp>
      <p:sp>
        <p:nvSpPr>
          <p:cNvPr id="48" name="Shape 40"/>
          <p:cNvSpPr/>
          <p:nvPr/>
        </p:nvSpPr>
        <p:spPr>
          <a:xfrm>
            <a:off x="2446020" y="4059936"/>
            <a:ext cx="2057400" cy="768096"/>
          </a:xfrm>
          <a:prstGeom prst="roundRect">
            <a:avLst>
              <a:gd name="adj" fmla="val 7143"/>
            </a:avLst>
          </a:prstGeom>
          <a:solidFill>
            <a:srgbClr val="FFFFFF"/>
          </a:solidFill>
          <a:ln w="9525">
            <a:solidFill>
              <a:srgbClr val="D6DCE5"/>
            </a:solidFill>
            <a:prstDash val="solid"/>
          </a:ln>
        </p:spPr>
      </p:sp>
      <p:pic>
        <p:nvPicPr>
          <p:cNvPr id="49" name="Image 6" descr="preencoded.png">    </p:cNvPr>
          <p:cNvPicPr>
            <a:picLocks noChangeAspect="1"/>
          </p:cNvPicPr>
          <p:nvPr/>
        </p:nvPicPr>
        <p:blipFill>
          <a:blip r:embed="rId7"/>
          <a:stretch>
            <a:fillRect/>
          </a:stretch>
        </p:blipFill>
        <p:spPr>
          <a:xfrm>
            <a:off x="2519172" y="4096512"/>
            <a:ext cx="182880" cy="182880"/>
          </a:xfrm>
          <a:prstGeom prst="rect">
            <a:avLst/>
          </a:prstGeom>
        </p:spPr>
      </p:pic>
      <p:sp>
        <p:nvSpPr>
          <p:cNvPr id="50" name="Text 41"/>
          <p:cNvSpPr txBox="1"/>
          <p:nvPr/>
        </p:nvSpPr>
        <p:spPr>
          <a:xfrm>
            <a:off x="2756916" y="4078224"/>
            <a:ext cx="1645920" cy="201168"/>
          </a:xfrm>
          <a:prstGeom prst="rect">
            <a:avLst/>
          </a:prstGeom>
          <a:noFill/>
          <a:ln/>
        </p:spPr>
        <p:txBody>
          <a:bodyPr wrap="square" lIns="0" tIns="0" rIns="0" bIns="0" rtlCol="0" anchor="ctr"/>
          <a:lstStyle/>
          <a:p>
            <a:pPr indent="0" marL="0">
              <a:buNone/>
            </a:pPr>
            <a:r>
              <a:rPr lang="en-US" sz="800" b="1" dirty="0">
                <a:solidFill>
                  <a:srgbClr val="1F4E79"/>
                </a:solidFill>
                <a:latin typeface="Calibri" pitchFamily="34" charset="0"/>
                <a:ea typeface="Calibri" pitchFamily="34" charset="-122"/>
                <a:cs typeface="Calibri" pitchFamily="34" charset="-120"/>
              </a:rPr>
              <a:t>Economic</a:t>
            </a:r>
            <a:endParaRPr lang="en-US" sz="800" dirty="0"/>
          </a:p>
        </p:txBody>
      </p:sp>
      <p:sp>
        <p:nvSpPr>
          <p:cNvPr id="51" name="Text 42"/>
          <p:cNvSpPr txBox="1"/>
          <p:nvPr/>
        </p:nvSpPr>
        <p:spPr>
          <a:xfrm>
            <a:off x="2537460" y="4288536"/>
            <a:ext cx="1901952" cy="530352"/>
          </a:xfrm>
          <a:prstGeom prst="rect">
            <a:avLst/>
          </a:prstGeom>
          <a:noFill/>
          <a:ln/>
        </p:spPr>
        <p:txBody>
          <a:bodyPr wrap="square" lIns="0" tIns="0" rIns="0" bIns="0" rtlCol="0" anchor="t"/>
          <a:lstStyle/>
          <a:p>
            <a:pPr marL="101600" indent="-101600">
              <a:spcAft>
                <a:spcPts val="100"/>
              </a:spcAft>
              <a:buSzPct val="100000"/>
              <a:buChar char="•"/>
            </a:pPr>
            <a:r>
              <a:rPr lang="en-US" sz="680" dirty="0">
                <a:solidFill>
                  <a:srgbClr val="1F1F1F"/>
                </a:solidFill>
                <a:latin typeface="Calibri" pitchFamily="34" charset="0"/>
                <a:ea typeface="Calibri" pitchFamily="34" charset="-122"/>
                <a:cs typeface="Calibri" pitchFamily="34" charset="-120"/>
              </a:rPr>
              <a:t>less money wasted on wrong training</a:t>
            </a:r>
            <a:endParaRPr lang="en-US" sz="680" dirty="0"/>
          </a:p>
          <a:p>
            <a:pPr marL="101600" indent="-101600">
              <a:spcAft>
                <a:spcPts val="100"/>
              </a:spcAft>
              <a:buSzPct val="100000"/>
              <a:buChar char="•"/>
            </a:pPr>
            <a:r>
              <a:rPr lang="en-US" sz="680" dirty="0">
                <a:solidFill>
                  <a:srgbClr val="1F1F1F"/>
                </a:solidFill>
                <a:latin typeface="Calibri" pitchFamily="34" charset="0"/>
                <a:ea typeface="Calibri" pitchFamily="34" charset="-122"/>
                <a:cs typeface="Calibri" pitchFamily="34" charset="-120"/>
              </a:rPr>
              <a:t>more people earning — and proved by follow-up</a:t>
            </a:r>
            <a:endParaRPr lang="en-US" sz="680" dirty="0"/>
          </a:p>
          <a:p>
            <a:pPr marL="101600" indent="-101600">
              <a:spcAft>
                <a:spcPts val="100"/>
              </a:spcAft>
              <a:buSzPct val="100000"/>
              <a:buChar char="•"/>
            </a:pPr>
            <a:r>
              <a:rPr lang="en-US" sz="680" dirty="0">
                <a:solidFill>
                  <a:srgbClr val="1F1F1F"/>
                </a:solidFill>
                <a:latin typeface="Calibri" pitchFamily="34" charset="0"/>
                <a:ea typeface="Calibri" pitchFamily="34" charset="-122"/>
                <a:cs typeface="Calibri" pitchFamily="34" charset="-120"/>
              </a:rPr>
              <a:t>cheapest-first AI keeps cost at ₹37–83 / profile</a:t>
            </a:r>
            <a:endParaRPr lang="en-US" sz="680" dirty="0"/>
          </a:p>
        </p:txBody>
      </p:sp>
      <p:sp>
        <p:nvSpPr>
          <p:cNvPr id="52" name="Shape 43"/>
          <p:cNvSpPr/>
          <p:nvPr/>
        </p:nvSpPr>
        <p:spPr>
          <a:xfrm>
            <a:off x="4617720" y="4059936"/>
            <a:ext cx="2057400" cy="768096"/>
          </a:xfrm>
          <a:prstGeom prst="roundRect">
            <a:avLst>
              <a:gd name="adj" fmla="val 7143"/>
            </a:avLst>
          </a:prstGeom>
          <a:solidFill>
            <a:srgbClr val="FFFFFF"/>
          </a:solidFill>
          <a:ln w="9525">
            <a:solidFill>
              <a:srgbClr val="D6DCE5"/>
            </a:solidFill>
            <a:prstDash val="solid"/>
          </a:ln>
        </p:spPr>
      </p:sp>
      <p:pic>
        <p:nvPicPr>
          <p:cNvPr id="53" name="Image 7" descr="preencoded.png">    </p:cNvPr>
          <p:cNvPicPr>
            <a:picLocks noChangeAspect="1"/>
          </p:cNvPicPr>
          <p:nvPr/>
        </p:nvPicPr>
        <p:blipFill>
          <a:blip r:embed="rId8"/>
          <a:stretch>
            <a:fillRect/>
          </a:stretch>
        </p:blipFill>
        <p:spPr>
          <a:xfrm>
            <a:off x="4690872" y="4096512"/>
            <a:ext cx="182880" cy="182880"/>
          </a:xfrm>
          <a:prstGeom prst="rect">
            <a:avLst/>
          </a:prstGeom>
        </p:spPr>
      </p:pic>
      <p:sp>
        <p:nvSpPr>
          <p:cNvPr id="54" name="Text 44"/>
          <p:cNvSpPr txBox="1"/>
          <p:nvPr/>
        </p:nvSpPr>
        <p:spPr>
          <a:xfrm>
            <a:off x="4928616" y="4078224"/>
            <a:ext cx="1645920" cy="201168"/>
          </a:xfrm>
          <a:prstGeom prst="rect">
            <a:avLst/>
          </a:prstGeom>
          <a:noFill/>
          <a:ln/>
        </p:spPr>
        <p:txBody>
          <a:bodyPr wrap="square" lIns="0" tIns="0" rIns="0" bIns="0" rtlCol="0" anchor="ctr"/>
          <a:lstStyle/>
          <a:p>
            <a:pPr indent="0" marL="0">
              <a:buNone/>
            </a:pPr>
            <a:r>
              <a:rPr lang="en-US" sz="800" b="1" dirty="0">
                <a:solidFill>
                  <a:srgbClr val="1F4E79"/>
                </a:solidFill>
                <a:latin typeface="Calibri" pitchFamily="34" charset="0"/>
                <a:ea typeface="Calibri" pitchFamily="34" charset="-122"/>
                <a:cs typeface="Calibri" pitchFamily="34" charset="-120"/>
              </a:rPr>
              <a:t>Governance</a:t>
            </a:r>
            <a:endParaRPr lang="en-US" sz="800" dirty="0"/>
          </a:p>
        </p:txBody>
      </p:sp>
      <p:sp>
        <p:nvSpPr>
          <p:cNvPr id="55" name="Text 45"/>
          <p:cNvSpPr txBox="1"/>
          <p:nvPr/>
        </p:nvSpPr>
        <p:spPr>
          <a:xfrm>
            <a:off x="4709160" y="4288536"/>
            <a:ext cx="1901952" cy="530352"/>
          </a:xfrm>
          <a:prstGeom prst="rect">
            <a:avLst/>
          </a:prstGeom>
          <a:noFill/>
          <a:ln/>
        </p:spPr>
        <p:txBody>
          <a:bodyPr wrap="square" lIns="0" tIns="0" rIns="0" bIns="0" rtlCol="0" anchor="t"/>
          <a:lstStyle/>
          <a:p>
            <a:pPr marL="101600" indent="-101600">
              <a:spcAft>
                <a:spcPts val="100"/>
              </a:spcAft>
              <a:buSzPct val="100000"/>
              <a:buChar char="•"/>
            </a:pPr>
            <a:r>
              <a:rPr lang="en-US" sz="680" dirty="0">
                <a:solidFill>
                  <a:srgbClr val="1F1F1F"/>
                </a:solidFill>
                <a:latin typeface="Calibri" pitchFamily="34" charset="0"/>
                <a:ea typeface="Calibri" pitchFamily="34" charset="-122"/>
                <a:cs typeface="Calibri" pitchFamily="34" charset="-120"/>
              </a:rPr>
              <a:t>officers get ready, checked cases</a:t>
            </a:r>
            <a:endParaRPr lang="en-US" sz="680" dirty="0"/>
          </a:p>
          <a:p>
            <a:pPr marL="101600" indent="-101600">
              <a:spcAft>
                <a:spcPts val="100"/>
              </a:spcAft>
              <a:buSzPct val="100000"/>
              <a:buChar char="•"/>
            </a:pPr>
            <a:r>
              <a:rPr lang="en-US" sz="680" dirty="0">
                <a:solidFill>
                  <a:srgbClr val="1F1F1F"/>
                </a:solidFill>
                <a:latin typeface="Calibri" pitchFamily="34" charset="0"/>
                <a:ea typeface="Calibri" pitchFamily="34" charset="-122"/>
                <a:cs typeface="Calibri" pitchFamily="34" charset="-120"/>
              </a:rPr>
              <a:t>demand map feeds the Annual Action Plan</a:t>
            </a:r>
            <a:endParaRPr lang="en-US" sz="680" dirty="0"/>
          </a:p>
          <a:p>
            <a:pPr marL="101600" indent="-101600">
              <a:spcAft>
                <a:spcPts val="100"/>
              </a:spcAft>
              <a:buSzPct val="100000"/>
              <a:buChar char="•"/>
            </a:pPr>
            <a:r>
              <a:rPr lang="en-US" sz="680" dirty="0">
                <a:solidFill>
                  <a:srgbClr val="1F1F1F"/>
                </a:solidFill>
                <a:latin typeface="Calibri" pitchFamily="34" charset="0"/>
                <a:ea typeface="Calibri" pitchFamily="34" charset="-122"/>
                <a:cs typeface="Calibri" pitchFamily="34" charset="-120"/>
              </a:rPr>
              <a:t>one shared record: CSC, officer, partner, bank</a:t>
            </a:r>
            <a:endParaRPr lang="en-US" sz="680" dirty="0"/>
          </a:p>
        </p:txBody>
      </p:sp>
      <p:sp>
        <p:nvSpPr>
          <p:cNvPr id="56" name="Shape 46"/>
          <p:cNvSpPr/>
          <p:nvPr/>
        </p:nvSpPr>
        <p:spPr>
          <a:xfrm>
            <a:off x="6789420" y="4059936"/>
            <a:ext cx="2057400" cy="768096"/>
          </a:xfrm>
          <a:prstGeom prst="roundRect">
            <a:avLst>
              <a:gd name="adj" fmla="val 7143"/>
            </a:avLst>
          </a:prstGeom>
          <a:solidFill>
            <a:srgbClr val="FFFFFF"/>
          </a:solidFill>
          <a:ln w="9525">
            <a:solidFill>
              <a:srgbClr val="D6DCE5"/>
            </a:solidFill>
            <a:prstDash val="solid"/>
          </a:ln>
        </p:spPr>
      </p:sp>
      <p:pic>
        <p:nvPicPr>
          <p:cNvPr id="57" name="Image 8" descr="preencoded.png">    </p:cNvPr>
          <p:cNvPicPr>
            <a:picLocks noChangeAspect="1"/>
          </p:cNvPicPr>
          <p:nvPr/>
        </p:nvPicPr>
        <p:blipFill>
          <a:blip r:embed="rId9"/>
          <a:stretch>
            <a:fillRect/>
          </a:stretch>
        </p:blipFill>
        <p:spPr>
          <a:xfrm>
            <a:off x="6862572" y="4096512"/>
            <a:ext cx="182880" cy="182880"/>
          </a:xfrm>
          <a:prstGeom prst="rect">
            <a:avLst/>
          </a:prstGeom>
        </p:spPr>
      </p:pic>
      <p:sp>
        <p:nvSpPr>
          <p:cNvPr id="58" name="Text 47"/>
          <p:cNvSpPr txBox="1"/>
          <p:nvPr/>
        </p:nvSpPr>
        <p:spPr>
          <a:xfrm>
            <a:off x="7100316" y="4078224"/>
            <a:ext cx="1645920" cy="201168"/>
          </a:xfrm>
          <a:prstGeom prst="rect">
            <a:avLst/>
          </a:prstGeom>
          <a:noFill/>
          <a:ln/>
        </p:spPr>
        <p:txBody>
          <a:bodyPr wrap="square" lIns="0" tIns="0" rIns="0" bIns="0" rtlCol="0" anchor="ctr"/>
          <a:lstStyle/>
          <a:p>
            <a:pPr indent="0" marL="0">
              <a:buNone/>
            </a:pPr>
            <a:r>
              <a:rPr lang="en-US" sz="800" b="1" dirty="0">
                <a:solidFill>
                  <a:srgbClr val="1F4E79"/>
                </a:solidFill>
                <a:latin typeface="Calibri" pitchFamily="34" charset="0"/>
                <a:ea typeface="Calibri" pitchFamily="34" charset="-122"/>
                <a:cs typeface="Calibri" pitchFamily="34" charset="-120"/>
              </a:rPr>
              <a:t>Environment</a:t>
            </a:r>
            <a:endParaRPr lang="en-US" sz="800" dirty="0"/>
          </a:p>
        </p:txBody>
      </p:sp>
      <p:sp>
        <p:nvSpPr>
          <p:cNvPr id="59" name="Text 48"/>
          <p:cNvSpPr txBox="1"/>
          <p:nvPr/>
        </p:nvSpPr>
        <p:spPr>
          <a:xfrm>
            <a:off x="6880860" y="4288536"/>
            <a:ext cx="1901952" cy="530352"/>
          </a:xfrm>
          <a:prstGeom prst="rect">
            <a:avLst/>
          </a:prstGeom>
          <a:noFill/>
          <a:ln/>
        </p:spPr>
        <p:txBody>
          <a:bodyPr wrap="square" lIns="0" tIns="0" rIns="0" bIns="0" rtlCol="0" anchor="t"/>
          <a:lstStyle/>
          <a:p>
            <a:pPr marL="101600" indent="-101600">
              <a:spcAft>
                <a:spcPts val="100"/>
              </a:spcAft>
              <a:buSzPct val="100000"/>
              <a:buChar char="•"/>
            </a:pPr>
            <a:r>
              <a:rPr lang="en-US" sz="680" dirty="0">
                <a:solidFill>
                  <a:srgbClr val="1F1F1F"/>
                </a:solidFill>
                <a:latin typeface="Calibri" pitchFamily="34" charset="0"/>
                <a:ea typeface="Calibri" pitchFamily="34" charset="-122"/>
                <a:cs typeface="Calibri" pitchFamily="34" charset="-120"/>
              </a:rPr>
              <a:t>no paper forms</a:t>
            </a:r>
            <a:endParaRPr lang="en-US" sz="680" dirty="0"/>
          </a:p>
          <a:p>
            <a:pPr marL="101600" indent="-101600">
              <a:spcAft>
                <a:spcPts val="100"/>
              </a:spcAft>
              <a:buSzPct val="100000"/>
              <a:buChar char="•"/>
            </a:pPr>
            <a:r>
              <a:rPr lang="en-US" sz="680" dirty="0">
                <a:solidFill>
                  <a:srgbClr val="1F1F1F"/>
                </a:solidFill>
                <a:latin typeface="Calibri" pitchFamily="34" charset="0"/>
                <a:ea typeface="Calibri" pitchFamily="34" charset="-122"/>
                <a:cs typeface="Calibri" pitchFamily="34" charset="-120"/>
              </a:rPr>
              <a:t>fewer trips to offices — first contact by phone</a:t>
            </a:r>
            <a:endParaRPr lang="en-US" sz="680" dirty="0"/>
          </a:p>
          <a:p>
            <a:pPr marL="101600" indent="-101600">
              <a:spcAft>
                <a:spcPts val="100"/>
              </a:spcAft>
              <a:buSzPct val="100000"/>
              <a:buChar char="•"/>
            </a:pPr>
            <a:r>
              <a:rPr lang="en-US" sz="680" dirty="0">
                <a:solidFill>
                  <a:srgbClr val="1F1F1F"/>
                </a:solidFill>
                <a:latin typeface="Calibri" pitchFamily="34" charset="0"/>
                <a:ea typeface="Calibri" pitchFamily="34" charset="-122"/>
                <a:cs typeface="Calibri" pitchFamily="34" charset="-120"/>
              </a:rPr>
              <a:t>runs on shared government cloud (MeghRaj)</a:t>
            </a:r>
            <a:endParaRPr lang="en-US" sz="6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56032" y="164592"/>
            <a:ext cx="960120" cy="548640"/>
          </a:xfrm>
          <a:prstGeom prst="ellipse">
            <a:avLst/>
          </a:prstGeom>
          <a:solidFill>
            <a:srgbClr val="FFFFFF"/>
          </a:solidFill>
          <a:ln w="15875">
            <a:solidFill>
              <a:srgbClr val="1F4E79"/>
            </a:solidFill>
            <a:prstDash val="solid"/>
          </a:ln>
        </p:spPr>
      </p:sp>
      <p:sp>
        <p:nvSpPr>
          <p:cNvPr id="3" name="Text 1"/>
          <p:cNvSpPr txBox="1"/>
          <p:nvPr/>
        </p:nvSpPr>
        <p:spPr>
          <a:xfrm>
            <a:off x="256032" y="164592"/>
            <a:ext cx="960120" cy="548640"/>
          </a:xfrm>
          <a:prstGeom prst="rect">
            <a:avLst/>
          </a:prstGeom>
          <a:noFill/>
          <a:ln/>
        </p:spPr>
        <p:txBody>
          <a:bodyPr wrap="square" lIns="0" tIns="0" rIns="0" bIns="0" rtlCol="0" anchor="ctr"/>
          <a:lstStyle/>
          <a:p>
            <a:pPr algn="ctr" indent="0" marL="0">
              <a:buNone/>
            </a:pPr>
            <a:r>
              <a:rPr lang="en-US" sz="1100" b="1" dirty="0">
                <a:solidFill>
                  <a:srgbClr val="1F4E79"/>
                </a:solidFill>
                <a:latin typeface="Calibri" pitchFamily="34" charset="0"/>
                <a:ea typeface="Calibri" pitchFamily="34" charset="-122"/>
                <a:cs typeface="Calibri" pitchFamily="34" charset="-120"/>
              </a:rPr>
              <a:t>Cognify</a:t>
            </a:r>
            <a:endParaRPr lang="en-US" sz="1100" dirty="0"/>
          </a:p>
        </p:txBody>
      </p:sp>
      <p:sp>
        <p:nvSpPr>
          <p:cNvPr id="4" name="Text 2"/>
          <p:cNvSpPr txBox="1"/>
          <p:nvPr/>
        </p:nvSpPr>
        <p:spPr>
          <a:xfrm>
            <a:off x="1371600" y="182880"/>
            <a:ext cx="5852160" cy="457200"/>
          </a:xfrm>
          <a:prstGeom prst="rect">
            <a:avLst/>
          </a:prstGeom>
          <a:noFill/>
          <a:ln/>
        </p:spPr>
        <p:txBody>
          <a:bodyPr wrap="square" lIns="0" tIns="0" rIns="0" bIns="0" rtlCol="0" anchor="ctr"/>
          <a:lstStyle/>
          <a:p>
            <a:pPr algn="ctr" indent="0" marL="0">
              <a:buNone/>
            </a:pPr>
            <a:r>
              <a:rPr lang="en-US" sz="2400" b="1" dirty="0">
                <a:solidFill>
                  <a:srgbClr val="1F1F1F"/>
                </a:solidFill>
                <a:latin typeface="Times New Roman" pitchFamily="34" charset="0"/>
                <a:ea typeface="Times New Roman" pitchFamily="34" charset="-122"/>
                <a:cs typeface="Times New Roman" pitchFamily="34" charset="-120"/>
              </a:rPr>
              <a:t>RESEARCH AND REFERENCES</a:t>
            </a:r>
            <a:endParaRPr lang="en-US" sz="2400" dirty="0"/>
          </a:p>
        </p:txBody>
      </p:sp>
      <p:pic>
        <p:nvPicPr>
          <p:cNvPr id="5" name="Image 0" descr="preencoded.png">    </p:cNvPr>
          <p:cNvPicPr>
            <a:picLocks noChangeAspect="1"/>
          </p:cNvPicPr>
          <p:nvPr/>
        </p:nvPicPr>
        <p:blipFill>
          <a:blip r:embed="rId1"/>
          <a:stretch>
            <a:fillRect/>
          </a:stretch>
        </p:blipFill>
        <p:spPr>
          <a:xfrm>
            <a:off x="7223760" y="73152"/>
            <a:ext cx="1691640" cy="795528"/>
          </a:xfrm>
          <a:prstGeom prst="rect">
            <a:avLst/>
          </a:prstGeom>
        </p:spPr>
      </p:pic>
      <p:sp>
        <p:nvSpPr>
          <p:cNvPr id="6" name="Text 3"/>
          <p:cNvSpPr txBox="1"/>
          <p:nvPr/>
        </p:nvSpPr>
        <p:spPr>
          <a:xfrm>
            <a:off x="8503920" y="4864608"/>
            <a:ext cx="365760" cy="182880"/>
          </a:xfrm>
          <a:prstGeom prst="rect">
            <a:avLst/>
          </a:prstGeom>
          <a:noFill/>
          <a:ln/>
        </p:spPr>
        <p:txBody>
          <a:bodyPr wrap="square" lIns="0" tIns="0" rIns="0" bIns="0" rtlCol="0" anchor="t"/>
          <a:lstStyle/>
          <a:p>
            <a:pPr algn="r" indent="0" marL="0">
              <a:buNone/>
            </a:pPr>
            <a:r>
              <a:rPr lang="en-US" sz="1000" b="1" dirty="0">
                <a:solidFill>
                  <a:srgbClr val="1F4E79"/>
                </a:solidFill>
                <a:latin typeface="Calibri" pitchFamily="34" charset="0"/>
                <a:ea typeface="Calibri" pitchFamily="34" charset="-122"/>
                <a:cs typeface="Calibri" pitchFamily="34" charset="-120"/>
              </a:rPr>
              <a:t>6</a:t>
            </a:r>
            <a:endParaRPr lang="en-US" sz="1000" dirty="0"/>
          </a:p>
        </p:txBody>
      </p:sp>
      <p:sp>
        <p:nvSpPr>
          <p:cNvPr id="7" name="Shape 4"/>
          <p:cNvSpPr/>
          <p:nvPr/>
        </p:nvSpPr>
        <p:spPr>
          <a:xfrm>
            <a:off x="274320" y="914400"/>
            <a:ext cx="4206240" cy="1856232"/>
          </a:xfrm>
          <a:prstGeom prst="roundRect">
            <a:avLst>
              <a:gd name="adj" fmla="val 2956"/>
            </a:avLst>
          </a:prstGeom>
          <a:solidFill>
            <a:srgbClr val="FFFFFF"/>
          </a:solidFill>
          <a:ln w="9525">
            <a:solidFill>
              <a:srgbClr val="D6DCE5"/>
            </a:solidFill>
            <a:prstDash val="solid"/>
          </a:ln>
        </p:spPr>
      </p:sp>
      <p:sp>
        <p:nvSpPr>
          <p:cNvPr id="8" name="Shape 5"/>
          <p:cNvSpPr/>
          <p:nvPr/>
        </p:nvSpPr>
        <p:spPr>
          <a:xfrm>
            <a:off x="274320" y="914400"/>
            <a:ext cx="4206240" cy="237744"/>
          </a:xfrm>
          <a:prstGeom prst="roundRect">
            <a:avLst>
              <a:gd name="adj" fmla="val 23077"/>
            </a:avLst>
          </a:prstGeom>
          <a:solidFill>
            <a:srgbClr val="EEF3F9"/>
          </a:solidFill>
          <a:ln w="12700">
            <a:solidFill>
              <a:srgbClr val="EEF3F9"/>
            </a:solidFill>
            <a:prstDash val="solid"/>
          </a:ln>
        </p:spPr>
      </p:sp>
      <p:sp>
        <p:nvSpPr>
          <p:cNvPr id="9" name="Text 6"/>
          <p:cNvSpPr txBox="1"/>
          <p:nvPr/>
        </p:nvSpPr>
        <p:spPr>
          <a:xfrm>
            <a:off x="384048" y="914400"/>
            <a:ext cx="4023360" cy="237744"/>
          </a:xfrm>
          <a:prstGeom prst="rect">
            <a:avLst/>
          </a:prstGeom>
          <a:noFill/>
          <a:ln/>
        </p:spPr>
        <p:txBody>
          <a:bodyPr wrap="square" lIns="0" tIns="0" rIns="0" bIns="0" rtlCol="0" anchor="ctr"/>
          <a:lstStyle/>
          <a:p>
            <a:pPr indent="0" marL="0">
              <a:buNone/>
            </a:pPr>
            <a:r>
              <a:rPr lang="en-US" sz="850" b="1" dirty="0">
                <a:solidFill>
                  <a:srgbClr val="1F4E79"/>
                </a:solidFill>
                <a:latin typeface="Calibri" pitchFamily="34" charset="0"/>
                <a:ea typeface="Calibri" pitchFamily="34" charset="-122"/>
                <a:cs typeface="Calibri" pitchFamily="34" charset="-120"/>
              </a:rPr>
              <a:t>Government data &amp; scheme documents</a:t>
            </a:r>
            <a:endParaRPr lang="en-US" sz="850" dirty="0"/>
          </a:p>
        </p:txBody>
      </p:sp>
      <p:sp>
        <p:nvSpPr>
          <p:cNvPr id="10" name="Text 7"/>
          <p:cNvSpPr txBox="1"/>
          <p:nvPr/>
        </p:nvSpPr>
        <p:spPr>
          <a:xfrm>
            <a:off x="384048" y="1207008"/>
            <a:ext cx="3986784" cy="1527048"/>
          </a:xfrm>
          <a:prstGeom prst="rect">
            <a:avLst/>
          </a:prstGeom>
          <a:noFill/>
          <a:ln/>
        </p:spPr>
        <p:txBody>
          <a:bodyPr wrap="square" lIns="0" tIns="0" rIns="0" bIns="0" rtlCol="0" anchor="t"/>
          <a:lstStyle/>
          <a:p>
            <a:pPr marL="114300" indent="-114300">
              <a:spcAft>
                <a:spcPts val="400"/>
              </a:spcAft>
              <a:buSzPct val="100000"/>
              <a:buChar char="•"/>
            </a:pPr>
            <a:r>
              <a:rPr lang="en-US" sz="780" dirty="0">
                <a:solidFill>
                  <a:srgbClr val="1F1F1F"/>
                </a:solidFill>
                <a:latin typeface="Calibri" pitchFamily="34" charset="0"/>
                <a:ea typeface="Calibri" pitchFamily="34" charset="-122"/>
                <a:cs typeface="Calibri" pitchFamily="34" charset="-120"/>
              </a:rPr>
              <a:t>SIH26097 problem statement — Ministry of Social Justice &amp; Empowerment (sih.gov.in)</a:t>
            </a:r>
            <a:endParaRPr lang="en-US" sz="780" dirty="0"/>
          </a:p>
          <a:p>
            <a:pPr marL="114300" indent="-114300">
              <a:spcAft>
                <a:spcPts val="400"/>
              </a:spcAft>
              <a:buSzPct val="100000"/>
              <a:buChar char="•"/>
            </a:pPr>
            <a:r>
              <a:rPr lang="en-US" sz="780" dirty="0">
                <a:solidFill>
                  <a:srgbClr val="1F1F1F"/>
                </a:solidFill>
                <a:latin typeface="Calibri" pitchFamily="34" charset="0"/>
                <a:ea typeface="Calibri" pitchFamily="34" charset="-122"/>
                <a:cs typeface="Calibri" pitchFamily="34" charset="-120"/>
              </a:rPr>
              <a:t>PM-AJAY GIA norms — PIB, 23 Oct 2023 (PRID 1970043); GIA beneficiaries 2021–25 — PIB, 19 Mar 2025 (PRID 2112697)</a:t>
            </a:r>
            <a:endParaRPr lang="en-US" sz="780" dirty="0"/>
          </a:p>
          <a:p>
            <a:pPr marL="114300" indent="-114300">
              <a:spcAft>
                <a:spcPts val="400"/>
              </a:spcAft>
              <a:buSzPct val="100000"/>
              <a:buChar char="•"/>
            </a:pPr>
            <a:r>
              <a:rPr lang="en-US" sz="780" dirty="0">
                <a:solidFill>
                  <a:srgbClr val="1F1F1F"/>
                </a:solidFill>
                <a:latin typeface="Calibri" pitchFamily="34" charset="0"/>
                <a:ea typeface="Calibri" pitchFamily="34" charset="-122"/>
                <a:cs typeface="Calibri" pitchFamily="34" charset="-120"/>
              </a:rPr>
              <a:t>PM-AJAY Portal &amp; AJAY mobile app launch — PIB, 25–26 May 2026 (PRID 2265106, 2265530)</a:t>
            </a:r>
            <a:endParaRPr lang="en-US" sz="780" dirty="0"/>
          </a:p>
          <a:p>
            <a:pPr marL="114300" indent="-114300">
              <a:spcAft>
                <a:spcPts val="400"/>
              </a:spcAft>
              <a:buSzPct val="100000"/>
              <a:buChar char="•"/>
            </a:pPr>
            <a:r>
              <a:rPr lang="en-US" sz="780" dirty="0">
                <a:solidFill>
                  <a:srgbClr val="1F1F1F"/>
                </a:solidFill>
                <a:latin typeface="Calibri" pitchFamily="34" charset="0"/>
                <a:ea typeface="Calibri" pitchFamily="34" charset="-122"/>
                <a:cs typeface="Calibri" pitchFamily="34" charset="-120"/>
              </a:rPr>
              <a:t>Notes on Demands for Grants 2026-27, Demand No. 93, MoSJE — indiabudget.gov.in (₹2,140 crore)</a:t>
            </a:r>
            <a:endParaRPr lang="en-US" sz="780" dirty="0"/>
          </a:p>
          <a:p>
            <a:pPr marL="114300" indent="-114300">
              <a:spcAft>
                <a:spcPts val="400"/>
              </a:spcAft>
              <a:buSzPct val="100000"/>
              <a:buChar char="•"/>
            </a:pPr>
            <a:r>
              <a:rPr lang="en-US" sz="780" dirty="0">
                <a:solidFill>
                  <a:srgbClr val="1F1F1F"/>
                </a:solidFill>
                <a:latin typeface="Calibri" pitchFamily="34" charset="0"/>
                <a:ea typeface="Calibri" pitchFamily="34" charset="-122"/>
                <a:cs typeface="Calibri" pitchFamily="34" charset="-120"/>
              </a:rPr>
              <a:t>CAG Report No. 20 of 2025 — PMKVY audit (41% placement) — cag.gov.in</a:t>
            </a:r>
            <a:endParaRPr lang="en-US" sz="780" dirty="0"/>
          </a:p>
          <a:p>
            <a:pPr marL="114300" indent="-114300">
              <a:spcAft>
                <a:spcPts val="400"/>
              </a:spcAft>
              <a:buSzPct val="100000"/>
              <a:buChar char="•"/>
            </a:pPr>
            <a:r>
              <a:rPr lang="en-US" sz="780" dirty="0">
                <a:solidFill>
                  <a:srgbClr val="1F1F1F"/>
                </a:solidFill>
                <a:latin typeface="Calibri" pitchFamily="34" charset="0"/>
                <a:ea typeface="Calibri" pitchFamily="34" charset="-122"/>
                <a:cs typeface="Calibri" pitchFamily="34" charset="-120"/>
              </a:rPr>
              <a:t>MSDE Common Norms — 70% placement rule — msde.gov.in; NFHS-6 (2023–24) — PIB PRID 2266600; Census 2011 SC data — MoSJE Handbook</a:t>
            </a:r>
            <a:endParaRPr lang="en-US" sz="780" dirty="0"/>
          </a:p>
          <a:p>
            <a:pPr marL="114300" indent="-114300">
              <a:spcAft>
                <a:spcPts val="400"/>
              </a:spcAft>
              <a:buSzPct val="100000"/>
              <a:buChar char="•"/>
            </a:pPr>
            <a:r>
              <a:rPr lang="en-US" sz="780" dirty="0">
                <a:solidFill>
                  <a:srgbClr val="1F1F1F"/>
                </a:solidFill>
                <a:latin typeface="Calibri" pitchFamily="34" charset="0"/>
                <a:ea typeface="Calibri" pitchFamily="34" charset="-122"/>
                <a:cs typeface="Calibri" pitchFamily="34" charset="-120"/>
              </a:rPr>
              <a:t>Skill Development Programme guidelines — pmajay.dosje.gov.in</a:t>
            </a:r>
            <a:endParaRPr lang="en-US" sz="780" dirty="0"/>
          </a:p>
        </p:txBody>
      </p:sp>
      <p:sp>
        <p:nvSpPr>
          <p:cNvPr id="11" name="Shape 8"/>
          <p:cNvSpPr/>
          <p:nvPr/>
        </p:nvSpPr>
        <p:spPr>
          <a:xfrm>
            <a:off x="4663440" y="914400"/>
            <a:ext cx="4206240" cy="1856232"/>
          </a:xfrm>
          <a:prstGeom prst="roundRect">
            <a:avLst>
              <a:gd name="adj" fmla="val 2956"/>
            </a:avLst>
          </a:prstGeom>
          <a:solidFill>
            <a:srgbClr val="FFFFFF"/>
          </a:solidFill>
          <a:ln w="9525">
            <a:solidFill>
              <a:srgbClr val="D6DCE5"/>
            </a:solidFill>
            <a:prstDash val="solid"/>
          </a:ln>
        </p:spPr>
      </p:sp>
      <p:sp>
        <p:nvSpPr>
          <p:cNvPr id="12" name="Shape 9"/>
          <p:cNvSpPr/>
          <p:nvPr/>
        </p:nvSpPr>
        <p:spPr>
          <a:xfrm>
            <a:off x="4663440" y="914400"/>
            <a:ext cx="4206240" cy="237744"/>
          </a:xfrm>
          <a:prstGeom prst="roundRect">
            <a:avLst>
              <a:gd name="adj" fmla="val 23077"/>
            </a:avLst>
          </a:prstGeom>
          <a:solidFill>
            <a:srgbClr val="EEF3F9"/>
          </a:solidFill>
          <a:ln w="12700">
            <a:solidFill>
              <a:srgbClr val="EEF3F9"/>
            </a:solidFill>
            <a:prstDash val="solid"/>
          </a:ln>
        </p:spPr>
      </p:sp>
      <p:sp>
        <p:nvSpPr>
          <p:cNvPr id="13" name="Text 10"/>
          <p:cNvSpPr txBox="1"/>
          <p:nvPr/>
        </p:nvSpPr>
        <p:spPr>
          <a:xfrm>
            <a:off x="4773168" y="914400"/>
            <a:ext cx="4023360" cy="237744"/>
          </a:xfrm>
          <a:prstGeom prst="rect">
            <a:avLst/>
          </a:prstGeom>
          <a:noFill/>
          <a:ln/>
        </p:spPr>
        <p:txBody>
          <a:bodyPr wrap="square" lIns="0" tIns="0" rIns="0" bIns="0" rtlCol="0" anchor="ctr"/>
          <a:lstStyle/>
          <a:p>
            <a:pPr indent="0" marL="0">
              <a:buNone/>
            </a:pPr>
            <a:r>
              <a:rPr lang="en-US" sz="850" b="1" dirty="0">
                <a:solidFill>
                  <a:srgbClr val="1F4E79"/>
                </a:solidFill>
                <a:latin typeface="Calibri" pitchFamily="34" charset="0"/>
                <a:ea typeface="Calibri" pitchFamily="34" charset="-122"/>
                <a:cs typeface="Calibri" pitchFamily="34" charset="-120"/>
              </a:rPr>
              <a:t>Research</a:t>
            </a:r>
            <a:endParaRPr lang="en-US" sz="850" dirty="0"/>
          </a:p>
        </p:txBody>
      </p:sp>
      <p:sp>
        <p:nvSpPr>
          <p:cNvPr id="14" name="Text 11"/>
          <p:cNvSpPr txBox="1"/>
          <p:nvPr/>
        </p:nvSpPr>
        <p:spPr>
          <a:xfrm>
            <a:off x="4773168" y="1207008"/>
            <a:ext cx="3986784" cy="1527048"/>
          </a:xfrm>
          <a:prstGeom prst="rect">
            <a:avLst/>
          </a:prstGeom>
          <a:noFill/>
          <a:ln/>
        </p:spPr>
        <p:txBody>
          <a:bodyPr wrap="square" lIns="0" tIns="0" rIns="0" bIns="0" rtlCol="0" anchor="t"/>
          <a:lstStyle/>
          <a:p>
            <a:pPr marL="114300" indent="-114300">
              <a:spcAft>
                <a:spcPts val="400"/>
              </a:spcAft>
              <a:buSzPct val="100000"/>
              <a:buChar char="•"/>
            </a:pPr>
            <a:r>
              <a:rPr lang="en-US" sz="780" dirty="0">
                <a:solidFill>
                  <a:srgbClr val="1F1F1F"/>
                </a:solidFill>
                <a:latin typeface="Calibri" pitchFamily="34" charset="0"/>
                <a:ea typeface="Calibri" pitchFamily="34" charset="-122"/>
                <a:cs typeface="Calibri" pitchFamily="34" charset="-120"/>
              </a:rPr>
              <a:t>Chakravorty et al., Journal of Development Economics 169 (2024) — honest job information and retention (+11 points)</a:t>
            </a:r>
            <a:endParaRPr lang="en-US" sz="780" dirty="0"/>
          </a:p>
          <a:p>
            <a:pPr marL="114300" indent="-114300">
              <a:spcAft>
                <a:spcPts val="400"/>
              </a:spcAft>
              <a:buSzPct val="100000"/>
              <a:buChar char="•"/>
            </a:pPr>
            <a:r>
              <a:rPr lang="en-US" sz="780" dirty="0">
                <a:solidFill>
                  <a:srgbClr val="1F1F1F"/>
                </a:solidFill>
                <a:latin typeface="Calibri" pitchFamily="34" charset="0"/>
                <a:ea typeface="Calibri" pitchFamily="34" charset="-122"/>
                <a:cs typeface="Calibri" pitchFamily="34" charset="-120"/>
              </a:rPr>
              <a:t>European Economic Review (2025) — DDU-GKY trainee beliefs vs reality; Banerjee &amp; Chiplunkar (2024) — preferences and placement</a:t>
            </a:r>
            <a:endParaRPr lang="en-US" sz="780" dirty="0"/>
          </a:p>
          <a:p>
            <a:pPr marL="114300" indent="-114300">
              <a:spcAft>
                <a:spcPts val="400"/>
              </a:spcAft>
              <a:buSzPct val="100000"/>
              <a:buChar char="•"/>
            </a:pPr>
            <a:r>
              <a:rPr lang="en-US" sz="780" dirty="0">
                <a:solidFill>
                  <a:srgbClr val="1F1F1F"/>
                </a:solidFill>
                <a:latin typeface="Calibri" pitchFamily="34" charset="0"/>
                <a:ea typeface="Calibri" pitchFamily="34" charset="-122"/>
                <a:cs typeface="Calibri" pitchFamily="34" charset="-120"/>
              </a:rPr>
              <a:t>Bashingwa et al., BMJ Global Health (2021) — Kilkari: 1.2 million calls / day (PMC8327807)</a:t>
            </a:r>
            <a:endParaRPr lang="en-US" sz="780" dirty="0"/>
          </a:p>
          <a:p>
            <a:pPr marL="114300" indent="-114300">
              <a:spcAft>
                <a:spcPts val="400"/>
              </a:spcAft>
              <a:buSzPct val="100000"/>
              <a:buChar char="•"/>
            </a:pPr>
            <a:r>
              <a:rPr lang="en-US" sz="780" dirty="0">
                <a:solidFill>
                  <a:srgbClr val="1F1F1F"/>
                </a:solidFill>
                <a:latin typeface="Calibri" pitchFamily="34" charset="0"/>
                <a:ea typeface="Calibri" pitchFamily="34" charset="-122"/>
                <a:cs typeface="Calibri" pitchFamily="34" charset="-120"/>
              </a:rPr>
              <a:t>"Voice of India" Indian speech benchmark (2026) — arxiv.org/abs/2604.19151</a:t>
            </a:r>
            <a:endParaRPr lang="en-US" sz="780" dirty="0"/>
          </a:p>
          <a:p>
            <a:pPr marL="114300" indent="-114300">
              <a:spcAft>
                <a:spcPts val="400"/>
              </a:spcAft>
              <a:buSzPct val="100000"/>
              <a:buChar char="•"/>
            </a:pPr>
            <a:r>
              <a:rPr lang="en-US" sz="780" dirty="0">
                <a:solidFill>
                  <a:srgbClr val="1F1F1F"/>
                </a:solidFill>
                <a:latin typeface="Calibri" pitchFamily="34" charset="0"/>
                <a:ea typeface="Calibri" pitchFamily="34" charset="-122"/>
                <a:cs typeface="Calibri" pitchFamily="34" charset="-120"/>
              </a:rPr>
              <a:t>Medhi et al., ACM TOCHI 18(1) 2011; Patel et al., CHI 2009; Sherwani et al., ICTD 2009 — voice interfaces for low-literacy users</a:t>
            </a:r>
            <a:endParaRPr lang="en-US" sz="780" dirty="0"/>
          </a:p>
        </p:txBody>
      </p:sp>
      <p:sp>
        <p:nvSpPr>
          <p:cNvPr id="15" name="Shape 12"/>
          <p:cNvSpPr/>
          <p:nvPr/>
        </p:nvSpPr>
        <p:spPr>
          <a:xfrm>
            <a:off x="274320" y="2880360"/>
            <a:ext cx="4206240" cy="1856232"/>
          </a:xfrm>
          <a:prstGeom prst="roundRect">
            <a:avLst>
              <a:gd name="adj" fmla="val 2956"/>
            </a:avLst>
          </a:prstGeom>
          <a:solidFill>
            <a:srgbClr val="FFFFFF"/>
          </a:solidFill>
          <a:ln w="9525">
            <a:solidFill>
              <a:srgbClr val="D6DCE5"/>
            </a:solidFill>
            <a:prstDash val="solid"/>
          </a:ln>
        </p:spPr>
      </p:sp>
      <p:sp>
        <p:nvSpPr>
          <p:cNvPr id="16" name="Shape 13"/>
          <p:cNvSpPr/>
          <p:nvPr/>
        </p:nvSpPr>
        <p:spPr>
          <a:xfrm>
            <a:off x="274320" y="2880360"/>
            <a:ext cx="4206240" cy="237744"/>
          </a:xfrm>
          <a:prstGeom prst="roundRect">
            <a:avLst>
              <a:gd name="adj" fmla="val 23077"/>
            </a:avLst>
          </a:prstGeom>
          <a:solidFill>
            <a:srgbClr val="EEF3F9"/>
          </a:solidFill>
          <a:ln w="12700">
            <a:solidFill>
              <a:srgbClr val="EEF3F9"/>
            </a:solidFill>
            <a:prstDash val="solid"/>
          </a:ln>
        </p:spPr>
      </p:sp>
      <p:sp>
        <p:nvSpPr>
          <p:cNvPr id="17" name="Text 14"/>
          <p:cNvSpPr txBox="1"/>
          <p:nvPr/>
        </p:nvSpPr>
        <p:spPr>
          <a:xfrm>
            <a:off x="384048" y="2880360"/>
            <a:ext cx="4023360" cy="237744"/>
          </a:xfrm>
          <a:prstGeom prst="rect">
            <a:avLst/>
          </a:prstGeom>
          <a:noFill/>
          <a:ln/>
        </p:spPr>
        <p:txBody>
          <a:bodyPr wrap="square" lIns="0" tIns="0" rIns="0" bIns="0" rtlCol="0" anchor="ctr"/>
          <a:lstStyle/>
          <a:p>
            <a:pPr indent="0" marL="0">
              <a:buNone/>
            </a:pPr>
            <a:r>
              <a:rPr lang="en-US" sz="850" b="1" dirty="0">
                <a:solidFill>
                  <a:srgbClr val="1F4E79"/>
                </a:solidFill>
                <a:latin typeface="Calibri" pitchFamily="34" charset="0"/>
                <a:ea typeface="Calibri" pitchFamily="34" charset="-122"/>
                <a:cs typeface="Calibri" pitchFamily="34" charset="-120"/>
              </a:rPr>
              <a:t>Technology</a:t>
            </a:r>
            <a:endParaRPr lang="en-US" sz="850" dirty="0"/>
          </a:p>
        </p:txBody>
      </p:sp>
      <p:sp>
        <p:nvSpPr>
          <p:cNvPr id="18" name="Text 15"/>
          <p:cNvSpPr txBox="1"/>
          <p:nvPr/>
        </p:nvSpPr>
        <p:spPr>
          <a:xfrm>
            <a:off x="384048" y="3172968"/>
            <a:ext cx="3986784" cy="1527048"/>
          </a:xfrm>
          <a:prstGeom prst="rect">
            <a:avLst/>
          </a:prstGeom>
          <a:noFill/>
          <a:ln/>
        </p:spPr>
        <p:txBody>
          <a:bodyPr wrap="square" lIns="0" tIns="0" rIns="0" bIns="0" rtlCol="0" anchor="t"/>
          <a:lstStyle/>
          <a:p>
            <a:pPr marL="114300" indent="-114300">
              <a:spcAft>
                <a:spcPts val="400"/>
              </a:spcAft>
              <a:buSzPct val="100000"/>
              <a:buChar char="•"/>
            </a:pPr>
            <a:r>
              <a:rPr lang="en-US" sz="780" dirty="0">
                <a:solidFill>
                  <a:srgbClr val="1F1F1F"/>
                </a:solidFill>
                <a:latin typeface="Calibri" pitchFamily="34" charset="0"/>
                <a:ea typeface="Calibri" pitchFamily="34" charset="-122"/>
                <a:cs typeface="Calibri" pitchFamily="34" charset="-120"/>
              </a:rPr>
              <a:t>Sarvam AI — Saaras v3 (STT), Bulbul v3 (TTS), Sarvam-30B / 105B model cards and pricing — sarvam.ai, docs.sarvam.ai, huggingface.co/sarvamai</a:t>
            </a:r>
            <a:endParaRPr lang="en-US" sz="780" dirty="0"/>
          </a:p>
          <a:p>
            <a:pPr marL="114300" indent="-114300">
              <a:spcAft>
                <a:spcPts val="400"/>
              </a:spcAft>
              <a:buSzPct val="100000"/>
              <a:buChar char="•"/>
            </a:pPr>
            <a:r>
              <a:rPr lang="en-US" sz="780" dirty="0">
                <a:solidFill>
                  <a:srgbClr val="1F1F1F"/>
                </a:solidFill>
                <a:latin typeface="Calibri" pitchFamily="34" charset="0"/>
                <a:ea typeface="Calibri" pitchFamily="34" charset="-122"/>
                <a:cs typeface="Calibri" pitchFamily="34" charset="-120"/>
              </a:rPr>
              <a:t>AI4Bharat IndicConformer — open Indian speech recognition — ai4bharat.iitm.ac.in</a:t>
            </a:r>
            <a:endParaRPr lang="en-US" sz="780" dirty="0"/>
          </a:p>
          <a:p>
            <a:pPr marL="114300" indent="-114300">
              <a:spcAft>
                <a:spcPts val="400"/>
              </a:spcAft>
              <a:buSzPct val="100000"/>
              <a:buChar char="•"/>
            </a:pPr>
            <a:r>
              <a:rPr lang="en-US" sz="780" dirty="0">
                <a:solidFill>
                  <a:srgbClr val="1F1F1F"/>
                </a:solidFill>
                <a:latin typeface="Calibri" pitchFamily="34" charset="0"/>
                <a:ea typeface="Calibri" pitchFamily="34" charset="-122"/>
                <a:cs typeface="Calibri" pitchFamily="34" charset="-120"/>
              </a:rPr>
              <a:t>BHASHINI (MeitY) — bhashini.gov.in; Pipecat open-source voice agents — pipecat.ai; Silero VAD; BGE-M3 embeddings</a:t>
            </a:r>
            <a:endParaRPr lang="en-US" sz="780" dirty="0"/>
          </a:p>
          <a:p>
            <a:pPr marL="114300" indent="-114300">
              <a:spcAft>
                <a:spcPts val="400"/>
              </a:spcAft>
              <a:buSzPct val="100000"/>
              <a:buChar char="•"/>
            </a:pPr>
            <a:r>
              <a:rPr lang="en-US" sz="780" dirty="0">
                <a:solidFill>
                  <a:srgbClr val="1F1F1F"/>
                </a:solidFill>
                <a:latin typeface="Calibri" pitchFamily="34" charset="0"/>
                <a:ea typeface="Calibri" pitchFamily="34" charset="-122"/>
                <a:cs typeface="Calibri" pitchFamily="34" charset="-120"/>
              </a:rPr>
              <a:t>Exotel / Plivo India telephony pricing (2026); WhatsApp Business API India rate guides (2026)</a:t>
            </a:r>
            <a:endParaRPr lang="en-US" sz="780" dirty="0"/>
          </a:p>
          <a:p>
            <a:pPr marL="114300" indent="-114300">
              <a:spcAft>
                <a:spcPts val="400"/>
              </a:spcAft>
              <a:buSzPct val="100000"/>
              <a:buChar char="•"/>
            </a:pPr>
            <a:r>
              <a:rPr lang="en-US" sz="780" dirty="0">
                <a:solidFill>
                  <a:srgbClr val="1F1F1F"/>
                </a:solidFill>
                <a:latin typeface="Calibri" pitchFamily="34" charset="0"/>
                <a:ea typeface="Calibri" pitchFamily="34" charset="-122"/>
                <a:cs typeface="Calibri" pitchFamily="34" charset="-120"/>
              </a:rPr>
              <a:t>PostgreSQL + pgvector + PostGIS · FastAPI · Celery · Redis · React · Leaflet · Docker; IndiaAI GPU compute pricing (2026)</a:t>
            </a:r>
            <a:endParaRPr lang="en-US" sz="780" dirty="0"/>
          </a:p>
        </p:txBody>
      </p:sp>
      <p:sp>
        <p:nvSpPr>
          <p:cNvPr id="19" name="Shape 16"/>
          <p:cNvSpPr/>
          <p:nvPr/>
        </p:nvSpPr>
        <p:spPr>
          <a:xfrm>
            <a:off x="4663440" y="2880360"/>
            <a:ext cx="4206240" cy="1856232"/>
          </a:xfrm>
          <a:prstGeom prst="roundRect">
            <a:avLst>
              <a:gd name="adj" fmla="val 2956"/>
            </a:avLst>
          </a:prstGeom>
          <a:solidFill>
            <a:srgbClr val="FFFFFF"/>
          </a:solidFill>
          <a:ln w="9525">
            <a:solidFill>
              <a:srgbClr val="D6DCE5"/>
            </a:solidFill>
            <a:prstDash val="solid"/>
          </a:ln>
        </p:spPr>
      </p:sp>
      <p:sp>
        <p:nvSpPr>
          <p:cNvPr id="20" name="Shape 17"/>
          <p:cNvSpPr/>
          <p:nvPr/>
        </p:nvSpPr>
        <p:spPr>
          <a:xfrm>
            <a:off x="4663440" y="2880360"/>
            <a:ext cx="4206240" cy="237744"/>
          </a:xfrm>
          <a:prstGeom prst="roundRect">
            <a:avLst>
              <a:gd name="adj" fmla="val 23077"/>
            </a:avLst>
          </a:prstGeom>
          <a:solidFill>
            <a:srgbClr val="EEF3F9"/>
          </a:solidFill>
          <a:ln w="12700">
            <a:solidFill>
              <a:srgbClr val="EEF3F9"/>
            </a:solidFill>
            <a:prstDash val="solid"/>
          </a:ln>
        </p:spPr>
      </p:sp>
      <p:sp>
        <p:nvSpPr>
          <p:cNvPr id="21" name="Text 18"/>
          <p:cNvSpPr txBox="1"/>
          <p:nvPr/>
        </p:nvSpPr>
        <p:spPr>
          <a:xfrm>
            <a:off x="4773168" y="2880360"/>
            <a:ext cx="4023360" cy="237744"/>
          </a:xfrm>
          <a:prstGeom prst="rect">
            <a:avLst/>
          </a:prstGeom>
          <a:noFill/>
          <a:ln/>
        </p:spPr>
        <p:txBody>
          <a:bodyPr wrap="square" lIns="0" tIns="0" rIns="0" bIns="0" rtlCol="0" anchor="ctr"/>
          <a:lstStyle/>
          <a:p>
            <a:pPr indent="0" marL="0">
              <a:buNone/>
            </a:pPr>
            <a:r>
              <a:rPr lang="en-US" sz="850" b="1" dirty="0">
                <a:solidFill>
                  <a:srgbClr val="1F4E79"/>
                </a:solidFill>
                <a:latin typeface="Calibri" pitchFamily="34" charset="0"/>
                <a:ea typeface="Calibri" pitchFamily="34" charset="-122"/>
                <a:cs typeface="Calibri" pitchFamily="34" charset="-120"/>
              </a:rPr>
              <a:t>Standards, policy &amp; infrastructure</a:t>
            </a:r>
            <a:endParaRPr lang="en-US" sz="850" dirty="0"/>
          </a:p>
        </p:txBody>
      </p:sp>
      <p:sp>
        <p:nvSpPr>
          <p:cNvPr id="22" name="Text 19"/>
          <p:cNvSpPr txBox="1"/>
          <p:nvPr/>
        </p:nvSpPr>
        <p:spPr>
          <a:xfrm>
            <a:off x="4773168" y="3172968"/>
            <a:ext cx="3986784" cy="1527048"/>
          </a:xfrm>
          <a:prstGeom prst="rect">
            <a:avLst/>
          </a:prstGeom>
          <a:noFill/>
          <a:ln/>
        </p:spPr>
        <p:txBody>
          <a:bodyPr wrap="square" lIns="0" tIns="0" rIns="0" bIns="0" rtlCol="0" anchor="t"/>
          <a:lstStyle/>
          <a:p>
            <a:pPr marL="114300" indent="-114300">
              <a:spcAft>
                <a:spcPts val="400"/>
              </a:spcAft>
              <a:buSzPct val="100000"/>
              <a:buChar char="•"/>
            </a:pPr>
            <a:r>
              <a:rPr lang="en-US" sz="780" dirty="0">
                <a:solidFill>
                  <a:srgbClr val="1F1F1F"/>
                </a:solidFill>
                <a:latin typeface="Calibri" pitchFamily="34" charset="0"/>
                <a:ea typeface="Calibri" pitchFamily="34" charset="-122"/>
                <a:cs typeface="Calibri" pitchFamily="34" charset="-120"/>
              </a:rPr>
              <a:t>NCO-2015 occupation codes (DGE); NQR / NCVET job roles and courses — nqr.gov.in; NCS job vacancies — ncs.gov.in</a:t>
            </a:r>
            <a:endParaRPr lang="en-US" sz="780" dirty="0"/>
          </a:p>
          <a:p>
            <a:pPr marL="114300" indent="-114300">
              <a:spcAft>
                <a:spcPts val="400"/>
              </a:spcAft>
              <a:buSzPct val="100000"/>
              <a:buChar char="•"/>
            </a:pPr>
            <a:r>
              <a:rPr lang="en-US" sz="780" dirty="0">
                <a:solidFill>
                  <a:srgbClr val="1F1F1F"/>
                </a:solidFill>
                <a:latin typeface="Calibri" pitchFamily="34" charset="0"/>
                <a:ea typeface="Calibri" pitchFamily="34" charset="-122"/>
                <a:cs typeface="Calibri" pitchFamily="34" charset="-120"/>
              </a:rPr>
              <a:t>DPDP Rules 2025 — consent and data protection — PIB PRID 2190014; meity.gov.in</a:t>
            </a:r>
            <a:endParaRPr lang="en-US" sz="780" dirty="0"/>
          </a:p>
          <a:p>
            <a:pPr marL="114300" indent="-114300">
              <a:spcAft>
                <a:spcPts val="400"/>
              </a:spcAft>
              <a:buSzPct val="100000"/>
              <a:buChar char="•"/>
            </a:pPr>
            <a:r>
              <a:rPr lang="en-US" sz="780" dirty="0">
                <a:solidFill>
                  <a:srgbClr val="1F1F1F"/>
                </a:solidFill>
                <a:latin typeface="Calibri" pitchFamily="34" charset="0"/>
                <a:ea typeface="Calibri" pitchFamily="34" charset="-122"/>
                <a:cs typeface="Calibri" pitchFamily="34" charset="-120"/>
              </a:rPr>
              <a:t>TRAI clarification on 1600 / 140-series government numbers — 10 Jul 2026; PTI reports on manual call blocking</a:t>
            </a:r>
            <a:endParaRPr lang="en-US" sz="780" dirty="0"/>
          </a:p>
          <a:p>
            <a:pPr marL="114300" indent="-114300">
              <a:spcAft>
                <a:spcPts val="400"/>
              </a:spcAft>
              <a:buSzPct val="100000"/>
              <a:buChar char="•"/>
            </a:pPr>
            <a:r>
              <a:rPr lang="en-US" sz="780" dirty="0">
                <a:solidFill>
                  <a:srgbClr val="1F1F1F"/>
                </a:solidFill>
                <a:latin typeface="Calibri" pitchFamily="34" charset="0"/>
                <a:ea typeface="Calibri" pitchFamily="34" charset="-122"/>
                <a:cs typeface="Calibri" pitchFamily="34" charset="-120"/>
              </a:rPr>
              <a:t>UIDAI – Sarvam voice AI deployment — PIB / MeitY 2025; Kisan e-Mitra — PIB PRID 2117392</a:t>
            </a:r>
            <a:endParaRPr lang="en-US" sz="780" dirty="0"/>
          </a:p>
          <a:p>
            <a:pPr marL="114300" indent="-114300">
              <a:spcAft>
                <a:spcPts val="400"/>
              </a:spcAft>
              <a:buSzPct val="100000"/>
              <a:buChar char="•"/>
            </a:pPr>
            <a:r>
              <a:rPr lang="en-US" sz="780" dirty="0">
                <a:solidFill>
                  <a:srgbClr val="1F1F1F"/>
                </a:solidFill>
                <a:latin typeface="Calibri" pitchFamily="34" charset="0"/>
                <a:ea typeface="Calibri" pitchFamily="34" charset="-122"/>
                <a:cs typeface="Calibri" pitchFamily="34" charset="-120"/>
              </a:rPr>
              <a:t>CSC network (6.5 lakh+) — PIB PRID 2144094; SHGs (90.9 lakh) — PIB PRID 2146870; MeghRaj government cloud</a:t>
            </a:r>
            <a:endParaRPr lang="en-US" sz="780" dirty="0"/>
          </a:p>
        </p:txBody>
      </p:sp>
      <p:sp>
        <p:nvSpPr>
          <p:cNvPr id="23" name="Text 20"/>
          <p:cNvSpPr txBox="1"/>
          <p:nvPr/>
        </p:nvSpPr>
        <p:spPr>
          <a:xfrm>
            <a:off x="274320" y="4864608"/>
            <a:ext cx="8138160" cy="182880"/>
          </a:xfrm>
          <a:prstGeom prst="rect">
            <a:avLst/>
          </a:prstGeom>
          <a:noFill/>
          <a:ln/>
        </p:spPr>
        <p:txBody>
          <a:bodyPr wrap="square" lIns="0" tIns="0" rIns="0" bIns="0" rtlCol="0" anchor="t"/>
          <a:lstStyle/>
          <a:p>
            <a:pPr indent="0" marL="0">
              <a:buNone/>
            </a:pPr>
            <a:r>
              <a:rPr lang="en-US" sz="630" i="1" dirty="0">
                <a:solidFill>
                  <a:srgbClr val="5F6B7A"/>
                </a:solidFill>
                <a:latin typeface="Calibri" pitchFamily="34" charset="0"/>
                <a:ea typeface="Calibri" pitchFamily="34" charset="-122"/>
                <a:cs typeface="Calibri" pitchFamily="34" charset="-120"/>
              </a:rPr>
              <a:t>Logos: Devicon and Simple Icons (CC0), Sarvam mark from Sarvam AI's public GitHub. Emoji artwork: Twemoji (CC-BY 4.0). Figures come from the sources above; our own estimates are marked "estimate" and show their working.</a:t>
            </a:r>
            <a:endParaRPr lang="en-US" sz="63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SkillCall — SIH26097 — Cognify</dc:title>
  <dc:subject>PptxGenJS Presentation</dc:subject>
  <dc:creator>Team Cognify</dc:creator>
  <cp:lastModifiedBy>Team Cognify</cp:lastModifiedBy>
  <cp:revision>1</cp:revision>
  <dcterms:created xsi:type="dcterms:W3CDTF">2026-09-24T21:42:34Z</dcterms:created>
  <dcterms:modified xsi:type="dcterms:W3CDTF">2026-09-24T21:42:34Z</dcterms:modified>
</cp:coreProperties>
</file>