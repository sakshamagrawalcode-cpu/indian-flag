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page in the official SIH 2026 format. Replace the Team ID with the ID from the SIH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call: missed call → call-back → keypad facts → voice interview with adaptive skill questions → read-back → 1–4 verified options → choose → CSC → officer → follow-ups. Bottom row: what is unique beyond the steps, including the automatically built profile that saves officer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Lane 1 (live call): Exotel carries the call, Pipecat runs the conversation, IndicConformer/Saaras convert speech to text, Sarvam-30B fills the profile through tool calls against the government-data DB, SATYA validates every claim, Bulbul speaks the reply. Router escalates to Saaras/105B and finally a human. Lane 2: FastAPI creates the case in PostgreSQL → CSC → AJAY app → Celery follow-ups → dashboard. The web portal uses the same API and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Proof: UIDAI–Sarvam, Kilkari, Voice of India benchmark, all APIs available. Cost ₹32–65 per completed profile (CSC fee excluded: it exists today regardless; LLM costed at ~90% Sarvam-30B). Call funnel with sources. State cost is 0.04–0.07% of the PM-AJAY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working: 41→70% placement gap; +11 percentage points retention (Chakravorty et al. 2024); officer time 40 h → 7 h a month for 40 cases, ~41,700 hours a year India-wide; ₹12.5 crore better used if 5% of wrong matches are avoided.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grouped by type with links. The bottom row links to the repo, prototype, demo video and the full reference file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8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9" Type="http://schemas.openxmlformats.org/officeDocument/2006/relationships/image" Target="../media/image-3-18.png"/><Relationship Id="rId20" Type="http://schemas.openxmlformats.org/officeDocument/2006/relationships/image" Target="../media/image-3-19.png"/><Relationship Id="rId21" Type="http://schemas.openxmlformats.org/officeDocument/2006/relationships/image" Target="../media/image-3-20.png"/><Relationship Id="rId22" Type="http://schemas.openxmlformats.org/officeDocument/2006/relationships/image" Target="../media/image-3-21.png"/><Relationship Id="rId23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g.gov.in" TargetMode="External"/><Relationship Id="rId4" Type="http://schemas.openxmlformats.org/officeDocument/2006/relationships/hyperlink" Target="https://pib.gov.in" TargetMode="External"/><Relationship Id="rId5" Type="http://schemas.openxmlformats.org/officeDocument/2006/relationships/hyperlink" Target="https://www.indiabudget.gov.in" TargetMode="External"/><Relationship Id="rId6" Type="http://schemas.openxmlformats.org/officeDocument/2006/relationships/hyperlink" Target="https://pib.gov.in" TargetMode="External"/><Relationship Id="rId8" Type="http://schemas.openxmlformats.org/officeDocument/2006/relationships/hyperlink" Target="https://www.sciencedirect.com/journal/journal-of-development-economics" TargetMode="External"/><Relationship Id="rId9" Type="http://schemas.openxmlformats.org/officeDocument/2006/relationships/hyperlink" Target="https://gh.bmj.com" TargetMode="External"/><Relationship Id="rId10" Type="http://schemas.openxmlformats.org/officeDocument/2006/relationships/hyperlink" Target="https://arxiv.org/abs/2604.19151" TargetMode="External"/><Relationship Id="rId11" Type="http://schemas.openxmlformats.org/officeDocument/2006/relationships/hyperlink" Target="https://dl.acm.org" TargetMode="External"/><Relationship Id="rId13" Type="http://schemas.openxmlformats.org/officeDocument/2006/relationships/hyperlink" Target="https://www.sarvam.ai" TargetMode="External"/><Relationship Id="rId14" Type="http://schemas.openxmlformats.org/officeDocument/2006/relationships/hyperlink" Target="https://ai4bharat.iitm.ac.in" TargetMode="External"/><Relationship Id="rId15" Type="http://schemas.openxmlformats.org/officeDocument/2006/relationships/hyperlink" Target="https://pipecat.ai" TargetMode="External"/><Relationship Id="rId16" Type="http://schemas.openxmlformats.org/officeDocument/2006/relationships/hyperlink" Target="https://bhashini.gov.in" TargetMode="External"/><Relationship Id="rId18" Type="http://schemas.openxmlformats.org/officeDocument/2006/relationships/hyperlink" Target="https://www.nqr.gov.in" TargetMode="External"/><Relationship Id="rId19" Type="http://schemas.openxmlformats.org/officeDocument/2006/relationships/hyperlink" Target="https://www.meity.gov.in" TargetMode="External"/><Relationship Id="rId20" Type="http://schemas.openxmlformats.org/officeDocument/2006/relationships/hyperlink" Target="https://www.trai.gov.in" TargetMode="External"/><Relationship Id="rId21" Type="http://schemas.openxmlformats.org/officeDocument/2006/relationships/hyperlink" Target="https://pib.gov.in" TargetMode="External"/><Relationship Id="rId23" Type="http://schemas.openxmlformats.org/officeDocument/2006/relationships/hyperlink" Target="https://github.com/" TargetMode="External"/><Relationship Id="rId25" Type="http://schemas.openxmlformats.org/officeDocument/2006/relationships/hyperlink" Target="https://example.com/" TargetMode="External"/><Relationship Id="rId27" Type="http://schemas.openxmlformats.org/officeDocument/2006/relationships/hyperlink" Target="https://youtube.com/" TargetMode="External"/><Relationship Id="rId29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7" Type="http://schemas.openxmlformats.org/officeDocument/2006/relationships/image" Target="../media/image-6-3.png"/><Relationship Id="rId12" Type="http://schemas.openxmlformats.org/officeDocument/2006/relationships/image" Target="../media/image-6-4.png"/><Relationship Id="rId17" Type="http://schemas.openxmlformats.org/officeDocument/2006/relationships/image" Target="../media/image-6-5.png"/><Relationship Id="rId22" Type="http://schemas.openxmlformats.org/officeDocument/2006/relationships/image" Target="../media/image-6-6.png"/><Relationship Id="rId24" Type="http://schemas.openxmlformats.org/officeDocument/2006/relationships/image" Target="../media/image-6-7.png"/><Relationship Id="rId26" Type="http://schemas.openxmlformats.org/officeDocument/2006/relationships/image" Target="../media/image-6-8.png"/><Relationship Id="rId28" Type="http://schemas.openxmlformats.org/officeDocument/2006/relationships/image" Target="../media/image-6-9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D64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846320" cy="768096"/>
          </a:xfrm>
          <a:prstGeom prst="roundRect">
            <a:avLst>
              <a:gd name="adj" fmla="val 9524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" y="100584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06070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8680" y="950976"/>
            <a:ext cx="4160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needs fixing  </a:t>
            </a: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SIH26097 · MoSJE</a:t>
            </a: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skill training and small-business support (up to ₹50,000) for poor SC families. But the course is chosen through paper forms and field officers — people who cannot read or do not know the trades land in the wrong course, drop out, and get no job.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5230368" y="896112"/>
            <a:ext cx="1170432" cy="768096"/>
          </a:xfrm>
          <a:prstGeom prst="roundRect">
            <a:avLst>
              <a:gd name="adj" fmla="val 9524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03520" y="914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303520" y="1197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trained people actually got a job</a:t>
            </a:r>
            <a:endParaRPr lang="en-US" sz="680" dirty="0"/>
          </a:p>
        </p:txBody>
      </p:sp>
      <p:sp>
        <p:nvSpPr>
          <p:cNvPr id="15" name="Shape 11"/>
          <p:cNvSpPr/>
          <p:nvPr/>
        </p:nvSpPr>
        <p:spPr>
          <a:xfrm>
            <a:off x="5303520" y="1481328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58384" y="1481328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audit 2025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6455664" y="896112"/>
            <a:ext cx="1170432" cy="768096"/>
          </a:xfrm>
          <a:prstGeom prst="roundRect">
            <a:avLst>
              <a:gd name="adj" fmla="val 9524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914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6528816" y="1197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 cannot read</a:t>
            </a:r>
            <a:endParaRPr lang="en-US" sz="680" dirty="0"/>
          </a:p>
        </p:txBody>
      </p:sp>
      <p:sp>
        <p:nvSpPr>
          <p:cNvPr id="20" name="Shape 16"/>
          <p:cNvSpPr/>
          <p:nvPr/>
        </p:nvSpPr>
        <p:spPr>
          <a:xfrm>
            <a:off x="6528816" y="1481328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83680" y="1481328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Census 2011</a:t>
            </a:r>
            <a:endParaRPr lang="en-US" sz="600" dirty="0"/>
          </a:p>
        </p:txBody>
      </p:sp>
      <p:sp>
        <p:nvSpPr>
          <p:cNvPr id="22" name="Shape 18"/>
          <p:cNvSpPr/>
          <p:nvPr/>
        </p:nvSpPr>
        <p:spPr>
          <a:xfrm>
            <a:off x="7680960" y="896112"/>
            <a:ext cx="1170432" cy="768096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54112" y="914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7754112" y="1197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have no phone of their own</a:t>
            </a:r>
            <a:endParaRPr lang="en-US" sz="680" dirty="0"/>
          </a:p>
        </p:txBody>
      </p:sp>
      <p:sp>
        <p:nvSpPr>
          <p:cNvPr id="25" name="Shape 21"/>
          <p:cNvSpPr/>
          <p:nvPr/>
        </p:nvSpPr>
        <p:spPr>
          <a:xfrm>
            <a:off x="7754112" y="1481328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808976" y="1481328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NFHS-6, 2023-24</a:t>
            </a:r>
            <a:endParaRPr lang="en-US" sz="600" dirty="0"/>
          </a:p>
        </p:txBody>
      </p:sp>
      <p:sp>
        <p:nvSpPr>
          <p:cNvPr id="27" name="Text 23"/>
          <p:cNvSpPr txBox="1"/>
          <p:nvPr/>
        </p:nvSpPr>
        <p:spPr>
          <a:xfrm>
            <a:off x="274320" y="175564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SIX STEPS — ABOUT 10 MINUTES, ON ANY PHONE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274320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56616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84832"/>
            <a:ext cx="274320" cy="2743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8016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356616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 → call-back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356616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call-back within a minute from an official 1600 govt number, in the language he picks.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1719072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801368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6232" y="2084832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2724912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1801368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1801368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distance, job-or-business pressed on keys — a speech error can't change eligibility.</a:t>
            </a:r>
            <a:endParaRPr lang="en-US" sz="700" dirty="0"/>
          </a:p>
        </p:txBody>
      </p:sp>
      <p:sp>
        <p:nvSpPr>
          <p:cNvPr id="40" name="Shape 34"/>
          <p:cNvSpPr/>
          <p:nvPr/>
        </p:nvSpPr>
        <p:spPr>
          <a:xfrm>
            <a:off x="3163824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3246120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0984" y="2084832"/>
            <a:ext cx="274320" cy="27432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4169664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37"/>
          <p:cNvSpPr txBox="1"/>
          <p:nvPr/>
        </p:nvSpPr>
        <p:spPr>
          <a:xfrm>
            <a:off x="3246120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talks, AI listens</a:t>
            </a:r>
            <a:endParaRPr lang="en-US" sz="850" dirty="0"/>
          </a:p>
        </p:txBody>
      </p:sp>
      <p:sp>
        <p:nvSpPr>
          <p:cNvPr id="45" name="Text 38"/>
          <p:cNvSpPr txBox="1"/>
          <p:nvPr/>
        </p:nvSpPr>
        <p:spPr>
          <a:xfrm>
            <a:off x="3246120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"Aap kya kaam karte ho?" AI maps it to an official NCO-2015 occupation and asks about his skills.</a:t>
            </a:r>
            <a:endParaRPr lang="en-US" sz="700" dirty="0"/>
          </a:p>
        </p:txBody>
      </p:sp>
      <p:sp>
        <p:nvSpPr>
          <p:cNvPr id="46" name="Shape 39"/>
          <p:cNvSpPr/>
          <p:nvPr/>
        </p:nvSpPr>
        <p:spPr>
          <a:xfrm>
            <a:off x="4608576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4690872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2084832"/>
            <a:ext cx="274320" cy="27432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5614416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2"/>
          <p:cNvSpPr txBox="1"/>
          <p:nvPr/>
        </p:nvSpPr>
        <p:spPr>
          <a:xfrm>
            <a:off x="4690872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&amp; saved</a:t>
            </a:r>
            <a:endParaRPr lang="en-US" sz="850" dirty="0"/>
          </a:p>
        </p:txBody>
      </p:sp>
      <p:sp>
        <p:nvSpPr>
          <p:cNvPr id="51" name="Text 43"/>
          <p:cNvSpPr txBox="1"/>
          <p:nvPr/>
        </p:nvSpPr>
        <p:spPr>
          <a:xfrm>
            <a:off x="4690872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read back; press 1 to confirm. Saved as one clean table row, not a paper form.</a:t>
            </a:r>
            <a:endParaRPr lang="en-US" sz="700" dirty="0"/>
          </a:p>
        </p:txBody>
      </p:sp>
      <p:sp>
        <p:nvSpPr>
          <p:cNvPr id="52" name="Shape 44"/>
          <p:cNvSpPr/>
          <p:nvPr/>
        </p:nvSpPr>
        <p:spPr>
          <a:xfrm>
            <a:off x="6053328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53" name="Shape 45"/>
          <p:cNvSpPr/>
          <p:nvPr/>
        </p:nvSpPr>
        <p:spPr>
          <a:xfrm>
            <a:off x="6135624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2084832"/>
            <a:ext cx="274320" cy="274320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7059168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47"/>
          <p:cNvSpPr txBox="1"/>
          <p:nvPr/>
        </p:nvSpPr>
        <p:spPr>
          <a:xfrm>
            <a:off x="6135624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options that fit him</a:t>
            </a:r>
            <a:endParaRPr lang="en-US" sz="850" dirty="0"/>
          </a:p>
        </p:txBody>
      </p:sp>
      <p:sp>
        <p:nvSpPr>
          <p:cNvPr id="57" name="Text 48"/>
          <p:cNvSpPr txBox="1"/>
          <p:nvPr/>
        </p:nvSpPr>
        <p:spPr>
          <a:xfrm>
            <a:off x="6135624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Courses, schemes or jobs near him that truly fit — each fact checked against govt data. He can ask any doubt.</a:t>
            </a:r>
            <a:endParaRPr lang="en-US" sz="700" dirty="0"/>
          </a:p>
        </p:txBody>
      </p:sp>
      <p:sp>
        <p:nvSpPr>
          <p:cNvPr id="58" name="Shape 49"/>
          <p:cNvSpPr/>
          <p:nvPr/>
        </p:nvSpPr>
        <p:spPr>
          <a:xfrm>
            <a:off x="7498080" y="1947672"/>
            <a:ext cx="1371600" cy="1133856"/>
          </a:xfrm>
          <a:prstGeom prst="roundRect">
            <a:avLst>
              <a:gd name="adj" fmla="val 6452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7580376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084832"/>
            <a:ext cx="274320" cy="274320"/>
          </a:xfrm>
          <a:prstGeom prst="rect">
            <a:avLst/>
          </a:prstGeom>
        </p:spPr>
      </p:pic>
      <p:sp>
        <p:nvSpPr>
          <p:cNvPr id="61" name="Text 51"/>
          <p:cNvSpPr txBox="1"/>
          <p:nvPr/>
        </p:nvSpPr>
        <p:spPr>
          <a:xfrm>
            <a:off x="850392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62" name="Text 52"/>
          <p:cNvSpPr txBox="1"/>
          <p:nvPr/>
        </p:nvSpPr>
        <p:spPr>
          <a:xfrm>
            <a:off x="7580376" y="245973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→ CSC → officer</a:t>
            </a:r>
            <a:endParaRPr lang="en-US" sz="850" dirty="0"/>
          </a:p>
        </p:txBody>
      </p:sp>
      <p:sp>
        <p:nvSpPr>
          <p:cNvPr id="63" name="Text 53"/>
          <p:cNvSpPr txBox="1"/>
          <p:nvPr/>
        </p:nvSpPr>
        <p:spPr>
          <a:xfrm>
            <a:off x="7580376" y="2660904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1–4. SMS with Case ID + nearest CSC; officer approves in the AJAY app; follow-up calls at 1, 3, 6 months.</a:t>
            </a:r>
            <a:endParaRPr lang="en-US" sz="700" dirty="0"/>
          </a:p>
        </p:txBody>
      </p:sp>
      <p:sp>
        <p:nvSpPr>
          <p:cNvPr id="64" name="Text 54"/>
          <p:cNvSpPr txBox="1"/>
          <p:nvPr/>
        </p:nvSpPr>
        <p:spPr>
          <a:xfrm>
            <a:off x="274320" y="31729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ONLY SKILLCALL DOES — BEYOND THE SIX STEPS</a:t>
            </a:r>
            <a:endParaRPr lang="en-US" sz="850" dirty="0"/>
          </a:p>
        </p:txBody>
      </p:sp>
      <p:sp>
        <p:nvSpPr>
          <p:cNvPr id="65" name="Shape 55"/>
          <p:cNvSpPr/>
          <p:nvPr/>
        </p:nvSpPr>
        <p:spPr>
          <a:xfrm>
            <a:off x="274320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356616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6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50" y="3484778"/>
            <a:ext cx="217627" cy="217627"/>
          </a:xfrm>
          <a:prstGeom prst="rect">
            <a:avLst/>
          </a:prstGeom>
        </p:spPr>
      </p:pic>
      <p:sp>
        <p:nvSpPr>
          <p:cNvPr id="68" name="Text 57"/>
          <p:cNvSpPr txBox="1"/>
          <p:nvPr/>
        </p:nvSpPr>
        <p:spPr>
          <a:xfrm>
            <a:off x="731520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800" dirty="0"/>
          </a:p>
        </p:txBody>
      </p:sp>
      <p:sp>
        <p:nvSpPr>
          <p:cNvPr id="69" name="Text 58"/>
          <p:cNvSpPr txBox="1"/>
          <p:nvPr/>
        </p:nvSpPr>
        <p:spPr>
          <a:xfrm>
            <a:off x="356616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question depends on the last answer: a bike mechanic is asked about engine repair, tyres, oil service.</a:t>
            </a:r>
            <a:endParaRPr lang="en-US" sz="700" dirty="0"/>
          </a:p>
        </p:txBody>
      </p:sp>
      <p:sp>
        <p:nvSpPr>
          <p:cNvPr id="70" name="Shape 59"/>
          <p:cNvSpPr/>
          <p:nvPr/>
        </p:nvSpPr>
        <p:spPr>
          <a:xfrm>
            <a:off x="1719072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1801368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7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8002" y="3484778"/>
            <a:ext cx="217627" cy="217627"/>
          </a:xfrm>
          <a:prstGeom prst="rect">
            <a:avLst/>
          </a:prstGeom>
        </p:spPr>
      </p:pic>
      <p:sp>
        <p:nvSpPr>
          <p:cNvPr id="73" name="Text 61"/>
          <p:cNvSpPr txBox="1"/>
          <p:nvPr/>
        </p:nvSpPr>
        <p:spPr>
          <a:xfrm>
            <a:off x="2176272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profile, auto-built</a:t>
            </a:r>
            <a:endParaRPr lang="en-US" sz="800" dirty="0"/>
          </a:p>
        </p:txBody>
      </p:sp>
      <p:sp>
        <p:nvSpPr>
          <p:cNvPr id="74" name="Text 62"/>
          <p:cNvSpPr txBox="1"/>
          <p:nvPr/>
        </p:nvSpPr>
        <p:spPr>
          <a:xfrm>
            <a:off x="1801368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writes the complete profile and case table in the proper format by itself. Officers only review — hours of staff time saved per case.</a:t>
            </a:r>
            <a:endParaRPr lang="en-US" sz="700" dirty="0"/>
          </a:p>
        </p:txBody>
      </p:sp>
      <p:sp>
        <p:nvSpPr>
          <p:cNvPr id="75" name="Shape 63"/>
          <p:cNvSpPr/>
          <p:nvPr/>
        </p:nvSpPr>
        <p:spPr>
          <a:xfrm>
            <a:off x="3163824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76" name="Shape 64"/>
          <p:cNvSpPr/>
          <p:nvPr/>
        </p:nvSpPr>
        <p:spPr>
          <a:xfrm>
            <a:off x="3246120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92754" y="3484778"/>
            <a:ext cx="217627" cy="217627"/>
          </a:xfrm>
          <a:prstGeom prst="rect">
            <a:avLst/>
          </a:prstGeom>
        </p:spPr>
      </p:pic>
      <p:sp>
        <p:nvSpPr>
          <p:cNvPr id="78" name="Text 65"/>
          <p:cNvSpPr txBox="1"/>
          <p:nvPr/>
        </p:nvSpPr>
        <p:spPr>
          <a:xfrm>
            <a:off x="3621024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government data</a:t>
            </a:r>
            <a:endParaRPr lang="en-US" sz="800" dirty="0"/>
          </a:p>
        </p:txBody>
      </p:sp>
      <p:sp>
        <p:nvSpPr>
          <p:cNvPr id="79" name="Text 66"/>
          <p:cNvSpPr txBox="1"/>
          <p:nvPr/>
        </p:nvSpPr>
        <p:spPr>
          <a:xfrm>
            <a:off x="3246120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data we load: scheme rules, NQR courses, NCO jobs, centres. No internet, nothing invented.</a:t>
            </a:r>
            <a:endParaRPr lang="en-US" sz="700" dirty="0"/>
          </a:p>
        </p:txBody>
      </p:sp>
      <p:sp>
        <p:nvSpPr>
          <p:cNvPr id="80" name="Shape 67"/>
          <p:cNvSpPr/>
          <p:nvPr/>
        </p:nvSpPr>
        <p:spPr>
          <a:xfrm>
            <a:off x="4608576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81" name="Shape 68"/>
          <p:cNvSpPr/>
          <p:nvPr/>
        </p:nvSpPr>
        <p:spPr>
          <a:xfrm>
            <a:off x="4690872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8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7506" y="3484778"/>
            <a:ext cx="217627" cy="217627"/>
          </a:xfrm>
          <a:prstGeom prst="rect">
            <a:avLst/>
          </a:prstGeom>
        </p:spPr>
      </p:pic>
      <p:sp>
        <p:nvSpPr>
          <p:cNvPr id="83" name="Text 69"/>
          <p:cNvSpPr txBox="1"/>
          <p:nvPr/>
        </p:nvSpPr>
        <p:spPr>
          <a:xfrm>
            <a:off x="5065776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AI — SATYA</a:t>
            </a:r>
            <a:endParaRPr lang="en-US" sz="800" dirty="0"/>
          </a:p>
        </p:txBody>
      </p:sp>
      <p:sp>
        <p:nvSpPr>
          <p:cNvPr id="84" name="Text 70"/>
          <p:cNvSpPr txBox="1"/>
          <p:nvPr/>
        </p:nvSpPr>
        <p:spPr>
          <a:xfrm>
            <a:off x="4690872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fact is spoken, a second checker matches it to a database row. No match → the sentence is dropped.</a:t>
            </a:r>
            <a:endParaRPr lang="en-US" sz="700" dirty="0"/>
          </a:p>
        </p:txBody>
      </p:sp>
      <p:sp>
        <p:nvSpPr>
          <p:cNvPr id="85" name="Shape 71"/>
          <p:cNvSpPr/>
          <p:nvPr/>
        </p:nvSpPr>
        <p:spPr>
          <a:xfrm>
            <a:off x="6053328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86" name="Shape 72"/>
          <p:cNvSpPr/>
          <p:nvPr/>
        </p:nvSpPr>
        <p:spPr>
          <a:xfrm>
            <a:off x="6135624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8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82258" y="3484778"/>
            <a:ext cx="217627" cy="217627"/>
          </a:xfrm>
          <a:prstGeom prst="rect">
            <a:avLst/>
          </a:prstGeom>
        </p:spPr>
      </p:pic>
      <p:sp>
        <p:nvSpPr>
          <p:cNvPr id="88" name="Text 73"/>
          <p:cNvSpPr txBox="1"/>
          <p:nvPr/>
        </p:nvSpPr>
        <p:spPr>
          <a:xfrm>
            <a:off x="6510528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AI first</a:t>
            </a:r>
            <a:endParaRPr lang="en-US" sz="800" dirty="0"/>
          </a:p>
        </p:txBody>
      </p:sp>
      <p:sp>
        <p:nvSpPr>
          <p:cNvPr id="89" name="Text 74"/>
          <p:cNvSpPr txBox="1"/>
          <p:nvPr/>
        </p:nvSpPr>
        <p:spPr>
          <a:xfrm>
            <a:off x="6135624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 by default; a bigger one only if unsure or the caller is unhappy; a human calls back if still stuck.</a:t>
            </a:r>
            <a:endParaRPr lang="en-US" sz="700" dirty="0"/>
          </a:p>
        </p:txBody>
      </p:sp>
      <p:sp>
        <p:nvSpPr>
          <p:cNvPr id="90" name="Shape 75"/>
          <p:cNvSpPr/>
          <p:nvPr/>
        </p:nvSpPr>
        <p:spPr>
          <a:xfrm>
            <a:off x="7498080" y="3355848"/>
            <a:ext cx="137160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91" name="Shape 76"/>
          <p:cNvSpPr/>
          <p:nvPr/>
        </p:nvSpPr>
        <p:spPr>
          <a:xfrm>
            <a:off x="7580376" y="343814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7010" y="3484778"/>
            <a:ext cx="217627" cy="217627"/>
          </a:xfrm>
          <a:prstGeom prst="rect">
            <a:avLst/>
          </a:prstGeom>
        </p:spPr>
      </p:pic>
      <p:sp>
        <p:nvSpPr>
          <p:cNvPr id="93" name="Text 77"/>
          <p:cNvSpPr txBox="1"/>
          <p:nvPr/>
        </p:nvSpPr>
        <p:spPr>
          <a:xfrm>
            <a:off x="7955280" y="342900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800" dirty="0"/>
          </a:p>
        </p:txBody>
      </p:sp>
      <p:sp>
        <p:nvSpPr>
          <p:cNvPr id="94" name="Text 78"/>
          <p:cNvSpPr txBox="1"/>
          <p:nvPr/>
        </p:nvSpPr>
        <p:spPr>
          <a:xfrm>
            <a:off x="7580376" y="381304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login. The person, CSC or officer can view and edit the same profile anytime — or skip the call entirely.</a:t>
            </a:r>
            <a:endParaRPr lang="en-US" sz="700" dirty="0"/>
          </a:p>
        </p:txBody>
      </p:sp>
      <p:sp>
        <p:nvSpPr>
          <p:cNvPr id="95" name="Text 79"/>
          <p:cNvSpPr txBox="1"/>
          <p:nvPr/>
        </p:nvSpPr>
        <p:spPr>
          <a:xfrm>
            <a:off x="274320" y="455371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answers the 5 GIA issues in the brief → planning · beneficiary selection · placement after training · coordination · too few ground staff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448056"/>
          </a:xfrm>
          <a:prstGeom prst="roundRect">
            <a:avLst>
              <a:gd name="adj" fmla="val 16327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1247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channels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8328" y="1316736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44168"/>
            <a:ext cx="137160" cy="1371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1316736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 API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1719072" y="1316736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1344168"/>
            <a:ext cx="137160" cy="1371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47672" y="1316736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 · calls + SMS</a:t>
            </a:r>
            <a:endParaRPr lang="en-US" sz="720" dirty="0"/>
          </a:p>
        </p:txBody>
      </p:sp>
      <p:sp>
        <p:nvSpPr>
          <p:cNvPr id="16" name="Shape 11"/>
          <p:cNvSpPr/>
          <p:nvPr/>
        </p:nvSpPr>
        <p:spPr>
          <a:xfrm>
            <a:off x="274320" y="1609344"/>
            <a:ext cx="2834640" cy="1133856"/>
          </a:xfrm>
          <a:prstGeom prst="roundRect">
            <a:avLst>
              <a:gd name="adj" fmla="val 645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65760" y="163677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engine &amp; AI models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338328" y="18288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56232"/>
            <a:ext cx="137160" cy="1371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6928" y="18288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21" name="Shape 15"/>
          <p:cNvSpPr/>
          <p:nvPr/>
        </p:nvSpPr>
        <p:spPr>
          <a:xfrm>
            <a:off x="1719072" y="18288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4792" y="1856232"/>
            <a:ext cx="137160" cy="1371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947672" y="18288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speech → text</a:t>
            </a:r>
            <a:endParaRPr lang="en-US" sz="720" dirty="0"/>
          </a:p>
        </p:txBody>
      </p:sp>
      <p:sp>
        <p:nvSpPr>
          <p:cNvPr id="24" name="Shape 17"/>
          <p:cNvSpPr/>
          <p:nvPr/>
        </p:nvSpPr>
        <p:spPr>
          <a:xfrm>
            <a:off x="338328" y="20574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2084832"/>
            <a:ext cx="137160" cy="1371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66928" y="20574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text → speech</a:t>
            </a:r>
            <a:endParaRPr lang="en-US" sz="720" dirty="0"/>
          </a:p>
        </p:txBody>
      </p:sp>
      <p:sp>
        <p:nvSpPr>
          <p:cNvPr id="27" name="Shape 19"/>
          <p:cNvSpPr/>
          <p:nvPr/>
        </p:nvSpPr>
        <p:spPr>
          <a:xfrm>
            <a:off x="1719072" y="20574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4792" y="2084832"/>
            <a:ext cx="137160" cy="1371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947672" y="20574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 · LLM</a:t>
            </a:r>
            <a:endParaRPr lang="en-US" sz="720" dirty="0"/>
          </a:p>
        </p:txBody>
      </p:sp>
      <p:sp>
        <p:nvSpPr>
          <p:cNvPr id="30" name="Shape 21"/>
          <p:cNvSpPr/>
          <p:nvPr/>
        </p:nvSpPr>
        <p:spPr>
          <a:xfrm>
            <a:off x="338328" y="22860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2313432"/>
            <a:ext cx="137160" cy="1371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566928" y="22860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(free STT)</a:t>
            </a:r>
            <a:endParaRPr lang="en-US" sz="720" dirty="0"/>
          </a:p>
        </p:txBody>
      </p:sp>
      <p:sp>
        <p:nvSpPr>
          <p:cNvPr id="33" name="Shape 23"/>
          <p:cNvSpPr/>
          <p:nvPr/>
        </p:nvSpPr>
        <p:spPr>
          <a:xfrm>
            <a:off x="1719072" y="22860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4792" y="2313432"/>
            <a:ext cx="137160" cy="13716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947672" y="22860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· MeitY</a:t>
            </a:r>
            <a:endParaRPr lang="en-US" sz="720" dirty="0"/>
          </a:p>
        </p:txBody>
      </p:sp>
      <p:sp>
        <p:nvSpPr>
          <p:cNvPr id="36" name="Shape 25"/>
          <p:cNvSpPr/>
          <p:nvPr/>
        </p:nvSpPr>
        <p:spPr>
          <a:xfrm>
            <a:off x="338328" y="2514600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" y="2542032"/>
            <a:ext cx="137160" cy="1371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566928" y="2514600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validator (ours)</a:t>
            </a:r>
            <a:endParaRPr lang="en-US" sz="720" dirty="0"/>
          </a:p>
        </p:txBody>
      </p:sp>
      <p:sp>
        <p:nvSpPr>
          <p:cNvPr id="39" name="Shape 27"/>
          <p:cNvSpPr/>
          <p:nvPr/>
        </p:nvSpPr>
        <p:spPr>
          <a:xfrm>
            <a:off x="274320" y="2807208"/>
            <a:ext cx="2834640" cy="905256"/>
          </a:xfrm>
          <a:prstGeom prst="roundRect">
            <a:avLst>
              <a:gd name="adj" fmla="val 808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365760" y="283464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50" dirty="0"/>
          </a:p>
        </p:txBody>
      </p:sp>
      <p:sp>
        <p:nvSpPr>
          <p:cNvPr id="41" name="Shape 29"/>
          <p:cNvSpPr/>
          <p:nvPr/>
        </p:nvSpPr>
        <p:spPr>
          <a:xfrm>
            <a:off x="338328" y="30266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48" y="3054096"/>
            <a:ext cx="137160" cy="13716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566928" y="30266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4" name="Shape 31"/>
          <p:cNvSpPr/>
          <p:nvPr/>
        </p:nvSpPr>
        <p:spPr>
          <a:xfrm>
            <a:off x="1719072" y="30266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4792" y="3054096"/>
            <a:ext cx="137160" cy="137160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1947672" y="30266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7" name="Shape 33"/>
          <p:cNvSpPr/>
          <p:nvPr/>
        </p:nvSpPr>
        <p:spPr>
          <a:xfrm>
            <a:off x="338328" y="32552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3282696"/>
            <a:ext cx="137160" cy="137160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566928" y="32552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50" name="Shape 35"/>
          <p:cNvSpPr/>
          <p:nvPr/>
        </p:nvSpPr>
        <p:spPr>
          <a:xfrm>
            <a:off x="1719072" y="32552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64792" y="3282696"/>
            <a:ext cx="137160" cy="137160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947672" y="32552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3" name="Shape 37"/>
          <p:cNvSpPr/>
          <p:nvPr/>
        </p:nvSpPr>
        <p:spPr>
          <a:xfrm>
            <a:off x="338328" y="34838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3511296"/>
            <a:ext cx="137160" cy="137160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566928" y="34838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6" name="Shape 39"/>
          <p:cNvSpPr/>
          <p:nvPr/>
        </p:nvSpPr>
        <p:spPr>
          <a:xfrm>
            <a:off x="1719072" y="3483864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40"/>
          <p:cNvSpPr txBox="1"/>
          <p:nvPr/>
        </p:nvSpPr>
        <p:spPr>
          <a:xfrm>
            <a:off x="1792224" y="3483864"/>
            <a:ext cx="1216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semantic search</a:t>
            </a:r>
            <a:endParaRPr lang="en-US" sz="720" dirty="0"/>
          </a:p>
        </p:txBody>
      </p:sp>
      <p:sp>
        <p:nvSpPr>
          <p:cNvPr id="58" name="Shape 41"/>
          <p:cNvSpPr/>
          <p:nvPr/>
        </p:nvSpPr>
        <p:spPr>
          <a:xfrm>
            <a:off x="274320" y="3776472"/>
            <a:ext cx="2834640" cy="905256"/>
          </a:xfrm>
          <a:prstGeom prst="roundRect">
            <a:avLst>
              <a:gd name="adj" fmla="val 8081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59" name="Text 42"/>
          <p:cNvSpPr txBox="1"/>
          <p:nvPr/>
        </p:nvSpPr>
        <p:spPr>
          <a:xfrm>
            <a:off x="365760" y="380390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Apps, hosting &amp; govt links</a:t>
            </a:r>
            <a:endParaRPr lang="en-US" sz="750" dirty="0"/>
          </a:p>
        </p:txBody>
      </p:sp>
      <p:sp>
        <p:nvSpPr>
          <p:cNvPr id="60" name="Shape 43"/>
          <p:cNvSpPr/>
          <p:nvPr/>
        </p:nvSpPr>
        <p:spPr>
          <a:xfrm>
            <a:off x="338328" y="3995928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4048" y="4023360"/>
            <a:ext cx="137160" cy="137160"/>
          </a:xfrm>
          <a:prstGeom prst="rect">
            <a:avLst/>
          </a:prstGeom>
        </p:spPr>
      </p:pic>
      <p:sp>
        <p:nvSpPr>
          <p:cNvPr id="62" name="Text 44"/>
          <p:cNvSpPr txBox="1"/>
          <p:nvPr/>
        </p:nvSpPr>
        <p:spPr>
          <a:xfrm>
            <a:off x="566928" y="3995928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portal + dashboard</a:t>
            </a:r>
            <a:endParaRPr lang="en-US" sz="720" dirty="0"/>
          </a:p>
        </p:txBody>
      </p:sp>
      <p:sp>
        <p:nvSpPr>
          <p:cNvPr id="63" name="Shape 45"/>
          <p:cNvSpPr/>
          <p:nvPr/>
        </p:nvSpPr>
        <p:spPr>
          <a:xfrm>
            <a:off x="1719072" y="3995928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64792" y="4023360"/>
            <a:ext cx="137160" cy="137160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1947672" y="3995928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MeghRaj govt cloud*</a:t>
            </a:r>
            <a:endParaRPr lang="en-US" sz="720" dirty="0"/>
          </a:p>
        </p:txBody>
      </p:sp>
      <p:sp>
        <p:nvSpPr>
          <p:cNvPr id="66" name="Shape 47"/>
          <p:cNvSpPr/>
          <p:nvPr/>
        </p:nvSpPr>
        <p:spPr>
          <a:xfrm>
            <a:off x="338328" y="4224528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Text 48"/>
          <p:cNvSpPr txBox="1"/>
          <p:nvPr/>
        </p:nvSpPr>
        <p:spPr>
          <a:xfrm>
            <a:off x="411480" y="4224528"/>
            <a:ext cx="1216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· occupation codes</a:t>
            </a:r>
            <a:endParaRPr lang="en-US" sz="720" dirty="0"/>
          </a:p>
        </p:txBody>
      </p:sp>
      <p:sp>
        <p:nvSpPr>
          <p:cNvPr id="68" name="Shape 49"/>
          <p:cNvSpPr/>
          <p:nvPr/>
        </p:nvSpPr>
        <p:spPr>
          <a:xfrm>
            <a:off x="1719072" y="4224528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50"/>
          <p:cNvSpPr txBox="1"/>
          <p:nvPr/>
        </p:nvSpPr>
        <p:spPr>
          <a:xfrm>
            <a:off x="1792224" y="4224528"/>
            <a:ext cx="1216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NQR / NCVET · courses</a:t>
            </a:r>
            <a:endParaRPr lang="en-US" sz="720" dirty="0"/>
          </a:p>
        </p:txBody>
      </p:sp>
      <p:sp>
        <p:nvSpPr>
          <p:cNvPr id="70" name="Shape 51"/>
          <p:cNvSpPr/>
          <p:nvPr/>
        </p:nvSpPr>
        <p:spPr>
          <a:xfrm>
            <a:off x="338328" y="4453128"/>
            <a:ext cx="132588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Text 52"/>
          <p:cNvSpPr txBox="1"/>
          <p:nvPr/>
        </p:nvSpPr>
        <p:spPr>
          <a:xfrm>
            <a:off x="411480" y="4453128"/>
            <a:ext cx="1216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 · officer workflow</a:t>
            </a:r>
            <a:endParaRPr lang="en-US" sz="720" dirty="0"/>
          </a:p>
        </p:txBody>
      </p:sp>
      <p:sp>
        <p:nvSpPr>
          <p:cNvPr id="72" name="Text 53"/>
          <p:cNvSpPr txBox="1"/>
          <p:nvPr/>
        </p:nvSpPr>
        <p:spPr>
          <a:xfrm>
            <a:off x="274320" y="47640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 </a:t>
            </a:r>
            <a:r>
              <a:rPr lang="en-US" sz="650" i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73" name="Text 54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ARCHITECTURE</a:t>
            </a:r>
            <a:endParaRPr lang="en-US" sz="850" dirty="0"/>
          </a:p>
        </p:txBody>
      </p:sp>
      <p:sp>
        <p:nvSpPr>
          <p:cNvPr id="74" name="Shape 55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75" name="Text 56"/>
          <p:cNvSpPr txBox="1"/>
          <p:nvPr/>
        </p:nvSpPr>
        <p:spPr>
          <a:xfrm>
            <a:off x="3291840" y="1106424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LIVE CALL  —  ~1.5 s per turn</a:t>
            </a:r>
            <a:endParaRPr lang="en-US" sz="750" dirty="0"/>
          </a:p>
        </p:txBody>
      </p:sp>
      <p:sp>
        <p:nvSpPr>
          <p:cNvPr id="76" name="Text 57"/>
          <p:cNvSpPr txBox="1"/>
          <p:nvPr/>
        </p:nvSpPr>
        <p:spPr>
          <a:xfrm>
            <a:off x="6126480" y="110642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flow;  dashed = only when needed</a:t>
            </a:r>
            <a:endParaRPr lang="en-US" sz="650" dirty="0"/>
          </a:p>
        </p:txBody>
      </p:sp>
      <p:sp>
        <p:nvSpPr>
          <p:cNvPr id="77" name="Shape 58"/>
          <p:cNvSpPr/>
          <p:nvPr/>
        </p:nvSpPr>
        <p:spPr>
          <a:xfrm>
            <a:off x="3291840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78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79" name="Text 59"/>
          <p:cNvSpPr txBox="1"/>
          <p:nvPr/>
        </p:nvSpPr>
        <p:spPr>
          <a:xfrm>
            <a:off x="3557016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80" dirty="0"/>
          </a:p>
        </p:txBody>
      </p:sp>
      <p:sp>
        <p:nvSpPr>
          <p:cNvPr id="80" name="Text 60"/>
          <p:cNvSpPr txBox="1"/>
          <p:nvPr/>
        </p:nvSpPr>
        <p:spPr>
          <a:xfrm>
            <a:off x="3337560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phone; no internet, no app</a:t>
            </a:r>
            <a:endParaRPr lang="en-US" sz="600" dirty="0"/>
          </a:p>
        </p:txBody>
      </p:sp>
      <p:sp>
        <p:nvSpPr>
          <p:cNvPr id="81" name="Shape 61"/>
          <p:cNvSpPr/>
          <p:nvPr/>
        </p:nvSpPr>
        <p:spPr>
          <a:xfrm>
            <a:off x="4233672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82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79392" y="1325880"/>
            <a:ext cx="182880" cy="182880"/>
          </a:xfrm>
          <a:prstGeom prst="rect">
            <a:avLst/>
          </a:prstGeom>
        </p:spPr>
      </p:pic>
      <p:sp>
        <p:nvSpPr>
          <p:cNvPr id="83" name="Text 62"/>
          <p:cNvSpPr txBox="1"/>
          <p:nvPr/>
        </p:nvSpPr>
        <p:spPr>
          <a:xfrm>
            <a:off x="4498848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80" dirty="0"/>
          </a:p>
        </p:txBody>
      </p:sp>
      <p:sp>
        <p:nvSpPr>
          <p:cNvPr id="84" name="Text 63"/>
          <p:cNvSpPr txBox="1"/>
          <p:nvPr/>
        </p:nvSpPr>
        <p:spPr>
          <a:xfrm>
            <a:off x="4279392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telephony: call-back, DTMF keys, SMS</a:t>
            </a:r>
            <a:endParaRPr lang="en-US" sz="600" dirty="0"/>
          </a:p>
        </p:txBody>
      </p:sp>
      <p:sp>
        <p:nvSpPr>
          <p:cNvPr id="85" name="Shape 64"/>
          <p:cNvSpPr/>
          <p:nvPr/>
        </p:nvSpPr>
        <p:spPr>
          <a:xfrm>
            <a:off x="5175504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86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221224" y="1325880"/>
            <a:ext cx="182880" cy="182880"/>
          </a:xfrm>
          <a:prstGeom prst="rect">
            <a:avLst/>
          </a:prstGeom>
        </p:spPr>
      </p:pic>
      <p:sp>
        <p:nvSpPr>
          <p:cNvPr id="87" name="Text 65"/>
          <p:cNvSpPr txBox="1"/>
          <p:nvPr/>
        </p:nvSpPr>
        <p:spPr>
          <a:xfrm>
            <a:off x="5440680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80" dirty="0"/>
          </a:p>
        </p:txBody>
      </p:sp>
      <p:sp>
        <p:nvSpPr>
          <p:cNvPr id="88" name="Text 66"/>
          <p:cNvSpPr txBox="1"/>
          <p:nvPr/>
        </p:nvSpPr>
        <p:spPr>
          <a:xfrm>
            <a:off x="5221224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server: turn-taking, barge-in, VAD</a:t>
            </a:r>
            <a:endParaRPr lang="en-US" sz="600" dirty="0"/>
          </a:p>
        </p:txBody>
      </p:sp>
      <p:sp>
        <p:nvSpPr>
          <p:cNvPr id="89" name="Shape 67"/>
          <p:cNvSpPr/>
          <p:nvPr/>
        </p:nvSpPr>
        <p:spPr>
          <a:xfrm>
            <a:off x="6117336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0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63056" y="1325880"/>
            <a:ext cx="182880" cy="182880"/>
          </a:xfrm>
          <a:prstGeom prst="rect">
            <a:avLst/>
          </a:prstGeom>
        </p:spPr>
      </p:pic>
      <p:sp>
        <p:nvSpPr>
          <p:cNvPr id="91" name="Text 68"/>
          <p:cNvSpPr txBox="1"/>
          <p:nvPr/>
        </p:nvSpPr>
        <p:spPr>
          <a:xfrm>
            <a:off x="6382512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80" dirty="0"/>
          </a:p>
        </p:txBody>
      </p:sp>
      <p:sp>
        <p:nvSpPr>
          <p:cNvPr id="92" name="Text 69"/>
          <p:cNvSpPr txBox="1"/>
          <p:nvPr/>
        </p:nvSpPr>
        <p:spPr>
          <a:xfrm>
            <a:off x="6163056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(free) or Saaras v3 → text</a:t>
            </a:r>
            <a:endParaRPr lang="en-US" sz="600" dirty="0"/>
          </a:p>
        </p:txBody>
      </p:sp>
      <p:sp>
        <p:nvSpPr>
          <p:cNvPr id="93" name="Shape 70"/>
          <p:cNvSpPr/>
          <p:nvPr/>
        </p:nvSpPr>
        <p:spPr>
          <a:xfrm>
            <a:off x="7059168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4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104888" y="1325880"/>
            <a:ext cx="182880" cy="182880"/>
          </a:xfrm>
          <a:prstGeom prst="rect">
            <a:avLst/>
          </a:prstGeom>
        </p:spPr>
      </p:pic>
      <p:sp>
        <p:nvSpPr>
          <p:cNvPr id="95" name="Text 71"/>
          <p:cNvSpPr txBox="1"/>
          <p:nvPr/>
        </p:nvSpPr>
        <p:spPr>
          <a:xfrm>
            <a:off x="7324344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80" dirty="0"/>
          </a:p>
        </p:txBody>
      </p:sp>
      <p:sp>
        <p:nvSpPr>
          <p:cNvPr id="96" name="Text 72"/>
          <p:cNvSpPr txBox="1"/>
          <p:nvPr/>
        </p:nvSpPr>
        <p:spPr>
          <a:xfrm>
            <a:off x="7104888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fills profile, asks next question</a:t>
            </a:r>
            <a:endParaRPr lang="en-US" sz="600" dirty="0"/>
          </a:p>
        </p:txBody>
      </p:sp>
      <p:sp>
        <p:nvSpPr>
          <p:cNvPr id="97" name="Shape 73"/>
          <p:cNvSpPr/>
          <p:nvPr/>
        </p:nvSpPr>
        <p:spPr>
          <a:xfrm>
            <a:off x="8001000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CE7E7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98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46720" y="1325880"/>
            <a:ext cx="182880" cy="182880"/>
          </a:xfrm>
          <a:prstGeom prst="rect">
            <a:avLst/>
          </a:prstGeom>
        </p:spPr>
      </p:pic>
      <p:sp>
        <p:nvSpPr>
          <p:cNvPr id="99" name="Text 74"/>
          <p:cNvSpPr txBox="1"/>
          <p:nvPr/>
        </p:nvSpPr>
        <p:spPr>
          <a:xfrm>
            <a:off x="8266176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80" dirty="0"/>
          </a:p>
        </p:txBody>
      </p:sp>
      <p:sp>
        <p:nvSpPr>
          <p:cNvPr id="100" name="Text 75"/>
          <p:cNvSpPr txBox="1"/>
          <p:nvPr/>
        </p:nvSpPr>
        <p:spPr>
          <a:xfrm>
            <a:off x="8046720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validator: each claim must match a DB row</a:t>
            </a:r>
            <a:endParaRPr lang="en-US" sz="600" dirty="0"/>
          </a:p>
        </p:txBody>
      </p:sp>
      <p:sp>
        <p:nvSpPr>
          <p:cNvPr id="101" name="Shape 76"/>
          <p:cNvSpPr/>
          <p:nvPr/>
        </p:nvSpPr>
        <p:spPr>
          <a:xfrm>
            <a:off x="4078224" y="1554480"/>
            <a:ext cx="137160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02" name="Text 77"/>
          <p:cNvSpPr txBox="1"/>
          <p:nvPr/>
        </p:nvSpPr>
        <p:spPr>
          <a:xfrm>
            <a:off x="3877056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03" name="Shape 78"/>
          <p:cNvSpPr/>
          <p:nvPr/>
        </p:nvSpPr>
        <p:spPr>
          <a:xfrm>
            <a:off x="5020056" y="1554480"/>
            <a:ext cx="137160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04" name="Text 79"/>
          <p:cNvSpPr txBox="1"/>
          <p:nvPr/>
        </p:nvSpPr>
        <p:spPr>
          <a:xfrm>
            <a:off x="4818888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05" name="Shape 80"/>
          <p:cNvSpPr/>
          <p:nvPr/>
        </p:nvSpPr>
        <p:spPr>
          <a:xfrm>
            <a:off x="5961888" y="1554480"/>
            <a:ext cx="137160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06" name="Text 81"/>
          <p:cNvSpPr txBox="1"/>
          <p:nvPr/>
        </p:nvSpPr>
        <p:spPr>
          <a:xfrm>
            <a:off x="5760720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frames</a:t>
            </a:r>
            <a:endParaRPr lang="en-US" sz="580" dirty="0"/>
          </a:p>
        </p:txBody>
      </p:sp>
      <p:sp>
        <p:nvSpPr>
          <p:cNvPr id="107" name="Shape 82"/>
          <p:cNvSpPr/>
          <p:nvPr/>
        </p:nvSpPr>
        <p:spPr>
          <a:xfrm>
            <a:off x="6903720" y="1554480"/>
            <a:ext cx="137160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08" name="Text 83"/>
          <p:cNvSpPr txBox="1"/>
          <p:nvPr/>
        </p:nvSpPr>
        <p:spPr>
          <a:xfrm>
            <a:off x="6702552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09" name="Shape 84"/>
          <p:cNvSpPr/>
          <p:nvPr/>
        </p:nvSpPr>
        <p:spPr>
          <a:xfrm>
            <a:off x="7845552" y="1554480"/>
            <a:ext cx="137160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10" name="Text 85"/>
          <p:cNvSpPr txBox="1"/>
          <p:nvPr/>
        </p:nvSpPr>
        <p:spPr>
          <a:xfrm>
            <a:off x="7644384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11" name="Shape 86"/>
          <p:cNvSpPr/>
          <p:nvPr/>
        </p:nvSpPr>
        <p:spPr>
          <a:xfrm>
            <a:off x="3291840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12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13" name="Text 87"/>
          <p:cNvSpPr txBox="1"/>
          <p:nvPr/>
        </p:nvSpPr>
        <p:spPr>
          <a:xfrm>
            <a:off x="3557016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80" dirty="0"/>
          </a:p>
        </p:txBody>
      </p:sp>
      <p:sp>
        <p:nvSpPr>
          <p:cNvPr id="114" name="Text 88"/>
          <p:cNvSpPr txBox="1"/>
          <p:nvPr/>
        </p:nvSpPr>
        <p:spPr>
          <a:xfrm>
            <a:off x="3337560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calls back when the AI fails — the only human hand-over</a:t>
            </a:r>
            <a:endParaRPr lang="en-US" sz="600" dirty="0"/>
          </a:p>
        </p:txBody>
      </p:sp>
      <p:sp>
        <p:nvSpPr>
          <p:cNvPr id="115" name="Shape 89"/>
          <p:cNvSpPr/>
          <p:nvPr/>
        </p:nvSpPr>
        <p:spPr>
          <a:xfrm>
            <a:off x="6117336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1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63056" y="2258568"/>
            <a:ext cx="182880" cy="182880"/>
          </a:xfrm>
          <a:prstGeom prst="rect">
            <a:avLst/>
          </a:prstGeom>
        </p:spPr>
      </p:pic>
      <p:sp>
        <p:nvSpPr>
          <p:cNvPr id="117" name="Text 90"/>
          <p:cNvSpPr txBox="1"/>
          <p:nvPr/>
        </p:nvSpPr>
        <p:spPr>
          <a:xfrm>
            <a:off x="6382512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80" dirty="0"/>
          </a:p>
        </p:txBody>
      </p:sp>
      <p:sp>
        <p:nvSpPr>
          <p:cNvPr id="118" name="Text 91"/>
          <p:cNvSpPr txBox="1"/>
          <p:nvPr/>
        </p:nvSpPr>
        <p:spPr>
          <a:xfrm>
            <a:off x="6163056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 first; bigger one only if unsure or the caller is unhappy</a:t>
            </a:r>
            <a:endParaRPr lang="en-US" sz="600" dirty="0"/>
          </a:p>
        </p:txBody>
      </p:sp>
      <p:sp>
        <p:nvSpPr>
          <p:cNvPr id="119" name="Shape 92"/>
          <p:cNvSpPr/>
          <p:nvPr/>
        </p:nvSpPr>
        <p:spPr>
          <a:xfrm>
            <a:off x="7059168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20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104888" y="2258568"/>
            <a:ext cx="182880" cy="182880"/>
          </a:xfrm>
          <a:prstGeom prst="rect">
            <a:avLst/>
          </a:prstGeom>
        </p:spPr>
      </p:pic>
      <p:sp>
        <p:nvSpPr>
          <p:cNvPr id="121" name="Text 93"/>
          <p:cNvSpPr txBox="1"/>
          <p:nvPr/>
        </p:nvSpPr>
        <p:spPr>
          <a:xfrm>
            <a:off x="7324344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data</a:t>
            </a:r>
            <a:endParaRPr lang="en-US" sz="680" dirty="0"/>
          </a:p>
        </p:txBody>
      </p:sp>
      <p:sp>
        <p:nvSpPr>
          <p:cNvPr id="122" name="Text 94"/>
          <p:cNvSpPr txBox="1"/>
          <p:nvPr/>
        </p:nvSpPr>
        <p:spPr>
          <a:xfrm>
            <a:off x="7104888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pgvector: rules, NQR courses, NCO jobs, centres</a:t>
            </a:r>
            <a:endParaRPr lang="en-US" sz="600" dirty="0"/>
          </a:p>
        </p:txBody>
      </p:sp>
      <p:sp>
        <p:nvSpPr>
          <p:cNvPr id="123" name="Shape 95"/>
          <p:cNvSpPr/>
          <p:nvPr/>
        </p:nvSpPr>
        <p:spPr>
          <a:xfrm>
            <a:off x="8001000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24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46720" y="2258568"/>
            <a:ext cx="182880" cy="182880"/>
          </a:xfrm>
          <a:prstGeom prst="rect">
            <a:avLst/>
          </a:prstGeom>
        </p:spPr>
      </p:pic>
      <p:sp>
        <p:nvSpPr>
          <p:cNvPr id="125" name="Text 96"/>
          <p:cNvSpPr txBox="1"/>
          <p:nvPr/>
        </p:nvSpPr>
        <p:spPr>
          <a:xfrm>
            <a:off x="8266176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80" dirty="0"/>
          </a:p>
        </p:txBody>
      </p:sp>
      <p:sp>
        <p:nvSpPr>
          <p:cNvPr id="126" name="Text 97"/>
          <p:cNvSpPr txBox="1"/>
          <p:nvPr/>
        </p:nvSpPr>
        <p:spPr>
          <a:xfrm>
            <a:off x="8046720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v3; fixed prompts pre-recorded once (free)</a:t>
            </a:r>
            <a:endParaRPr lang="en-US" sz="600" dirty="0"/>
          </a:p>
        </p:txBody>
      </p:sp>
      <p:sp>
        <p:nvSpPr>
          <p:cNvPr id="127" name="Shape 98"/>
          <p:cNvSpPr/>
          <p:nvPr/>
        </p:nvSpPr>
        <p:spPr>
          <a:xfrm>
            <a:off x="3675888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28" name="Text 99"/>
          <p:cNvSpPr txBox="1"/>
          <p:nvPr/>
        </p:nvSpPr>
        <p:spPr>
          <a:xfrm>
            <a:off x="3703320" y="2011680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fails</a:t>
            </a:r>
            <a:endParaRPr lang="en-US" sz="580" dirty="0"/>
          </a:p>
        </p:txBody>
      </p:sp>
      <p:sp>
        <p:nvSpPr>
          <p:cNvPr id="129" name="Shape 100"/>
          <p:cNvSpPr/>
          <p:nvPr/>
        </p:nvSpPr>
        <p:spPr>
          <a:xfrm>
            <a:off x="6501384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30" name="Text 101"/>
          <p:cNvSpPr txBox="1"/>
          <p:nvPr/>
        </p:nvSpPr>
        <p:spPr>
          <a:xfrm>
            <a:off x="6528816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model</a:t>
            </a:r>
            <a:endParaRPr lang="en-US" sz="580" dirty="0"/>
          </a:p>
        </p:txBody>
      </p:sp>
      <p:sp>
        <p:nvSpPr>
          <p:cNvPr id="131" name="Shape 102"/>
          <p:cNvSpPr/>
          <p:nvPr/>
        </p:nvSpPr>
        <p:spPr>
          <a:xfrm>
            <a:off x="7443216" y="1847088"/>
            <a:ext cx="0" cy="347472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32" name="Text 103"/>
          <p:cNvSpPr txBox="1"/>
          <p:nvPr/>
        </p:nvSpPr>
        <p:spPr>
          <a:xfrm>
            <a:off x="7114032" y="2011680"/>
            <a:ext cx="301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33" name="Shape 104"/>
          <p:cNvSpPr/>
          <p:nvPr/>
        </p:nvSpPr>
        <p:spPr>
          <a:xfrm>
            <a:off x="7717536" y="2048256"/>
            <a:ext cx="0" cy="146304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34" name="Shape 105"/>
          <p:cNvSpPr/>
          <p:nvPr/>
        </p:nvSpPr>
        <p:spPr>
          <a:xfrm>
            <a:off x="7717536" y="2048256"/>
            <a:ext cx="521208" cy="0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35" name="Shape 106"/>
          <p:cNvSpPr/>
          <p:nvPr/>
        </p:nvSpPr>
        <p:spPr>
          <a:xfrm>
            <a:off x="8238744" y="1847088"/>
            <a:ext cx="0" cy="201168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36" name="Text 107"/>
          <p:cNvSpPr txBox="1"/>
          <p:nvPr/>
        </p:nvSpPr>
        <p:spPr>
          <a:xfrm>
            <a:off x="7744968" y="2066544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37" name="Shape 108"/>
          <p:cNvSpPr/>
          <p:nvPr/>
        </p:nvSpPr>
        <p:spPr>
          <a:xfrm>
            <a:off x="8531352" y="1847088"/>
            <a:ext cx="0" cy="347472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38" name="Text 109"/>
          <p:cNvSpPr txBox="1"/>
          <p:nvPr/>
        </p:nvSpPr>
        <p:spPr>
          <a:xfrm>
            <a:off x="8558784" y="2011680"/>
            <a:ext cx="301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580" dirty="0"/>
          </a:p>
        </p:txBody>
      </p:sp>
      <p:sp>
        <p:nvSpPr>
          <p:cNvPr id="139" name="Shape 110"/>
          <p:cNvSpPr/>
          <p:nvPr/>
        </p:nvSpPr>
        <p:spPr>
          <a:xfrm>
            <a:off x="8385048" y="2871216"/>
            <a:ext cx="0" cy="73152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40" name="Shape 111"/>
          <p:cNvSpPr/>
          <p:nvPr/>
        </p:nvSpPr>
        <p:spPr>
          <a:xfrm>
            <a:off x="5559552" y="2944368"/>
            <a:ext cx="2825496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41" name="Shape 112"/>
          <p:cNvSpPr/>
          <p:nvPr/>
        </p:nvSpPr>
        <p:spPr>
          <a:xfrm>
            <a:off x="5559552" y="1847088"/>
            <a:ext cx="0" cy="109728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headEnd type="triangle"/>
          </a:ln>
        </p:spPr>
      </p:sp>
      <p:sp>
        <p:nvSpPr>
          <p:cNvPr id="142" name="Text 113"/>
          <p:cNvSpPr txBox="1"/>
          <p:nvPr/>
        </p:nvSpPr>
        <p:spPr>
          <a:xfrm>
            <a:off x="5586984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43" name="Text 114"/>
          <p:cNvSpPr txBox="1"/>
          <p:nvPr/>
        </p:nvSpPr>
        <p:spPr>
          <a:xfrm>
            <a:off x="5696712" y="2953512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44" name="Shape 115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45" name="Text 116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46" name="Shape 117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47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48" name="Text 118"/>
          <p:cNvSpPr txBox="1"/>
          <p:nvPr/>
        </p:nvSpPr>
        <p:spPr>
          <a:xfrm>
            <a:off x="3557016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49" name="Text 119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service + rules engine (eligibility)</a:t>
            </a:r>
            <a:endParaRPr lang="en-US" sz="600" dirty="0"/>
          </a:p>
        </p:txBody>
      </p:sp>
      <p:sp>
        <p:nvSpPr>
          <p:cNvPr id="150" name="Shape 120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51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52" name="Text 121"/>
          <p:cNvSpPr txBox="1"/>
          <p:nvPr/>
        </p:nvSpPr>
        <p:spPr>
          <a:xfrm>
            <a:off x="4498848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53" name="Text 122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· skills · options · cases · follow-ups · audit log</a:t>
            </a:r>
            <a:endParaRPr lang="en-US" sz="600" dirty="0"/>
          </a:p>
        </p:txBody>
      </p:sp>
      <p:sp>
        <p:nvSpPr>
          <p:cNvPr id="154" name="Shape 123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55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56" name="Text 124"/>
          <p:cNvSpPr txBox="1"/>
          <p:nvPr/>
        </p:nvSpPr>
        <p:spPr>
          <a:xfrm>
            <a:off x="5440680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</a:t>
            </a:r>
            <a:endParaRPr lang="en-US" sz="680" dirty="0"/>
          </a:p>
        </p:txBody>
      </p:sp>
      <p:sp>
        <p:nvSpPr>
          <p:cNvPr id="157" name="Text 125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Seva: documents + Aadhaar e-KYC*</a:t>
            </a:r>
            <a:endParaRPr lang="en-US" sz="600" dirty="0"/>
          </a:p>
        </p:txBody>
      </p:sp>
      <p:sp>
        <p:nvSpPr>
          <p:cNvPr id="158" name="Shape 126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59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60" name="Text 127"/>
          <p:cNvSpPr txBox="1"/>
          <p:nvPr/>
        </p:nvSpPr>
        <p:spPr>
          <a:xfrm>
            <a:off x="6382512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61" name="Text 128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 the case</a:t>
            </a:r>
            <a:endParaRPr lang="en-US" sz="600" dirty="0"/>
          </a:p>
        </p:txBody>
      </p:sp>
      <p:sp>
        <p:nvSpPr>
          <p:cNvPr id="162" name="Shape 129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6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64" name="Text 130"/>
          <p:cNvSpPr txBox="1"/>
          <p:nvPr/>
        </p:nvSpPr>
        <p:spPr>
          <a:xfrm>
            <a:off x="7324344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65" name="Text 131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months; retries</a:t>
            </a:r>
            <a:endParaRPr lang="en-US" sz="600" dirty="0"/>
          </a:p>
        </p:txBody>
      </p:sp>
      <p:sp>
        <p:nvSpPr>
          <p:cNvPr id="166" name="Shape 132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167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68" name="Text 133"/>
          <p:cNvSpPr txBox="1"/>
          <p:nvPr/>
        </p:nvSpPr>
        <p:spPr>
          <a:xfrm>
            <a:off x="8266176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69" name="Text 134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Leaflet: demand map, project drafts</a:t>
            </a:r>
            <a:endParaRPr lang="en-US" sz="600" dirty="0"/>
          </a:p>
        </p:txBody>
      </p:sp>
      <p:sp>
        <p:nvSpPr>
          <p:cNvPr id="170" name="Shape 135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71" name="Text 136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72" name="Shape 137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73" name="Text 138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74" name="Shape 139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75" name="Text 140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76" name="Shape 141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77" name="Text 142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78" name="Shape 143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79" name="Text 144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80" name="Shape 145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81" name="Text 146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82" name="Shape 147"/>
          <p:cNvSpPr/>
          <p:nvPr/>
        </p:nvSpPr>
        <p:spPr>
          <a:xfrm>
            <a:off x="3291840" y="4041648"/>
            <a:ext cx="5486400" cy="256032"/>
          </a:xfrm>
          <a:prstGeom prst="roundRect">
            <a:avLst>
              <a:gd name="adj" fmla="val 14286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8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37560" y="4096512"/>
            <a:ext cx="146304" cy="146304"/>
          </a:xfrm>
          <a:prstGeom prst="rect">
            <a:avLst/>
          </a:prstGeom>
        </p:spPr>
      </p:pic>
      <p:sp>
        <p:nvSpPr>
          <p:cNvPr id="184" name="Text 148"/>
          <p:cNvSpPr txBox="1"/>
          <p:nvPr/>
        </p:nvSpPr>
        <p:spPr>
          <a:xfrm>
            <a:off x="3529584" y="40416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with mobile number + OTP → the same FastAPI and the same tables. The family, the CSC operator or the officer can view and edit the case at any time — no phone call needed.</a:t>
            </a:r>
            <a:endParaRPr lang="en-US" sz="650" dirty="0"/>
          </a:p>
        </p:txBody>
      </p:sp>
      <p:sp>
        <p:nvSpPr>
          <p:cNvPr id="185" name="Shape 149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86" name="Text 150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187" name="Text 151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stored; raw audio deleted after confirmation; consent logged (DPDP Rules 2025); every edit in the audit log.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every piece already works in India today, every model is available by API now, and one completed call costs about ₹32–65.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— NOTHING HERE IS NEW TECHNOLOGY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09674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22 languages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already runs Sarvam's voice AI for Aadhaar in 10 of its 22 Indian languages, on its own servers.</a:t>
            </a:r>
            <a:endParaRPr lang="en-US" sz="680" dirty="0"/>
          </a:p>
        </p:txBody>
      </p:sp>
      <p:sp>
        <p:nvSpPr>
          <p:cNvPr id="14" name="Shape 10"/>
          <p:cNvSpPr/>
          <p:nvPr/>
        </p:nvSpPr>
        <p:spPr>
          <a:xfrm>
            <a:off x="365760" y="2048256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0624" y="2048256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PIB / MeitY 2025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24460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5374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09674"/>
            <a:ext cx="217627" cy="21762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9215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Kilkari, the government's health-advice call system, already handles this volume every day.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2537460" y="2048256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92324" y="2048256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BMJ Global Health 2021</a:t>
            </a:r>
            <a:endParaRPr lang="en-US" sz="600" dirty="0"/>
          </a:p>
        </p:txBody>
      </p:sp>
      <p:sp>
        <p:nvSpPr>
          <p:cNvPr id="23" name="Shape 18"/>
          <p:cNvSpPr/>
          <p:nvPr/>
        </p:nvSpPr>
        <p:spPr>
          <a:xfrm>
            <a:off x="46177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7091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09674"/>
            <a:ext cx="217627" cy="21762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932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 measured on real phone calls: 36,691 speakers, 15 languages.</a:t>
            </a:r>
            <a:endParaRPr lang="en-US" sz="680" dirty="0"/>
          </a:p>
        </p:txBody>
      </p:sp>
      <p:sp>
        <p:nvSpPr>
          <p:cNvPr id="28" name="Shape 22"/>
          <p:cNvSpPr/>
          <p:nvPr/>
        </p:nvSpPr>
        <p:spPr>
          <a:xfrm>
            <a:off x="4709160" y="2048256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764024" y="2048256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Voice of India benchmark 2026</a:t>
            </a:r>
            <a:endParaRPr lang="en-US" sz="600" dirty="0"/>
          </a:p>
        </p:txBody>
      </p:sp>
      <p:sp>
        <p:nvSpPr>
          <p:cNvPr id="30" name="Shape 24"/>
          <p:cNvSpPr/>
          <p:nvPr/>
        </p:nvSpPr>
        <p:spPr>
          <a:xfrm>
            <a:off x="67894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8808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09674"/>
            <a:ext cx="217627" cy="21762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2649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available today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68808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APIs, Pipecat, Exotel trial, PostgreSQL, React — the prototype can be built right now.</a:t>
            </a:r>
            <a:endParaRPr lang="en-US" sz="680" dirty="0"/>
          </a:p>
        </p:txBody>
      </p:sp>
      <p:sp>
        <p:nvSpPr>
          <p:cNvPr id="35" name="Shape 28"/>
          <p:cNvSpPr/>
          <p:nvPr/>
        </p:nvSpPr>
        <p:spPr>
          <a:xfrm>
            <a:off x="6880860" y="2048256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935724" y="2048256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prototype plan</a:t>
            </a:r>
            <a:endParaRPr lang="en-US" sz="600" dirty="0"/>
          </a:p>
        </p:txBody>
      </p:sp>
      <p:sp>
        <p:nvSpPr>
          <p:cNvPr id="37" name="Text 30"/>
          <p:cNvSpPr txBox="1"/>
          <p:nvPr/>
        </p:nvSpPr>
        <p:spPr>
          <a:xfrm>
            <a:off x="274320" y="230428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COMPLETED CALL COSTS — ₹ PER PERSON</a:t>
            </a:r>
            <a:endParaRPr lang="en-US" sz="850" dirty="0"/>
          </a:p>
        </p:txBody>
      </p:sp>
      <p:sp>
        <p:nvSpPr>
          <p:cNvPr id="38" name="Text 31"/>
          <p:cNvSpPr txBox="1"/>
          <p:nvPr/>
        </p:nvSpPr>
        <p:spPr>
          <a:xfrm>
            <a:off x="274320" y="2468880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call = 10-min interview + options + 4 follow-up calls (≈ 18 min of phone time).</a:t>
            </a:r>
            <a:endParaRPr lang="en-US" sz="6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33472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365760"/>
                <a:gridCol w="36576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calculate it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 × ₹0.80–1.80 per minute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₹37.6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→ text (Saaras v3)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per hour of audio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₹9.4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→ speech (Bulbul v3)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per 1,000 characters, spoken sentences only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₹2.4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 of turns on 30B; 105B only when needed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counsellor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SMS; 10–20% of callers need a human call-back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helpline number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servers, database, number — spread per call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completed profile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missed calls → 517 finished profiles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₹32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₹65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</a:tr>
            </a:tbl>
          </a:graphicData>
        </a:graphic>
      </p:graphicFrame>
      <p:sp>
        <p:nvSpPr>
          <p:cNvPr id="40" name="Shape 32"/>
          <p:cNvSpPr/>
          <p:nvPr/>
        </p:nvSpPr>
        <p:spPr>
          <a:xfrm>
            <a:off x="274320" y="3950208"/>
            <a:ext cx="4206240" cy="274320"/>
          </a:xfrm>
          <a:prstGeom prst="roundRect">
            <a:avLst>
              <a:gd name="adj" fmla="val 16667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347472" y="39502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further over time: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questions get pre-written, verified answers (cached), so the AI thinks less each call. Unit prices: Sarvam &amp; Exotel pricing pages; funnel is our estimate.</a:t>
            </a:r>
            <a:endParaRPr lang="en-US" sz="650" dirty="0"/>
          </a:p>
        </p:txBody>
      </p:sp>
      <p:sp>
        <p:nvSpPr>
          <p:cNvPr id="42" name="Text 34"/>
          <p:cNvSpPr txBox="1"/>
          <p:nvPr/>
        </p:nvSpPr>
        <p:spPr>
          <a:xfrm>
            <a:off x="4709160" y="23042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THROUGH — AND WHO NEEDS A HUMAN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4709160" y="2487168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4800600" y="2578608"/>
            <a:ext cx="91440" cy="91440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4956048" y="25328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answer on the 1st attempt, 76% by the 3rd, 99.5% by the 9th</a:t>
            </a:r>
            <a:endParaRPr lang="en-US" sz="680" dirty="0"/>
          </a:p>
        </p:txBody>
      </p:sp>
      <p:sp>
        <p:nvSpPr>
          <p:cNvPr id="46" name="Shape 38"/>
          <p:cNvSpPr/>
          <p:nvPr/>
        </p:nvSpPr>
        <p:spPr>
          <a:xfrm>
            <a:off x="7452360" y="2555748"/>
            <a:ext cx="137160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7507224" y="255574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Kilkari, BMJ Global Health 2021</a:t>
            </a:r>
            <a:endParaRPr lang="en-US" sz="600" dirty="0"/>
          </a:p>
        </p:txBody>
      </p:sp>
      <p:sp>
        <p:nvSpPr>
          <p:cNvPr id="48" name="Shape 40"/>
          <p:cNvSpPr/>
          <p:nvPr/>
        </p:nvSpPr>
        <p:spPr>
          <a:xfrm>
            <a:off x="4800600" y="2793492"/>
            <a:ext cx="91440" cy="91440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4956048" y="274777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answered calls finish the interview; ~85% of those complete the options</a:t>
            </a:r>
            <a:endParaRPr lang="en-US" sz="680" dirty="0"/>
          </a:p>
        </p:txBody>
      </p:sp>
      <p:sp>
        <p:nvSpPr>
          <p:cNvPr id="50" name="Shape 42"/>
          <p:cNvSpPr/>
          <p:nvPr/>
        </p:nvSpPr>
        <p:spPr>
          <a:xfrm>
            <a:off x="7452360" y="2770632"/>
            <a:ext cx="137160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7507224" y="277063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funnel estimate</a:t>
            </a:r>
            <a:endParaRPr lang="en-US" sz="600" dirty="0"/>
          </a:p>
        </p:txBody>
      </p:sp>
      <p:sp>
        <p:nvSpPr>
          <p:cNvPr id="52" name="Shape 44"/>
          <p:cNvSpPr/>
          <p:nvPr/>
        </p:nvSpPr>
        <p:spPr>
          <a:xfrm>
            <a:off x="4800600" y="3008376"/>
            <a:ext cx="91440" cy="91440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4956048" y="29626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 need a human counsellor call-back — design target ≤ 20%</a:t>
            </a:r>
            <a:endParaRPr lang="en-US" sz="680" dirty="0"/>
          </a:p>
        </p:txBody>
      </p:sp>
      <p:sp>
        <p:nvSpPr>
          <p:cNvPr id="54" name="Shape 46"/>
          <p:cNvSpPr/>
          <p:nvPr/>
        </p:nvSpPr>
        <p:spPr>
          <a:xfrm>
            <a:off x="7452360" y="2985516"/>
            <a:ext cx="137160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7507224" y="298551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design target</a:t>
            </a:r>
            <a:endParaRPr lang="en-US" sz="600" dirty="0"/>
          </a:p>
        </p:txBody>
      </p:sp>
      <p:sp>
        <p:nvSpPr>
          <p:cNvPr id="56" name="Shape 48"/>
          <p:cNvSpPr/>
          <p:nvPr/>
        </p:nvSpPr>
        <p:spPr>
          <a:xfrm>
            <a:off x="4800600" y="3223260"/>
            <a:ext cx="91440" cy="9144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4956048" y="317754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reached by phone? The web portal (mobile + OTP) is always open</a:t>
            </a:r>
            <a:endParaRPr lang="en-US" sz="680" dirty="0"/>
          </a:p>
        </p:txBody>
      </p:sp>
      <p:sp>
        <p:nvSpPr>
          <p:cNvPr id="58" name="Text 50"/>
          <p:cNvSpPr txBox="1"/>
          <p:nvPr/>
        </p:nvSpPr>
        <p:spPr>
          <a:xfrm>
            <a:off x="4709160" y="34747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GOVERNMENT AFFORD IT?</a:t>
            </a:r>
            <a:endParaRPr lang="en-US" sz="850" dirty="0"/>
          </a:p>
        </p:txBody>
      </p:sp>
      <p:sp>
        <p:nvSpPr>
          <p:cNvPr id="59" name="Shape 51"/>
          <p:cNvSpPr/>
          <p:nvPr/>
        </p:nvSpPr>
        <p:spPr>
          <a:xfrm>
            <a:off x="4709160" y="3657600"/>
            <a:ext cx="4160520" cy="356616"/>
          </a:xfrm>
          <a:prstGeom prst="roundRect">
            <a:avLst>
              <a:gd name="adj" fmla="val 2051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60" name="Shape 52"/>
          <p:cNvSpPr/>
          <p:nvPr/>
        </p:nvSpPr>
        <p:spPr>
          <a:xfrm>
            <a:off x="4773168" y="3712464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6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201" y="3749497"/>
            <a:ext cx="172822" cy="172822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5084064" y="3657600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0.04–0.07% of the yearly budget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state costs ₹0.8–1.6 crore a year; PM-AJAY's budget is ₹2,140 crore a year.</a:t>
            </a:r>
            <a:endParaRPr lang="en-US" sz="660" dirty="0"/>
          </a:p>
        </p:txBody>
      </p:sp>
      <p:sp>
        <p:nvSpPr>
          <p:cNvPr id="63" name="Shape 54"/>
          <p:cNvSpPr/>
          <p:nvPr/>
        </p:nvSpPr>
        <p:spPr>
          <a:xfrm>
            <a:off x="4709160" y="4050792"/>
            <a:ext cx="4160520" cy="356616"/>
          </a:xfrm>
          <a:prstGeom prst="roundRect">
            <a:avLst>
              <a:gd name="adj" fmla="val 2051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64" name="Shape 55"/>
          <p:cNvSpPr/>
          <p:nvPr/>
        </p:nvSpPr>
        <p:spPr>
          <a:xfrm>
            <a:off x="4773168" y="4105656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6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0201" y="4142689"/>
            <a:ext cx="172822" cy="172822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5084064" y="4050792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to start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pilot in one block (≈ 1,000 families): build, test with real users, then scale.</a:t>
            </a:r>
            <a:endParaRPr lang="en-US" sz="660" dirty="0"/>
          </a:p>
        </p:txBody>
      </p:sp>
      <p:sp>
        <p:nvSpPr>
          <p:cNvPr id="67" name="Shape 57"/>
          <p:cNvSpPr/>
          <p:nvPr/>
        </p:nvSpPr>
        <p:spPr>
          <a:xfrm>
            <a:off x="4709160" y="4443984"/>
            <a:ext cx="4160520" cy="356616"/>
          </a:xfrm>
          <a:prstGeom prst="roundRect">
            <a:avLst>
              <a:gd name="adj" fmla="val 2051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68" name="Shape 58"/>
          <p:cNvSpPr/>
          <p:nvPr/>
        </p:nvSpPr>
        <p:spPr>
          <a:xfrm>
            <a:off x="4773168" y="4498848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0201" y="4535881"/>
            <a:ext cx="172822" cy="172822"/>
          </a:xfrm>
          <a:prstGeom prst="rect">
            <a:avLst/>
          </a:prstGeom>
        </p:spPr>
      </p:pic>
      <p:sp>
        <p:nvSpPr>
          <p:cNvPr id="70" name="Text 59"/>
          <p:cNvSpPr txBox="1"/>
          <p:nvPr/>
        </p:nvSpPr>
        <p:spPr>
          <a:xfrm>
            <a:off x="5084064" y="4443984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new to build on the ground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lakh CSC centres and the AJAY officer app already exist — SkillCall plugs into them.</a:t>
            </a:r>
            <a:endParaRPr lang="en-US" sz="660" dirty="0"/>
          </a:p>
        </p:txBody>
      </p:sp>
      <p:sp>
        <p:nvSpPr>
          <p:cNvPr id="71" name="Text 60"/>
          <p:cNvSpPr txBox="1"/>
          <p:nvPr/>
        </p:nvSpPr>
        <p:spPr>
          <a:xfrm>
            <a:off x="274320" y="427939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HOW WE HANDLE THEM</a:t>
            </a:r>
            <a:endParaRPr lang="en-US" sz="850" dirty="0"/>
          </a:p>
        </p:txBody>
      </p:sp>
      <p:sp>
        <p:nvSpPr>
          <p:cNvPr id="72" name="Text 61"/>
          <p:cNvSpPr txBox="1"/>
          <p:nvPr/>
        </p:nvSpPr>
        <p:spPr>
          <a:xfrm>
            <a:off x="274320" y="4462272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dialects are hard  →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 · read back · bigger model, then a human</a:t>
            </a:r>
            <a:endParaRPr lang="en-US" sz="650" dirty="0"/>
          </a:p>
        </p:txBody>
      </p:sp>
      <p:sp>
        <p:nvSpPr>
          <p:cNvPr id="73" name="Text 62"/>
          <p:cNvSpPr txBox="1"/>
          <p:nvPr/>
        </p:nvSpPr>
        <p:spPr>
          <a:xfrm>
            <a:off x="274320" y="4608576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could say something wrong  →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govt database</a:t>
            </a:r>
            <a:endParaRPr lang="en-US" sz="650" dirty="0"/>
          </a:p>
        </p:txBody>
      </p:sp>
      <p:sp>
        <p:nvSpPr>
          <p:cNvPr id="74" name="Text 63"/>
          <p:cNvSpPr txBox="1"/>
          <p:nvPr/>
        </p:nvSpPr>
        <p:spPr>
          <a:xfrm>
            <a:off x="274320" y="4754880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ignore unknown numbers  →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call-back from an official 1600 number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SC families, CSC operators, district officers and the Ministry. Every number below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09674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trained people get jobs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70% is the government's own target. Per 1,000 trainees, even 50% means 90 more people working.</a:t>
            </a:r>
            <a:endParaRPr lang="en-US" sz="660" dirty="0"/>
          </a:p>
        </p:txBody>
      </p:sp>
      <p:sp>
        <p:nvSpPr>
          <p:cNvPr id="15" name="Shape 11"/>
          <p:cNvSpPr/>
          <p:nvPr/>
        </p:nvSpPr>
        <p:spPr>
          <a:xfrm>
            <a:off x="365760" y="2587752"/>
            <a:ext cx="178308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" y="2587752"/>
            <a:ext cx="1691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2025 · MSDE norms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24460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374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09674"/>
            <a:ext cx="217627" cy="21762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215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stay in the job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25374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percentage points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5374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from 41% to 52% still in the job — when a trainee is told the real pay and place before joining. SkillCall tells him on the call.</a:t>
            </a:r>
            <a:endParaRPr lang="en-US" sz="660" dirty="0"/>
          </a:p>
        </p:txBody>
      </p:sp>
      <p:sp>
        <p:nvSpPr>
          <p:cNvPr id="23" name="Shape 18"/>
          <p:cNvSpPr/>
          <p:nvPr/>
        </p:nvSpPr>
        <p:spPr>
          <a:xfrm>
            <a:off x="2537460" y="2587752"/>
            <a:ext cx="178308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592324" y="2587752"/>
            <a:ext cx="1691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Chakravorty et al. 2024 (field trial)</a:t>
            </a:r>
            <a:endParaRPr lang="en-US" sz="600" dirty="0"/>
          </a:p>
        </p:txBody>
      </p:sp>
      <p:sp>
        <p:nvSpPr>
          <p:cNvPr id="25" name="Shape 20"/>
          <p:cNvSpPr/>
          <p:nvPr/>
        </p:nvSpPr>
        <p:spPr>
          <a:xfrm>
            <a:off x="46177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7091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09674"/>
            <a:ext cx="217627" cy="21762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932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get their time back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47091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 → 7 h a month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47091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officer handling 40 people a month: before 40 × 60 min = 40 h; after 40 × 10 min ≈ 7 h → 33 h saved. India-wide: 50,000 GIA cases × 50 min ≈ 41,700 h a year ≈ 24 full-time officers.</a:t>
            </a:r>
            <a:endParaRPr lang="en-US" sz="660" dirty="0"/>
          </a:p>
        </p:txBody>
      </p:sp>
      <p:sp>
        <p:nvSpPr>
          <p:cNvPr id="31" name="Shape 25"/>
          <p:cNvSpPr/>
          <p:nvPr/>
        </p:nvSpPr>
        <p:spPr>
          <a:xfrm>
            <a:off x="4709160" y="2587752"/>
            <a:ext cx="178308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764024" y="2587752"/>
            <a:ext cx="1691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estimate</a:t>
            </a:r>
            <a:endParaRPr lang="en-US" sz="600" dirty="0"/>
          </a:p>
        </p:txBody>
      </p:sp>
      <p:sp>
        <p:nvSpPr>
          <p:cNvPr id="33" name="Shape 27"/>
          <p:cNvSpPr/>
          <p:nvPr/>
        </p:nvSpPr>
        <p:spPr>
          <a:xfrm>
            <a:off x="67894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8808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09674"/>
            <a:ext cx="217627" cy="21762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2649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wasted</a:t>
            </a:r>
            <a:endParaRPr lang="en-US" sz="850" dirty="0"/>
          </a:p>
        </p:txBody>
      </p:sp>
      <p:sp>
        <p:nvSpPr>
          <p:cNvPr id="37" name="Text 30"/>
          <p:cNvSpPr txBox="1"/>
          <p:nvPr/>
        </p:nvSpPr>
        <p:spPr>
          <a:xfrm>
            <a:off x="68808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 crore a year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68808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just 5 in 100 wrong matches are avoided: 2,500 people × ₹50,000 support — 19–39 times what SkillCall costs to run.</a:t>
            </a:r>
            <a:endParaRPr lang="en-US" sz="660" dirty="0"/>
          </a:p>
        </p:txBody>
      </p:sp>
      <p:sp>
        <p:nvSpPr>
          <p:cNvPr id="39" name="Shape 32"/>
          <p:cNvSpPr/>
          <p:nvPr/>
        </p:nvSpPr>
        <p:spPr>
          <a:xfrm>
            <a:off x="6880860" y="2587752"/>
            <a:ext cx="178308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35724" y="2587752"/>
            <a:ext cx="1691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estimate</a:t>
            </a:r>
            <a:endParaRPr lang="en-US" sz="600" dirty="0"/>
          </a:p>
        </p:txBody>
      </p:sp>
      <p:sp>
        <p:nvSpPr>
          <p:cNvPr id="41" name="Text 34"/>
          <p:cNvSpPr txBox="1"/>
          <p:nvPr/>
        </p:nvSpPr>
        <p:spPr>
          <a:xfrm>
            <a:off x="274320" y="285292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274320" y="303580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65760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651" y="3152851"/>
            <a:ext cx="204826" cy="204826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731520" y="30906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950" dirty="0"/>
          </a:p>
        </p:txBody>
      </p:sp>
      <p:sp>
        <p:nvSpPr>
          <p:cNvPr id="46" name="Text 38"/>
          <p:cNvSpPr txBox="1"/>
          <p:nvPr/>
        </p:nvSpPr>
        <p:spPr>
          <a:xfrm>
            <a:off x="365760" y="34381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 the first time, free, in his own language — and a follow-up call until he is actually earning.</a:t>
            </a:r>
            <a:endParaRPr lang="en-US" sz="690" dirty="0"/>
          </a:p>
        </p:txBody>
      </p:sp>
      <p:sp>
        <p:nvSpPr>
          <p:cNvPr id="47" name="Shape 39"/>
          <p:cNvSpPr/>
          <p:nvPr/>
        </p:nvSpPr>
        <p:spPr>
          <a:xfrm>
            <a:off x="2446020" y="303580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2537460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81351" y="3152851"/>
            <a:ext cx="204826" cy="204826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2903220" y="30906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2537460" y="34381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arrives pre-filled as a table; only documents and e-KYC are left to do.</a:t>
            </a:r>
            <a:endParaRPr lang="en-US" sz="690" dirty="0"/>
          </a:p>
        </p:txBody>
      </p:sp>
      <p:sp>
        <p:nvSpPr>
          <p:cNvPr id="52" name="Shape 43"/>
          <p:cNvSpPr/>
          <p:nvPr/>
        </p:nvSpPr>
        <p:spPr>
          <a:xfrm>
            <a:off x="4617720" y="303580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4709160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3051" y="3152851"/>
            <a:ext cx="204826" cy="204826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5074920" y="30906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950" dirty="0"/>
          </a:p>
        </p:txBody>
      </p:sp>
      <p:sp>
        <p:nvSpPr>
          <p:cNvPr id="56" name="Text 46"/>
          <p:cNvSpPr txBox="1"/>
          <p:nvPr/>
        </p:nvSpPr>
        <p:spPr>
          <a:xfrm>
            <a:off x="4709160" y="34381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 in the AJAY app instead of a 40-minute survey; a demand map by block for the annual plan.</a:t>
            </a:r>
            <a:endParaRPr lang="en-US" sz="690" dirty="0"/>
          </a:p>
        </p:txBody>
      </p:sp>
      <p:sp>
        <p:nvSpPr>
          <p:cNvPr id="57" name="Shape 47"/>
          <p:cNvSpPr/>
          <p:nvPr/>
        </p:nvSpPr>
        <p:spPr>
          <a:xfrm>
            <a:off x="6789420" y="303580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6880860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5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751" y="3152851"/>
            <a:ext cx="204826" cy="204826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7246620" y="30906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950" dirty="0"/>
          </a:p>
        </p:txBody>
      </p:sp>
      <p:sp>
        <p:nvSpPr>
          <p:cNvPr id="61" name="Text 50"/>
          <p:cNvSpPr txBox="1"/>
          <p:nvPr/>
        </p:nvSpPr>
        <p:spPr>
          <a:xfrm>
            <a:off x="6880860" y="34381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from call to job; every outcome marked confirmed (employer / EPFO*) or self-reported.</a:t>
            </a:r>
            <a:endParaRPr lang="en-US" sz="690" dirty="0"/>
          </a:p>
        </p:txBody>
      </p:sp>
      <p:sp>
        <p:nvSpPr>
          <p:cNvPr id="62" name="Text 51"/>
          <p:cNvSpPr txBox="1"/>
          <p:nvPr/>
        </p:nvSpPr>
        <p:spPr>
          <a:xfrm>
            <a:off x="274320" y="3913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63" name="Shape 52"/>
          <p:cNvSpPr/>
          <p:nvPr/>
        </p:nvSpPr>
        <p:spPr>
          <a:xfrm>
            <a:off x="274320" y="4096512"/>
            <a:ext cx="2057400" cy="731520"/>
          </a:xfrm>
          <a:prstGeom prst="roundRect">
            <a:avLst>
              <a:gd name="adj" fmla="val 10000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365760" y="4160520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6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4165" y="4198925"/>
            <a:ext cx="179222" cy="17922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94944" y="4142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900" dirty="0"/>
          </a:p>
        </p:txBody>
      </p:sp>
      <p:sp>
        <p:nvSpPr>
          <p:cNvPr id="67" name="Text 55"/>
          <p:cNvSpPr txBox="1"/>
          <p:nvPr/>
        </p:nvSpPr>
        <p:spPr>
          <a:xfrm>
            <a:off x="365760" y="44622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free, in his own language; right course the first time.</a:t>
            </a:r>
            <a:endParaRPr lang="en-US" sz="690" dirty="0"/>
          </a:p>
        </p:txBody>
      </p:sp>
      <p:sp>
        <p:nvSpPr>
          <p:cNvPr id="68" name="Shape 56"/>
          <p:cNvSpPr/>
          <p:nvPr/>
        </p:nvSpPr>
        <p:spPr>
          <a:xfrm>
            <a:off x="2446020" y="4096512"/>
            <a:ext cx="2057400" cy="73152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69" name="Shape 57"/>
          <p:cNvSpPr/>
          <p:nvPr/>
        </p:nvSpPr>
        <p:spPr>
          <a:xfrm>
            <a:off x="2537460" y="4160520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5865" y="4198925"/>
            <a:ext cx="179222" cy="179222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2866644" y="4142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900" dirty="0"/>
          </a:p>
        </p:txBody>
      </p:sp>
      <p:sp>
        <p:nvSpPr>
          <p:cNvPr id="72" name="Text 59"/>
          <p:cNvSpPr txBox="1"/>
          <p:nvPr/>
        </p:nvSpPr>
        <p:spPr>
          <a:xfrm>
            <a:off x="2537460" y="44622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spent on wrong training; more people earning — proved by follow-up, not assumed.</a:t>
            </a:r>
            <a:endParaRPr lang="en-US" sz="690" dirty="0"/>
          </a:p>
        </p:txBody>
      </p:sp>
      <p:sp>
        <p:nvSpPr>
          <p:cNvPr id="73" name="Shape 60"/>
          <p:cNvSpPr/>
          <p:nvPr/>
        </p:nvSpPr>
        <p:spPr>
          <a:xfrm>
            <a:off x="4617720" y="4096512"/>
            <a:ext cx="2057400" cy="73152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74" name="Shape 61"/>
          <p:cNvSpPr/>
          <p:nvPr/>
        </p:nvSpPr>
        <p:spPr>
          <a:xfrm>
            <a:off x="4709160" y="4160520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7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47565" y="4198925"/>
            <a:ext cx="179222" cy="179222"/>
          </a:xfrm>
          <a:prstGeom prst="rect">
            <a:avLst/>
          </a:prstGeom>
        </p:spPr>
      </p:pic>
      <p:sp>
        <p:nvSpPr>
          <p:cNvPr id="76" name="Text 62"/>
          <p:cNvSpPr txBox="1"/>
          <p:nvPr/>
        </p:nvSpPr>
        <p:spPr>
          <a:xfrm>
            <a:off x="5038344" y="4142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77" name="Text 63"/>
          <p:cNvSpPr txBox="1"/>
          <p:nvPr/>
        </p:nvSpPr>
        <p:spPr>
          <a:xfrm>
            <a:off x="4709160" y="44622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record for CSC, officer, partner and bank; planning data instead of paper forms.</a:t>
            </a:r>
            <a:endParaRPr lang="en-US" sz="690" dirty="0"/>
          </a:p>
        </p:txBody>
      </p:sp>
      <p:sp>
        <p:nvSpPr>
          <p:cNvPr id="78" name="Shape 64"/>
          <p:cNvSpPr/>
          <p:nvPr/>
        </p:nvSpPr>
        <p:spPr>
          <a:xfrm>
            <a:off x="6789420" y="4096512"/>
            <a:ext cx="2057400" cy="73152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79" name="Shape 65"/>
          <p:cNvSpPr/>
          <p:nvPr/>
        </p:nvSpPr>
        <p:spPr>
          <a:xfrm>
            <a:off x="6880860" y="4160520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8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9265" y="4198925"/>
            <a:ext cx="179222" cy="179222"/>
          </a:xfrm>
          <a:prstGeom prst="rect">
            <a:avLst/>
          </a:prstGeom>
        </p:spPr>
      </p:pic>
      <p:sp>
        <p:nvSpPr>
          <p:cNvPr id="81" name="Text 66"/>
          <p:cNvSpPr txBox="1"/>
          <p:nvPr/>
        </p:nvSpPr>
        <p:spPr>
          <a:xfrm>
            <a:off x="7210044" y="4142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sp>
        <p:nvSpPr>
          <p:cNvPr id="82" name="Text 67"/>
          <p:cNvSpPr txBox="1"/>
          <p:nvPr/>
        </p:nvSpPr>
        <p:spPr>
          <a:xfrm>
            <a:off x="6880860" y="44622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runs on the shared government cloud.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426464"/>
          </a:xfrm>
          <a:prstGeom prst="roundRect">
            <a:avLst>
              <a:gd name="adj" fmla="val 5128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969264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2" y="1004926"/>
            <a:ext cx="166421" cy="1664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9509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1298448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29844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 audit (41% placed)   </a:t>
            </a:r>
            <a:r>
              <a:rPr lang="en-US" sz="70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365760" y="1545336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154533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GIA norms &amp; beneficiaries — PIB 2023 / 2025   </a:t>
            </a:r>
            <a:r>
              <a:rPr lang="en-US" sz="70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65760" y="1792224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179222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budget ₹2,140 cr — Demands for Grants 2026-27   </a:t>
            </a:r>
            <a:r>
              <a:rPr lang="en-US" sz="70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indiabudget.gov.in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365760" y="2039112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2039112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(women's phone access) · Census 2011 (SC literacy)   </a:t>
            </a:r>
            <a:r>
              <a:rPr lang="en-US" sz="70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663440" y="896112"/>
            <a:ext cx="4206240" cy="1426464"/>
          </a:xfrm>
          <a:prstGeom prst="roundRect">
            <a:avLst>
              <a:gd name="adj" fmla="val 5128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54880" y="969264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0542" y="1004926"/>
            <a:ext cx="166421" cy="16642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065776" y="9509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754880" y="1298448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46320" y="129844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2024, J. Dev. Econ. — honest job info → +11 pts retention   </a:t>
            </a:r>
            <a:r>
              <a:rPr lang="en-US" sz="70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sciencedirect.com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4754880" y="1545336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154533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call answer rates   </a:t>
            </a:r>
            <a:r>
              <a:rPr lang="en-US" sz="70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4754880" y="1792224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46320" y="179222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Indian speech-AI benchmark on real calls   </a:t>
            </a:r>
            <a:r>
              <a:rPr lang="en-US" sz="70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4754880" y="2039112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46320" y="2039112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UIs for low-literacy users   </a:t>
            </a:r>
            <a:r>
              <a:rPr lang="en-US" sz="70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4320" y="2414016"/>
            <a:ext cx="4206240" cy="1426464"/>
          </a:xfrm>
          <a:prstGeom prst="roundRect">
            <a:avLst>
              <a:gd name="adj" fmla="val 5128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65760" y="2487168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422" y="2522830"/>
            <a:ext cx="166421" cy="166421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76656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365760" y="2816352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457200" y="2816352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— Saaras v3, Bulbul v3, Sarvam-30B / 105B, pricing   </a:t>
            </a:r>
            <a:r>
              <a:rPr lang="en-US" sz="70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sarvam.ai</a:t>
            </a:r>
            <a:endParaRPr lang="en-US" sz="750" dirty="0"/>
          </a:p>
        </p:txBody>
      </p:sp>
      <p:sp>
        <p:nvSpPr>
          <p:cNvPr id="37" name="Shape 31"/>
          <p:cNvSpPr/>
          <p:nvPr/>
        </p:nvSpPr>
        <p:spPr>
          <a:xfrm>
            <a:off x="365760" y="3063240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306324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— open Indian speech recognition   </a:t>
            </a:r>
            <a:r>
              <a:rPr lang="en-US" sz="70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50" dirty="0"/>
          </a:p>
        </p:txBody>
      </p:sp>
      <p:sp>
        <p:nvSpPr>
          <p:cNvPr id="39" name="Shape 33"/>
          <p:cNvSpPr/>
          <p:nvPr/>
        </p:nvSpPr>
        <p:spPr>
          <a:xfrm>
            <a:off x="365760" y="3310128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7200" y="331012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— open-source voice-agent framework   </a:t>
            </a:r>
            <a:r>
              <a:rPr lang="en-US" sz="70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pipecat.ai</a:t>
            </a:r>
            <a:endParaRPr lang="en-US" sz="750" dirty="0"/>
          </a:p>
        </p:txBody>
      </p:sp>
      <p:sp>
        <p:nvSpPr>
          <p:cNvPr id="41" name="Shape 35"/>
          <p:cNvSpPr/>
          <p:nvPr/>
        </p:nvSpPr>
        <p:spPr>
          <a:xfrm>
            <a:off x="365760" y="3557016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7200" y="355701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(MeitY) · Exotel · PostgreSQL · FastAPI · React   </a:t>
            </a:r>
            <a:r>
              <a:rPr lang="en-US" sz="70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bhashini.gov.in</a:t>
            </a:r>
            <a:endParaRPr lang="en-US" sz="750" dirty="0"/>
          </a:p>
        </p:txBody>
      </p:sp>
      <p:sp>
        <p:nvSpPr>
          <p:cNvPr id="43" name="Shape 37"/>
          <p:cNvSpPr/>
          <p:nvPr/>
        </p:nvSpPr>
        <p:spPr>
          <a:xfrm>
            <a:off x="4663440" y="2414016"/>
            <a:ext cx="4206240" cy="1426464"/>
          </a:xfrm>
          <a:prstGeom prst="roundRect">
            <a:avLst>
              <a:gd name="adj" fmla="val 5128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754880" y="2487168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90542" y="2522830"/>
            <a:ext cx="166421" cy="166421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5065776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754880" y="2816352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4846320" y="2816352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70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50" dirty="0"/>
          </a:p>
        </p:txBody>
      </p:sp>
      <p:sp>
        <p:nvSpPr>
          <p:cNvPr id="49" name="Shape 42"/>
          <p:cNvSpPr/>
          <p:nvPr/>
        </p:nvSpPr>
        <p:spPr>
          <a:xfrm>
            <a:off x="4754880" y="3063240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846320" y="306324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70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50" dirty="0"/>
          </a:p>
        </p:txBody>
      </p:sp>
      <p:sp>
        <p:nvSpPr>
          <p:cNvPr id="51" name="Shape 44"/>
          <p:cNvSpPr/>
          <p:nvPr/>
        </p:nvSpPr>
        <p:spPr>
          <a:xfrm>
            <a:off x="4754880" y="3310128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46320" y="331012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70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50" dirty="0"/>
          </a:p>
        </p:txBody>
      </p:sp>
      <p:sp>
        <p:nvSpPr>
          <p:cNvPr id="53" name="Shape 46"/>
          <p:cNvSpPr/>
          <p:nvPr/>
        </p:nvSpPr>
        <p:spPr>
          <a:xfrm>
            <a:off x="4754880" y="3557016"/>
            <a:ext cx="402336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846320" y="355701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UIDAI–Sarvam voice AI deployment — PIB / MeitY 2025   </a:t>
            </a:r>
            <a:r>
              <a:rPr lang="en-US" sz="70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50" dirty="0"/>
          </a:p>
        </p:txBody>
      </p:sp>
      <p:sp>
        <p:nvSpPr>
          <p:cNvPr id="55" name="Text 48"/>
          <p:cNvSpPr txBox="1"/>
          <p:nvPr/>
        </p:nvSpPr>
        <p:spPr>
          <a:xfrm>
            <a:off x="274320" y="39502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 — EVERYTHING THE SIX SLIDES COULD NOT FIT</a:t>
            </a:r>
            <a:endParaRPr lang="en-US" sz="850" dirty="0"/>
          </a:p>
        </p:txBody>
      </p:sp>
      <p:sp>
        <p:nvSpPr>
          <p:cNvPr id="56" name="Shape 49"/>
          <p:cNvSpPr/>
          <p:nvPr/>
        </p:nvSpPr>
        <p:spPr>
          <a:xfrm>
            <a:off x="274320" y="413308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365760" y="420624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6908" y="4247388"/>
            <a:ext cx="192024" cy="192024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713232" y="41879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365760" y="449884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code, architecture docs, API reference</a:t>
            </a:r>
            <a:endParaRPr lang="en-US" sz="660" dirty="0"/>
          </a:p>
        </p:txBody>
      </p:sp>
      <p:sp>
        <p:nvSpPr>
          <p:cNvPr id="61" name="Text 53"/>
          <p:cNvSpPr txBox="1"/>
          <p:nvPr/>
        </p:nvSpPr>
        <p:spPr>
          <a:xfrm>
            <a:off x="365760" y="4645152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github.com/cognify/skillcall  (add link)</a:t>
            </a:r>
            <a:endParaRPr lang="en-US" sz="650" dirty="0"/>
          </a:p>
        </p:txBody>
      </p:sp>
      <p:sp>
        <p:nvSpPr>
          <p:cNvPr id="62" name="Shape 54"/>
          <p:cNvSpPr/>
          <p:nvPr/>
        </p:nvSpPr>
        <p:spPr>
          <a:xfrm>
            <a:off x="2446020" y="413308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2537460" y="420624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8608" y="4247388"/>
            <a:ext cx="192024" cy="192024"/>
          </a:xfrm>
          <a:prstGeom prst="rect">
            <a:avLst/>
          </a:prstGeom>
        </p:spPr>
      </p:pic>
      <p:sp>
        <p:nvSpPr>
          <p:cNvPr id="65" name="Text 56"/>
          <p:cNvSpPr txBox="1"/>
          <p:nvPr/>
        </p:nvSpPr>
        <p:spPr>
          <a:xfrm>
            <a:off x="2884932" y="41879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66" name="Text 57"/>
          <p:cNvSpPr txBox="1"/>
          <p:nvPr/>
        </p:nvSpPr>
        <p:spPr>
          <a:xfrm>
            <a:off x="2537460" y="449884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SkillCall conversation from your browser</a:t>
            </a:r>
            <a:endParaRPr lang="en-US" sz="660" dirty="0"/>
          </a:p>
        </p:txBody>
      </p:sp>
      <p:sp>
        <p:nvSpPr>
          <p:cNvPr id="67" name="Text 58"/>
          <p:cNvSpPr txBox="1"/>
          <p:nvPr/>
        </p:nvSpPr>
        <p:spPr>
          <a:xfrm>
            <a:off x="2537460" y="4645152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</a:t>
            </a:r>
            <a:endParaRPr lang="en-US" sz="650" dirty="0"/>
          </a:p>
        </p:txBody>
      </p:sp>
      <p:sp>
        <p:nvSpPr>
          <p:cNvPr id="68" name="Shape 59"/>
          <p:cNvSpPr/>
          <p:nvPr/>
        </p:nvSpPr>
        <p:spPr>
          <a:xfrm>
            <a:off x="4617720" y="413308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6467A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4709160" y="420624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0" name="Image 7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50308" y="4247388"/>
            <a:ext cx="192024" cy="192024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5056632" y="41879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900" dirty="0"/>
          </a:p>
        </p:txBody>
      </p:sp>
      <p:sp>
        <p:nvSpPr>
          <p:cNvPr id="72" name="Text 62"/>
          <p:cNvSpPr txBox="1"/>
          <p:nvPr/>
        </p:nvSpPr>
        <p:spPr>
          <a:xfrm>
            <a:off x="4709160" y="449884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walkthrough of a real call</a:t>
            </a:r>
            <a:endParaRPr lang="en-US" sz="660" dirty="0"/>
          </a:p>
        </p:txBody>
      </p:sp>
      <p:sp>
        <p:nvSpPr>
          <p:cNvPr id="73" name="Text 63"/>
          <p:cNvSpPr txBox="1"/>
          <p:nvPr/>
        </p:nvSpPr>
        <p:spPr>
          <a:xfrm>
            <a:off x="4709160" y="4645152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u="sng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</a:t>
            </a:r>
            <a:endParaRPr lang="en-US" sz="650" dirty="0"/>
          </a:p>
        </p:txBody>
      </p:sp>
      <p:sp>
        <p:nvSpPr>
          <p:cNvPr id="74" name="Shape 64"/>
          <p:cNvSpPr/>
          <p:nvPr/>
        </p:nvSpPr>
        <p:spPr>
          <a:xfrm>
            <a:off x="6789420" y="413308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6880860" y="420624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6" name="Image 8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922008" y="4247388"/>
            <a:ext cx="192024" cy="192024"/>
          </a:xfrm>
          <a:prstGeom prst="rect">
            <a:avLst/>
          </a:prstGeom>
        </p:spPr>
      </p:pic>
      <p:sp>
        <p:nvSpPr>
          <p:cNvPr id="77" name="Text 66"/>
          <p:cNvSpPr txBox="1"/>
          <p:nvPr/>
        </p:nvSpPr>
        <p:spPr>
          <a:xfrm>
            <a:off x="7228332" y="41879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file</a:t>
            </a:r>
            <a:endParaRPr lang="en-US" sz="900" dirty="0"/>
          </a:p>
        </p:txBody>
      </p:sp>
      <p:sp>
        <p:nvSpPr>
          <p:cNvPr id="78" name="Text 67"/>
          <p:cNvSpPr txBox="1"/>
          <p:nvPr/>
        </p:nvSpPr>
        <p:spPr>
          <a:xfrm>
            <a:off x="6880860" y="449884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parts, every number with its working</a:t>
            </a:r>
            <a:endParaRPr lang="en-US" sz="660" dirty="0"/>
          </a:p>
        </p:txBody>
      </p:sp>
      <p:sp>
        <p:nvSpPr>
          <p:cNvPr id="79" name="Text 68"/>
          <p:cNvSpPr txBox="1"/>
          <p:nvPr/>
        </p:nvSpPr>
        <p:spPr>
          <a:xfrm>
            <a:off x="6880860" y="4645152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u="sng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</a:t>
            </a:r>
            <a:endParaRPr lang="en-US" sz="650" dirty="0"/>
          </a:p>
        </p:txBody>
      </p:sp>
      <p:sp>
        <p:nvSpPr>
          <p:cNvPr id="80" name="Text 69"/>
          <p:cNvSpPr txBox="1"/>
          <p:nvPr/>
        </p:nvSpPr>
        <p:spPr>
          <a:xfrm>
            <a:off x="274320" y="4864608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Emoji: Microsoft Fluent Emoji (MIT). Logos: official marks via Devicon, Simple Icons and project GitHub profiles. Estimates are marked and show their working.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2026-09-24T23:34:47Z</dcterms:created>
  <dcterms:modified xsi:type="dcterms:W3CDTF">2026-09-24T23:34:47Z</dcterms:modified>
</cp:coreProperties>
</file>