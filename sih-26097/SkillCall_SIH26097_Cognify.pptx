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page in the SIH format. Fill the Team ID, the GitHub repo link and the prototype link before exporting to PDF. Theme is from the team reference file — confirm on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call: missed call → call-back → keypad basics → voice interview with adaptive skill questions → read-back → 1–4 verified options → choose → CSC → officer → follow-ups. The 8 highlights are the USP.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call: Exotel → Pipecat → Saaras v3 (STT) → Sarvam-30B → SATYA validator → Bulbul v3 (TTS). Router: IndicConformer/free first, Saaras/105B when needed, human last. After the call: FastAPI → PostgreSQL → CSC → AJAY app → Celery follow-ups → dashboard. Same tables power the web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Proof: UIDAI–Sarvam, Kilkari, Voice of India benchmark, all APIs available. Cost ₹37–83 per completed profile (full table in the reference file). State cost 0.04–0.08% of the PM-AJAY budget. Four main risks with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with working: 41→70% placement gap; +11 points retention (Chakravorty et al. 2024); ~24 staff-years saved (50 min × 50,000 ÷ 220 days ÷ 8 h); ₹12.5 crore better used (5% × 50,000 × ₹50,000). Benefits by stakeholder and by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grouped by type, each with a link. The 'See more' row is for the GitHub repo, prototype, demo video and the full reference file — add the real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" TargetMode="External"/><Relationship Id="rId7" Type="http://schemas.openxmlformats.org/officeDocument/2006/relationships/hyperlink" Target="https://example.com/" TargetMode="Externa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7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image" Target="../media/image-3-30.png"/><Relationship Id="rId31" Type="http://schemas.openxmlformats.org/officeDocument/2006/relationships/image" Target="../media/image-3-31.png"/><Relationship Id="rId32" Type="http://schemas.openxmlformats.org/officeDocument/2006/relationships/image" Target="../media/image-3-32.png"/><Relationship Id="rId33" Type="http://schemas.openxmlformats.org/officeDocument/2006/relationships/image" Target="../media/image-3-33.png"/><Relationship Id="rId34" Type="http://schemas.openxmlformats.org/officeDocument/2006/relationships/image" Target="../media/image-3-34.png"/><Relationship Id="rId35" Type="http://schemas.openxmlformats.org/officeDocument/2006/relationships/image" Target="../media/image-3-35.png"/><Relationship Id="rId36" Type="http://schemas.openxmlformats.org/officeDocument/2006/relationships/image" Target="../media/image-3-36.pn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ag.gov.in" TargetMode="External"/><Relationship Id="rId4" Type="http://schemas.openxmlformats.org/officeDocument/2006/relationships/hyperlink" Target="https://pib.gov.in" TargetMode="External"/><Relationship Id="rId5" Type="http://schemas.openxmlformats.org/officeDocument/2006/relationships/hyperlink" Target="https://www.indiabudget.gov.in" TargetMode="External"/><Relationship Id="rId6" Type="http://schemas.openxmlformats.org/officeDocument/2006/relationships/hyperlink" Target="https://pib.gov.in" TargetMode="External"/><Relationship Id="rId8" Type="http://schemas.openxmlformats.org/officeDocument/2006/relationships/hyperlink" Target="https://www.sciencedirect.com/journal/journal-of-development-economics" TargetMode="External"/><Relationship Id="rId9" Type="http://schemas.openxmlformats.org/officeDocument/2006/relationships/hyperlink" Target="https://gh.bmj.com" TargetMode="External"/><Relationship Id="rId10" Type="http://schemas.openxmlformats.org/officeDocument/2006/relationships/hyperlink" Target="https://arxiv.org/abs/2604.19151" TargetMode="External"/><Relationship Id="rId11" Type="http://schemas.openxmlformats.org/officeDocument/2006/relationships/hyperlink" Target="https://dl.acm.org" TargetMode="External"/><Relationship Id="rId13" Type="http://schemas.openxmlformats.org/officeDocument/2006/relationships/hyperlink" Target="https://www.sarvam.ai" TargetMode="External"/><Relationship Id="rId14" Type="http://schemas.openxmlformats.org/officeDocument/2006/relationships/hyperlink" Target="https://ai4bharat.iitm.ac.in" TargetMode="External"/><Relationship Id="rId15" Type="http://schemas.openxmlformats.org/officeDocument/2006/relationships/hyperlink" Target="https://pipecat.ai" TargetMode="External"/><Relationship Id="rId16" Type="http://schemas.openxmlformats.org/officeDocument/2006/relationships/hyperlink" Target="https://bhashini.gov.in" TargetMode="External"/><Relationship Id="rId18" Type="http://schemas.openxmlformats.org/officeDocument/2006/relationships/hyperlink" Target="https://www.nqr.gov.in" TargetMode="External"/><Relationship Id="rId19" Type="http://schemas.openxmlformats.org/officeDocument/2006/relationships/hyperlink" Target="https://www.meity.gov.in" TargetMode="External"/><Relationship Id="rId20" Type="http://schemas.openxmlformats.org/officeDocument/2006/relationships/hyperlink" Target="https://www.trai.gov.in" TargetMode="External"/><Relationship Id="rId21" Type="http://schemas.openxmlformats.org/officeDocument/2006/relationships/hyperlink" Target="https://pib.gov.in" TargetMode="External"/><Relationship Id="rId23" Type="http://schemas.openxmlformats.org/officeDocument/2006/relationships/hyperlink" Target="https://github.com/" TargetMode="External"/><Relationship Id="rId24" Type="http://schemas.openxmlformats.org/officeDocument/2006/relationships/hyperlink" Target="https://example.com/" TargetMode="External"/><Relationship Id="rId25" Type="http://schemas.openxmlformats.org/officeDocument/2006/relationships/hyperlink" Target="https://youtube.com/" TargetMode="External"/><Relationship Id="rId26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7" Type="http://schemas.openxmlformats.org/officeDocument/2006/relationships/image" Target="../media/image-6-3.png"/><Relationship Id="rId12" Type="http://schemas.openxmlformats.org/officeDocument/2006/relationships/image" Target="../media/image-6-4.png"/><Relationship Id="rId17" Type="http://schemas.openxmlformats.org/officeDocument/2006/relationships/image" Target="../media/image-6-5.png"/><Relationship Id="rId22" Type="http://schemas.openxmlformats.org/officeDocument/2006/relationships/image" Target="../media/image-6-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86600" y="137160"/>
            <a:ext cx="187452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82880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200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  ·  TITLE PAGE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9436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phone call. Right skill. Right job.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93C5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3794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6112" y="17830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keypad phone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697480" y="1783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93C5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837944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36392" y="17830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in 22 Indian languages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4937760" y="1783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93C5FD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83794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76672" y="17830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100% on the cloud</a:t>
            </a:r>
            <a:endParaRPr 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457200" y="2377440"/>
            <a:ext cx="85039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5800" y="25146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750" dirty="0"/>
          </a:p>
        </p:txBody>
      </p:sp>
      <p:sp>
        <p:nvSpPr>
          <p:cNvPr id="18" name="Text 12"/>
          <p:cNvSpPr txBox="1"/>
          <p:nvPr/>
        </p:nvSpPr>
        <p:spPr>
          <a:xfrm>
            <a:off x="685800" y="26883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SIH26097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251460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750" dirty="0"/>
          </a:p>
        </p:txBody>
      </p:sp>
      <p:sp>
        <p:nvSpPr>
          <p:cNvPr id="20" name="Text 14"/>
          <p:cNvSpPr txBox="1"/>
          <p:nvPr/>
        </p:nvSpPr>
        <p:spPr>
          <a:xfrm>
            <a:off x="4754880" y="26883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Agriculture, FoodTech &amp; Rural Development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685800" y="30175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75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19125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754880" y="30175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750" dirty="0"/>
          </a:p>
        </p:txBody>
      </p:sp>
      <p:sp>
        <p:nvSpPr>
          <p:cNvPr id="24" name="Text 18"/>
          <p:cNvSpPr txBox="1"/>
          <p:nvPr/>
        </p:nvSpPr>
        <p:spPr>
          <a:xfrm>
            <a:off x="4754880" y="3191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4754880" y="352044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750" dirty="0"/>
          </a:p>
        </p:txBody>
      </p:sp>
      <p:sp>
        <p:nvSpPr>
          <p:cNvPr id="26" name="Text 20"/>
          <p:cNvSpPr txBox="1"/>
          <p:nvPr/>
        </p:nvSpPr>
        <p:spPr>
          <a:xfrm>
            <a:off x="4754880" y="36941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  (fill from the SIH portal)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4754880" y="40233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</a:t>
            </a:r>
            <a:endParaRPr lang="en-US" sz="750" dirty="0"/>
          </a:p>
        </p:txBody>
      </p:sp>
      <p:sp>
        <p:nvSpPr>
          <p:cNvPr id="28" name="Text 22"/>
          <p:cNvSpPr txBox="1"/>
          <p:nvPr/>
        </p:nvSpPr>
        <p:spPr>
          <a:xfrm>
            <a:off x="4754880" y="41970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4645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Cognify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840480" y="4645152"/>
            <a:ext cx="2697480" cy="274320"/>
          </a:xfrm>
          <a:prstGeom prst="roundRect">
            <a:avLst>
              <a:gd name="adj" fmla="val 33333"/>
            </a:avLst>
          </a:prstGeom>
          <a:solidFill>
            <a:srgbClr val="1D4ED8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840480" y="4645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  →  github.com/cognify/skillcall  (add link)</a:t>
            </a:r>
            <a:endParaRPr lang="en-US" sz="800" dirty="0"/>
          </a:p>
        </p:txBody>
      </p:sp>
      <p:sp>
        <p:nvSpPr>
          <p:cNvPr id="32" name="Shape 26"/>
          <p:cNvSpPr/>
          <p:nvPr/>
        </p:nvSpPr>
        <p:spPr>
          <a:xfrm>
            <a:off x="6675120" y="4645152"/>
            <a:ext cx="2286000" cy="274320"/>
          </a:xfrm>
          <a:prstGeom prst="roundRect">
            <a:avLst>
              <a:gd name="adj" fmla="val 33333"/>
            </a:avLst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7512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prototype  →  (add link)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0E7FF"/>
          </a:solidFill>
          <a:ln w="15875">
            <a:solidFill>
              <a:srgbClr val="1E3A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4663440" cy="777240"/>
          </a:xfrm>
          <a:prstGeom prst="roundRect">
            <a:avLst>
              <a:gd name="adj" fmla="val 11765"/>
            </a:avLst>
          </a:prstGeom>
          <a:solidFill>
            <a:srgbClr val="FFEDD5"/>
          </a:solidFill>
          <a:ln w="9525">
            <a:solidFill>
              <a:srgbClr val="FFEDD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926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49808" y="941832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</a:t>
            </a: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for skill training and business support for poor SC families — but paper forms and field officers pick the course, so people who can't read or don't know the trades land in the wrong one.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5029200" y="896112"/>
            <a:ext cx="1243584" cy="777240"/>
          </a:xfrm>
          <a:prstGeom prst="roundRect">
            <a:avLst>
              <a:gd name="adj" fmla="val 11765"/>
            </a:avLst>
          </a:prstGeom>
          <a:solidFill>
            <a:srgbClr val="FFEDD5"/>
          </a:solidFill>
          <a:ln w="9525">
            <a:solidFill>
              <a:srgbClr val="FFEDD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102352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102352" y="124358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trained people got a job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5102352" y="150876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2025</a:t>
            </a:r>
            <a:endParaRPr lang="en-US" sz="650" dirty="0"/>
          </a:p>
        </p:txBody>
      </p:sp>
      <p:sp>
        <p:nvSpPr>
          <p:cNvPr id="15" name="Shape 11"/>
          <p:cNvSpPr/>
          <p:nvPr/>
        </p:nvSpPr>
        <p:spPr>
          <a:xfrm>
            <a:off x="6327648" y="896112"/>
            <a:ext cx="1243584" cy="777240"/>
          </a:xfrm>
          <a:prstGeom prst="roundRect">
            <a:avLst>
              <a:gd name="adj" fmla="val 11765"/>
            </a:avLst>
          </a:prstGeom>
          <a:solidFill>
            <a:srgbClr val="FCE7F3"/>
          </a:solidFill>
          <a:ln w="9525">
            <a:solidFill>
              <a:srgbClr val="FCE7F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0800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0" y="124358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 cannot read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6400800" y="150876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</a:t>
            </a:r>
            <a:endParaRPr lang="en-US" sz="650" dirty="0"/>
          </a:p>
        </p:txBody>
      </p:sp>
      <p:sp>
        <p:nvSpPr>
          <p:cNvPr id="19" name="Shape 15"/>
          <p:cNvSpPr/>
          <p:nvPr/>
        </p:nvSpPr>
        <p:spPr>
          <a:xfrm>
            <a:off x="7626096" y="896112"/>
            <a:ext cx="1243584" cy="777240"/>
          </a:xfrm>
          <a:prstGeom prst="roundRect">
            <a:avLst>
              <a:gd name="adj" fmla="val 11765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699248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7699248" y="124358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women have no own phone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7699248" y="150876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</a:t>
            </a:r>
            <a:endParaRPr lang="en-US" sz="650" dirty="0"/>
          </a:p>
        </p:txBody>
      </p:sp>
      <p:sp>
        <p:nvSpPr>
          <p:cNvPr id="23" name="Text 19"/>
          <p:cNvSpPr txBox="1"/>
          <p:nvPr/>
        </p:nvSpPr>
        <p:spPr>
          <a:xfrm>
            <a:off x="274320" y="1764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ONE CALL WORKS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274320" y="1965960"/>
            <a:ext cx="1371600" cy="1207008"/>
          </a:xfrm>
          <a:prstGeom prst="roundRect">
            <a:avLst>
              <a:gd name="adj" fmla="val 7576"/>
            </a:avLst>
          </a:prstGeom>
          <a:solidFill>
            <a:srgbClr val="DBEAFE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65760" y="205740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03120"/>
            <a:ext cx="329184" cy="32918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28016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365760" y="25328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call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365760" y="2734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call-back in his own language within a minute.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1719072" y="1965960"/>
            <a:ext cx="1371600" cy="1207008"/>
          </a:xfrm>
          <a:prstGeom prst="roundRect">
            <a:avLst>
              <a:gd name="adj" fmla="val 7576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810512" y="205740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6232" y="2103120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24912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1810512" y="25328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 by keypad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1810512" y="2734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education, distance by keys — a speech error can't change eligibility.</a:t>
            </a:r>
            <a:endParaRPr lang="en-US" sz="750" dirty="0"/>
          </a:p>
        </p:txBody>
      </p:sp>
      <p:sp>
        <p:nvSpPr>
          <p:cNvPr id="36" name="Shape 30"/>
          <p:cNvSpPr/>
          <p:nvPr/>
        </p:nvSpPr>
        <p:spPr>
          <a:xfrm>
            <a:off x="3163824" y="1965960"/>
            <a:ext cx="1371600" cy="1207008"/>
          </a:xfrm>
          <a:prstGeom prst="roundRect">
            <a:avLst>
              <a:gd name="adj" fmla="val 7576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3255264" y="205740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0984" y="2103120"/>
            <a:ext cx="329184" cy="329184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4169664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3255264" y="25328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talks, AI listens</a:t>
            </a:r>
            <a:endParaRPr lang="en-US" sz="900" dirty="0"/>
          </a:p>
        </p:txBody>
      </p:sp>
      <p:sp>
        <p:nvSpPr>
          <p:cNvPr id="41" name="Text 34"/>
          <p:cNvSpPr txBox="1"/>
          <p:nvPr/>
        </p:nvSpPr>
        <p:spPr>
          <a:xfrm>
            <a:off x="3255264" y="2734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work he does; AI asks follow-up skill questions.</a:t>
            </a:r>
            <a:endParaRPr lang="en-US" sz="750" dirty="0"/>
          </a:p>
        </p:txBody>
      </p:sp>
      <p:sp>
        <p:nvSpPr>
          <p:cNvPr id="42" name="Shape 35"/>
          <p:cNvSpPr/>
          <p:nvPr/>
        </p:nvSpPr>
        <p:spPr>
          <a:xfrm>
            <a:off x="4608576" y="1965960"/>
            <a:ext cx="1371600" cy="1207008"/>
          </a:xfrm>
          <a:prstGeom prst="roundRect">
            <a:avLst>
              <a:gd name="adj" fmla="val 7576"/>
            </a:avLst>
          </a:prstGeom>
          <a:solidFill>
            <a:srgbClr val="FEF3C7"/>
          </a:solidFill>
          <a:ln w="9525">
            <a:solidFill>
              <a:srgbClr val="FEF3C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700016" y="205740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2103120"/>
            <a:ext cx="329184" cy="32918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614416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Text 38"/>
          <p:cNvSpPr txBox="1"/>
          <p:nvPr/>
        </p:nvSpPr>
        <p:spPr>
          <a:xfrm>
            <a:off x="4700016" y="25328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&amp; saved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4700016" y="2734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read back, press 1 to confirm, stored as one table row.</a:t>
            </a:r>
            <a:endParaRPr lang="en-US" sz="750" dirty="0"/>
          </a:p>
        </p:txBody>
      </p:sp>
      <p:sp>
        <p:nvSpPr>
          <p:cNvPr id="48" name="Shape 40"/>
          <p:cNvSpPr/>
          <p:nvPr/>
        </p:nvSpPr>
        <p:spPr>
          <a:xfrm>
            <a:off x="6053328" y="1965960"/>
            <a:ext cx="1371600" cy="1207008"/>
          </a:xfrm>
          <a:prstGeom prst="roundRect">
            <a:avLst>
              <a:gd name="adj" fmla="val 7576"/>
            </a:avLst>
          </a:prstGeom>
          <a:solidFill>
            <a:srgbClr val="DCFCE7"/>
          </a:solidFill>
          <a:ln w="9525">
            <a:solidFill>
              <a:srgbClr val="DCFCE7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6144768" y="205740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2103120"/>
            <a:ext cx="329184" cy="329184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7059168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2" name="Text 43"/>
          <p:cNvSpPr txBox="1"/>
          <p:nvPr/>
        </p:nvSpPr>
        <p:spPr>
          <a:xfrm>
            <a:off x="6144768" y="25328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verified options</a:t>
            </a:r>
            <a:endParaRPr lang="en-US" sz="900" dirty="0"/>
          </a:p>
        </p:txBody>
      </p:sp>
      <p:sp>
        <p:nvSpPr>
          <p:cNvPr id="53" name="Text 44"/>
          <p:cNvSpPr txBox="1"/>
          <p:nvPr/>
        </p:nvSpPr>
        <p:spPr>
          <a:xfrm>
            <a:off x="6144768" y="2734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aloud with place, time, benefit. He can ask anything.</a:t>
            </a:r>
            <a:endParaRPr lang="en-US" sz="750" dirty="0"/>
          </a:p>
        </p:txBody>
      </p:sp>
      <p:sp>
        <p:nvSpPr>
          <p:cNvPr id="54" name="Shape 45"/>
          <p:cNvSpPr/>
          <p:nvPr/>
        </p:nvSpPr>
        <p:spPr>
          <a:xfrm>
            <a:off x="7498080" y="1965960"/>
            <a:ext cx="1371600" cy="1207008"/>
          </a:xfrm>
          <a:prstGeom prst="roundRect">
            <a:avLst>
              <a:gd name="adj" fmla="val 7576"/>
            </a:avLst>
          </a:prstGeom>
          <a:solidFill>
            <a:srgbClr val="FCE7F3"/>
          </a:solidFill>
          <a:ln w="9525">
            <a:solidFill>
              <a:srgbClr val="FCE7F3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7589520" y="205740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103120"/>
            <a:ext cx="329184" cy="329184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850392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8" name="Text 48"/>
          <p:cNvSpPr txBox="1"/>
          <p:nvPr/>
        </p:nvSpPr>
        <p:spPr>
          <a:xfrm>
            <a:off x="7589520" y="25328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→ CSC → officer</a:t>
            </a:r>
            <a:endParaRPr lang="en-US" sz="900" dirty="0"/>
          </a:p>
        </p:txBody>
      </p:sp>
      <p:sp>
        <p:nvSpPr>
          <p:cNvPr id="59" name="Text 49"/>
          <p:cNvSpPr txBox="1"/>
          <p:nvPr/>
        </p:nvSpPr>
        <p:spPr>
          <a:xfrm>
            <a:off x="7589520" y="27340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ID; documents at CSC; officer approves; follow-up calls at 1/3/6 months.</a:t>
            </a:r>
            <a:endParaRPr lang="en-US" sz="750" dirty="0"/>
          </a:p>
        </p:txBody>
      </p:sp>
      <p:sp>
        <p:nvSpPr>
          <p:cNvPr id="60" name="Text 50"/>
          <p:cNvSpPr txBox="1"/>
          <p:nvPr/>
        </p:nvSpPr>
        <p:spPr>
          <a:xfrm>
            <a:off x="274320" y="32644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— 8 THINGS A FORM CAN NEVER DO</a:t>
            </a:r>
            <a:endParaRPr lang="en-US" sz="850" dirty="0"/>
          </a:p>
        </p:txBody>
      </p:sp>
      <p:sp>
        <p:nvSpPr>
          <p:cNvPr id="61" name="Shape 51"/>
          <p:cNvSpPr/>
          <p:nvPr/>
        </p:nvSpPr>
        <p:spPr>
          <a:xfrm>
            <a:off x="274320" y="3465576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2" name="Shape 52"/>
          <p:cNvSpPr/>
          <p:nvPr/>
        </p:nvSpPr>
        <p:spPr>
          <a:xfrm>
            <a:off x="347472" y="3557016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6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1480" y="3621024"/>
            <a:ext cx="310896" cy="310896"/>
          </a:xfrm>
          <a:prstGeom prst="rect">
            <a:avLst/>
          </a:prstGeom>
        </p:spPr>
      </p:pic>
      <p:sp>
        <p:nvSpPr>
          <p:cNvPr id="64" name="Text 53"/>
          <p:cNvSpPr txBox="1"/>
          <p:nvPr/>
        </p:nvSpPr>
        <p:spPr>
          <a:xfrm>
            <a:off x="868680" y="3547872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</a:t>
            </a:r>
            <a:endParaRPr lang="en-US" sz="900" dirty="0"/>
          </a:p>
        </p:txBody>
      </p:sp>
      <p:sp>
        <p:nvSpPr>
          <p:cNvPr id="65" name="Text 54"/>
          <p:cNvSpPr txBox="1"/>
          <p:nvPr/>
        </p:nvSpPr>
        <p:spPr>
          <a:xfrm>
            <a:off x="868680" y="3758184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app, no internet, no reading.</a:t>
            </a:r>
            <a:endParaRPr lang="en-US" sz="750" dirty="0"/>
          </a:p>
        </p:txBody>
      </p:sp>
      <p:sp>
        <p:nvSpPr>
          <p:cNvPr id="66" name="Shape 55"/>
          <p:cNvSpPr/>
          <p:nvPr/>
        </p:nvSpPr>
        <p:spPr>
          <a:xfrm>
            <a:off x="2444191" y="3465576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2517343" y="3557016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81351" y="3621024"/>
            <a:ext cx="310896" cy="310896"/>
          </a:xfrm>
          <a:prstGeom prst="rect">
            <a:avLst/>
          </a:prstGeom>
        </p:spPr>
      </p:pic>
      <p:sp>
        <p:nvSpPr>
          <p:cNvPr id="69" name="Text 57"/>
          <p:cNvSpPr txBox="1"/>
          <p:nvPr/>
        </p:nvSpPr>
        <p:spPr>
          <a:xfrm>
            <a:off x="3038551" y="3547872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900" dirty="0"/>
          </a:p>
        </p:txBody>
      </p:sp>
      <p:sp>
        <p:nvSpPr>
          <p:cNvPr id="70" name="Text 58"/>
          <p:cNvSpPr txBox="1"/>
          <p:nvPr/>
        </p:nvSpPr>
        <p:spPr>
          <a:xfrm>
            <a:off x="3038551" y="3758184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doubt answered by AI in his language.</a:t>
            </a:r>
            <a:endParaRPr lang="en-US" sz="750" dirty="0"/>
          </a:p>
        </p:txBody>
      </p:sp>
      <p:sp>
        <p:nvSpPr>
          <p:cNvPr id="71" name="Shape 59"/>
          <p:cNvSpPr/>
          <p:nvPr/>
        </p:nvSpPr>
        <p:spPr>
          <a:xfrm>
            <a:off x="4614062" y="3465576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2" name="Shape 60"/>
          <p:cNvSpPr/>
          <p:nvPr/>
        </p:nvSpPr>
        <p:spPr>
          <a:xfrm>
            <a:off x="4687214" y="3557016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7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1222" y="3621024"/>
            <a:ext cx="310896" cy="310896"/>
          </a:xfrm>
          <a:prstGeom prst="rect">
            <a:avLst/>
          </a:prstGeom>
        </p:spPr>
      </p:pic>
      <p:sp>
        <p:nvSpPr>
          <p:cNvPr id="74" name="Text 61"/>
          <p:cNvSpPr txBox="1"/>
          <p:nvPr/>
        </p:nvSpPr>
        <p:spPr>
          <a:xfrm>
            <a:off x="5208422" y="3547872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not forms</a:t>
            </a:r>
            <a:endParaRPr lang="en-US" sz="900" dirty="0"/>
          </a:p>
        </p:txBody>
      </p:sp>
      <p:sp>
        <p:nvSpPr>
          <p:cNvPr id="75" name="Text 62"/>
          <p:cNvSpPr txBox="1"/>
          <p:nvPr/>
        </p:nvSpPr>
        <p:spPr>
          <a:xfrm>
            <a:off x="5208422" y="3758184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only review ready, arranged data.</a:t>
            </a:r>
            <a:endParaRPr lang="en-US" sz="750" dirty="0"/>
          </a:p>
        </p:txBody>
      </p:sp>
      <p:sp>
        <p:nvSpPr>
          <p:cNvPr id="76" name="Shape 63"/>
          <p:cNvSpPr/>
          <p:nvPr/>
        </p:nvSpPr>
        <p:spPr>
          <a:xfrm>
            <a:off x="6783934" y="3465576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7" name="Shape 64"/>
          <p:cNvSpPr/>
          <p:nvPr/>
        </p:nvSpPr>
        <p:spPr>
          <a:xfrm>
            <a:off x="6857086" y="3557016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1094" y="3621024"/>
            <a:ext cx="310896" cy="310896"/>
          </a:xfrm>
          <a:prstGeom prst="rect">
            <a:avLst/>
          </a:prstGeom>
        </p:spPr>
      </p:pic>
      <p:sp>
        <p:nvSpPr>
          <p:cNvPr id="79" name="Text 65"/>
          <p:cNvSpPr txBox="1"/>
          <p:nvPr/>
        </p:nvSpPr>
        <p:spPr>
          <a:xfrm>
            <a:off x="7378294" y="3547872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questions</a:t>
            </a:r>
            <a:endParaRPr lang="en-US" sz="900" dirty="0"/>
          </a:p>
        </p:txBody>
      </p:sp>
      <p:sp>
        <p:nvSpPr>
          <p:cNvPr id="80" name="Text 66"/>
          <p:cNvSpPr txBox="1"/>
          <p:nvPr/>
        </p:nvSpPr>
        <p:spPr>
          <a:xfrm>
            <a:off x="7378294" y="3758184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mechanic → engine? tyres? oil service?</a:t>
            </a:r>
            <a:endParaRPr lang="en-US" sz="750" dirty="0"/>
          </a:p>
        </p:txBody>
      </p:sp>
      <p:sp>
        <p:nvSpPr>
          <p:cNvPr id="81" name="Shape 67"/>
          <p:cNvSpPr/>
          <p:nvPr/>
        </p:nvSpPr>
        <p:spPr>
          <a:xfrm>
            <a:off x="274320" y="4160520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2" name="Shape 68"/>
          <p:cNvSpPr/>
          <p:nvPr/>
        </p:nvSpPr>
        <p:spPr>
          <a:xfrm>
            <a:off x="347472" y="42519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8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1480" y="4315968"/>
            <a:ext cx="310896" cy="310896"/>
          </a:xfrm>
          <a:prstGeom prst="rect">
            <a:avLst/>
          </a:prstGeom>
        </p:spPr>
      </p:pic>
      <p:sp>
        <p:nvSpPr>
          <p:cNvPr id="84" name="Text 69"/>
          <p:cNvSpPr txBox="1"/>
          <p:nvPr/>
        </p:nvSpPr>
        <p:spPr>
          <a:xfrm>
            <a:off x="868680" y="424281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knowledge</a:t>
            </a:r>
            <a:endParaRPr lang="en-US" sz="900" dirty="0"/>
          </a:p>
        </p:txBody>
      </p:sp>
      <p:sp>
        <p:nvSpPr>
          <p:cNvPr id="85" name="Text 70"/>
          <p:cNvSpPr txBox="1"/>
          <p:nvPr/>
        </p:nvSpPr>
        <p:spPr>
          <a:xfrm>
            <a:off x="868680" y="44531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only from govt data we load — never the internet.</a:t>
            </a:r>
            <a:endParaRPr lang="en-US" sz="750" dirty="0"/>
          </a:p>
        </p:txBody>
      </p:sp>
      <p:sp>
        <p:nvSpPr>
          <p:cNvPr id="86" name="Shape 71"/>
          <p:cNvSpPr/>
          <p:nvPr/>
        </p:nvSpPr>
        <p:spPr>
          <a:xfrm>
            <a:off x="2444191" y="4160520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7" name="Shape 72"/>
          <p:cNvSpPr/>
          <p:nvPr/>
        </p:nvSpPr>
        <p:spPr>
          <a:xfrm>
            <a:off x="2517343" y="42519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8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81351" y="4315968"/>
            <a:ext cx="310896" cy="310896"/>
          </a:xfrm>
          <a:prstGeom prst="rect">
            <a:avLst/>
          </a:prstGeom>
        </p:spPr>
      </p:pic>
      <p:sp>
        <p:nvSpPr>
          <p:cNvPr id="89" name="Text 73"/>
          <p:cNvSpPr txBox="1"/>
          <p:nvPr/>
        </p:nvSpPr>
        <p:spPr>
          <a:xfrm>
            <a:off x="3038551" y="424281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AI (SATYA)</a:t>
            </a:r>
            <a:endParaRPr lang="en-US" sz="900" dirty="0"/>
          </a:p>
        </p:txBody>
      </p:sp>
      <p:sp>
        <p:nvSpPr>
          <p:cNvPr id="90" name="Text 74"/>
          <p:cNvSpPr txBox="1"/>
          <p:nvPr/>
        </p:nvSpPr>
        <p:spPr>
          <a:xfrm>
            <a:off x="3038551" y="44531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Re-checks every fact before it is spoken.</a:t>
            </a:r>
            <a:endParaRPr lang="en-US" sz="750" dirty="0"/>
          </a:p>
        </p:txBody>
      </p:sp>
      <p:sp>
        <p:nvSpPr>
          <p:cNvPr id="91" name="Shape 75"/>
          <p:cNvSpPr/>
          <p:nvPr/>
        </p:nvSpPr>
        <p:spPr>
          <a:xfrm>
            <a:off x="4614062" y="4160520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2" name="Shape 76"/>
          <p:cNvSpPr/>
          <p:nvPr/>
        </p:nvSpPr>
        <p:spPr>
          <a:xfrm>
            <a:off x="4687214" y="42519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9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1222" y="4315968"/>
            <a:ext cx="310896" cy="310896"/>
          </a:xfrm>
          <a:prstGeom prst="rect">
            <a:avLst/>
          </a:prstGeom>
        </p:spPr>
      </p:pic>
      <p:sp>
        <p:nvSpPr>
          <p:cNvPr id="94" name="Text 77"/>
          <p:cNvSpPr txBox="1"/>
          <p:nvPr/>
        </p:nvSpPr>
        <p:spPr>
          <a:xfrm>
            <a:off x="5208422" y="424281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model first</a:t>
            </a:r>
            <a:endParaRPr lang="en-US" sz="900" dirty="0"/>
          </a:p>
        </p:txBody>
      </p:sp>
      <p:sp>
        <p:nvSpPr>
          <p:cNvPr id="95" name="Text 78"/>
          <p:cNvSpPr txBox="1"/>
          <p:nvPr/>
        </p:nvSpPr>
        <p:spPr>
          <a:xfrm>
            <a:off x="5208422" y="44531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model, then a human — only if needed.</a:t>
            </a:r>
            <a:endParaRPr lang="en-US" sz="750" dirty="0"/>
          </a:p>
        </p:txBody>
      </p:sp>
      <p:sp>
        <p:nvSpPr>
          <p:cNvPr id="96" name="Shape 79"/>
          <p:cNvSpPr/>
          <p:nvPr/>
        </p:nvSpPr>
        <p:spPr>
          <a:xfrm>
            <a:off x="6783934" y="4160520"/>
            <a:ext cx="2084832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7" name="Shape 80"/>
          <p:cNvSpPr/>
          <p:nvPr/>
        </p:nvSpPr>
        <p:spPr>
          <a:xfrm>
            <a:off x="6857086" y="42519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9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1094" y="4315968"/>
            <a:ext cx="310896" cy="310896"/>
          </a:xfrm>
          <a:prstGeom prst="rect">
            <a:avLst/>
          </a:prstGeom>
        </p:spPr>
      </p:pic>
      <p:sp>
        <p:nvSpPr>
          <p:cNvPr id="99" name="Text 81"/>
          <p:cNvSpPr txBox="1"/>
          <p:nvPr/>
        </p:nvSpPr>
        <p:spPr>
          <a:xfrm>
            <a:off x="7378294" y="4242816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too</a:t>
            </a:r>
            <a:endParaRPr lang="en-US" sz="900" dirty="0"/>
          </a:p>
        </p:txBody>
      </p:sp>
      <p:sp>
        <p:nvSpPr>
          <p:cNvPr id="100" name="Text 82"/>
          <p:cNvSpPr txBox="1"/>
          <p:nvPr/>
        </p:nvSpPr>
        <p:spPr>
          <a:xfrm>
            <a:off x="7378294" y="44531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login; edit anything, anytime.</a:t>
            </a:r>
            <a:endParaRPr lang="en-US" sz="750" dirty="0"/>
          </a:p>
        </p:txBody>
      </p:sp>
      <p:sp>
        <p:nvSpPr>
          <p:cNvPr id="101" name="Text 83"/>
          <p:cNvSpPr txBox="1"/>
          <p:nvPr/>
        </p:nvSpPr>
        <p:spPr>
          <a:xfrm>
            <a:off x="274320" y="4873752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5 GIA issues in the brief  →  planning · beneficiary selection · placement · coordination · ground staff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0E7FF"/>
          </a:solidFill>
          <a:ln w="15875">
            <a:solidFill>
              <a:srgbClr val="1E3A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74320" y="1097280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DBEAFE"/>
          </a:solidFill>
          <a:ln w="9525">
            <a:solidFill>
              <a:srgbClr val="DBEAF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1792" y="11338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365760" y="138988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426464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138988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780" dirty="0"/>
          </a:p>
        </p:txBody>
      </p:sp>
      <p:sp>
        <p:nvSpPr>
          <p:cNvPr id="14" name="Shape 9"/>
          <p:cNvSpPr/>
          <p:nvPr/>
        </p:nvSpPr>
        <p:spPr>
          <a:xfrm>
            <a:off x="1737360" y="138988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426464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057400" y="138988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</a:t>
            </a:r>
            <a:endParaRPr lang="en-US" sz="780" dirty="0"/>
          </a:p>
        </p:txBody>
      </p:sp>
      <p:sp>
        <p:nvSpPr>
          <p:cNvPr id="17" name="Shape 11"/>
          <p:cNvSpPr/>
          <p:nvPr/>
        </p:nvSpPr>
        <p:spPr>
          <a:xfrm>
            <a:off x="274320" y="1773936"/>
            <a:ext cx="2834640" cy="932688"/>
          </a:xfrm>
          <a:prstGeom prst="roundRect">
            <a:avLst>
              <a:gd name="adj" fmla="val 9804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819656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21792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(Indian, open-source)</a:t>
            </a:r>
            <a:endParaRPr lang="en-US" sz="850" dirty="0"/>
          </a:p>
        </p:txBody>
      </p:sp>
      <p:sp>
        <p:nvSpPr>
          <p:cNvPr id="20" name="Shape 13"/>
          <p:cNvSpPr/>
          <p:nvPr/>
        </p:nvSpPr>
        <p:spPr>
          <a:xfrm>
            <a:off x="365760" y="2066544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2103120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85800" y="206654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· Saaras, Bulbul, 30B / 105B</a:t>
            </a:r>
            <a:endParaRPr lang="en-US" sz="780" dirty="0"/>
          </a:p>
        </p:txBody>
      </p:sp>
      <p:sp>
        <p:nvSpPr>
          <p:cNvPr id="23" name="Shape 15"/>
          <p:cNvSpPr/>
          <p:nvPr/>
        </p:nvSpPr>
        <p:spPr>
          <a:xfrm>
            <a:off x="1737360" y="2066544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2224" y="2103120"/>
            <a:ext cx="201168" cy="20116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2057400" y="206654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</a:t>
            </a:r>
            <a:endParaRPr lang="en-US" sz="780" dirty="0"/>
          </a:p>
        </p:txBody>
      </p:sp>
      <p:sp>
        <p:nvSpPr>
          <p:cNvPr id="26" name="Shape 17"/>
          <p:cNvSpPr/>
          <p:nvPr/>
        </p:nvSpPr>
        <p:spPr>
          <a:xfrm>
            <a:off x="365760" y="239572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" y="2432304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85800" y="239572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engine</a:t>
            </a:r>
            <a:endParaRPr lang="en-US" sz="780" dirty="0"/>
          </a:p>
        </p:txBody>
      </p:sp>
      <p:sp>
        <p:nvSpPr>
          <p:cNvPr id="29" name="Shape 19"/>
          <p:cNvSpPr/>
          <p:nvPr/>
        </p:nvSpPr>
        <p:spPr>
          <a:xfrm>
            <a:off x="1737360" y="239572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2224" y="2432304"/>
            <a:ext cx="201168" cy="201168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2057400" y="239572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(MeitY)</a:t>
            </a:r>
            <a:endParaRPr lang="en-US" sz="780" dirty="0"/>
          </a:p>
        </p:txBody>
      </p:sp>
      <p:sp>
        <p:nvSpPr>
          <p:cNvPr id="32" name="Shape 21"/>
          <p:cNvSpPr/>
          <p:nvPr/>
        </p:nvSpPr>
        <p:spPr>
          <a:xfrm>
            <a:off x="274320" y="2779776"/>
            <a:ext cx="2834640" cy="932688"/>
          </a:xfrm>
          <a:prstGeom prst="roundRect">
            <a:avLst>
              <a:gd name="adj" fmla="val 9804"/>
            </a:avLst>
          </a:prstGeom>
          <a:solidFill>
            <a:srgbClr val="DCFCE7"/>
          </a:solidFill>
          <a:ln w="9525">
            <a:solidFill>
              <a:srgbClr val="DCFCE7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2825496"/>
            <a:ext cx="201168" cy="201168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621792" y="281635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35" name="Shape 23"/>
          <p:cNvSpPr/>
          <p:nvPr/>
        </p:nvSpPr>
        <p:spPr>
          <a:xfrm>
            <a:off x="365760" y="3072384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0624" y="310896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685800" y="30723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80" dirty="0"/>
          </a:p>
        </p:txBody>
      </p:sp>
      <p:sp>
        <p:nvSpPr>
          <p:cNvPr id="38" name="Shape 25"/>
          <p:cNvSpPr/>
          <p:nvPr/>
        </p:nvSpPr>
        <p:spPr>
          <a:xfrm>
            <a:off x="1737360" y="3072384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92224" y="3108960"/>
            <a:ext cx="201168" cy="201168"/>
          </a:xfrm>
          <a:prstGeom prst="rect">
            <a:avLst/>
          </a:prstGeom>
        </p:spPr>
      </p:pic>
      <p:sp>
        <p:nvSpPr>
          <p:cNvPr id="40" name="Text 26"/>
          <p:cNvSpPr txBox="1"/>
          <p:nvPr/>
        </p:nvSpPr>
        <p:spPr>
          <a:xfrm>
            <a:off x="2057400" y="307238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80" dirty="0"/>
          </a:p>
        </p:txBody>
      </p:sp>
      <p:sp>
        <p:nvSpPr>
          <p:cNvPr id="41" name="Shape 27"/>
          <p:cNvSpPr/>
          <p:nvPr/>
        </p:nvSpPr>
        <p:spPr>
          <a:xfrm>
            <a:off x="365760" y="340156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0624" y="3438144"/>
            <a:ext cx="201168" cy="201168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685800" y="340156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80" dirty="0"/>
          </a:p>
        </p:txBody>
      </p:sp>
      <p:sp>
        <p:nvSpPr>
          <p:cNvPr id="44" name="Shape 29"/>
          <p:cNvSpPr/>
          <p:nvPr/>
        </p:nvSpPr>
        <p:spPr>
          <a:xfrm>
            <a:off x="1737360" y="340156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92224" y="3438144"/>
            <a:ext cx="201168" cy="201168"/>
          </a:xfrm>
          <a:prstGeom prst="rect">
            <a:avLst/>
          </a:prstGeom>
        </p:spPr>
      </p:pic>
      <p:sp>
        <p:nvSpPr>
          <p:cNvPr id="46" name="Text 30"/>
          <p:cNvSpPr txBox="1"/>
          <p:nvPr/>
        </p:nvSpPr>
        <p:spPr>
          <a:xfrm>
            <a:off x="2057400" y="340156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80" dirty="0"/>
          </a:p>
        </p:txBody>
      </p:sp>
      <p:sp>
        <p:nvSpPr>
          <p:cNvPr id="47" name="Shape 31"/>
          <p:cNvSpPr/>
          <p:nvPr/>
        </p:nvSpPr>
        <p:spPr>
          <a:xfrm>
            <a:off x="274320" y="3785616"/>
            <a:ext cx="2834640" cy="932688"/>
          </a:xfrm>
          <a:prstGeom prst="roundRect">
            <a:avLst>
              <a:gd name="adj" fmla="val 9804"/>
            </a:avLst>
          </a:prstGeom>
          <a:solidFill>
            <a:srgbClr val="FEF3C7"/>
          </a:solidFill>
          <a:ln w="9525">
            <a:solidFill>
              <a:srgbClr val="FEF3C7"/>
            </a:solidFill>
            <a:prstDash val="solid"/>
          </a:ln>
        </p:spPr>
      </p:sp>
      <p:pic>
        <p:nvPicPr>
          <p:cNvPr id="4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5760" y="3831336"/>
            <a:ext cx="201168" cy="201168"/>
          </a:xfrm>
          <a:prstGeom prst="rect">
            <a:avLst/>
          </a:prstGeom>
        </p:spPr>
      </p:pic>
      <p:sp>
        <p:nvSpPr>
          <p:cNvPr id="49" name="Text 32"/>
          <p:cNvSpPr txBox="1"/>
          <p:nvPr/>
        </p:nvSpPr>
        <p:spPr>
          <a:xfrm>
            <a:off x="621792" y="38221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apps</a:t>
            </a:r>
            <a:endParaRPr lang="en-US" sz="850" dirty="0"/>
          </a:p>
        </p:txBody>
      </p:sp>
      <p:sp>
        <p:nvSpPr>
          <p:cNvPr id="50" name="Shape 33"/>
          <p:cNvSpPr/>
          <p:nvPr/>
        </p:nvSpPr>
        <p:spPr>
          <a:xfrm>
            <a:off x="365760" y="4078224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" y="4114800"/>
            <a:ext cx="201168" cy="201168"/>
          </a:xfrm>
          <a:prstGeom prst="rect">
            <a:avLst/>
          </a:prstGeom>
        </p:spPr>
      </p:pic>
      <p:sp>
        <p:nvSpPr>
          <p:cNvPr id="52" name="Text 34"/>
          <p:cNvSpPr txBox="1"/>
          <p:nvPr/>
        </p:nvSpPr>
        <p:spPr>
          <a:xfrm>
            <a:off x="685800" y="407822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780" dirty="0"/>
          </a:p>
        </p:txBody>
      </p:sp>
      <p:sp>
        <p:nvSpPr>
          <p:cNvPr id="53" name="Shape 35"/>
          <p:cNvSpPr/>
          <p:nvPr/>
        </p:nvSpPr>
        <p:spPr>
          <a:xfrm>
            <a:off x="1737360" y="4078224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92224" y="4114800"/>
            <a:ext cx="201168" cy="201168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2057400" y="4078224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portal</a:t>
            </a:r>
            <a:endParaRPr lang="en-US" sz="780" dirty="0"/>
          </a:p>
        </p:txBody>
      </p:sp>
      <p:sp>
        <p:nvSpPr>
          <p:cNvPr id="56" name="Shape 37"/>
          <p:cNvSpPr/>
          <p:nvPr/>
        </p:nvSpPr>
        <p:spPr>
          <a:xfrm>
            <a:off x="365760" y="440740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0624" y="4443984"/>
            <a:ext cx="201168" cy="201168"/>
          </a:xfrm>
          <a:prstGeom prst="rect">
            <a:avLst/>
          </a:prstGeom>
        </p:spPr>
      </p:pic>
      <p:sp>
        <p:nvSpPr>
          <p:cNvPr id="58" name="Text 38"/>
          <p:cNvSpPr txBox="1"/>
          <p:nvPr/>
        </p:nvSpPr>
        <p:spPr>
          <a:xfrm>
            <a:off x="685800" y="440740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780" dirty="0"/>
          </a:p>
        </p:txBody>
      </p:sp>
      <p:sp>
        <p:nvSpPr>
          <p:cNvPr id="59" name="Shape 39"/>
          <p:cNvSpPr/>
          <p:nvPr/>
        </p:nvSpPr>
        <p:spPr>
          <a:xfrm>
            <a:off x="1737360" y="4407408"/>
            <a:ext cx="1298448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6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92224" y="4443984"/>
            <a:ext cx="201168" cy="201168"/>
          </a:xfrm>
          <a:prstGeom prst="rect">
            <a:avLst/>
          </a:prstGeom>
        </p:spPr>
      </p:pic>
      <p:sp>
        <p:nvSpPr>
          <p:cNvPr id="61" name="Text 40"/>
          <p:cNvSpPr txBox="1"/>
          <p:nvPr/>
        </p:nvSpPr>
        <p:spPr>
          <a:xfrm>
            <a:off x="2057400" y="4407408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MeghRaj govt cloud*</a:t>
            </a:r>
            <a:endParaRPr lang="en-US" sz="780" dirty="0"/>
          </a:p>
        </p:txBody>
      </p:sp>
      <p:sp>
        <p:nvSpPr>
          <p:cNvPr id="62" name="Text 41"/>
          <p:cNvSpPr txBox="1"/>
          <p:nvPr/>
        </p:nvSpPr>
        <p:spPr>
          <a:xfrm>
            <a:off x="274320" y="46817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government MoU.  Logos: official marks (Devicon, Simple Icons, project GitHub avatars).</a:t>
            </a:r>
            <a:endParaRPr lang="en-US" sz="650" dirty="0"/>
          </a:p>
        </p:txBody>
      </p:sp>
      <p:sp>
        <p:nvSpPr>
          <p:cNvPr id="63" name="Text 42"/>
          <p:cNvSpPr txBox="1"/>
          <p:nvPr/>
        </p:nvSpPr>
        <p:spPr>
          <a:xfrm>
            <a:off x="3291840" y="896112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64" name="Shape 43"/>
          <p:cNvSpPr/>
          <p:nvPr/>
        </p:nvSpPr>
        <p:spPr>
          <a:xfrm>
            <a:off x="3291840" y="1097280"/>
            <a:ext cx="5577840" cy="1572768"/>
          </a:xfrm>
          <a:prstGeom prst="roundRect">
            <a:avLst>
              <a:gd name="adj" fmla="val 5814"/>
            </a:avLst>
          </a:prstGeom>
          <a:solidFill>
            <a:srgbClr val="DBEAFE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65" name="Text 44"/>
          <p:cNvSpPr txBox="1"/>
          <p:nvPr/>
        </p:nvSpPr>
        <p:spPr>
          <a:xfrm>
            <a:off x="3401568" y="114300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CALL  —  every sentence goes round this loop in ~1.5 s</a:t>
            </a:r>
            <a:endParaRPr lang="en-US" sz="750" dirty="0"/>
          </a:p>
        </p:txBody>
      </p:sp>
      <p:sp>
        <p:nvSpPr>
          <p:cNvPr id="66" name="Shape 45"/>
          <p:cNvSpPr/>
          <p:nvPr/>
        </p:nvSpPr>
        <p:spPr>
          <a:xfrm>
            <a:off x="3401568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475569"/>
          </a:solidFill>
          <a:ln w="9525">
            <a:solidFill>
              <a:srgbClr val="475569"/>
            </a:solidFill>
            <a:prstDash val="solid"/>
          </a:ln>
        </p:spPr>
      </p:sp>
      <p:pic>
        <p:nvPicPr>
          <p:cNvPr id="6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11880" y="1408176"/>
            <a:ext cx="237744" cy="237744"/>
          </a:xfrm>
          <a:prstGeom prst="rect">
            <a:avLst/>
          </a:prstGeom>
        </p:spPr>
      </p:pic>
      <p:sp>
        <p:nvSpPr>
          <p:cNvPr id="68" name="Text 46"/>
          <p:cNvSpPr txBox="1"/>
          <p:nvPr/>
        </p:nvSpPr>
        <p:spPr>
          <a:xfrm>
            <a:off x="3429000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750" dirty="0"/>
          </a:p>
        </p:txBody>
      </p:sp>
      <p:sp>
        <p:nvSpPr>
          <p:cNvPr id="69" name="Text 47"/>
          <p:cNvSpPr txBox="1"/>
          <p:nvPr/>
        </p:nvSpPr>
        <p:spPr>
          <a:xfrm>
            <a:off x="3429000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</a:t>
            </a:r>
            <a:endParaRPr lang="en-US" sz="650" dirty="0"/>
          </a:p>
        </p:txBody>
      </p:sp>
      <p:sp>
        <p:nvSpPr>
          <p:cNvPr id="70" name="Shape 48"/>
          <p:cNvSpPr/>
          <p:nvPr/>
        </p:nvSpPr>
        <p:spPr>
          <a:xfrm>
            <a:off x="4078224" y="1682496"/>
            <a:ext cx="10972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1" name="Shape 49"/>
          <p:cNvSpPr/>
          <p:nvPr/>
        </p:nvSpPr>
        <p:spPr>
          <a:xfrm>
            <a:off x="4206240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pic>
        <p:nvPicPr>
          <p:cNvPr id="72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16552" y="1408176"/>
            <a:ext cx="237744" cy="237744"/>
          </a:xfrm>
          <a:prstGeom prst="rect">
            <a:avLst/>
          </a:prstGeom>
        </p:spPr>
      </p:pic>
      <p:sp>
        <p:nvSpPr>
          <p:cNvPr id="73" name="Text 50"/>
          <p:cNvSpPr txBox="1"/>
          <p:nvPr/>
        </p:nvSpPr>
        <p:spPr>
          <a:xfrm>
            <a:off x="4233672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750" dirty="0"/>
          </a:p>
        </p:txBody>
      </p:sp>
      <p:sp>
        <p:nvSpPr>
          <p:cNvPr id="74" name="Text 51"/>
          <p:cNvSpPr txBox="1"/>
          <p:nvPr/>
        </p:nvSpPr>
        <p:spPr>
          <a:xfrm>
            <a:off x="4233672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line + keys</a:t>
            </a:r>
            <a:endParaRPr lang="en-US" sz="650" dirty="0"/>
          </a:p>
        </p:txBody>
      </p:sp>
      <p:sp>
        <p:nvSpPr>
          <p:cNvPr id="75" name="Shape 52"/>
          <p:cNvSpPr/>
          <p:nvPr/>
        </p:nvSpPr>
        <p:spPr>
          <a:xfrm>
            <a:off x="4882896" y="1682496"/>
            <a:ext cx="10972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6" name="Shape 53"/>
          <p:cNvSpPr/>
          <p:nvPr/>
        </p:nvSpPr>
        <p:spPr>
          <a:xfrm>
            <a:off x="5010912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</p:sp>
      <p:pic>
        <p:nvPicPr>
          <p:cNvPr id="7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221224" y="1408176"/>
            <a:ext cx="237744" cy="237744"/>
          </a:xfrm>
          <a:prstGeom prst="rect">
            <a:avLst/>
          </a:prstGeom>
        </p:spPr>
      </p:pic>
      <p:sp>
        <p:nvSpPr>
          <p:cNvPr id="78" name="Text 54"/>
          <p:cNvSpPr txBox="1"/>
          <p:nvPr/>
        </p:nvSpPr>
        <p:spPr>
          <a:xfrm>
            <a:off x="5038344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750" dirty="0"/>
          </a:p>
        </p:txBody>
      </p:sp>
      <p:sp>
        <p:nvSpPr>
          <p:cNvPr id="79" name="Text 55"/>
          <p:cNvSpPr txBox="1"/>
          <p:nvPr/>
        </p:nvSpPr>
        <p:spPr>
          <a:xfrm>
            <a:off x="5038344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call</a:t>
            </a:r>
            <a:endParaRPr lang="en-US" sz="650" dirty="0"/>
          </a:p>
        </p:txBody>
      </p:sp>
      <p:sp>
        <p:nvSpPr>
          <p:cNvPr id="80" name="Shape 56"/>
          <p:cNvSpPr/>
          <p:nvPr/>
        </p:nvSpPr>
        <p:spPr>
          <a:xfrm>
            <a:off x="5687568" y="1682496"/>
            <a:ext cx="10972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1" name="Shape 57"/>
          <p:cNvSpPr/>
          <p:nvPr/>
        </p:nvSpPr>
        <p:spPr>
          <a:xfrm>
            <a:off x="5815584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</p:sp>
      <p:pic>
        <p:nvPicPr>
          <p:cNvPr id="8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25896" y="1408176"/>
            <a:ext cx="237744" cy="237744"/>
          </a:xfrm>
          <a:prstGeom prst="rect">
            <a:avLst/>
          </a:prstGeom>
        </p:spPr>
      </p:pic>
      <p:sp>
        <p:nvSpPr>
          <p:cNvPr id="83" name="Text 58"/>
          <p:cNvSpPr txBox="1"/>
          <p:nvPr/>
        </p:nvSpPr>
        <p:spPr>
          <a:xfrm>
            <a:off x="5843016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</a:t>
            </a:r>
            <a:endParaRPr lang="en-US" sz="750" dirty="0"/>
          </a:p>
        </p:txBody>
      </p:sp>
      <p:sp>
        <p:nvSpPr>
          <p:cNvPr id="84" name="Text 59"/>
          <p:cNvSpPr txBox="1"/>
          <p:nvPr/>
        </p:nvSpPr>
        <p:spPr>
          <a:xfrm>
            <a:off x="5843016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650" dirty="0"/>
          </a:p>
        </p:txBody>
      </p:sp>
      <p:sp>
        <p:nvSpPr>
          <p:cNvPr id="85" name="Shape 60"/>
          <p:cNvSpPr/>
          <p:nvPr/>
        </p:nvSpPr>
        <p:spPr>
          <a:xfrm>
            <a:off x="6492240" y="1682496"/>
            <a:ext cx="10972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6" name="Shape 61"/>
          <p:cNvSpPr/>
          <p:nvPr/>
        </p:nvSpPr>
        <p:spPr>
          <a:xfrm>
            <a:off x="6620256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4F46E5"/>
          </a:solidFill>
          <a:ln w="9525">
            <a:solidFill>
              <a:srgbClr val="4F46E5"/>
            </a:solidFill>
            <a:prstDash val="solid"/>
          </a:ln>
        </p:spPr>
      </p:sp>
      <p:pic>
        <p:nvPicPr>
          <p:cNvPr id="8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830568" y="1408176"/>
            <a:ext cx="237744" cy="237744"/>
          </a:xfrm>
          <a:prstGeom prst="rect">
            <a:avLst/>
          </a:prstGeom>
        </p:spPr>
      </p:pic>
      <p:sp>
        <p:nvSpPr>
          <p:cNvPr id="88" name="Text 62"/>
          <p:cNvSpPr txBox="1"/>
          <p:nvPr/>
        </p:nvSpPr>
        <p:spPr>
          <a:xfrm>
            <a:off x="6647688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</a:t>
            </a:r>
            <a:endParaRPr lang="en-US" sz="750" dirty="0"/>
          </a:p>
        </p:txBody>
      </p:sp>
      <p:sp>
        <p:nvSpPr>
          <p:cNvPr id="89" name="Text 63"/>
          <p:cNvSpPr txBox="1"/>
          <p:nvPr/>
        </p:nvSpPr>
        <p:spPr>
          <a:xfrm>
            <a:off x="6647688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</a:t>
            </a:r>
            <a:endParaRPr lang="en-US" sz="650" dirty="0"/>
          </a:p>
        </p:txBody>
      </p:sp>
      <p:sp>
        <p:nvSpPr>
          <p:cNvPr id="90" name="Shape 64"/>
          <p:cNvSpPr/>
          <p:nvPr/>
        </p:nvSpPr>
        <p:spPr>
          <a:xfrm>
            <a:off x="7296912" y="1682496"/>
            <a:ext cx="10972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91" name="Shape 65"/>
          <p:cNvSpPr/>
          <p:nvPr/>
        </p:nvSpPr>
        <p:spPr>
          <a:xfrm>
            <a:off x="7424928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DC2626"/>
          </a:solidFill>
          <a:ln w="9525">
            <a:solidFill>
              <a:srgbClr val="DC2626"/>
            </a:solidFill>
            <a:prstDash val="solid"/>
          </a:ln>
        </p:spPr>
      </p:sp>
      <p:pic>
        <p:nvPicPr>
          <p:cNvPr id="92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35240" y="1408176"/>
            <a:ext cx="237744" cy="237744"/>
          </a:xfrm>
          <a:prstGeom prst="rect">
            <a:avLst/>
          </a:prstGeom>
        </p:spPr>
      </p:pic>
      <p:sp>
        <p:nvSpPr>
          <p:cNvPr id="93" name="Text 66"/>
          <p:cNvSpPr txBox="1"/>
          <p:nvPr/>
        </p:nvSpPr>
        <p:spPr>
          <a:xfrm>
            <a:off x="7452360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750" dirty="0"/>
          </a:p>
        </p:txBody>
      </p:sp>
      <p:sp>
        <p:nvSpPr>
          <p:cNvPr id="94" name="Text 67"/>
          <p:cNvSpPr txBox="1"/>
          <p:nvPr/>
        </p:nvSpPr>
        <p:spPr>
          <a:xfrm>
            <a:off x="7452360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check</a:t>
            </a:r>
            <a:endParaRPr lang="en-US" sz="650" dirty="0"/>
          </a:p>
        </p:txBody>
      </p:sp>
      <p:sp>
        <p:nvSpPr>
          <p:cNvPr id="95" name="Shape 68"/>
          <p:cNvSpPr/>
          <p:nvPr/>
        </p:nvSpPr>
        <p:spPr>
          <a:xfrm>
            <a:off x="8101584" y="1682496"/>
            <a:ext cx="10972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96" name="Shape 69"/>
          <p:cNvSpPr/>
          <p:nvPr/>
        </p:nvSpPr>
        <p:spPr>
          <a:xfrm>
            <a:off x="8229600" y="135331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 w="9525">
            <a:solidFill>
              <a:srgbClr val="16A34A"/>
            </a:solidFill>
            <a:prstDash val="solid"/>
          </a:ln>
        </p:spPr>
      </p:sp>
      <p:pic>
        <p:nvPicPr>
          <p:cNvPr id="9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9912" y="1408176"/>
            <a:ext cx="237744" cy="237744"/>
          </a:xfrm>
          <a:prstGeom prst="rect">
            <a:avLst/>
          </a:prstGeom>
        </p:spPr>
      </p:pic>
      <p:sp>
        <p:nvSpPr>
          <p:cNvPr id="98" name="Text 70"/>
          <p:cNvSpPr txBox="1"/>
          <p:nvPr/>
        </p:nvSpPr>
        <p:spPr>
          <a:xfrm>
            <a:off x="8257032" y="166420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</a:t>
            </a:r>
            <a:endParaRPr lang="en-US" sz="750" dirty="0"/>
          </a:p>
        </p:txBody>
      </p:sp>
      <p:sp>
        <p:nvSpPr>
          <p:cNvPr id="99" name="Text 71"/>
          <p:cNvSpPr txBox="1"/>
          <p:nvPr/>
        </p:nvSpPr>
        <p:spPr>
          <a:xfrm>
            <a:off x="8257032" y="1810512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reply</a:t>
            </a:r>
            <a:endParaRPr lang="en-US" sz="650" dirty="0"/>
          </a:p>
        </p:txBody>
      </p:sp>
      <p:sp>
        <p:nvSpPr>
          <p:cNvPr id="100" name="Shape 72"/>
          <p:cNvSpPr/>
          <p:nvPr/>
        </p:nvSpPr>
        <p:spPr>
          <a:xfrm>
            <a:off x="3730752" y="2103120"/>
            <a:ext cx="4828032" cy="0"/>
          </a:xfrm>
          <a:prstGeom prst="line">
            <a:avLst/>
          </a:prstGeom>
          <a:noFill/>
          <a:ln w="15875">
            <a:solidFill>
              <a:srgbClr val="16A34A"/>
            </a:solidFill>
            <a:prstDash val="dash"/>
            <a:headEnd type="triangle"/>
          </a:ln>
        </p:spPr>
      </p:sp>
      <p:sp>
        <p:nvSpPr>
          <p:cNvPr id="101" name="Text 73"/>
          <p:cNvSpPr txBox="1"/>
          <p:nvPr/>
        </p:nvSpPr>
        <p:spPr>
          <a:xfrm>
            <a:off x="5193792" y="2084832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goes back to the phone</a:t>
            </a:r>
            <a:endParaRPr lang="en-US" sz="650" dirty="0"/>
          </a:p>
        </p:txBody>
      </p:sp>
      <p:sp>
        <p:nvSpPr>
          <p:cNvPr id="102" name="Shape 74"/>
          <p:cNvSpPr/>
          <p:nvPr/>
        </p:nvSpPr>
        <p:spPr>
          <a:xfrm>
            <a:off x="3401568" y="2212848"/>
            <a:ext cx="26974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3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56432" y="2286000"/>
            <a:ext cx="237744" cy="237744"/>
          </a:xfrm>
          <a:prstGeom prst="rect">
            <a:avLst/>
          </a:prstGeom>
        </p:spPr>
      </p:pic>
      <p:sp>
        <p:nvSpPr>
          <p:cNvPr id="104" name="Text 75"/>
          <p:cNvSpPr txBox="1"/>
          <p:nvPr/>
        </p:nvSpPr>
        <p:spPr>
          <a:xfrm>
            <a:off x="3749040" y="2231136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Router: 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model first → paid / bigger model only if unsure or the caller is unhappy → human last.</a:t>
            </a:r>
            <a:endParaRPr lang="en-US" sz="700" dirty="0"/>
          </a:p>
        </p:txBody>
      </p:sp>
      <p:sp>
        <p:nvSpPr>
          <p:cNvPr id="105" name="Shape 76"/>
          <p:cNvSpPr/>
          <p:nvPr/>
        </p:nvSpPr>
        <p:spPr>
          <a:xfrm>
            <a:off x="6172200" y="2212848"/>
            <a:ext cx="258775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6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227064" y="2286000"/>
            <a:ext cx="237744" cy="237744"/>
          </a:xfrm>
          <a:prstGeom prst="rect">
            <a:avLst/>
          </a:prstGeom>
        </p:spPr>
      </p:pic>
      <p:sp>
        <p:nvSpPr>
          <p:cNvPr id="107" name="Text 77"/>
          <p:cNvSpPr txBox="1"/>
          <p:nvPr/>
        </p:nvSpPr>
        <p:spPr>
          <a:xfrm>
            <a:off x="6519672" y="22311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base: 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rules, NQR courses, NCO jobs, centres — the only source of facts. No internet.</a:t>
            </a:r>
            <a:endParaRPr lang="en-US" sz="700" dirty="0"/>
          </a:p>
        </p:txBody>
      </p:sp>
      <p:sp>
        <p:nvSpPr>
          <p:cNvPr id="108" name="Shape 78"/>
          <p:cNvSpPr/>
          <p:nvPr/>
        </p:nvSpPr>
        <p:spPr>
          <a:xfrm>
            <a:off x="3291840" y="2743200"/>
            <a:ext cx="5577840" cy="932688"/>
          </a:xfrm>
          <a:prstGeom prst="roundRect">
            <a:avLst>
              <a:gd name="adj" fmla="val 9804"/>
            </a:avLst>
          </a:prstGeom>
          <a:solidFill>
            <a:srgbClr val="DCFCE7"/>
          </a:solidFill>
          <a:ln w="9525">
            <a:solidFill>
              <a:srgbClr val="DCFCE7"/>
            </a:solidFill>
            <a:prstDash val="solid"/>
          </a:ln>
        </p:spPr>
      </p:sp>
      <p:sp>
        <p:nvSpPr>
          <p:cNvPr id="109" name="Text 79"/>
          <p:cNvSpPr txBox="1"/>
          <p:nvPr/>
        </p:nvSpPr>
        <p:spPr>
          <a:xfrm>
            <a:off x="3401568" y="27889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CALL  —  the confirmed profile becomes a case</a:t>
            </a:r>
            <a:endParaRPr lang="en-US" sz="750" dirty="0"/>
          </a:p>
        </p:txBody>
      </p:sp>
      <p:sp>
        <p:nvSpPr>
          <p:cNvPr id="110" name="Shape 80"/>
          <p:cNvSpPr/>
          <p:nvPr/>
        </p:nvSpPr>
        <p:spPr>
          <a:xfrm>
            <a:off x="3401568" y="2990088"/>
            <a:ext cx="768096" cy="621792"/>
          </a:xfrm>
          <a:prstGeom prst="roundRect">
            <a:avLst>
              <a:gd name="adj" fmla="val 11765"/>
            </a:avLst>
          </a:prstGeom>
          <a:solidFill>
            <a:srgbClr val="0D9488"/>
          </a:solidFill>
          <a:ln w="9525">
            <a:solidFill>
              <a:srgbClr val="0D9488"/>
            </a:solidFill>
            <a:prstDash val="solid"/>
          </a:ln>
        </p:spPr>
      </p:sp>
      <p:pic>
        <p:nvPicPr>
          <p:cNvPr id="111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666744" y="3044952"/>
            <a:ext cx="237744" cy="237744"/>
          </a:xfrm>
          <a:prstGeom prst="rect">
            <a:avLst/>
          </a:prstGeom>
        </p:spPr>
      </p:pic>
      <p:sp>
        <p:nvSpPr>
          <p:cNvPr id="112" name="Text 81"/>
          <p:cNvSpPr txBox="1"/>
          <p:nvPr/>
        </p:nvSpPr>
        <p:spPr>
          <a:xfrm>
            <a:off x="3429000" y="3300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50" dirty="0"/>
          </a:p>
        </p:txBody>
      </p:sp>
      <p:sp>
        <p:nvSpPr>
          <p:cNvPr id="113" name="Text 82"/>
          <p:cNvSpPr txBox="1"/>
          <p:nvPr/>
        </p:nvSpPr>
        <p:spPr>
          <a:xfrm>
            <a:off x="3429000" y="34472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case</a:t>
            </a:r>
            <a:endParaRPr lang="en-US" sz="650" dirty="0"/>
          </a:p>
        </p:txBody>
      </p:sp>
      <p:sp>
        <p:nvSpPr>
          <p:cNvPr id="114" name="Shape 83"/>
          <p:cNvSpPr/>
          <p:nvPr/>
        </p:nvSpPr>
        <p:spPr>
          <a:xfrm>
            <a:off x="4187952" y="3300984"/>
            <a:ext cx="132588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  <a:tailEnd type="triangle"/>
          </a:ln>
        </p:spPr>
      </p:sp>
      <p:sp>
        <p:nvSpPr>
          <p:cNvPr id="115" name="Shape 84"/>
          <p:cNvSpPr/>
          <p:nvPr/>
        </p:nvSpPr>
        <p:spPr>
          <a:xfrm>
            <a:off x="4338828" y="2990088"/>
            <a:ext cx="768096" cy="621792"/>
          </a:xfrm>
          <a:prstGeom prst="roundRect">
            <a:avLst>
              <a:gd name="adj" fmla="val 11765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pic>
        <p:nvPicPr>
          <p:cNvPr id="116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604004" y="3044952"/>
            <a:ext cx="237744" cy="237744"/>
          </a:xfrm>
          <a:prstGeom prst="rect">
            <a:avLst/>
          </a:prstGeom>
        </p:spPr>
      </p:pic>
      <p:sp>
        <p:nvSpPr>
          <p:cNvPr id="117" name="Text 85"/>
          <p:cNvSpPr txBox="1"/>
          <p:nvPr/>
        </p:nvSpPr>
        <p:spPr>
          <a:xfrm>
            <a:off x="4366260" y="3300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50" dirty="0"/>
          </a:p>
        </p:txBody>
      </p:sp>
      <p:sp>
        <p:nvSpPr>
          <p:cNvPr id="118" name="Text 86"/>
          <p:cNvSpPr txBox="1"/>
          <p:nvPr/>
        </p:nvSpPr>
        <p:spPr>
          <a:xfrm>
            <a:off x="4366260" y="34472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tables</a:t>
            </a:r>
            <a:endParaRPr lang="en-US" sz="650" dirty="0"/>
          </a:p>
        </p:txBody>
      </p:sp>
      <p:sp>
        <p:nvSpPr>
          <p:cNvPr id="119" name="Shape 87"/>
          <p:cNvSpPr/>
          <p:nvPr/>
        </p:nvSpPr>
        <p:spPr>
          <a:xfrm>
            <a:off x="5125212" y="3300984"/>
            <a:ext cx="132588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  <a:tailEnd type="triangle"/>
          </a:ln>
        </p:spPr>
      </p:sp>
      <p:sp>
        <p:nvSpPr>
          <p:cNvPr id="120" name="Shape 88"/>
          <p:cNvSpPr/>
          <p:nvPr/>
        </p:nvSpPr>
        <p:spPr>
          <a:xfrm>
            <a:off x="5276088" y="2990088"/>
            <a:ext cx="768096" cy="621792"/>
          </a:xfrm>
          <a:prstGeom prst="roundRect">
            <a:avLst>
              <a:gd name="adj" fmla="val 11765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</p:sp>
      <p:pic>
        <p:nvPicPr>
          <p:cNvPr id="121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541264" y="3044952"/>
            <a:ext cx="237744" cy="237744"/>
          </a:xfrm>
          <a:prstGeom prst="rect">
            <a:avLst/>
          </a:prstGeom>
        </p:spPr>
      </p:pic>
      <p:sp>
        <p:nvSpPr>
          <p:cNvPr id="122" name="Text 89"/>
          <p:cNvSpPr txBox="1"/>
          <p:nvPr/>
        </p:nvSpPr>
        <p:spPr>
          <a:xfrm>
            <a:off x="5303520" y="3300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centre</a:t>
            </a:r>
            <a:endParaRPr lang="en-US" sz="750" dirty="0"/>
          </a:p>
        </p:txBody>
      </p:sp>
      <p:sp>
        <p:nvSpPr>
          <p:cNvPr id="123" name="Text 90"/>
          <p:cNvSpPr txBox="1"/>
          <p:nvPr/>
        </p:nvSpPr>
        <p:spPr>
          <a:xfrm>
            <a:off x="5303520" y="34472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e-KYC*</a:t>
            </a:r>
            <a:endParaRPr lang="en-US" sz="650" dirty="0"/>
          </a:p>
        </p:txBody>
      </p:sp>
      <p:sp>
        <p:nvSpPr>
          <p:cNvPr id="124" name="Shape 91"/>
          <p:cNvSpPr/>
          <p:nvPr/>
        </p:nvSpPr>
        <p:spPr>
          <a:xfrm>
            <a:off x="6062472" y="3300984"/>
            <a:ext cx="132588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  <a:tailEnd type="triangle"/>
          </a:ln>
        </p:spPr>
      </p:sp>
      <p:sp>
        <p:nvSpPr>
          <p:cNvPr id="125" name="Shape 92"/>
          <p:cNvSpPr/>
          <p:nvPr/>
        </p:nvSpPr>
        <p:spPr>
          <a:xfrm>
            <a:off x="6213348" y="2990088"/>
            <a:ext cx="768096" cy="621792"/>
          </a:xfrm>
          <a:prstGeom prst="roundRect">
            <a:avLst>
              <a:gd name="adj" fmla="val 11765"/>
            </a:avLst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pic>
        <p:nvPicPr>
          <p:cNvPr id="126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78524" y="3044952"/>
            <a:ext cx="237744" cy="237744"/>
          </a:xfrm>
          <a:prstGeom prst="rect">
            <a:avLst/>
          </a:prstGeom>
        </p:spPr>
      </p:pic>
      <p:sp>
        <p:nvSpPr>
          <p:cNvPr id="127" name="Text 93"/>
          <p:cNvSpPr txBox="1"/>
          <p:nvPr/>
        </p:nvSpPr>
        <p:spPr>
          <a:xfrm>
            <a:off x="6240780" y="3300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750" dirty="0"/>
          </a:p>
        </p:txBody>
      </p:sp>
      <p:sp>
        <p:nvSpPr>
          <p:cNvPr id="128" name="Text 94"/>
          <p:cNvSpPr txBox="1"/>
          <p:nvPr/>
        </p:nvSpPr>
        <p:spPr>
          <a:xfrm>
            <a:off x="6240780" y="34472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</a:t>
            </a:r>
            <a:endParaRPr lang="en-US" sz="650" dirty="0"/>
          </a:p>
        </p:txBody>
      </p:sp>
      <p:sp>
        <p:nvSpPr>
          <p:cNvPr id="129" name="Shape 95"/>
          <p:cNvSpPr/>
          <p:nvPr/>
        </p:nvSpPr>
        <p:spPr>
          <a:xfrm>
            <a:off x="6999732" y="3300984"/>
            <a:ext cx="132588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  <a:tailEnd type="triangle"/>
          </a:ln>
        </p:spPr>
      </p:sp>
      <p:sp>
        <p:nvSpPr>
          <p:cNvPr id="130" name="Shape 96"/>
          <p:cNvSpPr/>
          <p:nvPr/>
        </p:nvSpPr>
        <p:spPr>
          <a:xfrm>
            <a:off x="7150608" y="2990088"/>
            <a:ext cx="768096" cy="621792"/>
          </a:xfrm>
          <a:prstGeom prst="roundRect">
            <a:avLst>
              <a:gd name="adj" fmla="val 11765"/>
            </a:avLst>
          </a:prstGeom>
          <a:solidFill>
            <a:srgbClr val="16A34A"/>
          </a:solidFill>
          <a:ln w="9525">
            <a:solidFill>
              <a:srgbClr val="16A34A"/>
            </a:solidFill>
            <a:prstDash val="solid"/>
          </a:ln>
        </p:spPr>
      </p:sp>
      <p:pic>
        <p:nvPicPr>
          <p:cNvPr id="131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415784" y="3044952"/>
            <a:ext cx="237744" cy="237744"/>
          </a:xfrm>
          <a:prstGeom prst="rect">
            <a:avLst/>
          </a:prstGeom>
        </p:spPr>
      </p:pic>
      <p:sp>
        <p:nvSpPr>
          <p:cNvPr id="132" name="Text 97"/>
          <p:cNvSpPr txBox="1"/>
          <p:nvPr/>
        </p:nvSpPr>
        <p:spPr>
          <a:xfrm>
            <a:off x="7178040" y="3300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50" dirty="0"/>
          </a:p>
        </p:txBody>
      </p:sp>
      <p:sp>
        <p:nvSpPr>
          <p:cNvPr id="133" name="Text 98"/>
          <p:cNvSpPr txBox="1"/>
          <p:nvPr/>
        </p:nvSpPr>
        <p:spPr>
          <a:xfrm>
            <a:off x="7178040" y="34472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at 1/3/6 mo</a:t>
            </a:r>
            <a:endParaRPr lang="en-US" sz="650" dirty="0"/>
          </a:p>
        </p:txBody>
      </p:sp>
      <p:sp>
        <p:nvSpPr>
          <p:cNvPr id="134" name="Shape 99"/>
          <p:cNvSpPr/>
          <p:nvPr/>
        </p:nvSpPr>
        <p:spPr>
          <a:xfrm>
            <a:off x="7936992" y="3300984"/>
            <a:ext cx="132588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  <a:tailEnd type="triangle"/>
          </a:ln>
        </p:spPr>
      </p:sp>
      <p:sp>
        <p:nvSpPr>
          <p:cNvPr id="135" name="Shape 100"/>
          <p:cNvSpPr/>
          <p:nvPr/>
        </p:nvSpPr>
        <p:spPr>
          <a:xfrm>
            <a:off x="8087868" y="2990088"/>
            <a:ext cx="768096" cy="621792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</p:sp>
      <p:pic>
        <p:nvPicPr>
          <p:cNvPr id="136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353044" y="3044952"/>
            <a:ext cx="237744" cy="237744"/>
          </a:xfrm>
          <a:prstGeom prst="rect">
            <a:avLst/>
          </a:prstGeom>
        </p:spPr>
      </p:pic>
      <p:sp>
        <p:nvSpPr>
          <p:cNvPr id="137" name="Text 101"/>
          <p:cNvSpPr txBox="1"/>
          <p:nvPr/>
        </p:nvSpPr>
        <p:spPr>
          <a:xfrm>
            <a:off x="8115300" y="3300984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750" dirty="0"/>
          </a:p>
        </p:txBody>
      </p:sp>
      <p:sp>
        <p:nvSpPr>
          <p:cNvPr id="138" name="Text 102"/>
          <p:cNvSpPr txBox="1"/>
          <p:nvPr/>
        </p:nvSpPr>
        <p:spPr>
          <a:xfrm>
            <a:off x="8115300" y="34472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map</a:t>
            </a:r>
            <a:endParaRPr lang="en-US" sz="650" dirty="0"/>
          </a:p>
        </p:txBody>
      </p:sp>
      <p:sp>
        <p:nvSpPr>
          <p:cNvPr id="139" name="Shape 103"/>
          <p:cNvSpPr/>
          <p:nvPr/>
        </p:nvSpPr>
        <p:spPr>
          <a:xfrm>
            <a:off x="3291840" y="3749040"/>
            <a:ext cx="2724912" cy="548640"/>
          </a:xfrm>
          <a:prstGeom prst="roundRect">
            <a:avLst>
              <a:gd name="adj" fmla="val 16667"/>
            </a:avLst>
          </a:prstGeom>
          <a:solidFill>
            <a:srgbClr val="CFFAFE"/>
          </a:solidFill>
          <a:ln w="9525">
            <a:solidFill>
              <a:srgbClr val="CFFAFE"/>
            </a:solidFill>
            <a:prstDash val="solid"/>
          </a:ln>
        </p:spPr>
      </p:sp>
      <p:pic>
        <p:nvPicPr>
          <p:cNvPr id="14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83280" y="3840480"/>
            <a:ext cx="365760" cy="365760"/>
          </a:xfrm>
          <a:prstGeom prst="rect">
            <a:avLst/>
          </a:prstGeom>
        </p:spPr>
      </p:pic>
      <p:sp>
        <p:nvSpPr>
          <p:cNvPr id="141" name="Text 104"/>
          <p:cNvSpPr txBox="1"/>
          <p:nvPr/>
        </p:nvSpPr>
        <p:spPr>
          <a:xfrm>
            <a:off x="3840480" y="3776472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— 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with mobile + OTP. Family, CSC or officer can view / edit the same data anytime, or do the whole thing on the web.</a:t>
            </a:r>
            <a:endParaRPr lang="en-US" sz="700" dirty="0"/>
          </a:p>
        </p:txBody>
      </p:sp>
      <p:sp>
        <p:nvSpPr>
          <p:cNvPr id="142" name="Shape 105"/>
          <p:cNvSpPr/>
          <p:nvPr/>
        </p:nvSpPr>
        <p:spPr>
          <a:xfrm>
            <a:off x="6144768" y="3749040"/>
            <a:ext cx="2724912" cy="54864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9525">
            <a:solidFill>
              <a:srgbClr val="FEF3C7"/>
            </a:solidFill>
            <a:prstDash val="solid"/>
          </a:ln>
        </p:spPr>
      </p:sp>
      <p:pic>
        <p:nvPicPr>
          <p:cNvPr id="143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236208" y="3840480"/>
            <a:ext cx="365760" cy="365760"/>
          </a:xfrm>
          <a:prstGeom prst="rect">
            <a:avLst/>
          </a:prstGeom>
        </p:spPr>
      </p:pic>
      <p:sp>
        <p:nvSpPr>
          <p:cNvPr id="144" name="Text 106"/>
          <p:cNvSpPr txBox="1"/>
          <p:nvPr/>
        </p:nvSpPr>
        <p:spPr>
          <a:xfrm>
            <a:off x="6693408" y="3776472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tables — </a:t>
            </a:r>
            <a:r>
              <a:rPr lang="en-US" sz="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· skills · options · cases · follow-ups · audit log. No Aadhaar number, audio deleted after confirmation.</a:t>
            </a:r>
            <a:endParaRPr lang="en-US" sz="700" dirty="0"/>
          </a:p>
        </p:txBody>
      </p:sp>
      <p:sp>
        <p:nvSpPr>
          <p:cNvPr id="145" name="Shape 107"/>
          <p:cNvSpPr/>
          <p:nvPr/>
        </p:nvSpPr>
        <p:spPr>
          <a:xfrm>
            <a:off x="3291840" y="4370832"/>
            <a:ext cx="5577840" cy="274320"/>
          </a:xfrm>
          <a:prstGeom prst="roundRect">
            <a:avLst>
              <a:gd name="adj" fmla="val 26667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6" name="Text 108"/>
          <p:cNvSpPr txBox="1"/>
          <p:nvPr/>
        </p:nvSpPr>
        <p:spPr>
          <a:xfrm>
            <a:off x="3291840" y="43708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900" dirty="0"/>
          </a:p>
        </p:txBody>
      </p:sp>
      <p:sp>
        <p:nvSpPr>
          <p:cNvPr id="147" name="Shape 109"/>
          <p:cNvSpPr/>
          <p:nvPr/>
        </p:nvSpPr>
        <p:spPr>
          <a:xfrm>
            <a:off x="3291840" y="4700016"/>
            <a:ext cx="5029200" cy="219456"/>
          </a:xfrm>
          <a:prstGeom prst="roundRect">
            <a:avLst>
              <a:gd name="adj" fmla="val 4166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48" name="Text 110"/>
          <p:cNvSpPr txBox="1"/>
          <p:nvPr/>
        </p:nvSpPr>
        <p:spPr>
          <a:xfrm>
            <a:off x="3291840" y="470001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Architecture details, API docs and code  →  GitHub repo (add link)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0E7FF"/>
          </a:solidFill>
          <a:ln w="15875">
            <a:solidFill>
              <a:srgbClr val="1E3A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every piece already works in India today, and one completed call costs about ₹37–83.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PROVEN IN INDIA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749808"/>
          </a:xfrm>
          <a:prstGeom prst="roundRect">
            <a:avLst>
              <a:gd name="adj" fmla="val 12195"/>
            </a:avLst>
          </a:prstGeom>
          <a:solidFill>
            <a:srgbClr val="DBEAFE"/>
          </a:solidFill>
          <a:ln w="9525">
            <a:solidFill>
              <a:srgbClr val="DBEAF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142646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22 languages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16733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 runs Sarvam's voice AI for Aadhaar today</a:t>
            </a:r>
            <a:endParaRPr lang="en-US" sz="7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1975104"/>
            <a:ext cx="1508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/ MeitY 2025</a:t>
            </a:r>
            <a:endParaRPr lang="en-US" sz="650" dirty="0"/>
          </a:p>
        </p:txBody>
      </p:sp>
      <p:sp>
        <p:nvSpPr>
          <p:cNvPr id="14" name="Shape 10"/>
          <p:cNvSpPr/>
          <p:nvPr/>
        </p:nvSpPr>
        <p:spPr>
          <a:xfrm>
            <a:off x="2446020" y="1389888"/>
            <a:ext cx="2057400" cy="749808"/>
          </a:xfrm>
          <a:prstGeom prst="roundRect">
            <a:avLst>
              <a:gd name="adj" fmla="val 12195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948940" y="142646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/ day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2948940" y="16733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Kilkari, the govt's health-call system</a:t>
            </a:r>
            <a:endParaRPr lang="en-US" sz="750" dirty="0"/>
          </a:p>
        </p:txBody>
      </p:sp>
      <p:sp>
        <p:nvSpPr>
          <p:cNvPr id="18" name="Text 13"/>
          <p:cNvSpPr txBox="1"/>
          <p:nvPr/>
        </p:nvSpPr>
        <p:spPr>
          <a:xfrm>
            <a:off x="2948940" y="1975104"/>
            <a:ext cx="1508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BMJ Global Health 2021</a:t>
            </a:r>
            <a:endParaRPr lang="en-US" sz="650" dirty="0"/>
          </a:p>
        </p:txBody>
      </p:sp>
      <p:sp>
        <p:nvSpPr>
          <p:cNvPr id="19" name="Shape 14"/>
          <p:cNvSpPr/>
          <p:nvPr/>
        </p:nvSpPr>
        <p:spPr>
          <a:xfrm>
            <a:off x="4617720" y="1389888"/>
            <a:ext cx="2057400" cy="749808"/>
          </a:xfrm>
          <a:prstGeom prst="roundRect">
            <a:avLst>
              <a:gd name="adj" fmla="val 12195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120640" y="142646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120640" y="16733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 on real phone calls</a:t>
            </a:r>
            <a:endParaRPr lang="en-US" sz="750" dirty="0"/>
          </a:p>
        </p:txBody>
      </p:sp>
      <p:sp>
        <p:nvSpPr>
          <p:cNvPr id="23" name="Text 17"/>
          <p:cNvSpPr txBox="1"/>
          <p:nvPr/>
        </p:nvSpPr>
        <p:spPr>
          <a:xfrm>
            <a:off x="5120640" y="1975104"/>
            <a:ext cx="1508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</a:t>
            </a:r>
            <a:endParaRPr lang="en-US" sz="650" dirty="0"/>
          </a:p>
        </p:txBody>
      </p:sp>
      <p:sp>
        <p:nvSpPr>
          <p:cNvPr id="24" name="Shape 18"/>
          <p:cNvSpPr/>
          <p:nvPr/>
        </p:nvSpPr>
        <p:spPr>
          <a:xfrm>
            <a:off x="6789420" y="1389888"/>
            <a:ext cx="2057400" cy="749808"/>
          </a:xfrm>
          <a:prstGeom prst="roundRect">
            <a:avLst>
              <a:gd name="adj" fmla="val 12195"/>
            </a:avLst>
          </a:prstGeom>
          <a:solidFill>
            <a:srgbClr val="FFEDD5"/>
          </a:solidFill>
          <a:ln w="9525">
            <a:solidFill>
              <a:srgbClr val="FFEDD5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92340" y="142646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APIs live now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292340" y="16733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Sarvam, Pipecat, Exotel, PostgreSQL — build today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7292340" y="1975104"/>
            <a:ext cx="1508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prototype plan</a:t>
            </a:r>
            <a:endParaRPr lang="en-US" sz="650" dirty="0"/>
          </a:p>
        </p:txBody>
      </p:sp>
      <p:sp>
        <p:nvSpPr>
          <p:cNvPr id="29" name="Text 22"/>
          <p:cNvSpPr txBox="1"/>
          <p:nvPr/>
        </p:nvSpPr>
        <p:spPr>
          <a:xfrm>
            <a:off x="274320" y="223113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COMPLETED CALL COSTS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432304"/>
          <a:ext cx="4206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74520"/>
                <a:gridCol w="73152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line (Exotel)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 × ₹0.80–1.80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₹17–38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↔ text (Saaras, Bulbul)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₹0.50 / min + ₹3 / 1,000 chars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₹12–16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brain (Sarvam-30B / 105B)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₹73 per 1M tokens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₹1–3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+ human help + CSC fee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10–40% of callers need help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₹7–24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&amp; numbers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per profile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₹1–3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per completed profile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missed calls → 517 finished profiles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₹37–83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274320" y="37307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prices from Sarvam and Exotel pricing pages; the funnel (76% answer × 80% finish × 85% complete) is our estimate.</a:t>
            </a:r>
            <a:endParaRPr lang="en-US" sz="680" dirty="0"/>
          </a:p>
        </p:txBody>
      </p:sp>
      <p:sp>
        <p:nvSpPr>
          <p:cNvPr id="32" name="Text 24"/>
          <p:cNvSpPr txBox="1"/>
          <p:nvPr/>
        </p:nvSpPr>
        <p:spPr>
          <a:xfrm>
            <a:off x="4709160" y="22311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CHECK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4709160" y="2432304"/>
            <a:ext cx="41605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773168" y="249631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8888" y="2542032"/>
            <a:ext cx="256032" cy="25603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212080" y="24780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0.04–0.08% of the budget</a:t>
            </a:r>
            <a:endParaRPr lang="en-US" sz="950" dirty="0"/>
          </a:p>
        </p:txBody>
      </p:sp>
      <p:sp>
        <p:nvSpPr>
          <p:cNvPr id="37" name="Text 28"/>
          <p:cNvSpPr txBox="1"/>
          <p:nvPr/>
        </p:nvSpPr>
        <p:spPr>
          <a:xfrm>
            <a:off x="5212080" y="2670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₹0.9–1.7 crore a year runs a whole state; PM-AJAY has ₹2,140 crore.</a:t>
            </a:r>
            <a:endParaRPr lang="en-US" sz="750" dirty="0"/>
          </a:p>
        </p:txBody>
      </p:sp>
      <p:sp>
        <p:nvSpPr>
          <p:cNvPr id="38" name="Shape 29"/>
          <p:cNvSpPr/>
          <p:nvPr/>
        </p:nvSpPr>
        <p:spPr>
          <a:xfrm>
            <a:off x="4709160" y="2962656"/>
            <a:ext cx="41605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4773168" y="30266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3072384"/>
            <a:ext cx="256032" cy="256032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212080" y="300837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pilot</a:t>
            </a:r>
            <a:endParaRPr lang="en-US" sz="950" dirty="0"/>
          </a:p>
        </p:txBody>
      </p:sp>
      <p:sp>
        <p:nvSpPr>
          <p:cNvPr id="42" name="Text 32"/>
          <p:cNvSpPr txBox="1"/>
          <p:nvPr/>
        </p:nvSpPr>
        <p:spPr>
          <a:xfrm>
            <a:off x="5212080" y="320040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block, 1,000 families, 6 months — then scale.</a:t>
            </a:r>
            <a:endParaRPr lang="en-US" sz="750" dirty="0"/>
          </a:p>
        </p:txBody>
      </p:sp>
      <p:sp>
        <p:nvSpPr>
          <p:cNvPr id="43" name="Shape 33"/>
          <p:cNvSpPr/>
          <p:nvPr/>
        </p:nvSpPr>
        <p:spPr>
          <a:xfrm>
            <a:off x="4709160" y="3493008"/>
            <a:ext cx="41605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773168" y="355701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8888" y="3602736"/>
            <a:ext cx="256032" cy="25603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212080" y="353872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lakh CSCs ready</a:t>
            </a:r>
            <a:endParaRPr lang="en-US" sz="950" dirty="0"/>
          </a:p>
        </p:txBody>
      </p:sp>
      <p:sp>
        <p:nvSpPr>
          <p:cNvPr id="47" name="Text 36"/>
          <p:cNvSpPr txBox="1"/>
          <p:nvPr/>
        </p:nvSpPr>
        <p:spPr>
          <a:xfrm>
            <a:off x="5212080" y="373075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+ 90 lakh SHGs and the AJAY app already exist — we plug in, not rebuild.</a:t>
            </a:r>
            <a:endParaRPr lang="en-US" sz="750" dirty="0"/>
          </a:p>
        </p:txBody>
      </p:sp>
      <p:sp>
        <p:nvSpPr>
          <p:cNvPr id="48" name="Text 37"/>
          <p:cNvSpPr txBox="1"/>
          <p:nvPr/>
        </p:nvSpPr>
        <p:spPr>
          <a:xfrm>
            <a:off x="274320" y="405993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WE PLANNED FOR</a:t>
            </a:r>
            <a:endParaRPr lang="en-US" sz="850" dirty="0"/>
          </a:p>
        </p:txBody>
      </p:sp>
      <p:sp>
        <p:nvSpPr>
          <p:cNvPr id="49" name="Shape 38"/>
          <p:cNvSpPr/>
          <p:nvPr/>
        </p:nvSpPr>
        <p:spPr>
          <a:xfrm>
            <a:off x="274320" y="4261104"/>
            <a:ext cx="4251960" cy="265176"/>
          </a:xfrm>
          <a:prstGeom prst="roundRect">
            <a:avLst>
              <a:gd name="adj" fmla="val 27586"/>
            </a:avLst>
          </a:prstGeom>
          <a:solidFill>
            <a:srgbClr val="FEE2E2"/>
          </a:solidFill>
          <a:ln w="9525">
            <a:solidFill>
              <a:srgbClr val="FEE2E2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365760" y="4261104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dialects  →  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 · every answer read back · bigger model, then a human</a:t>
            </a:r>
            <a:endParaRPr lang="en-US" sz="750" dirty="0"/>
          </a:p>
        </p:txBody>
      </p:sp>
      <p:sp>
        <p:nvSpPr>
          <p:cNvPr id="51" name="Shape 40"/>
          <p:cNvSpPr/>
          <p:nvPr/>
        </p:nvSpPr>
        <p:spPr>
          <a:xfrm>
            <a:off x="4617720" y="4261104"/>
            <a:ext cx="4251960" cy="265176"/>
          </a:xfrm>
          <a:prstGeom prst="roundRect">
            <a:avLst>
              <a:gd name="adj" fmla="val 27586"/>
            </a:avLst>
          </a:prstGeom>
          <a:solidFill>
            <a:srgbClr val="FEE2E2"/>
          </a:solidFill>
          <a:ln w="9525">
            <a:solidFill>
              <a:srgbClr val="FEE2E2"/>
            </a:solidFill>
            <a:prstDash val="solid"/>
          </a:ln>
        </p:spPr>
      </p:sp>
      <p:sp>
        <p:nvSpPr>
          <p:cNvPr id="52" name="Text 41"/>
          <p:cNvSpPr txBox="1"/>
          <p:nvPr/>
        </p:nvSpPr>
        <p:spPr>
          <a:xfrm>
            <a:off x="4709160" y="4261104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something wrong  →  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govt database</a:t>
            </a:r>
            <a:endParaRPr lang="en-US" sz="750" dirty="0"/>
          </a:p>
        </p:txBody>
      </p:sp>
      <p:sp>
        <p:nvSpPr>
          <p:cNvPr id="53" name="Shape 42"/>
          <p:cNvSpPr/>
          <p:nvPr/>
        </p:nvSpPr>
        <p:spPr>
          <a:xfrm>
            <a:off x="274320" y="4562856"/>
            <a:ext cx="4251960" cy="265176"/>
          </a:xfrm>
          <a:prstGeom prst="roundRect">
            <a:avLst>
              <a:gd name="adj" fmla="val 27586"/>
            </a:avLst>
          </a:prstGeom>
          <a:solidFill>
            <a:srgbClr val="FEE2E2"/>
          </a:solidFill>
          <a:ln w="9525">
            <a:solidFill>
              <a:srgbClr val="FEE2E2"/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365760" y="4562856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numbers ignored  →  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call-back from an official 1600 number</a:t>
            </a:r>
            <a:endParaRPr lang="en-US" sz="750" dirty="0"/>
          </a:p>
        </p:txBody>
      </p:sp>
      <p:sp>
        <p:nvSpPr>
          <p:cNvPr id="55" name="Shape 44"/>
          <p:cNvSpPr/>
          <p:nvPr/>
        </p:nvSpPr>
        <p:spPr>
          <a:xfrm>
            <a:off x="4617720" y="4562856"/>
            <a:ext cx="4251960" cy="265176"/>
          </a:xfrm>
          <a:prstGeom prst="roundRect">
            <a:avLst>
              <a:gd name="adj" fmla="val 27586"/>
            </a:avLst>
          </a:prstGeom>
          <a:solidFill>
            <a:srgbClr val="FEE2E2"/>
          </a:solidFill>
          <a:ln w="9525">
            <a:solidFill>
              <a:srgbClr val="FEE2E2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4709160" y="4562856"/>
            <a:ext cx="4069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phone (36% of women)  →  </a:t>
            </a: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at the nearest CSC or on the web portal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0E7FF"/>
          </a:solidFill>
          <a:ln w="15875">
            <a:solidFill>
              <a:srgbClr val="1E3A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SC families, CSC operators, district officers and the Ministry. Every number shows its working.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207008"/>
          </a:xfrm>
          <a:prstGeom prst="roundRect">
            <a:avLst>
              <a:gd name="adj" fmla="val 7576"/>
            </a:avLst>
          </a:prstGeom>
          <a:solidFill>
            <a:srgbClr val="DCFCE7"/>
          </a:solidFill>
          <a:ln w="9525">
            <a:solidFill>
              <a:srgbClr val="DCFC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04672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get jobs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1847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215798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of trained people get a job today; the govt target is 70%. That gap is what we close.</a:t>
            </a:r>
            <a:endParaRPr lang="en-US" sz="730" dirty="0"/>
          </a:p>
        </p:txBody>
      </p:sp>
      <p:sp>
        <p:nvSpPr>
          <p:cNvPr id="14" name="Shape 10"/>
          <p:cNvSpPr/>
          <p:nvPr/>
        </p:nvSpPr>
        <p:spPr>
          <a:xfrm>
            <a:off x="2446020" y="1389888"/>
            <a:ext cx="2057400" cy="1207008"/>
          </a:xfrm>
          <a:prstGeom prst="roundRect">
            <a:avLst>
              <a:gd name="adj" fmla="val 7576"/>
            </a:avLst>
          </a:prstGeom>
          <a:solidFill>
            <a:srgbClr val="DBEAFE"/>
          </a:solidFill>
          <a:ln w="9525">
            <a:solidFill>
              <a:srgbClr val="DBEAF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976372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stay in jobs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2537460" y="1847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points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2537460" y="215798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Trainees told the truth about the job before joining were 11 points more likely to stay (field trial, 2024).</a:t>
            </a:r>
            <a:endParaRPr lang="en-US" sz="730" dirty="0"/>
          </a:p>
        </p:txBody>
      </p:sp>
      <p:sp>
        <p:nvSpPr>
          <p:cNvPr id="19" name="Shape 14"/>
          <p:cNvSpPr/>
          <p:nvPr/>
        </p:nvSpPr>
        <p:spPr>
          <a:xfrm>
            <a:off x="4617720" y="1389888"/>
            <a:ext cx="2057400" cy="1207008"/>
          </a:xfrm>
          <a:prstGeom prst="roundRect">
            <a:avLst>
              <a:gd name="adj" fmla="val 7576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148072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Officers' time back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4709160" y="1847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 staff-years / yr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709160" y="215798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 saved per person × 50,000 GIA beneficiaries a year.</a:t>
            </a:r>
            <a:endParaRPr lang="en-US" sz="730" dirty="0"/>
          </a:p>
        </p:txBody>
      </p:sp>
      <p:sp>
        <p:nvSpPr>
          <p:cNvPr id="24" name="Shape 18"/>
          <p:cNvSpPr/>
          <p:nvPr/>
        </p:nvSpPr>
        <p:spPr>
          <a:xfrm>
            <a:off x="6789420" y="1389888"/>
            <a:ext cx="2057400" cy="1207008"/>
          </a:xfrm>
          <a:prstGeom prst="roundRect">
            <a:avLst>
              <a:gd name="adj" fmla="val 7576"/>
            </a:avLst>
          </a:prstGeom>
          <a:solidFill>
            <a:srgbClr val="FFEDD5"/>
          </a:solidFill>
          <a:ln w="9525">
            <a:solidFill>
              <a:srgbClr val="FFEDD5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319772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not wasted</a:t>
            </a:r>
            <a:endParaRPr lang="en-US" sz="950" dirty="0"/>
          </a:p>
        </p:txBody>
      </p:sp>
      <p:sp>
        <p:nvSpPr>
          <p:cNvPr id="27" name="Text 20"/>
          <p:cNvSpPr txBox="1"/>
          <p:nvPr/>
        </p:nvSpPr>
        <p:spPr>
          <a:xfrm>
            <a:off x="6880860" y="1847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 crore / yr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6880860" y="2157984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just 5% of wrong matches are avoided: 2,500 people × ₹50,000 support.</a:t>
            </a:r>
            <a:endParaRPr lang="en-US" sz="730" dirty="0"/>
          </a:p>
        </p:txBody>
      </p:sp>
      <p:sp>
        <p:nvSpPr>
          <p:cNvPr id="29" name="Text 22"/>
          <p:cNvSpPr txBox="1"/>
          <p:nvPr/>
        </p:nvSpPr>
        <p:spPr>
          <a:xfrm>
            <a:off x="274320" y="27066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WINS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274320" y="2907792"/>
            <a:ext cx="20574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65760" y="299923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3054096"/>
            <a:ext cx="310896" cy="310896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8680" y="29992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family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" y="345643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 the first time, free, in his language — and a follow-up until he earns.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2446020" y="2907792"/>
            <a:ext cx="20574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2537460" y="299923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2324" y="3054096"/>
            <a:ext cx="310896" cy="310896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3040380" y="29992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2537460" y="345643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arrives pre-filled; only documents and e-KYC left to do.</a:t>
            </a:r>
            <a:endParaRPr 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4617720" y="2907792"/>
            <a:ext cx="20574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4709160" y="299923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4024" y="3054096"/>
            <a:ext cx="310896" cy="31089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5212080" y="29992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</a:t>
            </a:r>
            <a:endParaRPr lang="en-US" sz="1000" dirty="0"/>
          </a:p>
        </p:txBody>
      </p:sp>
      <p:sp>
        <p:nvSpPr>
          <p:cNvPr id="44" name="Text 34"/>
          <p:cNvSpPr txBox="1"/>
          <p:nvPr/>
        </p:nvSpPr>
        <p:spPr>
          <a:xfrm>
            <a:off x="4709160" y="345643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checked cases in the AJAY app + a demand map for the annual plan.</a:t>
            </a:r>
            <a:endParaRPr lang="en-US" sz="750" dirty="0"/>
          </a:p>
        </p:txBody>
      </p:sp>
      <p:sp>
        <p:nvSpPr>
          <p:cNvPr id="45" name="Shape 35"/>
          <p:cNvSpPr/>
          <p:nvPr/>
        </p:nvSpPr>
        <p:spPr>
          <a:xfrm>
            <a:off x="6789420" y="2907792"/>
            <a:ext cx="20574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6880860" y="299923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724" y="305409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383780" y="29992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1000" dirty="0"/>
          </a:p>
        </p:txBody>
      </p:sp>
      <p:sp>
        <p:nvSpPr>
          <p:cNvPr id="49" name="Text 38"/>
          <p:cNvSpPr txBox="1"/>
          <p:nvPr/>
        </p:nvSpPr>
        <p:spPr>
          <a:xfrm>
            <a:off x="6880860" y="345643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from call to job; outcomes marked confirmed or self-reported.</a:t>
            </a:r>
            <a:endParaRPr lang="en-US" sz="750" dirty="0"/>
          </a:p>
        </p:txBody>
      </p:sp>
      <p:sp>
        <p:nvSpPr>
          <p:cNvPr id="50" name="Text 39"/>
          <p:cNvSpPr txBox="1"/>
          <p:nvPr/>
        </p:nvSpPr>
        <p:spPr>
          <a:xfrm>
            <a:off x="274320" y="3913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274320" y="4114800"/>
            <a:ext cx="2057400" cy="694944"/>
          </a:xfrm>
          <a:prstGeom prst="roundRect">
            <a:avLst>
              <a:gd name="adj" fmla="val 13158"/>
            </a:avLst>
          </a:prstGeom>
          <a:solidFill>
            <a:srgbClr val="FCE7F3"/>
          </a:solidFill>
          <a:ln w="9525">
            <a:solidFill>
              <a:srgbClr val="FCE7F3"/>
            </a:solidFill>
            <a:prstDash val="solid"/>
          </a:ln>
        </p:spPr>
      </p:sp>
      <p:pic>
        <p:nvPicPr>
          <p:cNvPr id="5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187952"/>
            <a:ext cx="292608" cy="292608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731520" y="4160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950" dirty="0"/>
          </a:p>
        </p:txBody>
      </p:sp>
      <p:sp>
        <p:nvSpPr>
          <p:cNvPr id="54" name="Text 42"/>
          <p:cNvSpPr txBox="1"/>
          <p:nvPr/>
        </p:nvSpPr>
        <p:spPr>
          <a:xfrm>
            <a:off x="36576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non-readers included; no reading, no app.</a:t>
            </a:r>
            <a:endParaRPr lang="en-US" sz="750" dirty="0"/>
          </a:p>
        </p:txBody>
      </p:sp>
      <p:sp>
        <p:nvSpPr>
          <p:cNvPr id="55" name="Shape 43"/>
          <p:cNvSpPr/>
          <p:nvPr/>
        </p:nvSpPr>
        <p:spPr>
          <a:xfrm>
            <a:off x="2446020" y="4114800"/>
            <a:ext cx="2057400" cy="694944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9525">
            <a:solidFill>
              <a:srgbClr val="DCFCE7"/>
            </a:solidFill>
            <a:prstDash val="solid"/>
          </a:ln>
        </p:spPr>
      </p:sp>
      <p:pic>
        <p:nvPicPr>
          <p:cNvPr id="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7460" y="4187952"/>
            <a:ext cx="292608" cy="292608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2903220" y="4160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950" dirty="0"/>
          </a:p>
        </p:txBody>
      </p:sp>
      <p:sp>
        <p:nvSpPr>
          <p:cNvPr id="58" name="Text 45"/>
          <p:cNvSpPr txBox="1"/>
          <p:nvPr/>
        </p:nvSpPr>
        <p:spPr>
          <a:xfrm>
            <a:off x="253746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on wrong training; more people earning, proved by follow-up.</a:t>
            </a:r>
            <a:endParaRPr lang="en-US" sz="750" dirty="0"/>
          </a:p>
        </p:txBody>
      </p:sp>
      <p:sp>
        <p:nvSpPr>
          <p:cNvPr id="59" name="Shape 46"/>
          <p:cNvSpPr/>
          <p:nvPr/>
        </p:nvSpPr>
        <p:spPr>
          <a:xfrm>
            <a:off x="4617720" y="4114800"/>
            <a:ext cx="2057400" cy="694944"/>
          </a:xfrm>
          <a:prstGeom prst="roundRect">
            <a:avLst>
              <a:gd name="adj" fmla="val 13158"/>
            </a:avLst>
          </a:prstGeom>
          <a:solidFill>
            <a:srgbClr val="DBEAFE"/>
          </a:solidFill>
          <a:ln w="9525">
            <a:solidFill>
              <a:srgbClr val="DBEAFE"/>
            </a:solidFill>
            <a:prstDash val="solid"/>
          </a:ln>
        </p:spPr>
      </p:sp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09160" y="4187952"/>
            <a:ext cx="292608" cy="292608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5074920" y="4160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50" dirty="0"/>
          </a:p>
        </p:txBody>
      </p:sp>
      <p:sp>
        <p:nvSpPr>
          <p:cNvPr id="62" name="Text 48"/>
          <p:cNvSpPr txBox="1"/>
          <p:nvPr/>
        </p:nvSpPr>
        <p:spPr>
          <a:xfrm>
            <a:off x="470916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record; planning data instead of paper forms.</a:t>
            </a:r>
            <a:endParaRPr lang="en-US" sz="750" dirty="0"/>
          </a:p>
        </p:txBody>
      </p:sp>
      <p:sp>
        <p:nvSpPr>
          <p:cNvPr id="63" name="Shape 49"/>
          <p:cNvSpPr/>
          <p:nvPr/>
        </p:nvSpPr>
        <p:spPr>
          <a:xfrm>
            <a:off x="6789420" y="4114800"/>
            <a:ext cx="2057400" cy="694944"/>
          </a:xfrm>
          <a:prstGeom prst="roundRect">
            <a:avLst>
              <a:gd name="adj" fmla="val 13158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80860" y="4187952"/>
            <a:ext cx="292608" cy="292608"/>
          </a:xfrm>
          <a:prstGeom prst="rect">
            <a:avLst/>
          </a:prstGeom>
        </p:spPr>
      </p:pic>
      <p:sp>
        <p:nvSpPr>
          <p:cNvPr id="65" name="Text 50"/>
          <p:cNvSpPr txBox="1"/>
          <p:nvPr/>
        </p:nvSpPr>
        <p:spPr>
          <a:xfrm>
            <a:off x="7246620" y="4160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66" name="Text 51"/>
          <p:cNvSpPr txBox="1"/>
          <p:nvPr/>
        </p:nvSpPr>
        <p:spPr>
          <a:xfrm>
            <a:off x="688086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paper, fewer office trips, shared govt cloud.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0E7FF"/>
          </a:solidFill>
          <a:ln w="15875">
            <a:solidFill>
              <a:srgbClr val="1E3A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4320" y="896112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4183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8961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02336" y="1344168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6928" y="1280160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 audit (41% placed)   </a:t>
            </a:r>
            <a:r>
              <a:rPr lang="en-US" sz="720" u="sng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80" dirty="0"/>
          </a:p>
        </p:txBody>
      </p:sp>
      <p:sp>
        <p:nvSpPr>
          <p:cNvPr id="13" name="Shape 9"/>
          <p:cNvSpPr/>
          <p:nvPr/>
        </p:nvSpPr>
        <p:spPr>
          <a:xfrm>
            <a:off x="402336" y="1609344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66928" y="154533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GIA norms &amp; beneficiaries — PIB 2023 / 2025   </a:t>
            </a:r>
            <a:r>
              <a:rPr lang="en-US" sz="720" u="sng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80" dirty="0"/>
          </a:p>
        </p:txBody>
      </p:sp>
      <p:sp>
        <p:nvSpPr>
          <p:cNvPr id="15" name="Shape 11"/>
          <p:cNvSpPr/>
          <p:nvPr/>
        </p:nvSpPr>
        <p:spPr>
          <a:xfrm>
            <a:off x="402336" y="1874520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66928" y="181051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budget ₹2,140 cr — Demands for Grants 2026-27   </a:t>
            </a:r>
            <a:r>
              <a:rPr lang="en-US" sz="720" u="sng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indiabudget.gov.in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02336" y="2139696"/>
            <a:ext cx="91440" cy="914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66928" y="207568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(women's phone access) · Census 2011 (SC literacy)   </a:t>
            </a:r>
            <a:r>
              <a:rPr lang="en-US" sz="720" u="sng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80" dirty="0"/>
          </a:p>
        </p:txBody>
      </p:sp>
      <p:sp>
        <p:nvSpPr>
          <p:cNvPr id="19" name="Shape 15"/>
          <p:cNvSpPr/>
          <p:nvPr/>
        </p:nvSpPr>
        <p:spPr>
          <a:xfrm>
            <a:off x="4663440" y="896112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63440" y="896112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941832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047488" y="8961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791456" y="1344168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56048" y="1280160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2024, J. Dev. Econ. — honest job info → +11 pts retention   </a:t>
            </a:r>
            <a:r>
              <a:rPr lang="en-US" sz="720" u="sng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sciencedirect.com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791456" y="1609344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56048" y="154533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at 12 lakh calls/day   </a:t>
            </a:r>
            <a:r>
              <a:rPr lang="en-US" sz="720" u="sng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80" dirty="0"/>
          </a:p>
        </p:txBody>
      </p:sp>
      <p:sp>
        <p:nvSpPr>
          <p:cNvPr id="27" name="Shape 22"/>
          <p:cNvSpPr/>
          <p:nvPr/>
        </p:nvSpPr>
        <p:spPr>
          <a:xfrm>
            <a:off x="4791456" y="1874520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956048" y="181051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Indian speech-AI benchmark on real calls   </a:t>
            </a:r>
            <a:r>
              <a:rPr lang="en-US" sz="720" u="sng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80" dirty="0"/>
          </a:p>
        </p:txBody>
      </p:sp>
      <p:sp>
        <p:nvSpPr>
          <p:cNvPr id="29" name="Shape 24"/>
          <p:cNvSpPr/>
          <p:nvPr/>
        </p:nvSpPr>
        <p:spPr>
          <a:xfrm>
            <a:off x="4791456" y="2139696"/>
            <a:ext cx="91440" cy="91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956048" y="207568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UIs for low-literacy users   </a:t>
            </a:r>
            <a:r>
              <a:rPr lang="en-US" sz="720" u="sng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80" dirty="0"/>
          </a:p>
        </p:txBody>
      </p:sp>
      <p:sp>
        <p:nvSpPr>
          <p:cNvPr id="31" name="Shape 26"/>
          <p:cNvSpPr/>
          <p:nvPr/>
        </p:nvSpPr>
        <p:spPr>
          <a:xfrm>
            <a:off x="274320" y="2487168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274320" y="2487168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5760" y="2532888"/>
            <a:ext cx="219456" cy="219456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58368" y="2487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402336" y="2935224"/>
            <a:ext cx="91440" cy="914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66928" y="287121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— Saaras v3, Bulbul v3, Sarvam-30B / 105B, pricing   </a:t>
            </a:r>
            <a:r>
              <a:rPr lang="en-US" sz="720" u="sng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sarvam.ai</a:t>
            </a:r>
            <a:endParaRPr lang="en-US" sz="780" dirty="0"/>
          </a:p>
        </p:txBody>
      </p:sp>
      <p:sp>
        <p:nvSpPr>
          <p:cNvPr id="37" name="Shape 31"/>
          <p:cNvSpPr/>
          <p:nvPr/>
        </p:nvSpPr>
        <p:spPr>
          <a:xfrm>
            <a:off x="402336" y="3200400"/>
            <a:ext cx="91440" cy="914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66928" y="313639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— open Indian speech recognition   </a:t>
            </a:r>
            <a:r>
              <a:rPr lang="en-US" sz="720" u="sng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80" dirty="0"/>
          </a:p>
        </p:txBody>
      </p:sp>
      <p:sp>
        <p:nvSpPr>
          <p:cNvPr id="39" name="Shape 33"/>
          <p:cNvSpPr/>
          <p:nvPr/>
        </p:nvSpPr>
        <p:spPr>
          <a:xfrm>
            <a:off x="402336" y="3465576"/>
            <a:ext cx="91440" cy="914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66928" y="340156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— open-source voice-agent framework   </a:t>
            </a:r>
            <a:r>
              <a:rPr lang="en-US" sz="720" u="sng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pipecat.ai</a:t>
            </a:r>
            <a:endParaRPr lang="en-US" sz="780" dirty="0"/>
          </a:p>
        </p:txBody>
      </p:sp>
      <p:sp>
        <p:nvSpPr>
          <p:cNvPr id="41" name="Shape 35"/>
          <p:cNvSpPr/>
          <p:nvPr/>
        </p:nvSpPr>
        <p:spPr>
          <a:xfrm>
            <a:off x="402336" y="3730752"/>
            <a:ext cx="91440" cy="914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66928" y="3666744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 (MeitY) · Exotel · PostgreSQL · FastAPI · React   </a:t>
            </a:r>
            <a:r>
              <a:rPr lang="en-US" sz="720" u="sng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bhashini.gov.in</a:t>
            </a:r>
            <a:endParaRPr lang="en-US" sz="780" dirty="0"/>
          </a:p>
        </p:txBody>
      </p:sp>
      <p:sp>
        <p:nvSpPr>
          <p:cNvPr id="43" name="Shape 37"/>
          <p:cNvSpPr/>
          <p:nvPr/>
        </p:nvSpPr>
        <p:spPr>
          <a:xfrm>
            <a:off x="4663440" y="2487168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4663440" y="2487168"/>
            <a:ext cx="4206240" cy="310896"/>
          </a:xfrm>
          <a:prstGeom prst="roundRect">
            <a:avLst>
              <a:gd name="adj" fmla="val 2941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4880" y="2532888"/>
            <a:ext cx="219456" cy="219456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5047488" y="2487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791456" y="2935224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4956048" y="2871216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720" u="sng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80" dirty="0"/>
          </a:p>
        </p:txBody>
      </p:sp>
      <p:sp>
        <p:nvSpPr>
          <p:cNvPr id="49" name="Shape 42"/>
          <p:cNvSpPr/>
          <p:nvPr/>
        </p:nvSpPr>
        <p:spPr>
          <a:xfrm>
            <a:off x="4791456" y="3200400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956048" y="3136392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720" u="sng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80" dirty="0"/>
          </a:p>
        </p:txBody>
      </p:sp>
      <p:sp>
        <p:nvSpPr>
          <p:cNvPr id="51" name="Shape 44"/>
          <p:cNvSpPr/>
          <p:nvPr/>
        </p:nvSpPr>
        <p:spPr>
          <a:xfrm>
            <a:off x="4791456" y="3465576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956048" y="3401568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720" u="sng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80" dirty="0"/>
          </a:p>
        </p:txBody>
      </p:sp>
      <p:sp>
        <p:nvSpPr>
          <p:cNvPr id="53" name="Shape 46"/>
          <p:cNvSpPr/>
          <p:nvPr/>
        </p:nvSpPr>
        <p:spPr>
          <a:xfrm>
            <a:off x="4791456" y="3730752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956048" y="3666744"/>
            <a:ext cx="3822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UIDAI–Sarvam voice AI deployment — PIB / MeitY 2025   </a:t>
            </a:r>
            <a:r>
              <a:rPr lang="en-US" sz="720" u="sng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80" dirty="0"/>
          </a:p>
        </p:txBody>
      </p:sp>
      <p:sp>
        <p:nvSpPr>
          <p:cNvPr id="55" name="Shape 48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13889"/>
            </a:avLst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</p:sp>
      <p:pic>
        <p:nvPicPr>
          <p:cNvPr id="56" name="Image 5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4048" y="4206240"/>
            <a:ext cx="457200" cy="457200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91440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</a:t>
            </a:r>
            <a:endParaRPr lang="en-US" sz="1200" dirty="0"/>
          </a:p>
        </p:txBody>
      </p:sp>
      <p:sp>
        <p:nvSpPr>
          <p:cNvPr id="58" name="Text 50"/>
          <p:cNvSpPr txBox="1"/>
          <p:nvPr/>
        </p:nvSpPr>
        <p:spPr>
          <a:xfrm>
            <a:off x="914400" y="44348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working prototype, demo video and the full 16-part reference file with every calculation</a:t>
            </a:r>
            <a:endParaRPr lang="en-US" sz="750" dirty="0"/>
          </a:p>
        </p:txBody>
      </p:sp>
      <p:sp>
        <p:nvSpPr>
          <p:cNvPr id="59" name="Shape 51"/>
          <p:cNvSpPr/>
          <p:nvPr/>
        </p:nvSpPr>
        <p:spPr>
          <a:xfrm>
            <a:off x="4023360" y="4297680"/>
            <a:ext cx="1124712" cy="310896"/>
          </a:xfrm>
          <a:prstGeom prst="roundRect">
            <a:avLst>
              <a:gd name="adj" fmla="val 29412"/>
            </a:avLst>
          </a:prstGeom>
          <a:solidFill>
            <a:srgbClr val="1D4ED8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4023360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  →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5239512" y="4297680"/>
            <a:ext cx="1124712" cy="310896"/>
          </a:xfrm>
          <a:prstGeom prst="roundRect">
            <a:avLst>
              <a:gd name="adj" fmla="val 29412"/>
            </a:avLst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62" name="Text 54"/>
          <p:cNvSpPr txBox="1"/>
          <p:nvPr/>
        </p:nvSpPr>
        <p:spPr>
          <a:xfrm>
            <a:off x="5239512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prototype  →</a:t>
            </a:r>
            <a:endParaRPr lang="en-US" sz="800" dirty="0"/>
          </a:p>
        </p:txBody>
      </p:sp>
      <p:sp>
        <p:nvSpPr>
          <p:cNvPr id="63" name="Shape 55"/>
          <p:cNvSpPr/>
          <p:nvPr/>
        </p:nvSpPr>
        <p:spPr>
          <a:xfrm>
            <a:off x="6455664" y="4297680"/>
            <a:ext cx="1124712" cy="310896"/>
          </a:xfrm>
          <a:prstGeom prst="roundRect">
            <a:avLst>
              <a:gd name="adj" fmla="val 29412"/>
            </a:avLst>
          </a:prstGeom>
          <a:solidFill>
            <a:srgbClr val="DB2777"/>
          </a:solidFill>
          <a:ln w="9525">
            <a:solidFill>
              <a:srgbClr val="DB2777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6455664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video  →</a:t>
            </a:r>
            <a:endParaRPr lang="en-US" sz="800" dirty="0"/>
          </a:p>
        </p:txBody>
      </p:sp>
      <p:sp>
        <p:nvSpPr>
          <p:cNvPr id="65" name="Shape 57"/>
          <p:cNvSpPr/>
          <p:nvPr/>
        </p:nvSpPr>
        <p:spPr>
          <a:xfrm>
            <a:off x="7671816" y="4297680"/>
            <a:ext cx="1124712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7671816" y="4297680"/>
            <a:ext cx="1124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u="sng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Reference file  →</a:t>
            </a:r>
            <a:endParaRPr lang="en-US" sz="800" dirty="0"/>
          </a:p>
        </p:txBody>
      </p:sp>
      <p:sp>
        <p:nvSpPr>
          <p:cNvPr id="67" name="Text 59"/>
          <p:cNvSpPr txBox="1"/>
          <p:nvPr/>
        </p:nvSpPr>
        <p:spPr>
          <a:xfrm>
            <a:off x="274320" y="484632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Emoji: Microsoft Fluent Emoji (MIT). Logos: official marks via Devicon, Simple Icons and project GitHub profiles. Estimates are marked and show their working.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2026-09-24T22:17:04Z</dcterms:created>
  <dcterms:modified xsi:type="dcterms:W3CDTF">2026-09-24T22:17:04Z</dcterms:modified>
</cp:coreProperties>
</file>